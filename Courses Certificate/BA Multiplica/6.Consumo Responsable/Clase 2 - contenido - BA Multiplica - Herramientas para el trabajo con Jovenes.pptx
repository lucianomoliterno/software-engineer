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Montserrat ExtraLigh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ExtraLight-bold.fntdata"/><Relationship Id="rId25" Type="http://schemas.openxmlformats.org/officeDocument/2006/relationships/font" Target="fonts/MontserratExtraLight-regular.fntdata"/><Relationship Id="rId28" Type="http://schemas.openxmlformats.org/officeDocument/2006/relationships/font" Target="fonts/MontserratExtraLight-boldItalic.fntdata"/><Relationship Id="rId27" Type="http://schemas.openxmlformats.org/officeDocument/2006/relationships/font" Target="fonts/MontserratExtra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58e10b585f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g158e10b585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58e10b585f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g158e10b58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448b11f96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g13448b11f9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4510fe251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g134510fe25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3448b11f96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g13448b11f9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3448b11f96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g13448b11f9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3448b11f96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g13448b11f9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3448b11f96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g13448b11f9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88" y="4662488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88" y="4662488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88" y="4662488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88" y="4662488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88" y="4662488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88" y="4662488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88" y="4662488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88" y="4662488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88" y="4662488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88" y="4662488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88" y="4662488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150" y="444500"/>
            <a:ext cx="8521700" cy="5730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150" y="1152525"/>
            <a:ext cx="8521700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88" y="4662488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150" y="744538"/>
            <a:ext cx="8521700" cy="20526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150" y="2833688"/>
            <a:ext cx="8521700" cy="7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None/>
            </a:pPr>
            <a:r>
              <a:t/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-9525" y="82550"/>
            <a:ext cx="9153525" cy="506095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7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0" i="0" lang="es-AR" sz="5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Material para referentes del programa BA Multiplica</a:t>
            </a:r>
            <a:endParaRPr b="0" i="0" sz="2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533900"/>
            <a:ext cx="9144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409575" y="1311275"/>
            <a:ext cx="255588" cy="22939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Arial"/>
              <a:buNone/>
            </a:pPr>
            <a:r>
              <a:t/>
            </a:r>
            <a:endParaRPr b="0" i="0" sz="6700" u="none" cap="none" strike="noStrike">
              <a:solidFill>
                <a:srgbClr val="FFFFFF"/>
              </a:solidFill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855663" y="4044950"/>
            <a:ext cx="7800975" cy="261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AR" sz="9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MINISTERIO DE DESARROLLO HUMANO Y HÁBITAT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ctrTitle"/>
          </p:nvPr>
        </p:nvSpPr>
        <p:spPr>
          <a:xfrm>
            <a:off x="311150" y="744538"/>
            <a:ext cx="8521700" cy="20526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311150" y="2833688"/>
            <a:ext cx="8521700" cy="7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None/>
            </a:pPr>
            <a:r>
              <a:t/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-9525" y="82550"/>
            <a:ext cx="9153525" cy="506095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0" i="0" lang="es-AR" sz="29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Direccion de Politicas Sociales en Adicciones</a:t>
            </a:r>
            <a:endParaRPr b="0" i="0" sz="2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37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b="0" i="0" sz="177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4999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0" i="0" lang="es-AR" sz="27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Gerencia Operativa de Prevención e Intervención Comunitaria</a:t>
            </a:r>
            <a:endParaRPr b="0" i="0" sz="2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37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b="0" i="0" sz="177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37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0" i="0" lang="es-AR" sz="27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Equipo Ámbito Educativo</a:t>
            </a:r>
            <a:endParaRPr b="0" i="0" sz="2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533900"/>
            <a:ext cx="9144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409575" y="1311275"/>
            <a:ext cx="255588" cy="22939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Arial"/>
              <a:buNone/>
            </a:pPr>
            <a:r>
              <a:t/>
            </a:r>
            <a:endParaRPr b="0" i="0" sz="6700" u="none" cap="none" strike="noStrike">
              <a:solidFill>
                <a:srgbClr val="FFFFFF"/>
              </a:solidFill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855663" y="4044950"/>
            <a:ext cx="7800975" cy="261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AR" sz="9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MINISTERIO DE DESARROLLO HUMANO Y HÁBITAT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ctrTitle"/>
          </p:nvPr>
        </p:nvSpPr>
        <p:spPr>
          <a:xfrm>
            <a:off x="311150" y="1203325"/>
            <a:ext cx="8521700" cy="20526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b="1" lang="es-AR">
                <a:solidFill>
                  <a:schemeClr val="dk1"/>
                </a:solidFill>
              </a:rPr>
              <a:t>¿Desde dónde pensar la prevención de los consumos problemáticos?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ctrTitle"/>
          </p:nvPr>
        </p:nvSpPr>
        <p:spPr>
          <a:xfrm>
            <a:off x="690550" y="268050"/>
            <a:ext cx="7884900" cy="46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05882"/>
              <a:buNone/>
            </a:pPr>
            <a:br>
              <a:rPr b="1" lang="es-AR" sz="1700">
                <a:latin typeface="Arial"/>
                <a:ea typeface="Arial"/>
                <a:cs typeface="Arial"/>
                <a:sym typeface="Arial"/>
              </a:rPr>
            </a:br>
            <a:br>
              <a:rPr b="1" lang="es-AR" sz="1700">
                <a:latin typeface="Arial"/>
                <a:ea typeface="Arial"/>
                <a:cs typeface="Arial"/>
                <a:sym typeface="Arial"/>
              </a:rPr>
            </a:br>
            <a:br>
              <a:rPr b="1" lang="es-AR" sz="1700">
                <a:latin typeface="Arial"/>
                <a:ea typeface="Arial"/>
                <a:cs typeface="Arial"/>
                <a:sym typeface="Arial"/>
              </a:rPr>
            </a:br>
            <a:br>
              <a:rPr b="1" lang="es-AR" sz="1700">
                <a:latin typeface="Arial"/>
                <a:ea typeface="Arial"/>
                <a:cs typeface="Arial"/>
                <a:sym typeface="Arial"/>
              </a:rPr>
            </a:br>
            <a:br>
              <a:rPr b="1" lang="es-AR" sz="1700">
                <a:latin typeface="Arial"/>
                <a:ea typeface="Arial"/>
                <a:cs typeface="Arial"/>
                <a:sym typeface="Arial"/>
              </a:rPr>
            </a:br>
            <a:r>
              <a:rPr b="1" lang="es-AR" sz="1700">
                <a:latin typeface="Arial"/>
                <a:ea typeface="Arial"/>
                <a:cs typeface="Arial"/>
                <a:sym typeface="Arial"/>
              </a:rPr>
              <a:t>Prevención integral:</a:t>
            </a:r>
            <a:r>
              <a:rPr lang="es-AR" sz="1700">
                <a:latin typeface="Arial"/>
                <a:ea typeface="Arial"/>
                <a:cs typeface="Arial"/>
                <a:sym typeface="Arial"/>
              </a:rPr>
              <a:t> Trabajar desde una perspectiva integral implica, en </a:t>
            </a:r>
            <a:r>
              <a:rPr lang="es-AR" sz="1700"/>
              <a:t>principio, posicionarnos</a:t>
            </a:r>
            <a:r>
              <a:rPr lang="es-AR" sz="1700">
                <a:latin typeface="Arial"/>
                <a:ea typeface="Arial"/>
                <a:cs typeface="Arial"/>
                <a:sym typeface="Arial"/>
              </a:rPr>
              <a:t> en el marco de la </a:t>
            </a:r>
            <a:r>
              <a:rPr b="1" lang="es-AR" sz="1700">
                <a:latin typeface="Arial"/>
                <a:ea typeface="Arial"/>
                <a:cs typeface="Arial"/>
                <a:sym typeface="Arial"/>
              </a:rPr>
              <a:t>promoción de la salud</a:t>
            </a:r>
            <a:r>
              <a:rPr lang="es-AR" sz="1700">
                <a:latin typeface="Arial"/>
                <a:ea typeface="Arial"/>
                <a:cs typeface="Arial"/>
                <a:sym typeface="Arial"/>
              </a:rPr>
              <a:t>. </a:t>
            </a:r>
            <a:br>
              <a:rPr lang="es-AR" sz="1700">
                <a:latin typeface="Arial"/>
                <a:ea typeface="Arial"/>
                <a:cs typeface="Arial"/>
                <a:sym typeface="Arial"/>
              </a:rPr>
            </a:br>
            <a:r>
              <a:rPr lang="es-AR" sz="1700">
                <a:latin typeface="Arial"/>
                <a:ea typeface="Arial"/>
                <a:cs typeface="Arial"/>
                <a:sym typeface="Arial"/>
              </a:rPr>
              <a:t>En este sentido, </a:t>
            </a:r>
            <a:r>
              <a:rPr lang="es-AR" sz="1700"/>
              <a:t>propiciamos acciones</a:t>
            </a:r>
            <a:r>
              <a:rPr lang="es-AR" sz="1700">
                <a:latin typeface="Arial"/>
                <a:ea typeface="Arial"/>
                <a:cs typeface="Arial"/>
                <a:sym typeface="Arial"/>
              </a:rPr>
              <a:t> que tienden a promover las conductas saludables y las habilidades psicosociales. </a:t>
            </a:r>
            <a:br>
              <a:rPr lang="es-AR" sz="1700">
                <a:latin typeface="Arial"/>
                <a:ea typeface="Arial"/>
                <a:cs typeface="Arial"/>
                <a:sym typeface="Arial"/>
              </a:rPr>
            </a:br>
            <a:r>
              <a:rPr lang="es-AR" sz="1700">
                <a:latin typeface="Arial"/>
                <a:ea typeface="Arial"/>
                <a:cs typeface="Arial"/>
                <a:sym typeface="Arial"/>
              </a:rPr>
              <a:t>Nos posicionamos corriendonos de miradas reduccionistas (que ponen el foco sólo en las sustancias u otros objetos de consumo), como de miradas que culpabilizan a las personas por sus prácticas de consumo. Dichos puntos de vista propician estigmatizaciones sociales.</a:t>
            </a:r>
            <a:br>
              <a:rPr lang="es-AR" sz="1700">
                <a:latin typeface="Arial"/>
                <a:ea typeface="Arial"/>
                <a:cs typeface="Arial"/>
                <a:sym typeface="Arial"/>
              </a:rPr>
            </a:br>
            <a:br>
              <a:rPr lang="es-AR" sz="1700">
                <a:latin typeface="Arial"/>
                <a:ea typeface="Arial"/>
                <a:cs typeface="Arial"/>
                <a:sym typeface="Arial"/>
              </a:rPr>
            </a:br>
            <a:r>
              <a:rPr lang="es-AR" sz="1700">
                <a:latin typeface="Arial"/>
                <a:ea typeface="Arial"/>
                <a:cs typeface="Arial"/>
                <a:sym typeface="Arial"/>
              </a:rPr>
              <a:t>En esta línea, incluimos la perspectiva de </a:t>
            </a:r>
            <a:r>
              <a:rPr b="1" lang="es-AR" sz="1700">
                <a:latin typeface="Arial"/>
                <a:ea typeface="Arial"/>
                <a:cs typeface="Arial"/>
                <a:sym typeface="Arial"/>
              </a:rPr>
              <a:t>reducción de riesgos y daños</a:t>
            </a:r>
            <a:r>
              <a:rPr lang="es-AR" sz="1700">
                <a:latin typeface="Arial"/>
                <a:ea typeface="Arial"/>
                <a:cs typeface="Arial"/>
                <a:sym typeface="Arial"/>
              </a:rPr>
              <a:t>. La misma implica reducir los efectos negativos que conllevan las prácticas de consumo, y mejorar la calidad de vida de las personas. Construir herramientas y pautas de cuidado en contexto, minimizar riesgos y daños tanto de las personas consumidoras como de sus entornos.</a:t>
            </a:r>
            <a:br>
              <a:rPr lang="es-AR" sz="1700">
                <a:latin typeface="Arial"/>
                <a:ea typeface="Arial"/>
                <a:cs typeface="Arial"/>
                <a:sym typeface="Arial"/>
              </a:rPr>
            </a:br>
            <a:br>
              <a:rPr lang="es-AR" sz="1600">
                <a:latin typeface="Arial"/>
                <a:ea typeface="Arial"/>
                <a:cs typeface="Arial"/>
                <a:sym typeface="Arial"/>
              </a:rPr>
            </a:br>
            <a:endParaRPr b="1" sz="2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ctrTitle"/>
          </p:nvPr>
        </p:nvSpPr>
        <p:spPr>
          <a:xfrm>
            <a:off x="311150" y="744538"/>
            <a:ext cx="8521700" cy="3865562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AR" sz="1900">
                <a:latin typeface="Arial"/>
                <a:ea typeface="Arial"/>
                <a:cs typeface="Arial"/>
                <a:sym typeface="Arial"/>
              </a:rPr>
              <a:t>También, incluir la </a:t>
            </a:r>
            <a:r>
              <a:rPr b="1" lang="es-AR" sz="1900">
                <a:latin typeface="Arial"/>
                <a:ea typeface="Arial"/>
                <a:cs typeface="Arial"/>
                <a:sym typeface="Arial"/>
              </a:rPr>
              <a:t>perspectiva de derechos </a:t>
            </a:r>
            <a:r>
              <a:rPr lang="es-AR" sz="1900">
                <a:latin typeface="Arial"/>
                <a:ea typeface="Arial"/>
                <a:cs typeface="Arial"/>
                <a:sym typeface="Arial"/>
              </a:rPr>
              <a:t>que implica considerar a todas las personas como sujetos de derechos y, desde allí, construir como política pública modelos preventivos que promuevan el acceso universal a la educación, la cultura, la salud, el trabajo, privilegiando la inclusión comunitaria de los sectores más desprotegidos.</a:t>
            </a:r>
            <a:br>
              <a:rPr lang="es-AR" sz="1900">
                <a:latin typeface="Arial"/>
                <a:ea typeface="Arial"/>
                <a:cs typeface="Arial"/>
                <a:sym typeface="Arial"/>
              </a:rPr>
            </a:br>
            <a:br>
              <a:rPr lang="es-AR" sz="1900">
                <a:latin typeface="Arial"/>
                <a:ea typeface="Arial"/>
                <a:cs typeface="Arial"/>
                <a:sym typeface="Arial"/>
              </a:rPr>
            </a:br>
            <a:r>
              <a:rPr b="1" lang="es-AR" sz="1900">
                <a:latin typeface="Arial"/>
                <a:ea typeface="Arial"/>
                <a:cs typeface="Arial"/>
                <a:sym typeface="Arial"/>
              </a:rPr>
              <a:t>Perspectiva de género:</a:t>
            </a:r>
            <a:r>
              <a:rPr lang="es-AR" sz="1900">
                <a:latin typeface="Arial"/>
                <a:ea typeface="Arial"/>
                <a:cs typeface="Arial"/>
                <a:sym typeface="Arial"/>
              </a:rPr>
              <a:t> Constituye un modo de mirar cómo operan las relaciones sociales desiguales de poder, que dejan en un lugar de vulneración a las mujeres y población LGBTIQ+</a:t>
            </a:r>
            <a:br>
              <a:rPr lang="es-AR" sz="1900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150" y="444500"/>
            <a:ext cx="85218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es-AR" sz="2800">
                <a:solidFill>
                  <a:schemeClr val="dk1"/>
                </a:solidFill>
              </a:rPr>
              <a:t>Ejes de trabajo posibles en la tarea preventiva 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509588" y="1298575"/>
            <a:ext cx="8124900" cy="3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1- Trabajar las representaciones sociales acerca del consumo y los consumos problemáticos.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2- Trabajar habilidades psicosociales como herramientas que fortalecen a las personas. Elegir una o varias.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3- Trabajar estrategias y/o pautas de cuidado grupal y/o individual en torno a los consumos problemáticos.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AR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Poder trabajar estos ejes de manera articulada, permite un desarrollo integral de la tarea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ctrTitle"/>
          </p:nvPr>
        </p:nvSpPr>
        <p:spPr>
          <a:xfrm>
            <a:off x="311150" y="744538"/>
            <a:ext cx="8521800" cy="38655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AR" sz="1900">
                <a:latin typeface="Arial"/>
                <a:ea typeface="Arial"/>
                <a:cs typeface="Arial"/>
                <a:sym typeface="Arial"/>
              </a:rPr>
              <a:t>También, incluir la </a:t>
            </a:r>
            <a:r>
              <a:rPr b="1" lang="es-AR" sz="1900">
                <a:latin typeface="Arial"/>
                <a:ea typeface="Arial"/>
                <a:cs typeface="Arial"/>
                <a:sym typeface="Arial"/>
              </a:rPr>
              <a:t>perspectiva de derechos </a:t>
            </a:r>
            <a:r>
              <a:rPr lang="es-AR" sz="1900">
                <a:latin typeface="Arial"/>
                <a:ea typeface="Arial"/>
                <a:cs typeface="Arial"/>
                <a:sym typeface="Arial"/>
              </a:rPr>
              <a:t>que implica considerar a todas las personas como sujetos de derechos y, desde allí, construir como política pública modelos preventivos que promuevan el acceso universal a la educación, la cultura, la salud, el trabajo, privilegiando la inclusión comunitaria de los sectores más desprotegidos.</a:t>
            </a:r>
            <a:br>
              <a:rPr lang="es-AR" sz="1900">
                <a:latin typeface="Arial"/>
                <a:ea typeface="Arial"/>
                <a:cs typeface="Arial"/>
                <a:sym typeface="Arial"/>
              </a:rPr>
            </a:br>
            <a:br>
              <a:rPr lang="es-AR" sz="1900">
                <a:latin typeface="Arial"/>
                <a:ea typeface="Arial"/>
                <a:cs typeface="Arial"/>
                <a:sym typeface="Arial"/>
              </a:rPr>
            </a:br>
            <a:r>
              <a:rPr b="1" lang="es-AR" sz="1900">
                <a:latin typeface="Arial"/>
                <a:ea typeface="Arial"/>
                <a:cs typeface="Arial"/>
                <a:sym typeface="Arial"/>
              </a:rPr>
              <a:t>Perspectiva de género:</a:t>
            </a:r>
            <a:r>
              <a:rPr lang="es-AR" sz="1900">
                <a:latin typeface="Arial"/>
                <a:ea typeface="Arial"/>
                <a:cs typeface="Arial"/>
                <a:sym typeface="Arial"/>
              </a:rPr>
              <a:t> Constituye un modo de mirar cómo operan las relaciones sociales desiguales de poder, que dejan en un lugar de vulneración a las mujeres y población LGBTIQ+</a:t>
            </a:r>
            <a:br>
              <a:rPr lang="es-AR" sz="1900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ctrTitle"/>
          </p:nvPr>
        </p:nvSpPr>
        <p:spPr>
          <a:xfrm>
            <a:off x="311150" y="1211263"/>
            <a:ext cx="8521700" cy="20526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s-AR">
                <a:latin typeface="Arial"/>
                <a:ea typeface="Arial"/>
                <a:cs typeface="Arial"/>
                <a:sym typeface="Arial"/>
              </a:rPr>
              <a:t>¿Qué son las Habilidades Psicosociales?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ctrTitle"/>
          </p:nvPr>
        </p:nvSpPr>
        <p:spPr>
          <a:xfrm>
            <a:off x="332900" y="269200"/>
            <a:ext cx="8625000" cy="469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264599" lvl="0" marL="264960" rtl="0" algn="ctr"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br>
              <a:rPr b="1" lang="es-AR" sz="2900">
                <a:solidFill>
                  <a:srgbClr val="95373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1" lang="es-AR" sz="2900">
                <a:solidFill>
                  <a:srgbClr val="95373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1" lang="es-AR" sz="2900">
                <a:solidFill>
                  <a:srgbClr val="95373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1" lang="es-AR" sz="1600">
                <a:solidFill>
                  <a:schemeClr val="dk1"/>
                </a:solidFill>
              </a:rPr>
            </a:br>
            <a:br>
              <a:rPr b="1" lang="es-AR" sz="1600">
                <a:solidFill>
                  <a:schemeClr val="dk1"/>
                </a:solidFill>
              </a:rPr>
            </a:br>
            <a:br>
              <a:rPr b="1" lang="es-AR" sz="1600">
                <a:solidFill>
                  <a:schemeClr val="dk1"/>
                </a:solidFill>
              </a:rPr>
            </a:br>
            <a:br>
              <a:rPr b="1" lang="es-AR" sz="1600">
                <a:solidFill>
                  <a:schemeClr val="dk1"/>
                </a:solidFill>
              </a:rPr>
            </a:br>
            <a:br>
              <a:rPr b="1" lang="es-AR" sz="1600">
                <a:solidFill>
                  <a:schemeClr val="dk1"/>
                </a:solidFill>
              </a:rPr>
            </a:br>
            <a:br>
              <a:rPr b="1" lang="es-AR" sz="1600">
                <a:solidFill>
                  <a:schemeClr val="dk1"/>
                </a:solidFill>
              </a:rPr>
            </a:br>
            <a:br>
              <a:rPr b="1" lang="es-AR" sz="1600">
                <a:solidFill>
                  <a:schemeClr val="dk1"/>
                </a:solidFill>
              </a:rPr>
            </a:br>
            <a:br>
              <a:rPr b="1" lang="es-AR" sz="1800">
                <a:solidFill>
                  <a:schemeClr val="dk1"/>
                </a:solidFill>
              </a:rPr>
            </a:br>
            <a:br>
              <a:rPr b="1" lang="es-AR" sz="1800">
                <a:solidFill>
                  <a:schemeClr val="dk1"/>
                </a:solidFill>
              </a:rPr>
            </a:br>
            <a:br>
              <a:rPr b="1" lang="es-AR" sz="1800">
                <a:solidFill>
                  <a:schemeClr val="dk1"/>
                </a:solidFill>
              </a:rPr>
            </a:br>
            <a:br>
              <a:rPr b="1" lang="es-AR" sz="1800">
                <a:solidFill>
                  <a:schemeClr val="dk1"/>
                </a:solidFill>
              </a:rPr>
            </a:br>
            <a:r>
              <a:rPr b="1" lang="es-AR" sz="1800">
                <a:solidFill>
                  <a:schemeClr val="dk1"/>
                </a:solidFill>
              </a:rPr>
              <a:t>Habilidades psicosociales individuales-colectivas</a:t>
            </a:r>
            <a:r>
              <a:rPr lang="es-AR" sz="1800">
                <a:solidFill>
                  <a:schemeClr val="dk1"/>
                </a:solidFill>
              </a:rPr>
              <a:t>: Según</a:t>
            </a:r>
            <a:r>
              <a:rPr lang="es-AR" sz="1800">
                <a:solidFill>
                  <a:srgbClr val="231F20"/>
                </a:solidFill>
              </a:rPr>
              <a:t> la Organización Mundial de la Salud (OMS), las habilidades para la vida son capacidades que permiten a las personas presentarse de forma saludable ante las exigencias y desafíos que se presentan a lo largo de la vida. Las mismas se construyen y potencian desde las infancias, en un trabajo tanto individual como colectivo, con la comunidad. </a:t>
            </a:r>
            <a:endParaRPr sz="1800">
              <a:solidFill>
                <a:srgbClr val="231F20"/>
              </a:solidFill>
            </a:endParaRPr>
          </a:p>
          <a:p>
            <a:pPr indent="-264599" lvl="0" marL="264960" rtl="0" algn="ctr"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t/>
            </a:r>
            <a:endParaRPr sz="1800">
              <a:solidFill>
                <a:srgbClr val="231F20"/>
              </a:solidFill>
            </a:endParaRPr>
          </a:p>
          <a:p>
            <a:pPr indent="-264599" lvl="0" marL="264960" rtl="0" algn="ctr"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br>
              <a:rPr lang="es-AR" sz="1800">
                <a:solidFill>
                  <a:srgbClr val="231F20"/>
                </a:solidFill>
              </a:rPr>
            </a:br>
            <a:r>
              <a:rPr lang="es-AR" sz="1800">
                <a:solidFill>
                  <a:srgbClr val="231F20"/>
                </a:solidFill>
              </a:rPr>
              <a:t>Son: </a:t>
            </a:r>
            <a:r>
              <a:rPr b="1" i="1" lang="es-AR" sz="1800">
                <a:solidFill>
                  <a:srgbClr val="231F20"/>
                </a:solidFill>
              </a:rPr>
              <a:t>Autoestima, toma de decisiones, autoconocimiento, pensamiento crítico, pensamiento creativo, empatía, resolución de problemas, comunicación asertiva, relaciones interpersonales, manejo de tensión y estrés</a:t>
            </a:r>
            <a:r>
              <a:rPr lang="es-AR" sz="1800">
                <a:solidFill>
                  <a:srgbClr val="231F20"/>
                </a:solidFill>
              </a:rPr>
              <a:t>.</a:t>
            </a:r>
            <a:br>
              <a:rPr lang="es-AR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264599" lvl="0" marL="264960" rtl="0" algn="ctr"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s-AR" sz="1800">
                <a:solidFill>
                  <a:schemeClr val="dk1"/>
                </a:solidFill>
              </a:rPr>
              <a:t>A </a:t>
            </a:r>
            <a:r>
              <a:rPr lang="es-AR" sz="1800">
                <a:solidFill>
                  <a:schemeClr val="dk1"/>
                </a:solidFill>
              </a:rPr>
              <a:t>continuación</a:t>
            </a:r>
            <a:r>
              <a:rPr lang="es-AR" sz="1800">
                <a:solidFill>
                  <a:schemeClr val="dk1"/>
                </a:solidFill>
              </a:rPr>
              <a:t> les compartimos algunos recursos para trabajar habilidades:</a:t>
            </a:r>
            <a:br>
              <a:rPr lang="es-AR" sz="18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/>
        </p:nvSpPr>
        <p:spPr>
          <a:xfrm>
            <a:off x="1192000" y="631925"/>
            <a:ext cx="702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2"/>
          <p:cNvSpPr txBox="1"/>
          <p:nvPr/>
        </p:nvSpPr>
        <p:spPr>
          <a:xfrm>
            <a:off x="1976725" y="1040725"/>
            <a:ext cx="528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6500" y="378100"/>
            <a:ext cx="3542526" cy="4387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/>
        </p:nvSpPr>
        <p:spPr>
          <a:xfrm>
            <a:off x="1192000" y="631925"/>
            <a:ext cx="702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3"/>
          <p:cNvSpPr txBox="1"/>
          <p:nvPr/>
        </p:nvSpPr>
        <p:spPr>
          <a:xfrm>
            <a:off x="1976725" y="1040725"/>
            <a:ext cx="528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1650" y="381125"/>
            <a:ext cx="3323701" cy="4381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ctrTitle"/>
          </p:nvPr>
        </p:nvSpPr>
        <p:spPr>
          <a:xfrm>
            <a:off x="311150" y="1211263"/>
            <a:ext cx="85218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s-AR">
                <a:latin typeface="Arial"/>
                <a:ea typeface="Arial"/>
                <a:cs typeface="Arial"/>
                <a:sym typeface="Arial"/>
              </a:rPr>
              <a:t>¿</a:t>
            </a:r>
            <a:r>
              <a:rPr b="1" lang="es-AR">
                <a:latin typeface="Arial"/>
                <a:ea typeface="Arial"/>
                <a:cs typeface="Arial"/>
                <a:sym typeface="Arial"/>
              </a:rPr>
              <a:t>Qué</a:t>
            </a:r>
            <a:r>
              <a:rPr b="1" lang="es-AR">
                <a:latin typeface="Arial"/>
                <a:ea typeface="Arial"/>
                <a:cs typeface="Arial"/>
                <a:sym typeface="Arial"/>
              </a:rPr>
              <a:t> son las </a:t>
            </a:r>
            <a:r>
              <a:rPr b="1" lang="es-AR"/>
              <a:t>pautas de cuidado</a:t>
            </a:r>
            <a:r>
              <a:rPr b="1" lang="es-AR"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346075" y="4932363"/>
            <a:ext cx="86250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264599" lvl="0" marL="264960" rtl="0" algn="ctr"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br>
              <a:rPr b="1" lang="es-AR" sz="2900">
                <a:solidFill>
                  <a:srgbClr val="95373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1" lang="es-AR" sz="2900">
                <a:solidFill>
                  <a:srgbClr val="95373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1" lang="es-AR" sz="2900">
                <a:solidFill>
                  <a:srgbClr val="95373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1" lang="es-AR" sz="1600">
                <a:solidFill>
                  <a:schemeClr val="dk1"/>
                </a:solidFill>
              </a:rPr>
            </a:br>
            <a:br>
              <a:rPr b="1" lang="es-AR" sz="1600">
                <a:solidFill>
                  <a:schemeClr val="dk1"/>
                </a:solidFill>
              </a:rPr>
            </a:br>
            <a:br>
              <a:rPr b="1" lang="es-AR" sz="1600">
                <a:solidFill>
                  <a:schemeClr val="dk1"/>
                </a:solidFill>
              </a:rPr>
            </a:br>
            <a:br>
              <a:rPr b="1" lang="es-AR" sz="1600">
                <a:solidFill>
                  <a:schemeClr val="dk1"/>
                </a:solidFill>
              </a:rPr>
            </a:br>
            <a:br>
              <a:rPr b="1" lang="es-AR" sz="1600">
                <a:solidFill>
                  <a:schemeClr val="dk1"/>
                </a:solidFill>
              </a:rPr>
            </a:br>
            <a:br>
              <a:rPr b="1" lang="es-AR" sz="1600">
                <a:solidFill>
                  <a:schemeClr val="dk1"/>
                </a:solidFill>
              </a:rPr>
            </a:br>
            <a:br>
              <a:rPr b="1" lang="es-AR" sz="1600">
                <a:solidFill>
                  <a:schemeClr val="dk1"/>
                </a:solidFill>
              </a:rPr>
            </a:br>
            <a:br>
              <a:rPr b="1" lang="es-AR" sz="1800">
                <a:solidFill>
                  <a:schemeClr val="dk1"/>
                </a:solidFill>
              </a:rPr>
            </a:br>
            <a:br>
              <a:rPr b="1" lang="es-AR" sz="1800">
                <a:solidFill>
                  <a:schemeClr val="dk1"/>
                </a:solidFill>
              </a:rPr>
            </a:br>
            <a:br>
              <a:rPr b="1" lang="es-AR" sz="1800">
                <a:solidFill>
                  <a:schemeClr val="dk1"/>
                </a:solidFill>
              </a:rPr>
            </a:br>
            <a:br>
              <a:rPr b="1" lang="es-AR" sz="1800">
                <a:solidFill>
                  <a:schemeClr val="dk1"/>
                </a:solidFill>
              </a:rPr>
            </a:br>
            <a:br>
              <a:rPr lang="es-AR" sz="18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1064725" y="598925"/>
            <a:ext cx="7187700" cy="42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900"/>
              <a:t>Las pautas de cuidado son aquellas </a:t>
            </a:r>
            <a:r>
              <a:rPr lang="es-AR" sz="1900"/>
              <a:t>prácticas</a:t>
            </a:r>
            <a:r>
              <a:rPr lang="es-AR" sz="1900"/>
              <a:t> que llevamos adelante para cuidarnos, y cuidar a les demás, de los riesgos y/o daños asociados al consumo.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900"/>
              <a:t>Muchos de estos recursos que desplegamos están en </a:t>
            </a:r>
            <a:r>
              <a:rPr lang="es-AR" sz="1900"/>
              <a:t>relación</a:t>
            </a:r>
            <a:r>
              <a:rPr lang="es-AR" sz="1900"/>
              <a:t> con el tipo de sustancia u objeto que se va a consumir, </a:t>
            </a:r>
            <a:r>
              <a:rPr lang="es-AR" sz="1900"/>
              <a:t>así</a:t>
            </a:r>
            <a:r>
              <a:rPr lang="es-AR" sz="1900"/>
              <a:t> como </a:t>
            </a:r>
            <a:r>
              <a:rPr lang="es-AR" sz="1900"/>
              <a:t>también con el contexto en el que se va a dar ese consumo.</a:t>
            </a:r>
            <a:endParaRPr sz="19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700"/>
              <a:t>Les compartimos actividades para pensar los cuidados en relación al consumo: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ctrTitle"/>
          </p:nvPr>
        </p:nvSpPr>
        <p:spPr>
          <a:xfrm>
            <a:off x="346075" y="4932363"/>
            <a:ext cx="86250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264599" lvl="0" marL="264960" rtl="0" algn="ctr"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br>
              <a:rPr b="1" lang="es-AR" sz="2900">
                <a:solidFill>
                  <a:srgbClr val="95373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1" lang="es-AR" sz="2900">
                <a:solidFill>
                  <a:srgbClr val="95373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1" lang="es-AR" sz="2900">
                <a:solidFill>
                  <a:srgbClr val="95373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1" lang="es-AR" sz="1600">
                <a:solidFill>
                  <a:schemeClr val="dk1"/>
                </a:solidFill>
              </a:rPr>
            </a:br>
            <a:br>
              <a:rPr b="1" lang="es-AR" sz="1600">
                <a:solidFill>
                  <a:schemeClr val="dk1"/>
                </a:solidFill>
              </a:rPr>
            </a:br>
            <a:br>
              <a:rPr b="1" lang="es-AR" sz="1600">
                <a:solidFill>
                  <a:schemeClr val="dk1"/>
                </a:solidFill>
              </a:rPr>
            </a:br>
            <a:br>
              <a:rPr b="1" lang="es-AR" sz="1600">
                <a:solidFill>
                  <a:schemeClr val="dk1"/>
                </a:solidFill>
              </a:rPr>
            </a:br>
            <a:br>
              <a:rPr b="1" lang="es-AR" sz="1600">
                <a:solidFill>
                  <a:schemeClr val="dk1"/>
                </a:solidFill>
              </a:rPr>
            </a:br>
            <a:br>
              <a:rPr b="1" lang="es-AR" sz="1600">
                <a:solidFill>
                  <a:schemeClr val="dk1"/>
                </a:solidFill>
              </a:rPr>
            </a:br>
            <a:br>
              <a:rPr b="1" lang="es-AR" sz="1600">
                <a:solidFill>
                  <a:schemeClr val="dk1"/>
                </a:solidFill>
              </a:rPr>
            </a:br>
            <a:br>
              <a:rPr b="1" lang="es-AR" sz="1800">
                <a:solidFill>
                  <a:schemeClr val="dk1"/>
                </a:solidFill>
              </a:rPr>
            </a:br>
            <a:br>
              <a:rPr b="1" lang="es-AR" sz="1800">
                <a:solidFill>
                  <a:schemeClr val="dk1"/>
                </a:solidFill>
              </a:rPr>
            </a:br>
            <a:br>
              <a:rPr b="1" lang="es-AR" sz="1800">
                <a:solidFill>
                  <a:schemeClr val="dk1"/>
                </a:solidFill>
              </a:rPr>
            </a:br>
            <a:br>
              <a:rPr b="1" lang="es-AR" sz="1800">
                <a:solidFill>
                  <a:schemeClr val="dk1"/>
                </a:solidFill>
              </a:rPr>
            </a:br>
            <a:br>
              <a:rPr lang="es-AR" sz="18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</p:txBody>
      </p:sp>
      <p:sp>
        <p:nvSpPr>
          <p:cNvPr id="136" name="Google Shape;136;p26"/>
          <p:cNvSpPr txBox="1"/>
          <p:nvPr/>
        </p:nvSpPr>
        <p:spPr>
          <a:xfrm>
            <a:off x="790200" y="460450"/>
            <a:ext cx="756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0450" y="368125"/>
            <a:ext cx="4251325" cy="456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ctrTitle"/>
          </p:nvPr>
        </p:nvSpPr>
        <p:spPr>
          <a:xfrm>
            <a:off x="346075" y="4932363"/>
            <a:ext cx="86250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264599" lvl="0" marL="264960" rtl="0" algn="ctr"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br>
              <a:rPr b="1" lang="es-AR" sz="2900">
                <a:solidFill>
                  <a:srgbClr val="95373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1" lang="es-AR" sz="2900">
                <a:solidFill>
                  <a:srgbClr val="95373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1" lang="es-AR" sz="2900">
                <a:solidFill>
                  <a:srgbClr val="95373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1" lang="es-AR" sz="1600">
                <a:solidFill>
                  <a:schemeClr val="dk1"/>
                </a:solidFill>
              </a:rPr>
            </a:br>
            <a:br>
              <a:rPr b="1" lang="es-AR" sz="1600">
                <a:solidFill>
                  <a:schemeClr val="dk1"/>
                </a:solidFill>
              </a:rPr>
            </a:br>
            <a:br>
              <a:rPr b="1" lang="es-AR" sz="1600">
                <a:solidFill>
                  <a:schemeClr val="dk1"/>
                </a:solidFill>
              </a:rPr>
            </a:br>
            <a:br>
              <a:rPr b="1" lang="es-AR" sz="1600">
                <a:solidFill>
                  <a:schemeClr val="dk1"/>
                </a:solidFill>
              </a:rPr>
            </a:br>
            <a:br>
              <a:rPr b="1" lang="es-AR" sz="1600">
                <a:solidFill>
                  <a:schemeClr val="dk1"/>
                </a:solidFill>
              </a:rPr>
            </a:br>
            <a:br>
              <a:rPr b="1" lang="es-AR" sz="1600">
                <a:solidFill>
                  <a:schemeClr val="dk1"/>
                </a:solidFill>
              </a:rPr>
            </a:br>
            <a:br>
              <a:rPr b="1" lang="es-AR" sz="1600">
                <a:solidFill>
                  <a:schemeClr val="dk1"/>
                </a:solidFill>
              </a:rPr>
            </a:br>
            <a:br>
              <a:rPr b="1" lang="es-AR" sz="1800">
                <a:solidFill>
                  <a:schemeClr val="dk1"/>
                </a:solidFill>
              </a:rPr>
            </a:br>
            <a:br>
              <a:rPr b="1" lang="es-AR" sz="1800">
                <a:solidFill>
                  <a:schemeClr val="dk1"/>
                </a:solidFill>
              </a:rPr>
            </a:br>
            <a:br>
              <a:rPr b="1" lang="es-AR" sz="1800">
                <a:solidFill>
                  <a:schemeClr val="dk1"/>
                </a:solidFill>
              </a:rPr>
            </a:br>
            <a:br>
              <a:rPr b="1" lang="es-AR" sz="1800">
                <a:solidFill>
                  <a:schemeClr val="dk1"/>
                </a:solidFill>
              </a:rPr>
            </a:br>
            <a:br>
              <a:rPr lang="es-AR" sz="18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</p:txBody>
      </p:sp>
      <p:sp>
        <p:nvSpPr>
          <p:cNvPr id="143" name="Google Shape;143;p27"/>
          <p:cNvSpPr txBox="1"/>
          <p:nvPr/>
        </p:nvSpPr>
        <p:spPr>
          <a:xfrm>
            <a:off x="790200" y="460450"/>
            <a:ext cx="756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7"/>
          <p:cNvSpPr txBox="1"/>
          <p:nvPr/>
        </p:nvSpPr>
        <p:spPr>
          <a:xfrm>
            <a:off x="1930575" y="1231950"/>
            <a:ext cx="533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7375" y="141975"/>
            <a:ext cx="3443401" cy="4859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