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5" r:id="rId2"/>
  </p:sldMasterIdLst>
  <p:notesMasterIdLst>
    <p:notesMasterId r:id="rId98"/>
  </p:notesMasterIdLst>
  <p:sldIdLst>
    <p:sldId id="599"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22" r:id="rId17"/>
    <p:sldId id="60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604" r:id="rId31"/>
    <p:sldId id="605" r:id="rId32"/>
    <p:sldId id="338" r:id="rId33"/>
    <p:sldId id="606" r:id="rId34"/>
    <p:sldId id="607"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608" r:id="rId49"/>
    <p:sldId id="355" r:id="rId50"/>
    <p:sldId id="356" r:id="rId51"/>
    <p:sldId id="610" r:id="rId52"/>
    <p:sldId id="358" r:id="rId53"/>
    <p:sldId id="611" r:id="rId54"/>
    <p:sldId id="612" r:id="rId55"/>
    <p:sldId id="362" r:id="rId56"/>
    <p:sldId id="363" r:id="rId57"/>
    <p:sldId id="364" r:id="rId58"/>
    <p:sldId id="365" r:id="rId59"/>
    <p:sldId id="366" r:id="rId60"/>
    <p:sldId id="367" r:id="rId61"/>
    <p:sldId id="368" r:id="rId62"/>
    <p:sldId id="369" r:id="rId63"/>
    <p:sldId id="370" r:id="rId64"/>
    <p:sldId id="371" r:id="rId65"/>
    <p:sldId id="372" r:id="rId66"/>
    <p:sldId id="613" r:id="rId67"/>
    <p:sldId id="374" r:id="rId68"/>
    <p:sldId id="614" r:id="rId69"/>
    <p:sldId id="615" r:id="rId70"/>
    <p:sldId id="379" r:id="rId71"/>
    <p:sldId id="380" r:id="rId72"/>
    <p:sldId id="381" r:id="rId73"/>
    <p:sldId id="382" r:id="rId74"/>
    <p:sldId id="383" r:id="rId75"/>
    <p:sldId id="384" r:id="rId76"/>
    <p:sldId id="385" r:id="rId77"/>
    <p:sldId id="386" r:id="rId78"/>
    <p:sldId id="387" r:id="rId79"/>
    <p:sldId id="616" r:id="rId80"/>
    <p:sldId id="389" r:id="rId81"/>
    <p:sldId id="390" r:id="rId82"/>
    <p:sldId id="617" r:id="rId83"/>
    <p:sldId id="392" r:id="rId84"/>
    <p:sldId id="618" r:id="rId85"/>
    <p:sldId id="619" r:id="rId86"/>
    <p:sldId id="399" r:id="rId87"/>
    <p:sldId id="400" r:id="rId88"/>
    <p:sldId id="401" r:id="rId89"/>
    <p:sldId id="620" r:id="rId90"/>
    <p:sldId id="403" r:id="rId91"/>
    <p:sldId id="404" r:id="rId92"/>
    <p:sldId id="405" r:id="rId93"/>
    <p:sldId id="406" r:id="rId94"/>
    <p:sldId id="407" r:id="rId95"/>
    <p:sldId id="408" r:id="rId96"/>
    <p:sldId id="410" r:id="rId97"/>
  </p:sldIdLst>
  <p:sldSz cx="12192000" cy="6858000"/>
  <p:notesSz cx="6858000" cy="9144000"/>
  <p:embeddedFontLst>
    <p:embeddedFont>
      <p:font typeface="Quattrocento Sans" panose="020B0604020202020204" charset="0"/>
      <p:regular r:id="rId99"/>
      <p:bold r:id="rId100"/>
      <p:italic r:id="rId101"/>
      <p:boldItalic r:id="rId102"/>
    </p:embeddedFont>
    <p:embeddedFont>
      <p:font typeface="Montserrat Medium" panose="020B0604020202020204" charset="0"/>
      <p:regular r:id="rId103"/>
      <p:bold r:id="rId104"/>
      <p:italic r:id="rId105"/>
      <p:boldItalic r:id="rId106"/>
    </p:embeddedFont>
    <p:embeddedFont>
      <p:font typeface="Montserrat" panose="020B0604020202020204" charset="0"/>
      <p:regular r:id="rId107"/>
      <p:bold r:id="rId108"/>
      <p:italic r:id="rId109"/>
      <p:boldItalic r:id="rId110"/>
    </p:embeddedFont>
    <p:embeddedFont>
      <p:font typeface="Calibri" panose="020F0502020204030204" pitchFamily="34" charset="0"/>
      <p:regular r:id="rId111"/>
      <p:bold r:id="rId112"/>
      <p:italic r:id="rId113"/>
      <p:boldItalic r:id="rId114"/>
    </p:embeddedFont>
    <p:embeddedFont>
      <p:font typeface="Tahoma" panose="020B0604030504040204" pitchFamily="34" charset="0"/>
      <p:regular r:id="rId115"/>
      <p:bold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4" roundtripDataSignature="AMtx7mj4sCvWHCaMPuajeSwHvJBEeyY5j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iel Pont" initials="" lastIdx="2" clrIdx="0"/>
  <p:cmAuthor id="1" name="Ariel Nicolás Pont" initials="" lastIdx="1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320"/>
    <a:srgbClr val="872789"/>
    <a:srgbClr val="E6E8E8"/>
    <a:srgbClr val="F0904E"/>
    <a:srgbClr val="F080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272BF2-6FC2-4F72-8B00-76E79A4D9CF1}">
  <a:tblStyle styleId="{41272BF2-6FC2-4F72-8B00-76E79A4D9CF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snapToGrid="0">
      <p:cViewPr varScale="1">
        <p:scale>
          <a:sx n="68" d="100"/>
          <a:sy n="68" d="100"/>
        </p:scale>
        <p:origin x="103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4.fntdata"/><Relationship Id="rId366"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font" Target="fonts/font9.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4.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15.fntdata"/><Relationship Id="rId367"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5.fntdata"/><Relationship Id="rId108" Type="http://schemas.openxmlformats.org/officeDocument/2006/relationships/font" Target="fonts/font10.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16.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36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1.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font" Target="fonts/font6.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12.fntdata"/><Relationship Id="rId115" Type="http://schemas.openxmlformats.org/officeDocument/2006/relationships/font" Target="fonts/font17.fntdata"/><Relationship Id="rId364" Type="http://customschemas.google.com/relationships/presentationmetadata" Target="metadata"/><Relationship Id="rId369"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2.fntdata"/><Relationship Id="rId105"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18.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13.fntdata"/><Relationship Id="rId365" Type="http://schemas.openxmlformats.org/officeDocument/2006/relationships/commentAuthors" Target="commentAuthor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font" Target="fonts/font1.fntdata"/><Relationship Id="rId101" Type="http://schemas.openxmlformats.org/officeDocument/2006/relationships/font" Target="fonts/font3.fntdata"/></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7-16T17:31:26.710" idx="7">
    <p:pos x="10" y="10"/>
    <p:text>El docente debe actualizar el link a donde los estudiantes van a subir la tarea.
Recordar actualizar el link también en el en la misma slide pero del archivo Ejercicio Asincrónico.</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AduZdRQ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4676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2" name="Google Shape;64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4.1.5</a:t>
            </a:r>
            <a:endParaRPr/>
          </a:p>
        </p:txBody>
      </p:sp>
      <p:sp>
        <p:nvSpPr>
          <p:cNvPr id="643" name="Google Shape;64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7" name="Google Shape;66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8" name="Google Shape;69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4.1.6</a:t>
            </a:r>
            <a:endParaRPr/>
          </a:p>
        </p:txBody>
      </p:sp>
      <p:sp>
        <p:nvSpPr>
          <p:cNvPr id="734" name="Google Shape;734;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16</a:t>
            </a:fld>
            <a:endParaRPr/>
          </a:p>
        </p:txBody>
      </p:sp>
    </p:spTree>
    <p:extLst>
      <p:ext uri="{BB962C8B-B14F-4D97-AF65-F5344CB8AC3E}">
        <p14:creationId xmlns:p14="http://schemas.microsoft.com/office/powerpoint/2010/main" val="341360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997" name="Google Shape;997;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28" name="Google Shape;1028;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38" name="Google Shape;1038;p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47" name="Google Shape;1047;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56" name="Google Shape;1056;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69" name="Google Shape;1069;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a:t>
            </a:fld>
            <a:endParaRPr/>
          </a:p>
        </p:txBody>
      </p:sp>
    </p:spTree>
    <p:extLst>
      <p:ext uri="{BB962C8B-B14F-4D97-AF65-F5344CB8AC3E}">
        <p14:creationId xmlns:p14="http://schemas.microsoft.com/office/powerpoint/2010/main" val="602526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a:t>
            </a:fld>
            <a:endParaRPr/>
          </a:p>
        </p:txBody>
      </p:sp>
    </p:spTree>
    <p:extLst>
      <p:ext uri="{BB962C8B-B14F-4D97-AF65-F5344CB8AC3E}">
        <p14:creationId xmlns:p14="http://schemas.microsoft.com/office/powerpoint/2010/main" val="2947970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96" name="Google Shape;1096;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a:t>
            </a:fld>
            <a:endParaRPr/>
          </a:p>
        </p:txBody>
      </p:sp>
    </p:spTree>
    <p:extLst>
      <p:ext uri="{BB962C8B-B14F-4D97-AF65-F5344CB8AC3E}">
        <p14:creationId xmlns:p14="http://schemas.microsoft.com/office/powerpoint/2010/main" val="9996104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33</a:t>
            </a:fld>
            <a:endParaRPr/>
          </a:p>
        </p:txBody>
      </p:sp>
    </p:spTree>
    <p:extLst>
      <p:ext uri="{BB962C8B-B14F-4D97-AF65-F5344CB8AC3E}">
        <p14:creationId xmlns:p14="http://schemas.microsoft.com/office/powerpoint/2010/main" val="26145413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3" name="Google Shape;1143;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2" name="Google Shape;1152;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3" name="Google Shape;1153;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9" name="Google Shape;1159;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4" name="Google Shape;1184;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5" name="Google Shape;1185;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7" name="Google Shape;1197;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98" name="Google Shape;1198;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0" name="Google Shape;1210;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11" name="Google Shape;1211;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3" name="Google Shape;1223;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24" name="Google Shape;1224;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6" name="Google Shape;1236;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3" name="Google Shape;1243;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0" name="Google Shape;1250;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47</a:t>
            </a:fld>
            <a:endParaRPr/>
          </a:p>
        </p:txBody>
      </p:sp>
    </p:spTree>
    <p:extLst>
      <p:ext uri="{BB962C8B-B14F-4D97-AF65-F5344CB8AC3E}">
        <p14:creationId xmlns:p14="http://schemas.microsoft.com/office/powerpoint/2010/main" val="7067506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4" name="Google Shape;1264;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65" name="Google Shape;1265;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0" name="Google Shape;1270;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1" name="Google Shape;1271;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5007f1fff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5007f1fff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3416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4" name="Google Shape;1304;p1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52</a:t>
            </a:fld>
            <a:endParaRPr/>
          </a:p>
        </p:txBody>
      </p:sp>
    </p:spTree>
    <p:extLst>
      <p:ext uri="{BB962C8B-B14F-4D97-AF65-F5344CB8AC3E}">
        <p14:creationId xmlns:p14="http://schemas.microsoft.com/office/powerpoint/2010/main" val="27320550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53</a:t>
            </a:fld>
            <a:endParaRPr/>
          </a:p>
        </p:txBody>
      </p:sp>
    </p:spTree>
    <p:extLst>
      <p:ext uri="{BB962C8B-B14F-4D97-AF65-F5344CB8AC3E}">
        <p14:creationId xmlns:p14="http://schemas.microsoft.com/office/powerpoint/2010/main" val="21720080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1" name="Google Shape;1331;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2" name="Google Shape;1332;p1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0" name="Google Shape;1340;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1" name="Google Shape;1341;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9" name="Google Shape;1349;p1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0" name="Google Shape;1350;p1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8" name="Google Shape;1358;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9" name="Google Shape;1359;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7" name="Google Shape;1367;p1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8" name="Google Shape;1368;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6" name="Google Shape;1376;p1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7" name="Google Shape;1377;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p1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6" name="Google Shape;1386;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4" name="Google Shape;1394;p1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5" name="Google Shape;1395;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3" name="Google Shape;1403;p1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4" name="Google Shape;1404;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3" name="Google Shape;1413;p1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4" name="Google Shape;1414;p1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3" name="Google Shape;1423;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4" name="Google Shape;1424;p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65</a:t>
            </a:fld>
            <a:endParaRPr/>
          </a:p>
        </p:txBody>
      </p:sp>
    </p:spTree>
    <p:extLst>
      <p:ext uri="{BB962C8B-B14F-4D97-AF65-F5344CB8AC3E}">
        <p14:creationId xmlns:p14="http://schemas.microsoft.com/office/powerpoint/2010/main" val="9536962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8" name="Google Shape;1438;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439" name="Google Shape;1439;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67</a:t>
            </a:fld>
            <a:endParaRPr/>
          </a:p>
        </p:txBody>
      </p:sp>
    </p:spTree>
    <p:extLst>
      <p:ext uri="{BB962C8B-B14F-4D97-AF65-F5344CB8AC3E}">
        <p14:creationId xmlns:p14="http://schemas.microsoft.com/office/powerpoint/2010/main" val="26077215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68</a:t>
            </a:fld>
            <a:endParaRPr/>
          </a:p>
        </p:txBody>
      </p:sp>
    </p:spTree>
    <p:extLst>
      <p:ext uri="{BB962C8B-B14F-4D97-AF65-F5344CB8AC3E}">
        <p14:creationId xmlns:p14="http://schemas.microsoft.com/office/powerpoint/2010/main" val="20923182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1" name="Google Shape;1491;p1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2" name="Google Shape;1492;p1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8" name="Google Shape;1498;p1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9" name="Google Shape;1499;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5" name="Google Shape;1505;p1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6" name="Google Shape;1506;p1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1" name="Google Shape;1511;p1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2" name="Google Shape;1512;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9" name="Google Shape;1519;p1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0" name="Google Shape;1520;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8" name="Google Shape;1528;p1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9" name="Google Shape;1529;p1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7" name="Google Shape;1537;p1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8" name="Google Shape;1538;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p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5" name="Google Shape;1545;p1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6" name="Google Shape;1546;p1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8" name="Google Shape;1558;p1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9" name="Google Shape;1559;p1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78</a:t>
            </a:fld>
            <a:endParaRPr/>
          </a:p>
        </p:txBody>
      </p:sp>
    </p:spTree>
    <p:extLst>
      <p:ext uri="{BB962C8B-B14F-4D97-AF65-F5344CB8AC3E}">
        <p14:creationId xmlns:p14="http://schemas.microsoft.com/office/powerpoint/2010/main" val="5535082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1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p1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9" name="Google Shape;1579;p1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5" name="Google Shape;1585;p1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586" name="Google Shape;1586;p1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81</a:t>
            </a:fld>
            <a:endParaRPr/>
          </a:p>
        </p:txBody>
      </p:sp>
    </p:spTree>
    <p:extLst>
      <p:ext uri="{BB962C8B-B14F-4D97-AF65-F5344CB8AC3E}">
        <p14:creationId xmlns:p14="http://schemas.microsoft.com/office/powerpoint/2010/main" val="24690620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p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6" name="Google Shape;1606;p1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607" name="Google Shape;1607;p1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83</a:t>
            </a:fld>
            <a:endParaRPr/>
          </a:p>
        </p:txBody>
      </p:sp>
    </p:spTree>
    <p:extLst>
      <p:ext uri="{BB962C8B-B14F-4D97-AF65-F5344CB8AC3E}">
        <p14:creationId xmlns:p14="http://schemas.microsoft.com/office/powerpoint/2010/main" val="16813250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84</a:t>
            </a:fld>
            <a:endParaRPr/>
          </a:p>
        </p:txBody>
      </p:sp>
    </p:spTree>
    <p:extLst>
      <p:ext uri="{BB962C8B-B14F-4D97-AF65-F5344CB8AC3E}">
        <p14:creationId xmlns:p14="http://schemas.microsoft.com/office/powerpoint/2010/main" val="13955811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p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8" name="Google Shape;1678;p1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9" name="Google Shape;1679;p1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p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2" name="Google Shape;1692;p1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3" name="Google Shape;1693;p1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4"/>
        <p:cNvGrpSpPr/>
        <p:nvPr/>
      </p:nvGrpSpPr>
      <p:grpSpPr>
        <a:xfrm>
          <a:off x="0" y="0"/>
          <a:ext cx="0" cy="0"/>
          <a:chOff x="0" y="0"/>
          <a:chExt cx="0" cy="0"/>
        </a:xfrm>
      </p:grpSpPr>
      <p:sp>
        <p:nvSpPr>
          <p:cNvPr id="1705" name="Google Shape;1705;p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6" name="Google Shape;1706;p1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7" name="Google Shape;1707;p1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88</a:t>
            </a:fld>
            <a:endParaRPr/>
          </a:p>
        </p:txBody>
      </p:sp>
    </p:spTree>
    <p:extLst>
      <p:ext uri="{BB962C8B-B14F-4D97-AF65-F5344CB8AC3E}">
        <p14:creationId xmlns:p14="http://schemas.microsoft.com/office/powerpoint/2010/main" val="78153840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p1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7" name="Google Shape;1727;p1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28" name="Google Shape;1728;p1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2"/>
        <p:cNvGrpSpPr/>
        <p:nvPr/>
      </p:nvGrpSpPr>
      <p:grpSpPr>
        <a:xfrm>
          <a:off x="0" y="0"/>
          <a:ext cx="0" cy="0"/>
          <a:chOff x="0" y="0"/>
          <a:chExt cx="0" cy="0"/>
        </a:xfrm>
      </p:grpSpPr>
      <p:sp>
        <p:nvSpPr>
          <p:cNvPr id="1733" name="Google Shape;1733;p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4" name="Google Shape;1734;p1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35" name="Google Shape;1735;p1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5"/>
        <p:cNvGrpSpPr/>
        <p:nvPr/>
      </p:nvGrpSpPr>
      <p:grpSpPr>
        <a:xfrm>
          <a:off x="0" y="0"/>
          <a:ext cx="0" cy="0"/>
          <a:chOff x="0" y="0"/>
          <a:chExt cx="0" cy="0"/>
        </a:xfrm>
      </p:grpSpPr>
      <p:sp>
        <p:nvSpPr>
          <p:cNvPr id="1746" name="Google Shape;1746;p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7" name="Google Shape;1747;p1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48" name="Google Shape;1748;p1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4"/>
        <p:cNvGrpSpPr/>
        <p:nvPr/>
      </p:nvGrpSpPr>
      <p:grpSpPr>
        <a:xfrm>
          <a:off x="0" y="0"/>
          <a:ext cx="0" cy="0"/>
          <a:chOff x="0" y="0"/>
          <a:chExt cx="0" cy="0"/>
        </a:xfrm>
      </p:grpSpPr>
      <p:sp>
        <p:nvSpPr>
          <p:cNvPr id="1755" name="Google Shape;1755;p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6" name="Google Shape;1756;p1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57" name="Google Shape;1757;p1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1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70" name="Google Shape;1770;p1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p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8" name="Google Shape;1778;p1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79" name="Google Shape;1779;p1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p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7" name="Google Shape;1797;p1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8" name="Google Shape;1798;p1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4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4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3"/>
        <p:cNvGrpSpPr/>
        <p:nvPr/>
      </p:nvGrpSpPr>
      <p:grpSpPr>
        <a:xfrm>
          <a:off x="0" y="0"/>
          <a:ext cx="0" cy="0"/>
          <a:chOff x="0" y="0"/>
          <a:chExt cx="0" cy="0"/>
        </a:xfrm>
      </p:grpSpPr>
      <p:sp>
        <p:nvSpPr>
          <p:cNvPr id="34" name="Google Shape;34;p3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3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39"/>
        <p:cNvGrpSpPr/>
        <p:nvPr/>
      </p:nvGrpSpPr>
      <p:grpSpPr>
        <a:xfrm>
          <a:off x="0" y="0"/>
          <a:ext cx="0" cy="0"/>
          <a:chOff x="0" y="0"/>
          <a:chExt cx="0" cy="0"/>
        </a:xfrm>
      </p:grpSpPr>
      <p:sp>
        <p:nvSpPr>
          <p:cNvPr id="40" name="Google Shape;40;p375"/>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5"/>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3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5"/>
        <p:cNvGrpSpPr/>
        <p:nvPr/>
      </p:nvGrpSpPr>
      <p:grpSpPr>
        <a:xfrm>
          <a:off x="0" y="0"/>
          <a:ext cx="0" cy="0"/>
          <a:chOff x="0" y="0"/>
          <a:chExt cx="0" cy="0"/>
        </a:xfrm>
      </p:grpSpPr>
      <p:sp>
        <p:nvSpPr>
          <p:cNvPr id="46" name="Google Shape;46;p3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7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2"/>
        <p:cNvGrpSpPr/>
        <p:nvPr/>
      </p:nvGrpSpPr>
      <p:grpSpPr>
        <a:xfrm>
          <a:off x="0" y="0"/>
          <a:ext cx="0" cy="0"/>
          <a:chOff x="0" y="0"/>
          <a:chExt cx="0" cy="0"/>
        </a:xfrm>
      </p:grpSpPr>
      <p:sp>
        <p:nvSpPr>
          <p:cNvPr id="53" name="Google Shape;53;p37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7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37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7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37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61"/>
        <p:cNvGrpSpPr/>
        <p:nvPr/>
      </p:nvGrpSpPr>
      <p:grpSpPr>
        <a:xfrm>
          <a:off x="0" y="0"/>
          <a:ext cx="0" cy="0"/>
          <a:chOff x="0" y="0"/>
          <a:chExt cx="0" cy="0"/>
        </a:xfrm>
      </p:grpSpPr>
      <p:sp>
        <p:nvSpPr>
          <p:cNvPr id="62" name="Google Shape;62;p378"/>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78"/>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378"/>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8"/>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378"/>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3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70"/>
        <p:cNvGrpSpPr/>
        <p:nvPr/>
      </p:nvGrpSpPr>
      <p:grpSpPr>
        <a:xfrm>
          <a:off x="0" y="0"/>
          <a:ext cx="0" cy="0"/>
          <a:chOff x="0" y="0"/>
          <a:chExt cx="0" cy="0"/>
        </a:xfrm>
      </p:grpSpPr>
      <p:sp>
        <p:nvSpPr>
          <p:cNvPr id="71" name="Google Shape;71;p3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5"/>
        <p:cNvGrpSpPr/>
        <p:nvPr/>
      </p:nvGrpSpPr>
      <p:grpSpPr>
        <a:xfrm>
          <a:off x="0" y="0"/>
          <a:ext cx="0" cy="0"/>
          <a:chOff x="0" y="0"/>
          <a:chExt cx="0" cy="0"/>
        </a:xfrm>
      </p:grpSpPr>
      <p:sp>
        <p:nvSpPr>
          <p:cNvPr id="76" name="Google Shape;76;p3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9"/>
        <p:cNvGrpSpPr/>
        <p:nvPr/>
      </p:nvGrpSpPr>
      <p:grpSpPr>
        <a:xfrm>
          <a:off x="0" y="0"/>
          <a:ext cx="0" cy="0"/>
          <a:chOff x="0" y="0"/>
          <a:chExt cx="0" cy="0"/>
        </a:xfrm>
      </p:grpSpPr>
      <p:sp>
        <p:nvSpPr>
          <p:cNvPr id="80" name="Google Shape;80;p3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8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2" name="Google Shape;82;p38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3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86"/>
        <p:cNvGrpSpPr/>
        <p:nvPr/>
      </p:nvGrpSpPr>
      <p:grpSpPr>
        <a:xfrm>
          <a:off x="0" y="0"/>
          <a:ext cx="0" cy="0"/>
          <a:chOff x="0" y="0"/>
          <a:chExt cx="0" cy="0"/>
        </a:xfrm>
      </p:grpSpPr>
      <p:sp>
        <p:nvSpPr>
          <p:cNvPr id="87" name="Google Shape;87;p3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2"/>
          <p:cNvSpPr>
            <a:spLocks noGrp="1"/>
          </p:cNvSpPr>
          <p:nvPr>
            <p:ph type="pic" idx="2"/>
          </p:nvPr>
        </p:nvSpPr>
        <p:spPr>
          <a:xfrm>
            <a:off x="5183188" y="987425"/>
            <a:ext cx="6172200" cy="4873625"/>
          </a:xfrm>
          <a:prstGeom prst="rect">
            <a:avLst/>
          </a:prstGeom>
          <a:noFill/>
          <a:ln>
            <a:noFill/>
          </a:ln>
        </p:spPr>
      </p:sp>
      <p:sp>
        <p:nvSpPr>
          <p:cNvPr id="89" name="Google Shape;89;p3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3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93"/>
        <p:cNvGrpSpPr/>
        <p:nvPr/>
      </p:nvGrpSpPr>
      <p:grpSpPr>
        <a:xfrm>
          <a:off x="0" y="0"/>
          <a:ext cx="0" cy="0"/>
          <a:chOff x="0" y="0"/>
          <a:chExt cx="0" cy="0"/>
        </a:xfrm>
      </p:grpSpPr>
      <p:sp>
        <p:nvSpPr>
          <p:cNvPr id="94" name="Google Shape;94;p3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83"/>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6" name="Google Shape;96;p38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7" name="Google Shape;97;p3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100"/>
        <p:cNvGrpSpPr/>
        <p:nvPr/>
      </p:nvGrpSpPr>
      <p:grpSpPr>
        <a:xfrm>
          <a:off x="0" y="0"/>
          <a:ext cx="0" cy="0"/>
          <a:chOff x="0" y="0"/>
          <a:chExt cx="0" cy="0"/>
        </a:xfrm>
      </p:grpSpPr>
      <p:sp>
        <p:nvSpPr>
          <p:cNvPr id="101" name="Google Shape;101;p3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384"/>
          <p:cNvSpPr>
            <a:spLocks noGrp="1"/>
          </p:cNvSpPr>
          <p:nvPr>
            <p:ph type="pic" idx="2"/>
          </p:nvPr>
        </p:nvSpPr>
        <p:spPr>
          <a:xfrm>
            <a:off x="5183188" y="987427"/>
            <a:ext cx="6172200" cy="4873625"/>
          </a:xfrm>
          <a:prstGeom prst="rect">
            <a:avLst/>
          </a:prstGeom>
          <a:noFill/>
          <a:ln>
            <a:noFill/>
          </a:ln>
        </p:spPr>
      </p:sp>
      <p:sp>
        <p:nvSpPr>
          <p:cNvPr id="103" name="Google Shape;103;p3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 name="Google Shape;104;p3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07"/>
        <p:cNvGrpSpPr/>
        <p:nvPr/>
      </p:nvGrpSpPr>
      <p:grpSpPr>
        <a:xfrm>
          <a:off x="0" y="0"/>
          <a:ext cx="0" cy="0"/>
          <a:chOff x="0" y="0"/>
          <a:chExt cx="0" cy="0"/>
        </a:xfrm>
      </p:grpSpPr>
      <p:sp>
        <p:nvSpPr>
          <p:cNvPr id="108" name="Google Shape;108;p3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38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3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13"/>
        <p:cNvGrpSpPr/>
        <p:nvPr/>
      </p:nvGrpSpPr>
      <p:grpSpPr>
        <a:xfrm>
          <a:off x="0" y="0"/>
          <a:ext cx="0" cy="0"/>
          <a:chOff x="0" y="0"/>
          <a:chExt cx="0" cy="0"/>
        </a:xfrm>
      </p:grpSpPr>
      <p:sp>
        <p:nvSpPr>
          <p:cNvPr id="114" name="Google Shape;114;p38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8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3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3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3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25"/>
        <p:cNvGrpSpPr/>
        <p:nvPr/>
      </p:nvGrpSpPr>
      <p:grpSpPr>
        <a:xfrm>
          <a:off x="0" y="0"/>
          <a:ext cx="0" cy="0"/>
          <a:chOff x="0" y="0"/>
          <a:chExt cx="0" cy="0"/>
        </a:xfrm>
      </p:grpSpPr>
      <p:sp>
        <p:nvSpPr>
          <p:cNvPr id="126" name="Google Shape;126;p35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5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8" name="Google Shape;128;p3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3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31"/>
        <p:cNvGrpSpPr/>
        <p:nvPr/>
      </p:nvGrpSpPr>
      <p:grpSpPr>
        <a:xfrm>
          <a:off x="0" y="0"/>
          <a:ext cx="0" cy="0"/>
          <a:chOff x="0" y="0"/>
          <a:chExt cx="0" cy="0"/>
        </a:xfrm>
      </p:grpSpPr>
      <p:sp>
        <p:nvSpPr>
          <p:cNvPr id="132" name="Google Shape;132;p3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3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35"/>
        <p:cNvGrpSpPr/>
        <p:nvPr/>
      </p:nvGrpSpPr>
      <p:grpSpPr>
        <a:xfrm>
          <a:off x="0" y="0"/>
          <a:ext cx="0" cy="0"/>
          <a:chOff x="0" y="0"/>
          <a:chExt cx="0" cy="0"/>
        </a:xfrm>
      </p:grpSpPr>
      <p:sp>
        <p:nvSpPr>
          <p:cNvPr id="136" name="Google Shape;136;p3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3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3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3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41"/>
        <p:cNvGrpSpPr/>
        <p:nvPr/>
      </p:nvGrpSpPr>
      <p:grpSpPr>
        <a:xfrm>
          <a:off x="0" y="0"/>
          <a:ext cx="0" cy="0"/>
          <a:chOff x="0" y="0"/>
          <a:chExt cx="0" cy="0"/>
        </a:xfrm>
      </p:grpSpPr>
      <p:sp>
        <p:nvSpPr>
          <p:cNvPr id="142" name="Google Shape;142;p3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3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4" name="Google Shape;144;p3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3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3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47"/>
        <p:cNvGrpSpPr/>
        <p:nvPr/>
      </p:nvGrpSpPr>
      <p:grpSpPr>
        <a:xfrm>
          <a:off x="0" y="0"/>
          <a:ext cx="0" cy="0"/>
          <a:chOff x="0" y="0"/>
          <a:chExt cx="0" cy="0"/>
        </a:xfrm>
      </p:grpSpPr>
      <p:sp>
        <p:nvSpPr>
          <p:cNvPr id="148" name="Google Shape;148;p3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3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3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3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3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54"/>
        <p:cNvGrpSpPr/>
        <p:nvPr/>
      </p:nvGrpSpPr>
      <p:grpSpPr>
        <a:xfrm>
          <a:off x="0" y="0"/>
          <a:ext cx="0" cy="0"/>
          <a:chOff x="0" y="0"/>
          <a:chExt cx="0" cy="0"/>
        </a:xfrm>
      </p:grpSpPr>
      <p:sp>
        <p:nvSpPr>
          <p:cNvPr id="155" name="Google Shape;155;p3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36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7" name="Google Shape;157;p36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36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9" name="Google Shape;159;p36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3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3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3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63"/>
        <p:cNvGrpSpPr/>
        <p:nvPr/>
      </p:nvGrpSpPr>
      <p:grpSpPr>
        <a:xfrm>
          <a:off x="0" y="0"/>
          <a:ext cx="0" cy="0"/>
          <a:chOff x="0" y="0"/>
          <a:chExt cx="0" cy="0"/>
        </a:xfrm>
      </p:grpSpPr>
      <p:sp>
        <p:nvSpPr>
          <p:cNvPr id="164" name="Google Shape;164;p3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3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3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3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68"/>
        <p:cNvGrpSpPr/>
        <p:nvPr/>
      </p:nvGrpSpPr>
      <p:grpSpPr>
        <a:xfrm>
          <a:off x="0" y="0"/>
          <a:ext cx="0" cy="0"/>
          <a:chOff x="0" y="0"/>
          <a:chExt cx="0" cy="0"/>
        </a:xfrm>
      </p:grpSpPr>
      <p:sp>
        <p:nvSpPr>
          <p:cNvPr id="169" name="Google Shape;169;p3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36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71" name="Google Shape;171;p36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2" name="Google Shape;172;p3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3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3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5"/>
        <p:cNvGrpSpPr/>
        <p:nvPr/>
      </p:nvGrpSpPr>
      <p:grpSpPr>
        <a:xfrm>
          <a:off x="0" y="0"/>
          <a:ext cx="0" cy="0"/>
          <a:chOff x="0" y="0"/>
          <a:chExt cx="0" cy="0"/>
        </a:xfrm>
      </p:grpSpPr>
      <p:sp>
        <p:nvSpPr>
          <p:cNvPr id="176" name="Google Shape;176;p3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370"/>
          <p:cNvSpPr>
            <a:spLocks noGrp="1"/>
          </p:cNvSpPr>
          <p:nvPr>
            <p:ph type="pic" idx="2"/>
          </p:nvPr>
        </p:nvSpPr>
        <p:spPr>
          <a:xfrm>
            <a:off x="5183188" y="987425"/>
            <a:ext cx="6172200" cy="4873625"/>
          </a:xfrm>
          <a:prstGeom prst="rect">
            <a:avLst/>
          </a:prstGeom>
          <a:noFill/>
          <a:ln>
            <a:noFill/>
          </a:ln>
        </p:spPr>
      </p:sp>
      <p:sp>
        <p:nvSpPr>
          <p:cNvPr id="178" name="Google Shape;178;p37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9" name="Google Shape;179;p3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3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3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82"/>
        <p:cNvGrpSpPr/>
        <p:nvPr/>
      </p:nvGrpSpPr>
      <p:grpSpPr>
        <a:xfrm>
          <a:off x="0" y="0"/>
          <a:ext cx="0" cy="0"/>
          <a:chOff x="0" y="0"/>
          <a:chExt cx="0" cy="0"/>
        </a:xfrm>
      </p:grpSpPr>
      <p:sp>
        <p:nvSpPr>
          <p:cNvPr id="183" name="Google Shape;183;p3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37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3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p3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3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88"/>
        <p:cNvGrpSpPr/>
        <p:nvPr/>
      </p:nvGrpSpPr>
      <p:grpSpPr>
        <a:xfrm>
          <a:off x="0" y="0"/>
          <a:ext cx="0" cy="0"/>
          <a:chOff x="0" y="0"/>
          <a:chExt cx="0" cy="0"/>
        </a:xfrm>
      </p:grpSpPr>
      <p:sp>
        <p:nvSpPr>
          <p:cNvPr id="189" name="Google Shape;189;p37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37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3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3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3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9"/>
        <p:cNvGrpSpPr/>
        <p:nvPr/>
      </p:nvGrpSpPr>
      <p:grpSpPr>
        <a:xfrm>
          <a:off x="0" y="0"/>
          <a:ext cx="0" cy="0"/>
          <a:chOff x="0" y="0"/>
          <a:chExt cx="0" cy="0"/>
        </a:xfrm>
      </p:grpSpPr>
      <p:sp>
        <p:nvSpPr>
          <p:cNvPr id="120" name="Google Shape;120;p3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 name="Google Shape;121;p3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2" name="Google Shape;122;p3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3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3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8.jpeg"/><Relationship Id="rId5" Type="http://schemas.openxmlformats.org/officeDocument/2006/relationships/hyperlink" Target="https://code.visualstudio.com/"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11.png"/><Relationship Id="rId2" Type="http://schemas.openxmlformats.org/officeDocument/2006/relationships/notesSlide" Target="../notesSlides/notesSlide3.xml"/><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62.png"/><Relationship Id="rId5" Type="http://schemas.openxmlformats.org/officeDocument/2006/relationships/image" Target="../media/image10.png"/><Relationship Id="rId19" Type="http://schemas.openxmlformats.org/officeDocument/2006/relationships/image" Target="../media/image23.png"/><Relationship Id="rId4" Type="http://schemas.openxmlformats.org/officeDocument/2006/relationships/hyperlink" Target="https://miro.com/app/board/o9J_ksYpet0=/" TargetMode="External"/><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9.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png"/><Relationship Id="rId20" Type="http://schemas.openxmlformats.org/officeDocument/2006/relationships/image" Target="../media/image24.png"/><Relationship Id="rId41" Type="http://schemas.openxmlformats.org/officeDocument/2006/relationships/image" Target="../media/image45.png"/><Relationship Id="rId54" Type="http://schemas.openxmlformats.org/officeDocument/2006/relationships/image" Target="../media/image58.png"/><Relationship Id="rId1" Type="http://schemas.openxmlformats.org/officeDocument/2006/relationships/slideLayout" Target="../slideLayouts/slideLayout16.xml"/><Relationship Id="rId6" Type="http://schemas.openxmlformats.org/officeDocument/2006/relationships/image" Target="../media/image8.jpe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4.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7" Type="http://schemas.openxmlformats.org/officeDocument/2006/relationships/image" Target="../media/image12.png"/><Relationship Id="rId2" Type="http://schemas.openxmlformats.org/officeDocument/2006/relationships/notesSlide" Target="../notesSlides/notesSlide4.xml"/><Relationship Id="rId16" Type="http://schemas.openxmlformats.org/officeDocument/2006/relationships/image" Target="../media/image21.png"/><Relationship Id="rId29" Type="http://schemas.openxmlformats.org/officeDocument/2006/relationships/image" Target="../media/image34.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9" Type="http://schemas.openxmlformats.org/officeDocument/2006/relationships/image" Target="../media/image24.png"/><Relationship Id="rId4" Type="http://schemas.openxmlformats.org/officeDocument/2006/relationships/hyperlink" Target="https://miro.com/app/board/o9J_ksYpet0=/" TargetMode="External"/><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65.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 Id="rId20" Type="http://schemas.openxmlformats.org/officeDocument/2006/relationships/image" Target="../media/image25.png"/><Relationship Id="rId41" Type="http://schemas.openxmlformats.org/officeDocument/2006/relationships/image" Target="../media/image46.png"/><Relationship Id="rId54"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10" Type="http://schemas.openxmlformats.org/officeDocument/2006/relationships/image" Target="../media/image15.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8.jpeg"/></Relationships>
</file>

<file path=ppt/slides/_rels/slide5.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11.png"/><Relationship Id="rId2" Type="http://schemas.openxmlformats.org/officeDocument/2006/relationships/notesSlide" Target="../notesSlides/notesSlide5.xml"/><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62.png"/><Relationship Id="rId5" Type="http://schemas.openxmlformats.org/officeDocument/2006/relationships/image" Target="../media/image10.png"/><Relationship Id="rId19" Type="http://schemas.openxmlformats.org/officeDocument/2006/relationships/image" Target="../media/image23.png"/><Relationship Id="rId4" Type="http://schemas.openxmlformats.org/officeDocument/2006/relationships/hyperlink" Target="https://miro.com/app/board/o9J_ksYpet0=/" TargetMode="External"/><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65.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png"/><Relationship Id="rId20" Type="http://schemas.openxmlformats.org/officeDocument/2006/relationships/image" Target="../media/image24.png"/><Relationship Id="rId41" Type="http://schemas.openxmlformats.org/officeDocument/2006/relationships/image" Target="../media/image45.png"/><Relationship Id="rId54" Type="http://schemas.openxmlformats.org/officeDocument/2006/relationships/image" Target="../media/image58.png"/><Relationship Id="rId1" Type="http://schemas.openxmlformats.org/officeDocument/2006/relationships/slideLayout" Target="../slideLayouts/slideLayout16.xml"/><Relationship Id="rId6" Type="http://schemas.openxmlformats.org/officeDocument/2006/relationships/image" Target="../media/image8.jpe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6.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7" Type="http://schemas.openxmlformats.org/officeDocument/2006/relationships/image" Target="../media/image12.png"/><Relationship Id="rId2" Type="http://schemas.openxmlformats.org/officeDocument/2006/relationships/notesSlide" Target="../notesSlides/notesSlide6.xml"/><Relationship Id="rId16" Type="http://schemas.openxmlformats.org/officeDocument/2006/relationships/image" Target="../media/image21.png"/><Relationship Id="rId29" Type="http://schemas.openxmlformats.org/officeDocument/2006/relationships/image" Target="../media/image34.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9" Type="http://schemas.openxmlformats.org/officeDocument/2006/relationships/image" Target="../media/image24.png"/><Relationship Id="rId4" Type="http://schemas.openxmlformats.org/officeDocument/2006/relationships/hyperlink" Target="https://miro.com/app/board/o9J_ksYpet0=/" TargetMode="External"/><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66.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 Id="rId20" Type="http://schemas.openxmlformats.org/officeDocument/2006/relationships/image" Target="../media/image25.png"/><Relationship Id="rId41" Type="http://schemas.openxmlformats.org/officeDocument/2006/relationships/image" Target="../media/image46.png"/><Relationship Id="rId54"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10" Type="http://schemas.openxmlformats.org/officeDocument/2006/relationships/image" Target="../media/image15.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8.jpeg"/></Relationships>
</file>

<file path=ppt/slides/_rels/slide7.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11.png"/><Relationship Id="rId2" Type="http://schemas.openxmlformats.org/officeDocument/2006/relationships/notesSlide" Target="../notesSlides/notesSlide7.xml"/><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62.png"/><Relationship Id="rId5" Type="http://schemas.openxmlformats.org/officeDocument/2006/relationships/image" Target="../media/image10.png"/><Relationship Id="rId19" Type="http://schemas.openxmlformats.org/officeDocument/2006/relationships/image" Target="../media/image23.png"/><Relationship Id="rId4" Type="http://schemas.openxmlformats.org/officeDocument/2006/relationships/hyperlink" Target="https://miro.com/app/board/o9J_ksYpet0=/" TargetMode="External"/><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66.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png"/><Relationship Id="rId20" Type="http://schemas.openxmlformats.org/officeDocument/2006/relationships/image" Target="../media/image24.png"/><Relationship Id="rId41" Type="http://schemas.openxmlformats.org/officeDocument/2006/relationships/image" Target="../media/image45.png"/><Relationship Id="rId54" Type="http://schemas.openxmlformats.org/officeDocument/2006/relationships/image" Target="../media/image58.png"/><Relationship Id="rId1" Type="http://schemas.openxmlformats.org/officeDocument/2006/relationships/slideLayout" Target="../slideLayouts/slideLayout16.xml"/><Relationship Id="rId6" Type="http://schemas.openxmlformats.org/officeDocument/2006/relationships/image" Target="../media/image8.jpe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8.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7" Type="http://schemas.openxmlformats.org/officeDocument/2006/relationships/image" Target="../media/image12.png"/><Relationship Id="rId2" Type="http://schemas.openxmlformats.org/officeDocument/2006/relationships/notesSlide" Target="../notesSlides/notesSlide8.xml"/><Relationship Id="rId16" Type="http://schemas.openxmlformats.org/officeDocument/2006/relationships/image" Target="../media/image21.png"/><Relationship Id="rId29" Type="http://schemas.openxmlformats.org/officeDocument/2006/relationships/image" Target="../media/image34.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9" Type="http://schemas.openxmlformats.org/officeDocument/2006/relationships/image" Target="../media/image24.png"/><Relationship Id="rId4" Type="http://schemas.openxmlformats.org/officeDocument/2006/relationships/hyperlink" Target="https://miro.com/app/board/o9J_ksYpet0=/" TargetMode="External"/><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67.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 Id="rId20" Type="http://schemas.openxmlformats.org/officeDocument/2006/relationships/image" Target="../media/image25.png"/><Relationship Id="rId41" Type="http://schemas.openxmlformats.org/officeDocument/2006/relationships/image" Target="../media/image46.png"/><Relationship Id="rId54"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10" Type="http://schemas.openxmlformats.org/officeDocument/2006/relationships/image" Target="../media/image15.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8.jpeg"/></Relationships>
</file>

<file path=ppt/slides/_rels/slide9.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11.png"/><Relationship Id="rId2" Type="http://schemas.openxmlformats.org/officeDocument/2006/relationships/notesSlide" Target="../notesSlides/notesSlide9.xml"/><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62.png"/><Relationship Id="rId5" Type="http://schemas.openxmlformats.org/officeDocument/2006/relationships/image" Target="../media/image10.png"/><Relationship Id="rId19" Type="http://schemas.openxmlformats.org/officeDocument/2006/relationships/image" Target="../media/image23.png"/><Relationship Id="rId4" Type="http://schemas.openxmlformats.org/officeDocument/2006/relationships/hyperlink" Target="https://miro.com/app/board/o9J_ksYpet0=/" TargetMode="External"/><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68.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png"/><Relationship Id="rId20" Type="http://schemas.openxmlformats.org/officeDocument/2006/relationships/image" Target="../media/image24.png"/><Relationship Id="rId41" Type="http://schemas.openxmlformats.org/officeDocument/2006/relationships/image" Target="../media/image45.png"/><Relationship Id="rId54" Type="http://schemas.openxmlformats.org/officeDocument/2006/relationships/image" Target="../media/image58.png"/><Relationship Id="rId1" Type="http://schemas.openxmlformats.org/officeDocument/2006/relationships/slideLayout" Target="../slideLayouts/slideLayout16.xml"/><Relationship Id="rId6" Type="http://schemas.openxmlformats.org/officeDocument/2006/relationships/image" Target="../media/image8.jpe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10.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7" Type="http://schemas.openxmlformats.org/officeDocument/2006/relationships/image" Target="../media/image12.png"/><Relationship Id="rId2" Type="http://schemas.openxmlformats.org/officeDocument/2006/relationships/notesSlide" Target="../notesSlides/notesSlide10.xml"/><Relationship Id="rId16" Type="http://schemas.openxmlformats.org/officeDocument/2006/relationships/image" Target="../media/image21.png"/><Relationship Id="rId29" Type="http://schemas.openxmlformats.org/officeDocument/2006/relationships/image" Target="../media/image34.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9" Type="http://schemas.openxmlformats.org/officeDocument/2006/relationships/image" Target="../media/image24.png"/><Relationship Id="rId4" Type="http://schemas.openxmlformats.org/officeDocument/2006/relationships/hyperlink" Target="https://miro.com/app/board/o9J_ksYpet0=/" TargetMode="External"/><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68.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 Id="rId20" Type="http://schemas.openxmlformats.org/officeDocument/2006/relationships/image" Target="../media/image25.png"/><Relationship Id="rId41" Type="http://schemas.openxmlformats.org/officeDocument/2006/relationships/image" Target="../media/image46.png"/><Relationship Id="rId54"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10" Type="http://schemas.openxmlformats.org/officeDocument/2006/relationships/image" Target="../media/image15.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8.jpeg"/></Relationships>
</file>

<file path=ppt/slides/_rels/slide11.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11.png"/><Relationship Id="rId2" Type="http://schemas.openxmlformats.org/officeDocument/2006/relationships/notesSlide" Target="../notesSlides/notesSlide11.xml"/><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62.png"/><Relationship Id="rId5" Type="http://schemas.openxmlformats.org/officeDocument/2006/relationships/image" Target="../media/image10.png"/><Relationship Id="rId19" Type="http://schemas.openxmlformats.org/officeDocument/2006/relationships/image" Target="../media/image23.png"/><Relationship Id="rId4" Type="http://schemas.openxmlformats.org/officeDocument/2006/relationships/hyperlink" Target="https://miro.com/app/board/o9J_ksYpet0=/" TargetMode="External"/><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69.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59" Type="http://schemas.openxmlformats.org/officeDocument/2006/relationships/image" Target="../media/image63.png"/><Relationship Id="rId20" Type="http://schemas.openxmlformats.org/officeDocument/2006/relationships/image" Target="../media/image24.png"/><Relationship Id="rId41" Type="http://schemas.openxmlformats.org/officeDocument/2006/relationships/image" Target="../media/image45.png"/><Relationship Id="rId54" Type="http://schemas.openxmlformats.org/officeDocument/2006/relationships/image" Target="../media/image58.png"/><Relationship Id="rId1" Type="http://schemas.openxmlformats.org/officeDocument/2006/relationships/slideLayout" Target="../slideLayouts/slideLayout16.xml"/><Relationship Id="rId6" Type="http://schemas.openxmlformats.org/officeDocument/2006/relationships/image" Target="../media/image8.jpe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14.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56.png"/><Relationship Id="rId60" Type="http://schemas.openxmlformats.org/officeDocument/2006/relationships/image" Target="../media/image64.png"/></Relationships>
</file>

<file path=ppt/slides/_rels/slide12.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47" Type="http://schemas.openxmlformats.org/officeDocument/2006/relationships/image" Target="../media/image52.png"/><Relationship Id="rId50" Type="http://schemas.openxmlformats.org/officeDocument/2006/relationships/image" Target="../media/image55.png"/><Relationship Id="rId55" Type="http://schemas.openxmlformats.org/officeDocument/2006/relationships/image" Target="../media/image60.png"/><Relationship Id="rId7" Type="http://schemas.openxmlformats.org/officeDocument/2006/relationships/image" Target="../media/image12.png"/><Relationship Id="rId2" Type="http://schemas.openxmlformats.org/officeDocument/2006/relationships/notesSlide" Target="../notesSlides/notesSlide12.xml"/><Relationship Id="rId16" Type="http://schemas.openxmlformats.org/officeDocument/2006/relationships/image" Target="../media/image21.png"/><Relationship Id="rId29" Type="http://schemas.openxmlformats.org/officeDocument/2006/relationships/image" Target="../media/image34.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3" Type="http://schemas.openxmlformats.org/officeDocument/2006/relationships/image" Target="../media/image58.png"/><Relationship Id="rId58" Type="http://schemas.openxmlformats.org/officeDocument/2006/relationships/image" Target="../media/image63.png"/><Relationship Id="rId5" Type="http://schemas.openxmlformats.org/officeDocument/2006/relationships/image" Target="../media/image10.png"/><Relationship Id="rId19" Type="http://schemas.openxmlformats.org/officeDocument/2006/relationships/image" Target="../media/image24.png"/><Relationship Id="rId4" Type="http://schemas.openxmlformats.org/officeDocument/2006/relationships/hyperlink" Target="https://miro.com/app/board/o9J_ksYpet0=/" TargetMode="External"/><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8" Type="http://schemas.openxmlformats.org/officeDocument/2006/relationships/image" Target="../media/image13.png"/><Relationship Id="rId51" Type="http://schemas.openxmlformats.org/officeDocument/2006/relationships/image" Target="../media/image56.png"/><Relationship Id="rId3" Type="http://schemas.openxmlformats.org/officeDocument/2006/relationships/image" Target="../media/image70.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59" Type="http://schemas.openxmlformats.org/officeDocument/2006/relationships/image" Target="../media/image64.png"/><Relationship Id="rId20" Type="http://schemas.openxmlformats.org/officeDocument/2006/relationships/image" Target="../media/image25.png"/><Relationship Id="rId41" Type="http://schemas.openxmlformats.org/officeDocument/2006/relationships/image" Target="../media/image46.png"/><Relationship Id="rId54" Type="http://schemas.openxmlformats.org/officeDocument/2006/relationships/image" Target="../media/image59.png"/><Relationship Id="rId1" Type="http://schemas.openxmlformats.org/officeDocument/2006/relationships/slideLayout" Target="../slideLayouts/slideLayout16.xml"/><Relationship Id="rId6"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49" Type="http://schemas.openxmlformats.org/officeDocument/2006/relationships/image" Target="../media/image54.png"/><Relationship Id="rId57" Type="http://schemas.openxmlformats.org/officeDocument/2006/relationships/image" Target="../media/image62.png"/><Relationship Id="rId10" Type="http://schemas.openxmlformats.org/officeDocument/2006/relationships/image" Target="../media/image15.png"/><Relationship Id="rId31" Type="http://schemas.openxmlformats.org/officeDocument/2006/relationships/image" Target="../media/image36.png"/><Relationship Id="rId44" Type="http://schemas.openxmlformats.org/officeDocument/2006/relationships/image" Target="../media/image49.png"/><Relationship Id="rId52" Type="http://schemas.openxmlformats.org/officeDocument/2006/relationships/image" Target="../media/image57.png"/><Relationship Id="rId60" Type="http://schemas.openxmlformats.org/officeDocument/2006/relationships/image" Target="../media/image8.jpeg"/></Relationships>
</file>

<file path=ppt/slides/_rels/slide13.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39" Type="http://schemas.openxmlformats.org/officeDocument/2006/relationships/image" Target="../media/image45.png"/><Relationship Id="rId21" Type="http://schemas.openxmlformats.org/officeDocument/2006/relationships/image" Target="../media/image27.png"/><Relationship Id="rId34" Type="http://schemas.openxmlformats.org/officeDocument/2006/relationships/image" Target="../media/image40.png"/><Relationship Id="rId42" Type="http://schemas.openxmlformats.org/officeDocument/2006/relationships/image" Target="../media/image48.png"/><Relationship Id="rId47" Type="http://schemas.openxmlformats.org/officeDocument/2006/relationships/image" Target="../media/image53.png"/><Relationship Id="rId50" Type="http://schemas.openxmlformats.org/officeDocument/2006/relationships/image" Target="../media/image56.png"/><Relationship Id="rId55" Type="http://schemas.openxmlformats.org/officeDocument/2006/relationships/image" Target="../media/image61.png"/><Relationship Id="rId7" Type="http://schemas.openxmlformats.org/officeDocument/2006/relationships/image" Target="../media/image13.png"/><Relationship Id="rId2" Type="http://schemas.openxmlformats.org/officeDocument/2006/relationships/notesSlide" Target="../notesSlides/notesSlide13.xml"/><Relationship Id="rId16" Type="http://schemas.openxmlformats.org/officeDocument/2006/relationships/image" Target="../media/image22.png"/><Relationship Id="rId29" Type="http://schemas.openxmlformats.org/officeDocument/2006/relationships/image" Target="../media/image35.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40" Type="http://schemas.openxmlformats.org/officeDocument/2006/relationships/image" Target="../media/image46.png"/><Relationship Id="rId45" Type="http://schemas.openxmlformats.org/officeDocument/2006/relationships/image" Target="../media/image51.png"/><Relationship Id="rId53" Type="http://schemas.openxmlformats.org/officeDocument/2006/relationships/image" Target="../media/image59.png"/><Relationship Id="rId58" Type="http://schemas.openxmlformats.org/officeDocument/2006/relationships/image" Target="../media/image64.png"/><Relationship Id="rId5" Type="http://schemas.openxmlformats.org/officeDocument/2006/relationships/image" Target="../media/image11.png"/><Relationship Id="rId19" Type="http://schemas.openxmlformats.org/officeDocument/2006/relationships/image" Target="../media/image25.png"/><Relationship Id="rId4" Type="http://schemas.openxmlformats.org/officeDocument/2006/relationships/image" Target="../media/image8.jpe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62.png"/><Relationship Id="rId8" Type="http://schemas.openxmlformats.org/officeDocument/2006/relationships/image" Target="../media/image14.png"/><Relationship Id="rId51" Type="http://schemas.openxmlformats.org/officeDocument/2006/relationships/image" Target="../media/image57.png"/><Relationship Id="rId3" Type="http://schemas.openxmlformats.org/officeDocument/2006/relationships/image" Target="../media/image71.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47.png"/><Relationship Id="rId54" Type="http://schemas.openxmlformats.org/officeDocument/2006/relationships/image" Target="../media/image60.png"/><Relationship Id="rId1" Type="http://schemas.openxmlformats.org/officeDocument/2006/relationships/slideLayout" Target="../slideLayouts/slideLayout16.xml"/><Relationship Id="rId6"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49" Type="http://schemas.openxmlformats.org/officeDocument/2006/relationships/image" Target="../media/image55.png"/><Relationship Id="rId57" Type="http://schemas.openxmlformats.org/officeDocument/2006/relationships/image" Target="../media/image63.png"/><Relationship Id="rId10" Type="http://schemas.openxmlformats.org/officeDocument/2006/relationships/image" Target="../media/image16.png"/><Relationship Id="rId31" Type="http://schemas.openxmlformats.org/officeDocument/2006/relationships/image" Target="../media/image37.png"/><Relationship Id="rId44" Type="http://schemas.openxmlformats.org/officeDocument/2006/relationships/image" Target="../media/image50.png"/><Relationship Id="rId52" Type="http://schemas.openxmlformats.org/officeDocument/2006/relationships/image" Target="../media/image58.png"/></Relationships>
</file>

<file path=ppt/slides/_rels/slide14.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73.gif"/></Relationships>
</file>

<file path=ppt/slides/_rels/slide15.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26.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9.xml"/><Relationship Id="rId1" Type="http://schemas.openxmlformats.org/officeDocument/2006/relationships/slideLayout" Target="../slideLayouts/slideLayout15.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1.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5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4.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5.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6.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7.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8.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9.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0.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1.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65.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4.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78.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81.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8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83.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88.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8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1.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9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9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4.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hyperlink" Target="https://miro.com/app/board/o9J_ksYpet0=/" TargetMode="External"/></Relationships>
</file>

<file path=ppt/slides/_rels/slide9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5.xml"/><Relationship Id="rId1" Type="http://schemas.openxmlformats.org/officeDocument/2006/relationships/slideLayout" Target="../slideLayouts/slideLayout15.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
          <p:cNvSpPr txBox="1"/>
          <p:nvPr/>
        </p:nvSpPr>
        <p:spPr>
          <a:xfrm>
            <a:off x="1908875" y="3993341"/>
            <a:ext cx="8229600" cy="1723317"/>
          </a:xfrm>
          <a:prstGeom prst="rect">
            <a:avLst/>
          </a:prstGeom>
          <a:noFill/>
          <a:ln>
            <a:noFill/>
          </a:ln>
        </p:spPr>
        <p:txBody>
          <a:bodyPr spcFirstLastPara="1" wrap="square" lIns="121900" tIns="121900" rIns="121900" bIns="121900" anchor="t" anchorCtr="0">
            <a:spAutoFit/>
          </a:bodyPr>
          <a:lstStyle/>
          <a:p>
            <a:pPr algn="ctr">
              <a:lnSpc>
                <a:spcPct val="150000"/>
              </a:lnSpc>
              <a:buSzPts val="1600"/>
            </a:pPr>
            <a:r>
              <a:rPr lang="es" sz="2133" b="1">
                <a:solidFill>
                  <a:schemeClr val="lt1"/>
                </a:solidFill>
                <a:latin typeface="Montserrat"/>
                <a:ea typeface="Montserrat"/>
                <a:cs typeface="Montserrat"/>
                <a:sym typeface="Montserrat"/>
              </a:rPr>
              <a:t>Vertical: </a:t>
            </a:r>
            <a:r>
              <a:rPr lang="es" sz="2133">
                <a:solidFill>
                  <a:schemeClr val="lt1"/>
                </a:solidFill>
                <a:latin typeface="Montserrat Medium"/>
                <a:ea typeface="Montserrat Medium"/>
                <a:cs typeface="Montserrat Medium"/>
                <a:sym typeface="Montserrat Medium"/>
              </a:rPr>
              <a:t>xx</a:t>
            </a:r>
            <a:endParaRPr sz="2133">
              <a:solidFill>
                <a:schemeClr val="lt1"/>
              </a:solidFill>
              <a:latin typeface="Montserrat Medium"/>
              <a:ea typeface="Montserrat Medium"/>
              <a:cs typeface="Montserrat Medium"/>
              <a:sym typeface="Montserrat Medium"/>
            </a:endParaRPr>
          </a:p>
          <a:p>
            <a:pPr algn="ctr">
              <a:lnSpc>
                <a:spcPct val="150000"/>
              </a:lnSpc>
              <a:buSzPts val="1600"/>
            </a:pPr>
            <a:r>
              <a:rPr lang="es" sz="2133" b="1">
                <a:solidFill>
                  <a:schemeClr val="lt1"/>
                </a:solidFill>
                <a:latin typeface="Montserrat"/>
                <a:ea typeface="Montserrat"/>
                <a:cs typeface="Montserrat"/>
                <a:sym typeface="Montserrat"/>
              </a:rPr>
              <a:t>Clase: </a:t>
            </a:r>
            <a:r>
              <a:rPr lang="es" sz="2133">
                <a:solidFill>
                  <a:schemeClr val="lt1"/>
                </a:solidFill>
                <a:latin typeface="Montserrat"/>
                <a:ea typeface="Montserrat"/>
                <a:cs typeface="Montserrat"/>
                <a:sym typeface="Montserrat"/>
              </a:rPr>
              <a:t>xx</a:t>
            </a:r>
            <a:endParaRPr sz="2133">
              <a:solidFill>
                <a:schemeClr val="lt1"/>
              </a:solidFill>
              <a:latin typeface="Montserrat"/>
              <a:ea typeface="Montserrat"/>
              <a:cs typeface="Montserrat"/>
              <a:sym typeface="Montserrat"/>
            </a:endParaRPr>
          </a:p>
          <a:p>
            <a:pPr algn="ctr">
              <a:lnSpc>
                <a:spcPct val="150000"/>
              </a:lnSpc>
              <a:buSzPts val="1600"/>
            </a:pPr>
            <a:r>
              <a:rPr lang="es" sz="2133" b="1">
                <a:solidFill>
                  <a:schemeClr val="lt1"/>
                </a:solidFill>
                <a:latin typeface="Montserrat"/>
                <a:ea typeface="Montserrat"/>
                <a:cs typeface="Montserrat"/>
                <a:sym typeface="Montserrat"/>
              </a:rPr>
              <a:t>Docente: </a:t>
            </a:r>
            <a:r>
              <a:rPr lang="es" sz="2133">
                <a:solidFill>
                  <a:schemeClr val="lt1"/>
                </a:solidFill>
                <a:latin typeface="Montserrat"/>
                <a:ea typeface="Montserrat"/>
                <a:cs typeface="Montserrat"/>
                <a:sym typeface="Montserrat"/>
              </a:rPr>
              <a:t>xx</a:t>
            </a:r>
            <a:endParaRPr sz="2133" b="1">
              <a:solidFill>
                <a:schemeClr val="lt1"/>
              </a:solidFill>
              <a:latin typeface="Montserrat"/>
              <a:ea typeface="Montserrat"/>
              <a:cs typeface="Montserrat"/>
              <a:sym typeface="Montserrat"/>
            </a:endParaRPr>
          </a:p>
        </p:txBody>
      </p:sp>
      <p:pic>
        <p:nvPicPr>
          <p:cNvPr id="205" name="Google Shape;205;p1"/>
          <p:cNvPicPr preferRelativeResize="0"/>
          <p:nvPr/>
        </p:nvPicPr>
        <p:blipFill rotWithShape="1">
          <a:blip r:embed="rId3">
            <a:alphaModFix/>
          </a:blip>
          <a:srcRect l="21786" t="34991" r="19818" b="30270"/>
          <a:stretch/>
        </p:blipFill>
        <p:spPr>
          <a:xfrm>
            <a:off x="9072534" y="6086834"/>
            <a:ext cx="1387679" cy="464665"/>
          </a:xfrm>
          <a:prstGeom prst="rect">
            <a:avLst/>
          </a:prstGeom>
          <a:noFill/>
          <a:ln>
            <a:noFill/>
          </a:ln>
        </p:spPr>
      </p:pic>
      <p:pic>
        <p:nvPicPr>
          <p:cNvPr id="206" name="Google Shape;206;p1"/>
          <p:cNvPicPr preferRelativeResize="0"/>
          <p:nvPr/>
        </p:nvPicPr>
        <p:blipFill rotWithShape="1">
          <a:blip r:embed="rId4">
            <a:alphaModFix/>
          </a:blip>
          <a:srcRect/>
          <a:stretch/>
        </p:blipFill>
        <p:spPr>
          <a:xfrm>
            <a:off x="-20664" y="-2255"/>
            <a:ext cx="12192000" cy="6854653"/>
          </a:xfrm>
          <a:prstGeom prst="rect">
            <a:avLst/>
          </a:prstGeom>
          <a:noFill/>
          <a:ln>
            <a:noFill/>
          </a:ln>
        </p:spPr>
      </p:pic>
      <p:pic>
        <p:nvPicPr>
          <p:cNvPr id="207" name="Google Shape;207;p1"/>
          <p:cNvPicPr preferRelativeResize="0"/>
          <p:nvPr/>
        </p:nvPicPr>
        <p:blipFill rotWithShape="1">
          <a:blip r:embed="rId5">
            <a:alphaModFix/>
          </a:blip>
          <a:srcRect/>
          <a:stretch/>
        </p:blipFill>
        <p:spPr>
          <a:xfrm>
            <a:off x="3037455" y="2315793"/>
            <a:ext cx="5662477" cy="2287307"/>
          </a:xfrm>
          <a:prstGeom prst="rect">
            <a:avLst/>
          </a:prstGeom>
          <a:noFill/>
          <a:ln>
            <a:noFill/>
          </a:ln>
        </p:spPr>
      </p:pic>
      <p:pic>
        <p:nvPicPr>
          <p:cNvPr id="208" name="Google Shape;208;p1"/>
          <p:cNvPicPr preferRelativeResize="0"/>
          <p:nvPr/>
        </p:nvPicPr>
        <p:blipFill rotWithShape="1">
          <a:blip r:embed="rId6">
            <a:alphaModFix/>
          </a:blip>
          <a:srcRect/>
          <a:stretch/>
        </p:blipFill>
        <p:spPr>
          <a:xfrm>
            <a:off x="687271" y="6127947"/>
            <a:ext cx="2029252" cy="382436"/>
          </a:xfrm>
          <a:prstGeom prst="rect">
            <a:avLst/>
          </a:prstGeom>
          <a:noFill/>
          <a:ln>
            <a:noFill/>
          </a:ln>
        </p:spPr>
      </p:pic>
      <p:pic>
        <p:nvPicPr>
          <p:cNvPr id="209" name="Google Shape;209;p1"/>
          <p:cNvPicPr preferRelativeResize="0"/>
          <p:nvPr/>
        </p:nvPicPr>
        <p:blipFill rotWithShape="1">
          <a:blip r:embed="rId7">
            <a:alphaModFix/>
          </a:blip>
          <a:srcRect/>
          <a:stretch/>
        </p:blipFill>
        <p:spPr>
          <a:xfrm>
            <a:off x="10443275" y="6208087"/>
            <a:ext cx="1061455" cy="343412"/>
          </a:xfrm>
          <a:prstGeom prst="rect">
            <a:avLst/>
          </a:prstGeom>
          <a:noFill/>
          <a:ln>
            <a:noFill/>
          </a:ln>
        </p:spPr>
      </p:pic>
      <p:sp>
        <p:nvSpPr>
          <p:cNvPr id="2" name="CuadroTexto 1"/>
          <p:cNvSpPr txBox="1"/>
          <p:nvPr/>
        </p:nvSpPr>
        <p:spPr>
          <a:xfrm>
            <a:off x="3722280" y="4854999"/>
            <a:ext cx="4706112" cy="830997"/>
          </a:xfrm>
          <a:prstGeom prst="rect">
            <a:avLst/>
          </a:prstGeom>
          <a:noFill/>
        </p:spPr>
        <p:txBody>
          <a:bodyPr wrap="square" rtlCol="0">
            <a:spAutoFit/>
          </a:bodyPr>
          <a:lstStyle/>
          <a:p>
            <a:r>
              <a:rPr lang="es-MX" sz="2400" dirty="0" smtClean="0">
                <a:latin typeface="Gotham Rounded" pitchFamily="50" charset="0"/>
              </a:rPr>
              <a:t>Ejercicio </a:t>
            </a:r>
            <a:r>
              <a:rPr lang="es-MX" sz="2400" dirty="0" smtClean="0">
                <a:latin typeface="Gotham Rounded" pitchFamily="50" charset="0"/>
              </a:rPr>
              <a:t>Asincrónico de </a:t>
            </a:r>
            <a:r>
              <a:rPr lang="es-MX" sz="2400" dirty="0" smtClean="0">
                <a:latin typeface="Gotham Rounded" pitchFamily="50" charset="0"/>
              </a:rPr>
              <a:t>Diseño </a:t>
            </a:r>
            <a:r>
              <a:rPr lang="es-MX" sz="2400" dirty="0" smtClean="0">
                <a:latin typeface="Gotham Rounded" pitchFamily="50" charset="0"/>
              </a:rPr>
              <a:t>Web y Programación</a:t>
            </a:r>
          </a:p>
        </p:txBody>
      </p:sp>
    </p:spTree>
    <p:extLst>
      <p:ext uri="{BB962C8B-B14F-4D97-AF65-F5344CB8AC3E}">
        <p14:creationId xmlns:p14="http://schemas.microsoft.com/office/powerpoint/2010/main" val="40446046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38"/>
          <p:cNvSpPr/>
          <p:nvPr/>
        </p:nvSpPr>
        <p:spPr>
          <a:xfrm>
            <a:off x="3798277" y="1269382"/>
            <a:ext cx="7635732"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Visual Studio </a:t>
            </a:r>
            <a:r>
              <a:rPr lang="es-ES" sz="2400" b="1" i="0" u="none" strike="noStrike" cap="none" dirty="0" err="1">
                <a:solidFill>
                  <a:schemeClr val="tx1"/>
                </a:solidFill>
                <a:latin typeface="Gotham Rounded" pitchFamily="50" charset="0"/>
                <a:sym typeface="Arial"/>
              </a:rPr>
              <a:t>Code</a:t>
            </a:r>
            <a:endParaRPr sz="2400" b="1"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editor de código que nos va a facilitar escribir HTML, CSS y </a:t>
            </a:r>
            <a:r>
              <a:rPr lang="es-ES" sz="3600" b="0" i="0" u="none" strike="noStrike" cap="none" dirty="0" err="1">
                <a:solidFill>
                  <a:schemeClr val="tx1"/>
                </a:solidFill>
                <a:latin typeface="Gotham Rounded" pitchFamily="50" charset="0"/>
                <a:sym typeface="Arial"/>
              </a:rPr>
              <a:t>Javascript</a:t>
            </a:r>
            <a:r>
              <a:rPr lang="es-ES" sz="3600" b="0" i="0" u="none" strike="noStrike" cap="none" dirty="0">
                <a:solidFill>
                  <a:schemeClr val="tx1"/>
                </a:solidFill>
                <a:latin typeface="Gotham Rounded" pitchFamily="50" charset="0"/>
                <a:sym typeface="Arial"/>
              </a:rPr>
              <a:t> de una forma muy amigable. Existen más editores, como Sublime Text, </a:t>
            </a:r>
            <a:r>
              <a:rPr lang="es-ES" sz="3600" b="0" i="0" u="none" strike="noStrike" cap="none" dirty="0" err="1">
                <a:solidFill>
                  <a:schemeClr val="tx1"/>
                </a:solidFill>
                <a:latin typeface="Gotham Rounded" pitchFamily="50" charset="0"/>
                <a:sym typeface="Arial"/>
              </a:rPr>
              <a:t>Atom</a:t>
            </a:r>
            <a:r>
              <a:rPr lang="es-ES" sz="3600" b="0" i="0" u="none" strike="noStrike" cap="none" dirty="0">
                <a:solidFill>
                  <a:schemeClr val="tx1"/>
                </a:solidFill>
                <a:latin typeface="Gotham Rounded" pitchFamily="50" charset="0"/>
                <a:sym typeface="Arial"/>
              </a:rPr>
              <a:t>, </a:t>
            </a:r>
            <a:r>
              <a:rPr lang="es-ES" sz="3600" b="0" i="0" u="none" strike="noStrike" cap="none" dirty="0" err="1">
                <a:solidFill>
                  <a:schemeClr val="tx1"/>
                </a:solidFill>
                <a:latin typeface="Gotham Rounded" pitchFamily="50" charset="0"/>
                <a:sym typeface="Arial"/>
              </a:rPr>
              <a:t>Brackets</a:t>
            </a:r>
            <a:r>
              <a:rPr lang="es-ES" sz="3600" b="0" i="0" u="none" strike="noStrike" cap="none" dirty="0">
                <a:solidFill>
                  <a:schemeClr val="tx1"/>
                </a:solidFill>
                <a:latin typeface="Gotham Rounded" pitchFamily="50" charset="0"/>
                <a:sym typeface="Arial"/>
              </a:rPr>
              <a:t>, etc</a:t>
            </a:r>
            <a:r>
              <a:rPr lang="es-ES" sz="3600" b="0" i="0" u="none" strike="noStrike" cap="none" dirty="0">
                <a:solidFill>
                  <a:srgbClr val="7F7F7F"/>
                </a:solidFill>
                <a:latin typeface="Arial"/>
                <a:ea typeface="Arial"/>
                <a:cs typeface="Arial"/>
                <a:sym typeface="Arial"/>
              </a:rPr>
              <a:t>.</a:t>
            </a:r>
            <a:endParaRPr sz="3600" b="0" i="0" u="none" strike="noStrike" cap="none" dirty="0">
              <a:solidFill>
                <a:srgbClr val="7F7F7F"/>
              </a:solidFill>
              <a:latin typeface="Arial"/>
              <a:ea typeface="Arial"/>
              <a:cs typeface="Arial"/>
              <a:sym typeface="Arial"/>
            </a:endParaRPr>
          </a:p>
        </p:txBody>
      </p:sp>
      <p:grpSp>
        <p:nvGrpSpPr>
          <p:cNvPr id="646" name="Google Shape;646;p38"/>
          <p:cNvGrpSpPr/>
          <p:nvPr/>
        </p:nvGrpSpPr>
        <p:grpSpPr>
          <a:xfrm>
            <a:off x="1154937" y="3052688"/>
            <a:ext cx="1574195" cy="1813919"/>
            <a:chOff x="1169005" y="2500729"/>
            <a:chExt cx="1770139" cy="2818946"/>
          </a:xfrm>
        </p:grpSpPr>
        <p:pic>
          <p:nvPicPr>
            <p:cNvPr id="647" name="Google Shape;647;p38"/>
            <p:cNvPicPr preferRelativeResize="0"/>
            <p:nvPr/>
          </p:nvPicPr>
          <p:blipFill rotWithShape="1">
            <a:blip r:embed="rId3">
              <a:alphaModFix/>
            </a:blip>
            <a:srcRect/>
            <a:stretch/>
          </p:blipFill>
          <p:spPr>
            <a:xfrm>
              <a:off x="1169005" y="2500729"/>
              <a:ext cx="1770139" cy="1847912"/>
            </a:xfrm>
            <a:prstGeom prst="rect">
              <a:avLst/>
            </a:prstGeom>
            <a:noFill/>
            <a:ln>
              <a:noFill/>
            </a:ln>
          </p:spPr>
        </p:pic>
        <p:pic>
          <p:nvPicPr>
            <p:cNvPr id="648" name="Google Shape;648;p38" descr="Imagen que contiene dibujo&#10;&#10;Descripción generada con confianza muy alta"/>
            <p:cNvPicPr preferRelativeResize="0"/>
            <p:nvPr/>
          </p:nvPicPr>
          <p:blipFill rotWithShape="1">
            <a:blip r:embed="rId4">
              <a:alphaModFix/>
            </a:blip>
            <a:srcRect/>
            <a:stretch/>
          </p:blipFill>
          <p:spPr>
            <a:xfrm>
              <a:off x="1434180" y="5095813"/>
              <a:ext cx="1065044" cy="223862"/>
            </a:xfrm>
            <a:prstGeom prst="rect">
              <a:avLst/>
            </a:prstGeom>
            <a:noFill/>
            <a:ln>
              <a:noFill/>
            </a:ln>
          </p:spPr>
        </p:pic>
      </p:grpSp>
      <p:sp>
        <p:nvSpPr>
          <p:cNvPr id="649" name="Google Shape;649;p38"/>
          <p:cNvSpPr/>
          <p:nvPr/>
        </p:nvSpPr>
        <p:spPr>
          <a:xfrm>
            <a:off x="6597748" y="6096204"/>
            <a:ext cx="5061344"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sng" strike="noStrike" cap="none" dirty="0">
                <a:solidFill>
                  <a:srgbClr val="7030A0"/>
                </a:solidFill>
                <a:latin typeface="Gotham Rounded Medium" panose="02000000000000000000" pitchFamily="50" charset="0"/>
                <a:sym typeface="Aria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Descargar: https://code.visualstudio.com</a:t>
            </a:r>
            <a:r>
              <a:rPr lang="es-ES" sz="1800" b="0" i="0" u="sng" strike="noStrike" cap="none" dirty="0">
                <a:solidFill>
                  <a:srgbClr val="7030A0"/>
                </a:solidFill>
                <a:latin typeface="Arial"/>
                <a:ea typeface="Arial"/>
                <a:cs typeface="Arial"/>
                <a:sym typeface="Aria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
            </a:r>
            <a:endParaRPr sz="1800" b="0" i="0" u="none" strike="noStrike" cap="none" dirty="0">
              <a:solidFill>
                <a:srgbClr val="7030A0"/>
              </a:solidFill>
              <a:latin typeface="Arial"/>
              <a:ea typeface="Arial"/>
              <a:cs typeface="Arial"/>
              <a:sym typeface="Arial"/>
            </a:endParaRPr>
          </a:p>
        </p:txBody>
      </p:sp>
      <p:pic>
        <p:nvPicPr>
          <p:cNvPr id="7"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a:off x="0" y="1"/>
            <a:ext cx="12192000" cy="1083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p39"/>
          <p:cNvPicPr preferRelativeResize="0"/>
          <p:nvPr/>
        </p:nvPicPr>
        <p:blipFill rotWithShape="1">
          <a:blip r:embed="rId3">
            <a:alphaModFix/>
          </a:blip>
          <a:srcRect/>
          <a:stretch/>
        </p:blipFill>
        <p:spPr>
          <a:xfrm>
            <a:off x="692579" y="685179"/>
            <a:ext cx="10440247" cy="5984529"/>
          </a:xfrm>
          <a:prstGeom prst="rect">
            <a:avLst/>
          </a:prstGeom>
          <a:noFill/>
          <a:ln>
            <a:noFill/>
          </a:ln>
          <a:effectLst>
            <a:outerShdw blurRad="101600" dist="50800" sx="101000" sy="101000" algn="ctr" rotWithShape="0">
              <a:srgbClr val="7F7F7F">
                <a:alpha val="20000"/>
              </a:srgbClr>
            </a:outerShdw>
          </a:effectLst>
        </p:spPr>
      </p:pic>
      <p:sp>
        <p:nvSpPr>
          <p:cNvPr id="655" name="Google Shape;655;p39"/>
          <p:cNvSpPr/>
          <p:nvPr/>
        </p:nvSpPr>
        <p:spPr>
          <a:xfrm>
            <a:off x="1964145" y="3448840"/>
            <a:ext cx="1854820" cy="65152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56" name="Google Shape;656;p39">
            <a:hlinkClick r:id="rId4"/>
          </p:cNvPr>
          <p:cNvPicPr preferRelativeResize="0"/>
          <p:nvPr/>
        </p:nvPicPr>
        <p:blipFill rotWithShape="1">
          <a:blip r:embed="rId5">
            <a:alphaModFix/>
          </a:blip>
          <a:srcRect/>
          <a:stretch/>
        </p:blipFill>
        <p:spPr>
          <a:xfrm>
            <a:off x="3292123" y="3836942"/>
            <a:ext cx="526842" cy="526842"/>
          </a:xfrm>
          <a:prstGeom prst="rect">
            <a:avLst/>
          </a:prstGeom>
          <a:noFill/>
          <a:ln>
            <a:noFill/>
          </a:ln>
        </p:spPr>
      </p:pic>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ransition spd="slow">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40"/>
          <p:cNvPicPr preferRelativeResize="0"/>
          <p:nvPr/>
        </p:nvPicPr>
        <p:blipFill rotWithShape="1">
          <a:blip r:embed="rId3">
            <a:alphaModFix/>
          </a:blip>
          <a:srcRect/>
          <a:stretch/>
        </p:blipFill>
        <p:spPr>
          <a:xfrm>
            <a:off x="876287" y="849283"/>
            <a:ext cx="10298742" cy="5790215"/>
          </a:xfrm>
          <a:prstGeom prst="rect">
            <a:avLst/>
          </a:prstGeom>
          <a:noFill/>
          <a:ln>
            <a:noFill/>
          </a:ln>
          <a:effectLst>
            <a:outerShdw blurRad="101600" dist="50800" sx="101000" sy="101000" algn="ctr" rotWithShape="0">
              <a:srgbClr val="7F7F7F">
                <a:alpha val="20000"/>
              </a:srgbClr>
            </a:outerShdw>
          </a:effectLst>
        </p:spPr>
      </p:pic>
      <p:sp>
        <p:nvSpPr>
          <p:cNvPr id="662" name="Google Shape;662;p40"/>
          <p:cNvSpPr/>
          <p:nvPr/>
        </p:nvSpPr>
        <p:spPr>
          <a:xfrm>
            <a:off x="2179299" y="5902882"/>
            <a:ext cx="714509"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40"/>
          <p:cNvSpPr/>
          <p:nvPr/>
        </p:nvSpPr>
        <p:spPr>
          <a:xfrm>
            <a:off x="2277910" y="4527696"/>
            <a:ext cx="2487728"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64" name="Google Shape;664;p40">
            <a:hlinkClick r:id="rId4"/>
          </p:cNvPr>
          <p:cNvPicPr preferRelativeResize="0"/>
          <p:nvPr/>
        </p:nvPicPr>
        <p:blipFill rotWithShape="1">
          <a:blip r:embed="rId5">
            <a:alphaModFix/>
          </a:blip>
          <a:srcRect/>
          <a:stretch/>
        </p:blipFill>
        <p:spPr>
          <a:xfrm>
            <a:off x="2366966" y="6112656"/>
            <a:ext cx="526842" cy="526842"/>
          </a:xfrm>
          <a:prstGeom prst="rect">
            <a:avLst/>
          </a:prstGeom>
          <a:noFill/>
          <a:ln>
            <a:noFill/>
          </a:ln>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9"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41"/>
          <p:cNvPicPr preferRelativeResize="0"/>
          <p:nvPr/>
        </p:nvPicPr>
        <p:blipFill rotWithShape="1">
          <a:blip r:embed="rId3">
            <a:alphaModFix/>
          </a:blip>
          <a:srcRect/>
          <a:stretch/>
        </p:blipFill>
        <p:spPr>
          <a:xfrm>
            <a:off x="946626" y="841705"/>
            <a:ext cx="10298742" cy="5790215"/>
          </a:xfrm>
          <a:prstGeom prst="rect">
            <a:avLst/>
          </a:prstGeom>
          <a:noFill/>
          <a:ln>
            <a:noFill/>
          </a:ln>
          <a:effectLst>
            <a:outerShdw blurRad="101600" dist="50800" sx="101000" sy="101000" algn="ctr" rotWithShape="0">
              <a:srgbClr val="7F7F7F">
                <a:alpha val="20000"/>
              </a:srgbClr>
            </a:outerShdw>
          </a:effectLst>
        </p:spPr>
      </p:pic>
      <p:sp>
        <p:nvSpPr>
          <p:cNvPr id="670" name="Google Shape;670;p41"/>
          <p:cNvSpPr/>
          <p:nvPr/>
        </p:nvSpPr>
        <p:spPr>
          <a:xfrm>
            <a:off x="2179299" y="5902882"/>
            <a:ext cx="714509"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41"/>
          <p:cNvSpPr/>
          <p:nvPr/>
        </p:nvSpPr>
        <p:spPr>
          <a:xfrm>
            <a:off x="2277910" y="4527696"/>
            <a:ext cx="2487728"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2" name="Google Shape;672;p41">
            <a:hlinkClick r:id="rId4"/>
          </p:cNvPr>
          <p:cNvPicPr preferRelativeResize="0"/>
          <p:nvPr/>
        </p:nvPicPr>
        <p:blipFill rotWithShape="1">
          <a:blip r:embed="rId5">
            <a:alphaModFix/>
          </a:blip>
          <a:srcRect/>
          <a:stretch/>
        </p:blipFill>
        <p:spPr>
          <a:xfrm>
            <a:off x="3808491" y="4737470"/>
            <a:ext cx="526842" cy="526842"/>
          </a:xfrm>
          <a:prstGeom prst="rect">
            <a:avLst/>
          </a:prstGeom>
          <a:noFill/>
          <a:ln>
            <a:noFill/>
          </a:ln>
        </p:spPr>
      </p:pic>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81971"/>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pic>
        <p:nvPicPr>
          <p:cNvPr id="677" name="Google Shape;677;p42"/>
          <p:cNvPicPr preferRelativeResize="0"/>
          <p:nvPr/>
        </p:nvPicPr>
        <p:blipFill rotWithShape="1">
          <a:blip r:embed="rId3">
            <a:alphaModFix/>
          </a:blip>
          <a:srcRect/>
          <a:stretch/>
        </p:blipFill>
        <p:spPr>
          <a:xfrm>
            <a:off x="932559" y="813570"/>
            <a:ext cx="10298742" cy="5790215"/>
          </a:xfrm>
          <a:prstGeom prst="rect">
            <a:avLst/>
          </a:prstGeom>
          <a:noFill/>
          <a:ln>
            <a:noFill/>
          </a:ln>
          <a:effectLst>
            <a:outerShdw blurRad="101600" dist="50800" sx="101000" sy="101000" algn="ctr" rotWithShape="0">
              <a:srgbClr val="7F7F7F">
                <a:alpha val="20000"/>
              </a:srgbClr>
            </a:outerShdw>
          </a:effectLst>
        </p:spPr>
      </p:pic>
      <p:sp>
        <p:nvSpPr>
          <p:cNvPr id="678" name="Google Shape;678;p42"/>
          <p:cNvSpPr/>
          <p:nvPr/>
        </p:nvSpPr>
        <p:spPr>
          <a:xfrm>
            <a:off x="4320070" y="4087906"/>
            <a:ext cx="1166330" cy="265876"/>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42"/>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0" name="Google Shape;680;p42">
            <a:hlinkClick r:id="rId4"/>
          </p:cNvPr>
          <p:cNvPicPr preferRelativeResize="0"/>
          <p:nvPr/>
        </p:nvPicPr>
        <p:blipFill rotWithShape="1">
          <a:blip r:embed="rId5">
            <a:alphaModFix/>
          </a:blip>
          <a:srcRect/>
          <a:stretch/>
        </p:blipFill>
        <p:spPr>
          <a:xfrm>
            <a:off x="4639814" y="4182578"/>
            <a:ext cx="526842" cy="526842"/>
          </a:xfrm>
          <a:prstGeom prst="rect">
            <a:avLst/>
          </a:prstGeom>
          <a:noFill/>
          <a:ln>
            <a:noFill/>
          </a:ln>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9"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pic>
        <p:nvPicPr>
          <p:cNvPr id="685" name="Google Shape;685;p43"/>
          <p:cNvPicPr preferRelativeResize="0"/>
          <p:nvPr/>
        </p:nvPicPr>
        <p:blipFill rotWithShape="1">
          <a:blip r:embed="rId3">
            <a:alphaModFix/>
          </a:blip>
          <a:srcRect/>
          <a:stretch/>
        </p:blipFill>
        <p:spPr>
          <a:xfrm>
            <a:off x="923505" y="865590"/>
            <a:ext cx="10298742" cy="5790215"/>
          </a:xfrm>
          <a:prstGeom prst="rect">
            <a:avLst/>
          </a:prstGeom>
          <a:noFill/>
          <a:ln>
            <a:noFill/>
          </a:ln>
          <a:effectLst>
            <a:outerShdw blurRad="101600" dist="50800" sx="101000" sy="101000" algn="ctr" rotWithShape="0">
              <a:srgbClr val="7F7F7F">
                <a:alpha val="20000"/>
              </a:srgbClr>
            </a:outerShdw>
          </a:effectLst>
        </p:spPr>
      </p:pic>
      <p:sp>
        <p:nvSpPr>
          <p:cNvPr id="686" name="Google Shape;686;p43"/>
          <p:cNvSpPr/>
          <p:nvPr/>
        </p:nvSpPr>
        <p:spPr>
          <a:xfrm>
            <a:off x="4320070" y="4087906"/>
            <a:ext cx="1166330" cy="265876"/>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43"/>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8" name="Google Shape;688;p43">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81971"/>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pic>
        <p:nvPicPr>
          <p:cNvPr id="693" name="Google Shape;693;p44"/>
          <p:cNvPicPr preferRelativeResize="0"/>
          <p:nvPr/>
        </p:nvPicPr>
        <p:blipFill rotWithShape="1">
          <a:blip r:embed="rId3">
            <a:alphaModFix/>
          </a:blip>
          <a:srcRect/>
          <a:stretch/>
        </p:blipFill>
        <p:spPr>
          <a:xfrm>
            <a:off x="946626" y="855773"/>
            <a:ext cx="10298742" cy="5790215"/>
          </a:xfrm>
          <a:prstGeom prst="rect">
            <a:avLst/>
          </a:prstGeom>
          <a:noFill/>
          <a:ln>
            <a:noFill/>
          </a:ln>
          <a:effectLst>
            <a:outerShdw blurRad="101600" dist="50800" sx="101000" sy="101000" algn="ctr" rotWithShape="0">
              <a:srgbClr val="7F7F7F">
                <a:alpha val="20000"/>
              </a:srgbClr>
            </a:outerShdw>
          </a:effectLst>
        </p:spPr>
      </p:pic>
      <p:sp>
        <p:nvSpPr>
          <p:cNvPr id="694" name="Google Shape;694;p44"/>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95" name="Google Shape;695;p44">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pic>
        <p:nvPicPr>
          <p:cNvPr id="700" name="Google Shape;700;p45"/>
          <p:cNvPicPr preferRelativeResize="0"/>
          <p:nvPr/>
        </p:nvPicPr>
        <p:blipFill rotWithShape="1">
          <a:blip r:embed="rId3">
            <a:alphaModFix/>
          </a:blip>
          <a:srcRect/>
          <a:stretch/>
        </p:blipFill>
        <p:spPr>
          <a:xfrm>
            <a:off x="971760" y="784115"/>
            <a:ext cx="10298741" cy="5790215"/>
          </a:xfrm>
          <a:prstGeom prst="rect">
            <a:avLst/>
          </a:prstGeom>
          <a:noFill/>
          <a:ln>
            <a:noFill/>
          </a:ln>
          <a:effectLst>
            <a:outerShdw blurRad="101600" dist="50800" sx="101000" sy="101000" algn="ctr" rotWithShape="0">
              <a:srgbClr val="7F7F7F">
                <a:alpha val="20000"/>
              </a:srgbClr>
            </a:outerShdw>
          </a:effectLst>
        </p:spPr>
      </p:pic>
      <p:sp>
        <p:nvSpPr>
          <p:cNvPr id="701" name="Google Shape;701;p45"/>
          <p:cNvSpPr/>
          <p:nvPr/>
        </p:nvSpPr>
        <p:spPr>
          <a:xfrm>
            <a:off x="4358639" y="2947594"/>
            <a:ext cx="3343835" cy="137697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02" name="Google Shape;702;p45">
            <a:hlinkClick r:id="rId4"/>
          </p:cNvPr>
          <p:cNvPicPr preferRelativeResize="0"/>
          <p:nvPr/>
        </p:nvPicPr>
        <p:blipFill rotWithShape="1">
          <a:blip r:embed="rId5">
            <a:alphaModFix/>
          </a:blip>
          <a:srcRect/>
          <a:stretch/>
        </p:blipFill>
        <p:spPr>
          <a:xfrm>
            <a:off x="7175632" y="3980992"/>
            <a:ext cx="526842" cy="526842"/>
          </a:xfrm>
          <a:prstGeom prst="rect">
            <a:avLst/>
          </a:prstGeom>
          <a:noFill/>
          <a:ln>
            <a:noFill/>
          </a:ln>
        </p:spPr>
      </p:pic>
      <p:sp>
        <p:nvSpPr>
          <p:cNvPr id="703" name="Google Shape;703;p45"/>
          <p:cNvSpPr/>
          <p:nvPr/>
        </p:nvSpPr>
        <p:spPr>
          <a:xfrm>
            <a:off x="6578762" y="5006969"/>
            <a:ext cx="4523129" cy="156736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2000" b="0" i="0" u="none" strike="noStrike" cap="none" dirty="0">
                <a:solidFill>
                  <a:schemeClr val="lt1"/>
                </a:solidFill>
                <a:latin typeface="Gotham Rounded" pitchFamily="50" charset="0"/>
                <a:ea typeface="Tahoma"/>
                <a:cs typeface="Tahoma"/>
                <a:sym typeface="Tahoma"/>
              </a:rPr>
              <a:t>Recomendamos seleccionar todos los casilleros</a:t>
            </a:r>
            <a:endParaRPr sz="2000" b="0" i="1" u="none" strike="noStrike" cap="none" dirty="0">
              <a:solidFill>
                <a:srgbClr val="4A7B8B"/>
              </a:solidFill>
              <a:latin typeface="Gotham Rounded" pitchFamily="50" charset="0"/>
              <a:ea typeface="Tahoma"/>
              <a:cs typeface="Tahoma"/>
              <a:sym typeface="Tahoma"/>
            </a:endParaRPr>
          </a:p>
        </p:txBody>
      </p:sp>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152310"/>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Google Shape;708;p46"/>
          <p:cNvPicPr preferRelativeResize="0"/>
          <p:nvPr/>
        </p:nvPicPr>
        <p:blipFill rotWithShape="1">
          <a:blip r:embed="rId3">
            <a:alphaModFix/>
          </a:blip>
          <a:srcRect/>
          <a:stretch/>
        </p:blipFill>
        <p:spPr>
          <a:xfrm>
            <a:off x="889807" y="797082"/>
            <a:ext cx="10298741" cy="5790215"/>
          </a:xfrm>
          <a:prstGeom prst="rect">
            <a:avLst/>
          </a:prstGeom>
          <a:noFill/>
          <a:ln>
            <a:noFill/>
          </a:ln>
          <a:effectLst>
            <a:outerShdw blurRad="101600" dist="50800" sx="101000" sy="101000" algn="ctr" rotWithShape="0">
              <a:srgbClr val="7F7F7F">
                <a:alpha val="20000"/>
              </a:srgbClr>
            </a:outerShdw>
          </a:effectLst>
        </p:spPr>
      </p:pic>
      <p:sp>
        <p:nvSpPr>
          <p:cNvPr id="709" name="Google Shape;709;p46"/>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0" name="Google Shape;710;p46">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pic>
        <p:nvPicPr>
          <p:cNvPr id="715" name="Google Shape;715;p47"/>
          <p:cNvPicPr preferRelativeResize="0"/>
          <p:nvPr/>
        </p:nvPicPr>
        <p:blipFill rotWithShape="1">
          <a:blip r:embed="rId3">
            <a:alphaModFix/>
          </a:blip>
          <a:srcRect/>
          <a:stretch/>
        </p:blipFill>
        <p:spPr>
          <a:xfrm>
            <a:off x="918490" y="785433"/>
            <a:ext cx="10298741" cy="5790214"/>
          </a:xfrm>
          <a:prstGeom prst="rect">
            <a:avLst/>
          </a:prstGeom>
          <a:noFill/>
          <a:ln>
            <a:noFill/>
          </a:ln>
          <a:effectLst>
            <a:outerShdw blurRad="101600" dist="50800" sx="101000" sy="101000" algn="ctr" rotWithShape="0">
              <a:srgbClr val="7F7F7F">
                <a:alpha val="20000"/>
              </a:srgbClr>
            </a:outerShdw>
          </a:effectLst>
        </p:spPr>
      </p:pic>
      <p:sp>
        <p:nvSpPr>
          <p:cNvPr id="716" name="Google Shape;716;p47"/>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7" name="Google Shape;717;p47">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26679" y="152310"/>
            <a:ext cx="1414810" cy="548223"/>
            <a:chOff x="14201902" y="621652"/>
            <a:chExt cx="2318892" cy="951953"/>
          </a:xfrm>
        </p:grpSpPr>
        <p:pic>
          <p:nvPicPr>
            <p:cNvPr id="7"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pic>
        <p:nvPicPr>
          <p:cNvPr id="722" name="Google Shape;722;p48"/>
          <p:cNvPicPr preferRelativeResize="0"/>
          <p:nvPr/>
        </p:nvPicPr>
        <p:blipFill rotWithShape="1">
          <a:blip r:embed="rId3">
            <a:alphaModFix/>
          </a:blip>
          <a:srcRect/>
          <a:stretch/>
        </p:blipFill>
        <p:spPr>
          <a:xfrm>
            <a:off x="923505" y="797082"/>
            <a:ext cx="10298741" cy="5790214"/>
          </a:xfrm>
          <a:prstGeom prst="rect">
            <a:avLst/>
          </a:prstGeom>
          <a:noFill/>
          <a:ln>
            <a:noFill/>
          </a:ln>
          <a:effectLst>
            <a:outerShdw blurRad="101600" dist="50800" sx="101000" sy="101000" algn="ctr" rotWithShape="0">
              <a:srgbClr val="7F7F7F">
                <a:alpha val="20000"/>
              </a:srgbClr>
            </a:outerShdw>
          </a:effectLst>
        </p:spPr>
      </p:pic>
      <p:sp>
        <p:nvSpPr>
          <p:cNvPr id="723" name="Google Shape;723;p48"/>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24" name="Google Shape;724;p48">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p49" descr="Interfaz de usuario gráfica, Texto&#10;&#10;Descripción generada automáticamente"/>
          <p:cNvPicPr preferRelativeResize="0"/>
          <p:nvPr/>
        </p:nvPicPr>
        <p:blipFill rotWithShape="1">
          <a:blip r:embed="rId3">
            <a:alphaModFix/>
          </a:blip>
          <a:srcRect/>
          <a:stretch/>
        </p:blipFill>
        <p:spPr>
          <a:xfrm>
            <a:off x="1280160" y="773723"/>
            <a:ext cx="9931503" cy="5607300"/>
          </a:xfrm>
          <a:prstGeom prst="rect">
            <a:avLst/>
          </a:prstGeom>
          <a:noFill/>
          <a:ln>
            <a:noFill/>
          </a:ln>
          <a:effectLst>
            <a:outerShdw blurRad="101600" dist="50800" sx="101000" sy="101000" algn="ctr" rotWithShape="0">
              <a:srgbClr val="7F7F7F">
                <a:alpha val="20000"/>
              </a:srgbClr>
            </a:outerShdw>
          </a:effectLst>
        </p:spPr>
      </p:pic>
      <p:sp>
        <p:nvSpPr>
          <p:cNvPr id="730" name="Google Shape;730;p49"/>
          <p:cNvSpPr/>
          <p:nvPr/>
        </p:nvSpPr>
        <p:spPr>
          <a:xfrm>
            <a:off x="6196084" y="4840941"/>
            <a:ext cx="4903325" cy="154620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¡Perfecto!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Ya tenemos instalado el Visual Studio </a:t>
            </a:r>
            <a:r>
              <a:rPr lang="es-ES" sz="1800" b="0" i="0" u="none" strike="noStrike" cap="none" dirty="0" err="1">
                <a:solidFill>
                  <a:schemeClr val="lt1"/>
                </a:solidFill>
                <a:latin typeface="Gotham Rounded" pitchFamily="50" charset="0"/>
                <a:ea typeface="Tahoma"/>
                <a:cs typeface="Tahoma"/>
                <a:sym typeface="Tahoma"/>
              </a:rPr>
              <a:t>Code</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rgbClr val="4A7B8B"/>
              </a:solidFill>
              <a:latin typeface="Gotham Rounded" pitchFamily="50" charset="0"/>
              <a:ea typeface="Tahoma"/>
              <a:cs typeface="Tahoma"/>
              <a:sym typeface="Tahoma"/>
            </a:endParaRPr>
          </a:p>
        </p:txBody>
      </p:sp>
      <p:pic>
        <p:nvPicPr>
          <p:cNvPr id="4"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4">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5">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6">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7">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8">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9">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0">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1">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2">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3">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4">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5">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6">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7">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8">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19">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0">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1">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2">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2">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3">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4">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5">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2">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6">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7">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8">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29">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0">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1">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2">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3">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2">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0">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4">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6">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2">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5">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6">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7">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8">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39">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0">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29">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1">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2">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0">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3">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4">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8">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0">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6">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4">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5">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8">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6">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0">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0">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0">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29">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0">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0">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8">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29">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7">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2">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0">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0">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6">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8">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6">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29">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0">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49">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0">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1">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0">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2">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0">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6">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0">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0">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3">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0">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6">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4">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5">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6">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29">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6">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6">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0">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4">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0">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0">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0">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0">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0">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29">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6">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7">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0">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8">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8">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0">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8">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0">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0">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pic>
        <p:nvPicPr>
          <p:cNvPr id="5"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737" name="Google Shape;737;p50"/>
          <p:cNvSpPr/>
          <p:nvPr/>
        </p:nvSpPr>
        <p:spPr>
          <a:xfrm>
            <a:off x="1021213" y="1217498"/>
            <a:ext cx="11170787" cy="46940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lt1"/>
                </a:solidFill>
                <a:latin typeface="Arial"/>
                <a:ea typeface="Arial"/>
                <a:cs typeface="Arial"/>
                <a:sym typeface="Arial"/>
              </a:rPr>
              <a:t>¡</a:t>
            </a:r>
            <a:r>
              <a:rPr lang="es-ES" sz="7200" b="0" i="0" u="none" strike="noStrike" cap="none" dirty="0">
                <a:solidFill>
                  <a:schemeClr val="tx1"/>
                </a:solidFill>
                <a:latin typeface="Gotham Rounded" pitchFamily="50" charset="0"/>
                <a:sym typeface="Arial"/>
              </a:rPr>
              <a:t>Ya tenemos todo instalado!</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Empezamos con HTML</a:t>
            </a:r>
            <a:endParaRPr sz="1400" b="0" i="0" u="none" strike="noStrike" cap="none" dirty="0">
              <a:solidFill>
                <a:schemeClr val="tx1"/>
              </a:solidFill>
              <a:latin typeface="Gotham Rounded" pitchFamily="50" charset="0"/>
              <a:sym typeface="Arial"/>
            </a:endParaRPr>
          </a:p>
        </p:txBody>
      </p:sp>
      <p:pic>
        <p:nvPicPr>
          <p:cNvPr id="738" name="Google Shape;738;p50"/>
          <p:cNvPicPr preferRelativeResize="0"/>
          <p:nvPr/>
        </p:nvPicPr>
        <p:blipFill rotWithShape="1">
          <a:blip r:embed="rId4">
            <a:alphaModFix/>
          </a:blip>
          <a:srcRect/>
          <a:stretch/>
        </p:blipFill>
        <p:spPr>
          <a:xfrm>
            <a:off x="5377542" y="642393"/>
            <a:ext cx="1436916" cy="1436916"/>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a:solidFill>
                  <a:srgbClr val="872789"/>
                </a:solidFill>
                <a:latin typeface="Gotham Rounded Medium" panose="02000000000000000000" pitchFamily="50" charset="0"/>
                <a:sym typeface="Arial"/>
              </a:rPr>
              <a:t>1er 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211015" y="5866228"/>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1er paso </a:t>
            </a:r>
            <a:endParaRPr sz="1600" b="0" i="0" u="none" strike="noStrike" cap="none" dirty="0">
              <a:solidFill>
                <a:schemeClr val="tx1"/>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(Empieza la tarea)</a:t>
            </a:r>
            <a:endParaRPr sz="1600" b="0" i="0" u="none" strike="noStrike" cap="none" dirty="0">
              <a:solidFill>
                <a:schemeClr val="tx1"/>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20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6600" b="0" i="0" u="none" strike="noStrike" cap="none" dirty="0">
                <a:solidFill>
                  <a:srgbClr val="872789"/>
                </a:solidFill>
                <a:latin typeface="Gotham Rounded Medium" panose="02000000000000000000" pitchFamily="50" charset="0"/>
                <a:sym typeface="Arial"/>
              </a:rPr>
              <a:t>Crear la carpeta y el primer archivo HTML</a:t>
            </a:r>
            <a:endParaRPr sz="1200" b="0" i="0" u="none" strike="noStrike" cap="none" dirty="0">
              <a:solidFill>
                <a:srgbClr val="872789"/>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0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000" b="1" i="0" u="none" strike="noStrike" cap="none" dirty="0">
                <a:solidFill>
                  <a:srgbClr val="872789"/>
                </a:solidFill>
                <a:latin typeface="Gotham Rounded Medium" panose="02000000000000000000" pitchFamily="50" charset="0"/>
                <a:sym typeface="Arial"/>
              </a:rPr>
              <a:t>¡Importante! No copiar y pegar el código desde este PowerPoint.</a:t>
            </a:r>
            <a:endParaRPr sz="1200" b="0" i="0" u="none" strike="noStrike" cap="none" dirty="0">
              <a:solidFill>
                <a:srgbClr val="872789"/>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Hay que ir escribiendo todo directamente en el Visual Studio </a:t>
            </a:r>
            <a:r>
              <a:rPr lang="es-ES" sz="2000" b="0" i="0" u="none" strike="noStrike" cap="none" dirty="0" err="1">
                <a:solidFill>
                  <a:schemeClr val="tx1"/>
                </a:solidFill>
                <a:latin typeface="Gotham Rounded Medium" panose="02000000000000000000" pitchFamily="50" charset="0"/>
                <a:sym typeface="Arial"/>
              </a:rPr>
              <a:t>Code</a:t>
            </a:r>
            <a:r>
              <a:rPr lang="es-ES" sz="2000" b="0" i="0" u="none" strike="noStrike" cap="none" dirty="0">
                <a:solidFill>
                  <a:schemeClr val="tx1"/>
                </a:solidFill>
                <a:latin typeface="Gotham Rounded Medium" panose="02000000000000000000" pitchFamily="50" charset="0"/>
                <a:sym typeface="Arial"/>
              </a:rPr>
              <a:t>, porque algunos caracteres (como las comillas dobles y simples</a:t>
            </a:r>
            <a:r>
              <a:rPr lang="es-ES" sz="2000" b="0" i="0" u="none" strike="noStrike" cap="none" dirty="0">
                <a:solidFill>
                  <a:schemeClr val="lt1"/>
                </a:solidFill>
                <a:sym typeface="Arial"/>
              </a:rPr>
              <a:t>) fallan</a:t>
            </a:r>
            <a:r>
              <a:rPr lang="es-ES" sz="2400" b="0" i="0" u="none" strike="noStrike" cap="none" dirty="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1549057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pic>
        <p:nvPicPr>
          <p:cNvPr id="962" name="Google Shape;962;p69" descr="Interfaz de usuario gráfica&#10;&#10;Descripción generada automáticamente"/>
          <p:cNvPicPr preferRelativeResize="0"/>
          <p:nvPr/>
        </p:nvPicPr>
        <p:blipFill rotWithShape="1">
          <a:blip r:embed="rId3">
            <a:alphaModFix/>
          </a:blip>
          <a:srcRect/>
          <a:stretch/>
        </p:blipFill>
        <p:spPr>
          <a:xfrm>
            <a:off x="953814" y="206429"/>
            <a:ext cx="7643647" cy="6392590"/>
          </a:xfrm>
          <a:prstGeom prst="rect">
            <a:avLst/>
          </a:prstGeom>
          <a:noFill/>
          <a:ln>
            <a:noFill/>
          </a:ln>
          <a:effectLst>
            <a:outerShdw blurRad="101600" dist="50800" sx="101000" sy="101000" algn="ctr" rotWithShape="0">
              <a:srgbClr val="7F7F7F">
                <a:alpha val="20000"/>
              </a:srgbClr>
            </a:outerShdw>
          </a:effectLst>
        </p:spPr>
      </p:pic>
      <p:sp>
        <p:nvSpPr>
          <p:cNvPr id="963" name="Google Shape;963;p69"/>
          <p:cNvSpPr/>
          <p:nvPr/>
        </p:nvSpPr>
        <p:spPr>
          <a:xfrm>
            <a:off x="6196084" y="4034970"/>
            <a:ext cx="5995916" cy="235217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1. Creamos en nuestro escritorio una carpeta y le ponemos de nombre “tutorial”. Aquí guardaremos todos nuestros archivos del sitio web. Para crear la carpeta hacemos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derecho" &gt; "Nueva carpeta"</a:t>
            </a:r>
            <a:endParaRPr sz="1800" b="0" i="1" u="none" strike="noStrike" cap="none" dirty="0">
              <a:solidFill>
                <a:schemeClr val="lt1"/>
              </a:solidFill>
              <a:latin typeface="Gotham Rounded Medium" panose="02000000000000000000" pitchFamily="50" charset="0"/>
              <a:ea typeface="Tahoma"/>
              <a:cs typeface="Tahoma"/>
              <a:sym typeface="Tahoma"/>
            </a:endParaRPr>
          </a:p>
        </p:txBody>
      </p:sp>
      <p:pic>
        <p:nvPicPr>
          <p:cNvPr id="964" name="Google Shape;964;p69" descr="Imagen que contiene Texto&#10;&#10;Descripción generada automáticamente"/>
          <p:cNvPicPr preferRelativeResize="0"/>
          <p:nvPr/>
        </p:nvPicPr>
        <p:blipFill rotWithShape="1">
          <a:blip r:embed="rId4">
            <a:alphaModFix/>
          </a:blip>
          <a:srcRect/>
          <a:stretch/>
        </p:blipFill>
        <p:spPr>
          <a:xfrm>
            <a:off x="8245366" y="762493"/>
            <a:ext cx="2848303" cy="2534635"/>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pic>
        <p:nvPicPr>
          <p:cNvPr id="970" name="Google Shape;970;p70" descr="Interfaz de usuario gráfica, Texto&#10;&#10;Descripción generada automáticamente"/>
          <p:cNvPicPr preferRelativeResize="0"/>
          <p:nvPr/>
        </p:nvPicPr>
        <p:blipFill rotWithShape="1">
          <a:blip r:embed="rId3">
            <a:alphaModFix/>
          </a:blip>
          <a:srcRect/>
          <a:stretch/>
        </p:blipFill>
        <p:spPr>
          <a:xfrm>
            <a:off x="730469" y="216945"/>
            <a:ext cx="10941268" cy="6437247"/>
          </a:xfrm>
          <a:prstGeom prst="rect">
            <a:avLst/>
          </a:prstGeom>
          <a:noFill/>
          <a:ln>
            <a:noFill/>
          </a:ln>
          <a:effectLst>
            <a:outerShdw blurRad="101600" dist="50800" sx="101000" sy="101000" algn="ctr" rotWithShape="0">
              <a:srgbClr val="7F7F7F">
                <a:alpha val="20000"/>
              </a:srgbClr>
            </a:outerShdw>
          </a:effectLst>
        </p:spPr>
      </p:pic>
      <p:sp>
        <p:nvSpPr>
          <p:cNvPr id="971" name="Google Shape;971;p70"/>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2. Abrimos el programa “Visual Studio </a:t>
            </a:r>
            <a:r>
              <a:rPr lang="es-ES" sz="1800" b="0" i="0" u="none" strike="noStrike" cap="none" dirty="0" err="1">
                <a:solidFill>
                  <a:schemeClr val="lt1"/>
                </a:solidFill>
                <a:latin typeface="Gotham Rounded Medium" panose="02000000000000000000" pitchFamily="50" charset="0"/>
                <a:ea typeface="Tahoma"/>
                <a:cs typeface="Tahoma"/>
                <a:sym typeface="Tahoma"/>
              </a:rPr>
              <a:t>Code</a:t>
            </a:r>
            <a:r>
              <a:rPr lang="es-ES" sz="1800" b="0" i="0" u="none" strike="noStrike" cap="none" dirty="0">
                <a:solidFill>
                  <a:schemeClr val="lt1"/>
                </a:solidFill>
                <a:latin typeface="Gotham Rounded Medium" panose="02000000000000000000" pitchFamily="50" charset="0"/>
                <a:ea typeface="Tahoma"/>
                <a:cs typeface="Tahoma"/>
                <a:sym typeface="Tahoma"/>
              </a:rPr>
              <a:t>” y hacemos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en “Abrir carpeta” u “Open folder”.</a:t>
            </a:r>
            <a:endParaRPr sz="1800" b="0" i="1" u="none" strike="noStrike" cap="none" dirty="0">
              <a:solidFill>
                <a:srgbClr val="4A7B8B"/>
              </a:solidFill>
              <a:latin typeface="Gotham Rounded Medium" panose="02000000000000000000" pitchFamily="50" charset="0"/>
              <a:ea typeface="Tahoma"/>
              <a:cs typeface="Tahoma"/>
              <a:sym typeface="Tahoma"/>
            </a:endParaRPr>
          </a:p>
        </p:txBody>
      </p:sp>
      <p:sp>
        <p:nvSpPr>
          <p:cNvPr id="972" name="Google Shape;972;p70"/>
          <p:cNvSpPr/>
          <p:nvPr/>
        </p:nvSpPr>
        <p:spPr>
          <a:xfrm>
            <a:off x="2962368" y="2899237"/>
            <a:ext cx="1033585" cy="24325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73" name="Google Shape;973;p70">
            <a:hlinkClick r:id="rId4"/>
          </p:cNvPr>
          <p:cNvPicPr preferRelativeResize="0"/>
          <p:nvPr/>
        </p:nvPicPr>
        <p:blipFill rotWithShape="1">
          <a:blip r:embed="rId5">
            <a:alphaModFix/>
          </a:blip>
          <a:srcRect/>
          <a:stretch/>
        </p:blipFill>
        <p:spPr>
          <a:xfrm>
            <a:off x="3614198" y="3020865"/>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pic>
        <p:nvPicPr>
          <p:cNvPr id="979" name="Google Shape;979;p71" descr="Captura de pantalla de un celular&#10;&#10;Descripción generada automáticamente"/>
          <p:cNvPicPr preferRelativeResize="0"/>
          <p:nvPr/>
        </p:nvPicPr>
        <p:blipFill rotWithShape="1">
          <a:blip r:embed="rId3">
            <a:alphaModFix/>
          </a:blip>
          <a:srcRect/>
          <a:stretch/>
        </p:blipFill>
        <p:spPr>
          <a:xfrm>
            <a:off x="770627" y="205791"/>
            <a:ext cx="10866407" cy="6432041"/>
          </a:xfrm>
          <a:prstGeom prst="rect">
            <a:avLst/>
          </a:prstGeom>
          <a:noFill/>
          <a:ln>
            <a:noFill/>
          </a:ln>
          <a:effectLst>
            <a:outerShdw blurRad="101600" dist="50800" sx="101000" sy="101000" algn="ctr" rotWithShape="0">
              <a:srgbClr val="7F7F7F">
                <a:alpha val="20000"/>
              </a:srgbClr>
            </a:outerShdw>
          </a:effectLst>
        </p:spPr>
      </p:pic>
      <p:sp>
        <p:nvSpPr>
          <p:cNvPr id="980" name="Google Shape;980;p71"/>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3. Buscamos en el "Escritorio" y seleccionamos la carpeta "tutorial" que creamos en el primer paso.</a:t>
            </a:r>
            <a:endParaRPr sz="1400" b="0" i="0" u="none" strike="noStrike" cap="none" dirty="0">
              <a:solidFill>
                <a:srgbClr val="000000"/>
              </a:solidFill>
              <a:latin typeface="Gotham Rounded Medium" panose="02000000000000000000" pitchFamily="50" charset="0"/>
              <a:sym typeface="Arial"/>
            </a:endParaRPr>
          </a:p>
        </p:txBody>
      </p:sp>
      <p:sp>
        <p:nvSpPr>
          <p:cNvPr id="981" name="Google Shape;981;p71"/>
          <p:cNvSpPr/>
          <p:nvPr/>
        </p:nvSpPr>
        <p:spPr>
          <a:xfrm>
            <a:off x="2919613" y="2738698"/>
            <a:ext cx="976125" cy="38313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82" name="Google Shape;982;p71">
            <a:hlinkClick r:id="rId4"/>
          </p:cNvPr>
          <p:cNvPicPr preferRelativeResize="0"/>
          <p:nvPr/>
        </p:nvPicPr>
        <p:blipFill rotWithShape="1">
          <a:blip r:embed="rId5">
            <a:alphaModFix/>
          </a:blip>
          <a:srcRect/>
          <a:stretch/>
        </p:blipFill>
        <p:spPr>
          <a:xfrm>
            <a:off x="3555802" y="289691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pic>
        <p:nvPicPr>
          <p:cNvPr id="988" name="Google Shape;988;p72" descr="Captura de pantalla de un celular&#10;&#10;Descripción generada automáticamente"/>
          <p:cNvPicPr preferRelativeResize="0"/>
          <p:nvPr/>
        </p:nvPicPr>
        <p:blipFill rotWithShape="1">
          <a:blip r:embed="rId3">
            <a:alphaModFix/>
          </a:blip>
          <a:srcRect/>
          <a:stretch/>
        </p:blipFill>
        <p:spPr>
          <a:xfrm>
            <a:off x="769883" y="203808"/>
            <a:ext cx="10928131" cy="6463523"/>
          </a:xfrm>
          <a:prstGeom prst="rect">
            <a:avLst/>
          </a:prstGeom>
          <a:noFill/>
          <a:ln>
            <a:noFill/>
          </a:ln>
          <a:effectLst>
            <a:outerShdw blurRad="101600" dist="50800" sx="101000" sy="101000" algn="ctr" rotWithShape="0">
              <a:srgbClr val="7F7F7F">
                <a:alpha val="20000"/>
              </a:srgbClr>
            </a:outerShdw>
          </a:effectLst>
        </p:spPr>
      </p:pic>
      <p:sp>
        <p:nvSpPr>
          <p:cNvPr id="989" name="Google Shape;989;p72"/>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Primero tildamos la casilla y luego hacemos clic en el botón azul que dice "Yes, I trust </a:t>
            </a:r>
            <a:r>
              <a:rPr lang="es-ES" sz="1800" b="0" i="0" u="none" strike="noStrike" cap="none" dirty="0" err="1">
                <a:solidFill>
                  <a:schemeClr val="lt1"/>
                </a:solidFill>
                <a:latin typeface="Gotham Rounded Medium" panose="02000000000000000000" pitchFamily="50" charset="0"/>
                <a:ea typeface="Tahoma"/>
                <a:cs typeface="Tahoma"/>
                <a:sym typeface="Tahoma"/>
              </a:rPr>
              <a:t>the</a:t>
            </a:r>
            <a:r>
              <a:rPr lang="es-ES" sz="1800" b="0" i="0" u="none" strike="noStrike" cap="none" dirty="0">
                <a:solidFill>
                  <a:schemeClr val="lt1"/>
                </a:solidFill>
                <a:latin typeface="Gotham Rounded Medium" panose="02000000000000000000" pitchFamily="50" charset="0"/>
                <a:ea typeface="Tahoma"/>
                <a:cs typeface="Tahoma"/>
                <a:sym typeface="Tahoma"/>
              </a:rPr>
              <a:t> </a:t>
            </a:r>
            <a:r>
              <a:rPr lang="es-ES" sz="1800" b="0" i="0" u="none" strike="noStrike" cap="none" dirty="0" err="1">
                <a:solidFill>
                  <a:schemeClr val="lt1"/>
                </a:solidFill>
                <a:latin typeface="Gotham Rounded Medium" panose="02000000000000000000" pitchFamily="50" charset="0"/>
                <a:ea typeface="Tahoma"/>
                <a:cs typeface="Tahoma"/>
                <a:sym typeface="Tahoma"/>
              </a:rPr>
              <a:t>authors</a:t>
            </a:r>
            <a:r>
              <a:rPr lang="es-ES" sz="1800" b="0" i="0" u="none" strike="noStrike" cap="none" dirty="0">
                <a:solidFill>
                  <a:schemeClr val="lt1"/>
                </a:solidFill>
                <a:latin typeface="Gotham Rounded Medium" panose="02000000000000000000" pitchFamily="50" charset="0"/>
                <a:ea typeface="Tahoma"/>
                <a:cs typeface="Tahoma"/>
                <a:sym typeface="Tahoma"/>
              </a:rPr>
              <a:t>" (Si, confío en los autores)</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990" name="Google Shape;990;p72"/>
          <p:cNvSpPr/>
          <p:nvPr/>
        </p:nvSpPr>
        <p:spPr>
          <a:xfrm>
            <a:off x="4653820" y="3947389"/>
            <a:ext cx="529436" cy="39627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91" name="Google Shape;991;p72">
            <a:hlinkClick r:id="rId4"/>
          </p:cNvPr>
          <p:cNvPicPr preferRelativeResize="0"/>
          <p:nvPr/>
        </p:nvPicPr>
        <p:blipFill rotWithShape="1">
          <a:blip r:embed="rId5">
            <a:alphaModFix/>
          </a:blip>
          <a:srcRect/>
          <a:stretch/>
        </p:blipFill>
        <p:spPr>
          <a:xfrm>
            <a:off x="5000974" y="4118739"/>
            <a:ext cx="526842" cy="526842"/>
          </a:xfrm>
          <a:prstGeom prst="rect">
            <a:avLst/>
          </a:prstGeom>
          <a:noFill/>
          <a:ln>
            <a:noFill/>
          </a:ln>
        </p:spPr>
      </p:pic>
      <p:sp>
        <p:nvSpPr>
          <p:cNvPr id="992" name="Google Shape;992;p72"/>
          <p:cNvSpPr/>
          <p:nvPr/>
        </p:nvSpPr>
        <p:spPr>
          <a:xfrm>
            <a:off x="4377923" y="4354664"/>
            <a:ext cx="2145401" cy="55392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93" name="Google Shape;993;p72">
            <a:hlinkClick r:id="rId4"/>
          </p:cNvPr>
          <p:cNvPicPr preferRelativeResize="0"/>
          <p:nvPr/>
        </p:nvPicPr>
        <p:blipFill rotWithShape="1">
          <a:blip r:embed="rId5">
            <a:alphaModFix/>
          </a:blip>
          <a:srcRect/>
          <a:stretch/>
        </p:blipFill>
        <p:spPr>
          <a:xfrm>
            <a:off x="5828663" y="4657394"/>
            <a:ext cx="526842" cy="526842"/>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pic>
        <p:nvPicPr>
          <p:cNvPr id="999" name="Google Shape;999;p73" descr="Captura de pantalla de computadora&#10;&#10;Descripción generada automáticamente"/>
          <p:cNvPicPr preferRelativeResize="0"/>
          <p:nvPr/>
        </p:nvPicPr>
        <p:blipFill rotWithShape="1">
          <a:blip r:embed="rId3">
            <a:alphaModFix/>
          </a:blip>
          <a:srcRect/>
          <a:stretch/>
        </p:blipFill>
        <p:spPr>
          <a:xfrm>
            <a:off x="698740" y="205791"/>
            <a:ext cx="10808898" cy="6432042"/>
          </a:xfrm>
          <a:prstGeom prst="rect">
            <a:avLst/>
          </a:prstGeom>
          <a:noFill/>
          <a:ln>
            <a:noFill/>
          </a:ln>
          <a:effectLst>
            <a:outerShdw blurRad="101600" dist="50800" sx="101000" sy="101000" algn="ctr" rotWithShape="0">
              <a:srgbClr val="7F7F7F">
                <a:alpha val="20000"/>
              </a:srgbClr>
            </a:outerShdw>
          </a:effectLst>
        </p:spPr>
      </p:pic>
      <p:sp>
        <p:nvSpPr>
          <p:cNvPr id="1000" name="Google Shape;1000;p73"/>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4. Ya abierta la carpeta ahora vamos a crear nuestro primer archivo haciendo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en "New file..." (Nuevo archivo)</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1001" name="Google Shape;1001;p73"/>
          <p:cNvSpPr/>
          <p:nvPr/>
        </p:nvSpPr>
        <p:spPr>
          <a:xfrm>
            <a:off x="3944537" y="2451477"/>
            <a:ext cx="841948" cy="27864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02" name="Google Shape;1002;p73">
            <a:hlinkClick r:id="rId4"/>
          </p:cNvPr>
          <p:cNvPicPr preferRelativeResize="0"/>
          <p:nvPr/>
        </p:nvPicPr>
        <p:blipFill rotWithShape="1">
          <a:blip r:embed="rId5">
            <a:alphaModFix/>
          </a:blip>
          <a:srcRect/>
          <a:stretch/>
        </p:blipFill>
        <p:spPr>
          <a:xfrm>
            <a:off x="4358323" y="2597987"/>
            <a:ext cx="526842" cy="526842"/>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pic>
        <p:nvPicPr>
          <p:cNvPr id="1008" name="Google Shape;1008;p74" descr="Interfaz de usuario gráfica, Texto&#10;&#10;Descripción generada automáticamente"/>
          <p:cNvPicPr preferRelativeResize="0"/>
          <p:nvPr/>
        </p:nvPicPr>
        <p:blipFill rotWithShape="1">
          <a:blip r:embed="rId3">
            <a:alphaModFix/>
          </a:blip>
          <a:srcRect/>
          <a:stretch/>
        </p:blipFill>
        <p:spPr>
          <a:xfrm>
            <a:off x="612228" y="216946"/>
            <a:ext cx="10980682" cy="6437247"/>
          </a:xfrm>
          <a:prstGeom prst="rect">
            <a:avLst/>
          </a:prstGeom>
          <a:noFill/>
          <a:ln>
            <a:noFill/>
          </a:ln>
          <a:effectLst>
            <a:outerShdw blurRad="101600" dist="50800" sx="101000" sy="101000" algn="ctr" rotWithShape="0">
              <a:srgbClr val="7F7F7F">
                <a:alpha val="20000"/>
              </a:srgbClr>
            </a:outerShdw>
          </a:effectLst>
        </p:spPr>
      </p:pic>
      <p:sp>
        <p:nvSpPr>
          <p:cNvPr id="1009" name="Google Shape;1009;p74"/>
          <p:cNvSpPr/>
          <p:nvPr/>
        </p:nvSpPr>
        <p:spPr>
          <a:xfrm>
            <a:off x="786395" y="219403"/>
            <a:ext cx="551728" cy="27421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10" name="Google Shape;1010;p74">
            <a:hlinkClick r:id="rId4"/>
          </p:cNvPr>
          <p:cNvPicPr preferRelativeResize="0"/>
          <p:nvPr/>
        </p:nvPicPr>
        <p:blipFill rotWithShape="1">
          <a:blip r:embed="rId5">
            <a:alphaModFix/>
          </a:blip>
          <a:srcRect/>
          <a:stretch/>
        </p:blipFill>
        <p:spPr>
          <a:xfrm>
            <a:off x="1040743" y="367266"/>
            <a:ext cx="526842" cy="526842"/>
          </a:xfrm>
          <a:prstGeom prst="rect">
            <a:avLst/>
          </a:prstGeom>
          <a:noFill/>
          <a:ln>
            <a:noFill/>
          </a:ln>
        </p:spPr>
      </p:pic>
      <p:sp>
        <p:nvSpPr>
          <p:cNvPr id="1011" name="Google Shape;1011;p74"/>
          <p:cNvSpPr/>
          <p:nvPr/>
        </p:nvSpPr>
        <p:spPr>
          <a:xfrm>
            <a:off x="1637732" y="4028466"/>
            <a:ext cx="10150436" cy="23586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5. Una vez creado nuestro archivo tenemos que guardarlo con el nombre de </a:t>
            </a:r>
            <a:r>
              <a:rPr lang="es-ES" sz="1800" b="1" i="0" u="none" strike="noStrike" cap="none" dirty="0">
                <a:solidFill>
                  <a:schemeClr val="lt1"/>
                </a:solidFill>
                <a:latin typeface="Gotham Rounded Medium" panose="02000000000000000000" pitchFamily="50" charset="0"/>
                <a:ea typeface="Tahoma"/>
                <a:cs typeface="Tahoma"/>
                <a:sym typeface="Tahoma"/>
              </a:rPr>
              <a:t>“index.html”. Para guardarlo vamos a "File" (Archivo) &gt; "</a:t>
            </a:r>
            <a:r>
              <a:rPr lang="es-ES" sz="1800" b="1" i="0" u="none" strike="noStrike" cap="none" dirty="0" err="1">
                <a:solidFill>
                  <a:schemeClr val="lt1"/>
                </a:solidFill>
                <a:latin typeface="Gotham Rounded Medium" panose="02000000000000000000" pitchFamily="50" charset="0"/>
                <a:ea typeface="Tahoma"/>
                <a:cs typeface="Tahoma"/>
                <a:sym typeface="Tahoma"/>
              </a:rPr>
              <a:t>Save</a:t>
            </a:r>
            <a:r>
              <a:rPr lang="es-ES" sz="1800" b="1" i="0" u="none" strike="noStrike" cap="none" dirty="0">
                <a:solidFill>
                  <a:schemeClr val="lt1"/>
                </a:solidFill>
                <a:latin typeface="Gotham Rounded Medium" panose="02000000000000000000" pitchFamily="50" charset="0"/>
                <a:ea typeface="Tahoma"/>
                <a:cs typeface="Tahoma"/>
                <a:sym typeface="Tahoma"/>
              </a:rPr>
              <a:t>" (Guardar). </a:t>
            </a:r>
            <a:r>
              <a:rPr lang="es-ES" sz="1800" b="0" i="0" u="none" strike="noStrike" cap="none" dirty="0">
                <a:solidFill>
                  <a:schemeClr val="lt1"/>
                </a:solidFill>
                <a:latin typeface="Gotham Rounded Medium" panose="02000000000000000000" pitchFamily="50" charset="0"/>
                <a:ea typeface="Tahoma"/>
                <a:cs typeface="Tahoma"/>
                <a:sym typeface="Tahoma"/>
              </a:rPr>
              <a:t>Este archivo index.html es el archivo que siempre un navegador web va a intentar iniciar cuando se lo envíe a una dirección, ya lo veremos...</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1012" name="Google Shape;1012;p74"/>
          <p:cNvSpPr/>
          <p:nvPr/>
        </p:nvSpPr>
        <p:spPr>
          <a:xfrm>
            <a:off x="983464" y="2794437"/>
            <a:ext cx="551728" cy="27421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13" name="Google Shape;1013;p74">
            <a:hlinkClick r:id="rId4"/>
          </p:cNvPr>
          <p:cNvPicPr preferRelativeResize="0"/>
          <p:nvPr/>
        </p:nvPicPr>
        <p:blipFill rotWithShape="1">
          <a:blip r:embed="rId5">
            <a:alphaModFix/>
          </a:blip>
          <a:srcRect/>
          <a:stretch/>
        </p:blipFill>
        <p:spPr>
          <a:xfrm>
            <a:off x="1237812" y="2942300"/>
            <a:ext cx="526842" cy="526842"/>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pic>
        <p:nvPicPr>
          <p:cNvPr id="1019" name="Google Shape;1019;p75" descr="Captura de pantalla de un celular&#10;&#10;Descripción generada automáticamente"/>
          <p:cNvPicPr preferRelativeResize="0"/>
          <p:nvPr/>
        </p:nvPicPr>
        <p:blipFill rotWithShape="1">
          <a:blip r:embed="rId3">
            <a:alphaModFix/>
          </a:blip>
          <a:srcRect/>
          <a:stretch/>
        </p:blipFill>
        <p:spPr>
          <a:xfrm>
            <a:off x="572814" y="216946"/>
            <a:ext cx="11059510" cy="6437248"/>
          </a:xfrm>
          <a:prstGeom prst="rect">
            <a:avLst/>
          </a:prstGeom>
          <a:noFill/>
          <a:ln>
            <a:noFill/>
          </a:ln>
          <a:effectLst>
            <a:outerShdw blurRad="101600" dist="50800" sx="101000" sy="101000" algn="ctr" rotWithShape="0">
              <a:srgbClr val="7F7F7F">
                <a:alpha val="20000"/>
              </a:srgbClr>
            </a:outerShdw>
          </a:effectLst>
        </p:spPr>
      </p:pic>
      <p:sp>
        <p:nvSpPr>
          <p:cNvPr id="1020" name="Google Shape;1020;p75"/>
          <p:cNvSpPr/>
          <p:nvPr/>
        </p:nvSpPr>
        <p:spPr>
          <a:xfrm>
            <a:off x="2378760" y="3982158"/>
            <a:ext cx="774344" cy="33345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21" name="Google Shape;1021;p75">
            <a:hlinkClick r:id="rId4"/>
          </p:cNvPr>
          <p:cNvPicPr preferRelativeResize="0"/>
          <p:nvPr/>
        </p:nvPicPr>
        <p:blipFill rotWithShape="1">
          <a:blip r:embed="rId5">
            <a:alphaModFix/>
          </a:blip>
          <a:srcRect/>
          <a:stretch/>
        </p:blipFill>
        <p:spPr>
          <a:xfrm>
            <a:off x="2889679" y="4148886"/>
            <a:ext cx="526842" cy="526842"/>
          </a:xfrm>
          <a:prstGeom prst="rect">
            <a:avLst/>
          </a:prstGeom>
          <a:noFill/>
          <a:ln>
            <a:noFill/>
          </a:ln>
        </p:spPr>
      </p:pic>
      <p:sp>
        <p:nvSpPr>
          <p:cNvPr id="1022" name="Google Shape;1022;p75"/>
          <p:cNvSpPr/>
          <p:nvPr/>
        </p:nvSpPr>
        <p:spPr>
          <a:xfrm>
            <a:off x="7904525" y="1190672"/>
            <a:ext cx="3883643" cy="519647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5. Una vez creado nuestro archivo tenemos que guardarlo con el nombre de </a:t>
            </a:r>
            <a:r>
              <a:rPr lang="es-ES" sz="1800" b="1" i="0" u="none" strike="noStrike" cap="none" dirty="0">
                <a:solidFill>
                  <a:schemeClr val="lt1"/>
                </a:solidFill>
                <a:latin typeface="Gotham Rounded Medium" panose="02000000000000000000" pitchFamily="50" charset="0"/>
                <a:ea typeface="Tahoma"/>
                <a:cs typeface="Tahoma"/>
                <a:sym typeface="Tahoma"/>
              </a:rPr>
              <a:t>“index.html”. </a:t>
            </a:r>
            <a:r>
              <a:rPr lang="es-ES" sz="1800" b="0" i="0" u="none" strike="noStrike" cap="none" dirty="0">
                <a:solidFill>
                  <a:schemeClr val="lt1"/>
                </a:solidFill>
                <a:latin typeface="Gotham Rounded Medium" panose="02000000000000000000" pitchFamily="50" charset="0"/>
                <a:ea typeface="Tahoma"/>
                <a:cs typeface="Tahoma"/>
                <a:sym typeface="Tahoma"/>
              </a:rPr>
              <a:t>Esto es muy importante porque los navegadores webs están configurados para siempre primero intentar buscar e interpretar el archivo index.html</a:t>
            </a:r>
            <a:endParaRPr sz="1800" b="0" i="0" u="none" strike="noStrike" cap="none" dirty="0">
              <a:solidFill>
                <a:srgbClr val="4A7B8B"/>
              </a:solidFill>
              <a:latin typeface="Gotham Rounded Medium" panose="02000000000000000000" pitchFamily="50" charset="0"/>
              <a:ea typeface="Tahoma"/>
              <a:cs typeface="Tahoma"/>
              <a:sym typeface="Tahoma"/>
            </a:endParaRPr>
          </a:p>
        </p:txBody>
      </p:sp>
      <p:sp>
        <p:nvSpPr>
          <p:cNvPr id="1023" name="Google Shape;1023;p75"/>
          <p:cNvSpPr/>
          <p:nvPr/>
        </p:nvSpPr>
        <p:spPr>
          <a:xfrm>
            <a:off x="5229691" y="4573365"/>
            <a:ext cx="905723" cy="34659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24" name="Google Shape;1024;p75">
            <a:hlinkClick r:id="rId4"/>
          </p:cNvPr>
          <p:cNvPicPr preferRelativeResize="0"/>
          <p:nvPr/>
        </p:nvPicPr>
        <p:blipFill rotWithShape="1">
          <a:blip r:embed="rId5">
            <a:alphaModFix/>
          </a:blip>
          <a:srcRect/>
          <a:stretch/>
        </p:blipFill>
        <p:spPr>
          <a:xfrm>
            <a:off x="5740610" y="4740093"/>
            <a:ext cx="526842" cy="526842"/>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pic>
        <p:nvPicPr>
          <p:cNvPr id="1030" name="Google Shape;1030;p76"/>
          <p:cNvPicPr preferRelativeResize="0"/>
          <p:nvPr/>
        </p:nvPicPr>
        <p:blipFill rotWithShape="1">
          <a:blip r:embed="rId3">
            <a:alphaModFix/>
          </a:blip>
          <a:srcRect/>
          <a:stretch/>
        </p:blipFill>
        <p:spPr>
          <a:xfrm>
            <a:off x="0" y="269433"/>
            <a:ext cx="12192000" cy="6319133"/>
          </a:xfrm>
          <a:prstGeom prst="rect">
            <a:avLst/>
          </a:prstGeom>
          <a:noFill/>
          <a:ln>
            <a:noFill/>
          </a:ln>
        </p:spPr>
      </p:pic>
      <p:sp>
        <p:nvSpPr>
          <p:cNvPr id="1031" name="Google Shape;1031;p76"/>
          <p:cNvSpPr/>
          <p:nvPr/>
        </p:nvSpPr>
        <p:spPr>
          <a:xfrm>
            <a:off x="3655232" y="1019091"/>
            <a:ext cx="916768" cy="21915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32" name="Google Shape;1032;p76"/>
          <p:cNvGrpSpPr/>
          <p:nvPr/>
        </p:nvGrpSpPr>
        <p:grpSpPr>
          <a:xfrm>
            <a:off x="9437915" y="1175657"/>
            <a:ext cx="2471057" cy="4506686"/>
            <a:chOff x="9459687" y="1338943"/>
            <a:chExt cx="2471057" cy="4506686"/>
          </a:xfrm>
          <a:solidFill>
            <a:srgbClr val="872789"/>
          </a:solidFill>
        </p:grpSpPr>
        <p:sp>
          <p:nvSpPr>
            <p:cNvPr id="1033" name="Google Shape;1033;p76"/>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endParaRPr sz="1400" b="0" i="0" u="none" strike="noStrike" cap="none" dirty="0">
                <a:solidFill>
                  <a:srgbClr val="000000"/>
                </a:solidFill>
                <a:latin typeface="Gotham Rounded Medium" panose="02000000000000000000" pitchFamily="50" charset="0"/>
                <a:sym typeface="Arial"/>
              </a:endParaRPr>
            </a:p>
          </p:txBody>
        </p:sp>
        <p:pic>
          <p:nvPicPr>
            <p:cNvPr id="1034" name="Google Shape;1034;p76"/>
            <p:cNvPicPr preferRelativeResize="0"/>
            <p:nvPr/>
          </p:nvPicPr>
          <p:blipFill rotWithShape="1">
            <a:blip r:embed="rId4">
              <a:alphaModFix/>
            </a:blip>
            <a:srcRect/>
            <a:stretch/>
          </p:blipFill>
          <p:spPr>
            <a:xfrm>
              <a:off x="9745175" y="4575411"/>
              <a:ext cx="1289956" cy="854727"/>
            </a:xfrm>
            <a:prstGeom prst="rect">
              <a:avLst/>
            </a:prstGeom>
            <a:grpFill/>
            <a:ln>
              <a:noFill/>
            </a:ln>
          </p:spPr>
        </p:pic>
      </p:grpSp>
    </p:spTree>
  </p:cSld>
  <p:clrMapOvr>
    <a:masterClrMapping/>
  </p:clrMapOvr>
  <p:transition spd="slow">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pic>
        <p:nvPicPr>
          <p:cNvPr id="1040" name="Google Shape;1040;p77"/>
          <p:cNvPicPr preferRelativeResize="0"/>
          <p:nvPr/>
        </p:nvPicPr>
        <p:blipFill rotWithShape="1">
          <a:blip r:embed="rId3">
            <a:alphaModFix/>
          </a:blip>
          <a:srcRect/>
          <a:stretch/>
        </p:blipFill>
        <p:spPr>
          <a:xfrm>
            <a:off x="0" y="278358"/>
            <a:ext cx="12192000" cy="6301283"/>
          </a:xfrm>
          <a:prstGeom prst="rect">
            <a:avLst/>
          </a:prstGeom>
          <a:noFill/>
          <a:ln>
            <a:noFill/>
          </a:ln>
        </p:spPr>
      </p:pic>
      <p:grpSp>
        <p:nvGrpSpPr>
          <p:cNvPr id="1041" name="Google Shape;1041;p77"/>
          <p:cNvGrpSpPr/>
          <p:nvPr/>
        </p:nvGrpSpPr>
        <p:grpSpPr>
          <a:xfrm>
            <a:off x="9437915" y="1175657"/>
            <a:ext cx="2471057" cy="4506686"/>
            <a:chOff x="9459687" y="1338943"/>
            <a:chExt cx="2471057" cy="4506686"/>
          </a:xfrm>
          <a:solidFill>
            <a:srgbClr val="872789"/>
          </a:solidFill>
        </p:grpSpPr>
        <p:sp>
          <p:nvSpPr>
            <p:cNvPr id="1042" name="Google Shape;1042;p77"/>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endParaRPr sz="1400" b="0" i="0" u="none" strike="noStrike" cap="none" dirty="0">
                <a:solidFill>
                  <a:srgbClr val="000000"/>
                </a:solidFill>
                <a:latin typeface="Gotham Rounded Medium" panose="02000000000000000000" pitchFamily="50" charset="0"/>
                <a:sym typeface="Arial"/>
              </a:endParaRPr>
            </a:p>
          </p:txBody>
        </p:sp>
        <p:pic>
          <p:nvPicPr>
            <p:cNvPr id="1043" name="Google Shape;1043;p77"/>
            <p:cNvPicPr preferRelativeResize="0"/>
            <p:nvPr/>
          </p:nvPicPr>
          <p:blipFill rotWithShape="1">
            <a:blip r:embed="rId4">
              <a:alphaModFix/>
            </a:blip>
            <a:srcRect/>
            <a:stretch/>
          </p:blipFill>
          <p:spPr>
            <a:xfrm>
              <a:off x="9745175" y="4575411"/>
              <a:ext cx="1289956" cy="854727"/>
            </a:xfrm>
            <a:prstGeom prst="rect">
              <a:avLst/>
            </a:prstGeom>
            <a:grpFill/>
            <a:ln>
              <a:noFill/>
            </a:ln>
          </p:spPr>
        </p:pic>
      </p:grpSp>
    </p:spTree>
  </p:cSld>
  <p:clrMapOvr>
    <a:masterClrMapping/>
  </p:clrMapOvr>
  <p:transition spd="slow">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pic>
        <p:nvPicPr>
          <p:cNvPr id="1049" name="Google Shape;1049;p78" descr="HTML:5 - Emmet"/>
          <p:cNvPicPr preferRelativeResize="0"/>
          <p:nvPr/>
        </p:nvPicPr>
        <p:blipFill rotWithShape="1">
          <a:blip r:embed="rId3">
            <a:alphaModFix/>
          </a:blip>
          <a:srcRect/>
          <a:stretch/>
        </p:blipFill>
        <p:spPr>
          <a:xfrm>
            <a:off x="95289" y="0"/>
            <a:ext cx="9150646" cy="6858000"/>
          </a:xfrm>
          <a:prstGeom prst="rect">
            <a:avLst/>
          </a:prstGeom>
          <a:noFill/>
          <a:ln>
            <a:noFill/>
          </a:ln>
        </p:spPr>
      </p:pic>
      <p:grpSp>
        <p:nvGrpSpPr>
          <p:cNvPr id="1050" name="Google Shape;1050;p78"/>
          <p:cNvGrpSpPr/>
          <p:nvPr/>
        </p:nvGrpSpPr>
        <p:grpSpPr>
          <a:xfrm>
            <a:off x="9409780" y="1175657"/>
            <a:ext cx="2471057" cy="4506686"/>
            <a:chOff x="9459687" y="1338943"/>
            <a:chExt cx="2471057" cy="4506686"/>
          </a:xfrm>
          <a:solidFill>
            <a:srgbClr val="872789"/>
          </a:solidFill>
        </p:grpSpPr>
        <p:sp>
          <p:nvSpPr>
            <p:cNvPr id="1051" name="Google Shape;1051;p78"/>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r>
                <a:rPr lang="es-ES" sz="18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p:txBody>
        </p:sp>
        <p:pic>
          <p:nvPicPr>
            <p:cNvPr id="1052" name="Google Shape;1052;p78"/>
            <p:cNvPicPr preferRelativeResize="0"/>
            <p:nvPr/>
          </p:nvPicPr>
          <p:blipFill rotWithShape="1">
            <a:blip r:embed="rId4">
              <a:alphaModFix/>
            </a:blip>
            <a:srcRect/>
            <a:stretch/>
          </p:blipFill>
          <p:spPr>
            <a:xfrm>
              <a:off x="9787378" y="4772359"/>
              <a:ext cx="1289956" cy="854727"/>
            </a:xfrm>
            <a:prstGeom prst="rect">
              <a:avLst/>
            </a:prstGeom>
            <a:grpFill/>
            <a:ln>
              <a:noFill/>
            </a:ln>
          </p:spPr>
        </p:pic>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9"/>
                                        </p:tgtEl>
                                        <p:attrNameLst>
                                          <p:attrName>style.visibility</p:attrName>
                                        </p:attrNameLst>
                                      </p:cBhvr>
                                      <p:to>
                                        <p:strVal val="visible"/>
                                      </p:to>
                                    </p:set>
                                    <p:animEffect transition="in" filter="fade">
                                      <p:cBhvr>
                                        <p:cTn id="7" dur="1"/>
                                        <p:tgtEl>
                                          <p:spTgt spid="1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79"/>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“en”</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Document</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059" name="Google Shape;1059;p79"/>
          <p:cNvSpPr/>
          <p:nvPr/>
        </p:nvSpPr>
        <p:spPr>
          <a:xfrm>
            <a:off x="575485" y="1061391"/>
            <a:ext cx="11041030" cy="47352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60" name="Google Shape;1060;p79"/>
          <p:cNvGrpSpPr/>
          <p:nvPr/>
        </p:nvGrpSpPr>
        <p:grpSpPr>
          <a:xfrm>
            <a:off x="0" y="0"/>
            <a:ext cx="12192000" cy="413657"/>
            <a:chOff x="0" y="0"/>
            <a:chExt cx="12192000" cy="413657"/>
          </a:xfrm>
        </p:grpSpPr>
        <p:sp>
          <p:nvSpPr>
            <p:cNvPr id="1061" name="Google Shape;1061;p79"/>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62" name="Google Shape;1062;p79"/>
            <p:cNvGrpSpPr/>
            <p:nvPr/>
          </p:nvGrpSpPr>
          <p:grpSpPr>
            <a:xfrm>
              <a:off x="575484" y="52939"/>
              <a:ext cx="1447716" cy="350261"/>
              <a:chOff x="575484" y="52939"/>
              <a:chExt cx="1447716" cy="350261"/>
            </a:xfrm>
          </p:grpSpPr>
          <p:sp>
            <p:nvSpPr>
              <p:cNvPr id="1063" name="Google Shape;1063;p79"/>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064" name="Google Shape;1064;p79"/>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065" name="Google Shape;1065;p79"/>
          <p:cNvSpPr/>
          <p:nvPr/>
        </p:nvSpPr>
        <p:spPr>
          <a:xfrm>
            <a:off x="4285397" y="4659086"/>
            <a:ext cx="7502771"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7. A partir de aquí, iremos modificando y añadiendo código. </a:t>
            </a: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Ésta es la base de un archivo HTML. ¡Vamos muy bien! :)</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80"/>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Document</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072" name="Google Shape;1072;p80"/>
          <p:cNvSpPr/>
          <p:nvPr/>
        </p:nvSpPr>
        <p:spPr>
          <a:xfrm>
            <a:off x="1410594" y="1563291"/>
            <a:ext cx="1375634" cy="41790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73" name="Google Shape;1073;p80"/>
          <p:cNvGrpSpPr/>
          <p:nvPr/>
        </p:nvGrpSpPr>
        <p:grpSpPr>
          <a:xfrm>
            <a:off x="0" y="0"/>
            <a:ext cx="12192000" cy="413657"/>
            <a:chOff x="0" y="0"/>
            <a:chExt cx="12192000" cy="413657"/>
          </a:xfrm>
        </p:grpSpPr>
        <p:sp>
          <p:nvSpPr>
            <p:cNvPr id="1074" name="Google Shape;1074;p80"/>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75" name="Google Shape;1075;p80"/>
            <p:cNvGrpSpPr/>
            <p:nvPr/>
          </p:nvGrpSpPr>
          <p:grpSpPr>
            <a:xfrm>
              <a:off x="575484" y="52939"/>
              <a:ext cx="1447716" cy="350261"/>
              <a:chOff x="575484" y="52939"/>
              <a:chExt cx="1447716" cy="350261"/>
            </a:xfrm>
          </p:grpSpPr>
          <p:sp>
            <p:nvSpPr>
              <p:cNvPr id="1076" name="Google Shape;1076;p80"/>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077" name="Google Shape;1077;p80"/>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078" name="Google Shape;1078;p80"/>
          <p:cNvSpPr/>
          <p:nvPr/>
        </p:nvSpPr>
        <p:spPr>
          <a:xfrm>
            <a:off x="3152633" y="4659086"/>
            <a:ext cx="8635535"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8. Actualizamos el “</a:t>
            </a:r>
            <a:r>
              <a:rPr lang="es-ES" sz="1800" b="0" i="0" u="none" strike="noStrike" cap="none" dirty="0" err="1">
                <a:solidFill>
                  <a:schemeClr val="lt1"/>
                </a:solidFill>
                <a:latin typeface="Gotham Rounded Medium" panose="02000000000000000000" pitchFamily="50" charset="0"/>
                <a:ea typeface="Tahoma"/>
                <a:cs typeface="Tahoma"/>
                <a:sym typeface="Tahoma"/>
              </a:rPr>
              <a:t>lang</a:t>
            </a:r>
            <a:r>
              <a:rPr lang="es-ES" sz="1800" b="0" i="0" u="none" strike="noStrike" cap="none" dirty="0">
                <a:solidFill>
                  <a:schemeClr val="lt1"/>
                </a:solidFill>
                <a:latin typeface="Gotham Rounded Medium" panose="02000000000000000000" pitchFamily="50" charset="0"/>
                <a:ea typeface="Tahoma"/>
                <a:cs typeface="Tahoma"/>
                <a:sym typeface="Tahoma"/>
              </a:rPr>
              <a:t>” a “es”. Esto indica que nuestro sitio web va a contener textos en español. Esta etiqueta será </a:t>
            </a:r>
            <a:r>
              <a:rPr lang="es-ES" sz="1800" b="0" i="0" u="none" strike="noStrike" cap="none" dirty="0" err="1">
                <a:solidFill>
                  <a:schemeClr val="lt1"/>
                </a:solidFill>
                <a:latin typeface="Gotham Rounded Medium" panose="02000000000000000000" pitchFamily="50" charset="0"/>
                <a:ea typeface="Tahoma"/>
                <a:cs typeface="Tahoma"/>
                <a:sym typeface="Tahoma"/>
              </a:rPr>
              <a:t>leida</a:t>
            </a:r>
            <a:r>
              <a:rPr lang="es-ES" sz="1800" b="0" i="0" u="none" strike="noStrike" cap="none" dirty="0">
                <a:solidFill>
                  <a:schemeClr val="lt1"/>
                </a:solidFill>
                <a:latin typeface="Gotham Rounded Medium" panose="02000000000000000000" pitchFamily="50" charset="0"/>
                <a:ea typeface="Tahoma"/>
                <a:cs typeface="Tahoma"/>
                <a:sym typeface="Tahoma"/>
              </a:rPr>
              <a:t> por los motores de búsqueda, como Bing o Google, para anticipar y filtrar el idioma del sitio.</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2do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38933005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1603717" y="626346"/>
            <a:ext cx="8848578" cy="4585871"/>
          </a:xfrm>
          <a:prstGeom prst="rect">
            <a:avLst/>
          </a:prstGeom>
        </p:spPr>
        <p:txBody>
          <a:bodyPr wrap="square">
            <a:spAutoFit/>
          </a:bodyPr>
          <a:lstStyle/>
          <a:p>
            <a:pPr lvl="0" algn="ctr">
              <a:buSzPts val="2400"/>
            </a:pPr>
            <a:r>
              <a:rPr lang="es-MX" sz="2000" dirty="0">
                <a:solidFill>
                  <a:schemeClr val="tx1"/>
                </a:solidFill>
                <a:latin typeface="Gotham Rounded" pitchFamily="50" charset="0"/>
              </a:rPr>
              <a:t>2do paso</a:t>
            </a: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Modificar metadatos</a:t>
            </a:r>
            <a:endParaRPr lang="es-MX" sz="1200" dirty="0">
              <a:solidFill>
                <a:srgbClr val="7030A0"/>
              </a:solidFill>
              <a:latin typeface="Gotham Rounded" pitchFamily="50" charset="0"/>
            </a:endParaRPr>
          </a:p>
          <a:p>
            <a:pPr lvl="0" algn="ctr">
              <a:buSzPts val="7200"/>
            </a:pPr>
            <a:r>
              <a:rPr lang="es-MX" sz="6600" dirty="0">
                <a:solidFill>
                  <a:srgbClr val="7030A0"/>
                </a:solidFill>
                <a:latin typeface="Gotham Rounded" pitchFamily="50" charset="0"/>
              </a:rPr>
              <a:t>en el &lt;head&gt;</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t>
            </a:r>
            <a:r>
              <a:rPr lang="es-MX" sz="2000" dirty="0">
                <a:solidFill>
                  <a:schemeClr val="tx1"/>
                </a:solidFill>
              </a:rPr>
              <a:t>algunos caracteres (como las comillas dobles y simples) fallan</a:t>
            </a:r>
          </a:p>
        </p:txBody>
      </p:sp>
    </p:spTree>
    <p:extLst>
      <p:ext uri="{BB962C8B-B14F-4D97-AF65-F5344CB8AC3E}">
        <p14:creationId xmlns:p14="http://schemas.microsoft.com/office/powerpoint/2010/main" val="32145096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83"/>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DOCTYPE</a:t>
            </a:r>
            <a:r>
              <a:rPr lang="es-ES" sz="1800" b="0" i="0" u="none" strike="noStrike" cap="none" dirty="0">
                <a:solidFill>
                  <a:schemeClr val="dk1"/>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html</a:t>
            </a:r>
            <a:r>
              <a:rPr lang="es-ES" sz="1800" b="0" i="0" u="none" strike="noStrike" cap="none" dirty="0">
                <a:solidFill>
                  <a:srgbClr val="4A7B8B"/>
                </a:solidFill>
                <a:latin typeface="Tahoma"/>
                <a:ea typeface="Tahoma"/>
                <a:cs typeface="Tahoma"/>
                <a:sym typeface="Tahoma"/>
              </a:rPr>
              <a:t>&gt;</a:t>
            </a:r>
            <a:endParaRPr sz="1800" b="0" i="0" u="none" strike="noStrike" cap="none" dirty="0">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html</a:t>
            </a:r>
            <a:r>
              <a:rPr lang="es-ES" sz="1800" b="0" i="0" u="none" strike="noStrike" cap="none" dirty="0">
                <a:solidFill>
                  <a:srgbClr val="79D2EA"/>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lang</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“es”</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head</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meta </a:t>
            </a:r>
            <a:r>
              <a:rPr lang="es-ES" sz="1800" b="0" i="0" u="none" strike="noStrike" cap="none" dirty="0" err="1">
                <a:solidFill>
                  <a:srgbClr val="F2CD84"/>
                </a:solidFill>
                <a:latin typeface="Tahoma"/>
                <a:ea typeface="Tahoma"/>
                <a:cs typeface="Tahoma"/>
                <a:sym typeface="Tahoma"/>
              </a:rPr>
              <a:t>charset</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“UTF-8”</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meta </a:t>
            </a:r>
            <a:r>
              <a:rPr lang="es-ES" sz="1800" b="0" i="0" u="none" strike="noStrike" cap="none" dirty="0" err="1">
                <a:solidFill>
                  <a:srgbClr val="F2CD84"/>
                </a:solidFill>
                <a:latin typeface="Tahoma"/>
                <a:ea typeface="Tahoma"/>
                <a:cs typeface="Tahoma"/>
                <a:sym typeface="Tahoma"/>
              </a:rPr>
              <a:t>name</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viewport</a:t>
            </a:r>
            <a:r>
              <a:rPr lang="es-ES" sz="1800" b="0" i="0" u="none" strike="noStrike" cap="none" dirty="0">
                <a:solidFill>
                  <a:srgbClr val="F2CD84"/>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content</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width</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device-width</a:t>
            </a:r>
            <a:r>
              <a:rPr lang="es-ES" sz="1800" b="0" i="0" u="none" strike="noStrike" cap="none" dirty="0">
                <a:solidFill>
                  <a:srgbClr val="F2CD84"/>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initial-scale</a:t>
            </a:r>
            <a:r>
              <a:rPr lang="es-ES" sz="1800" b="0" i="0" u="none" strike="noStrike" cap="none" dirty="0">
                <a:solidFill>
                  <a:srgbClr val="F2CD84"/>
                </a:solidFill>
                <a:latin typeface="Tahoma"/>
                <a:ea typeface="Tahoma"/>
                <a:cs typeface="Tahoma"/>
                <a:sym typeface="Tahoma"/>
              </a:rPr>
              <a:t>=1.0”</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title</a:t>
            </a:r>
            <a:r>
              <a:rPr lang="es-ES" sz="1800" b="0" i="0" u="none" strike="noStrike" cap="none" dirty="0">
                <a:solidFill>
                  <a:srgbClr val="4A7B8B"/>
                </a:solidFill>
                <a:latin typeface="Tahoma"/>
                <a:ea typeface="Tahoma"/>
                <a:cs typeface="Tahoma"/>
                <a:sym typeface="Tahoma"/>
              </a:rPr>
              <a:t>&gt;</a:t>
            </a:r>
            <a:r>
              <a:rPr lang="es-ES" sz="1800" b="0" i="0" u="none" strike="noStrike" cap="none" dirty="0">
                <a:solidFill>
                  <a:schemeClr val="lt1"/>
                </a:solidFill>
                <a:latin typeface="Tahoma"/>
                <a:ea typeface="Tahoma"/>
                <a:cs typeface="Tahoma"/>
                <a:sym typeface="Tahoma"/>
              </a:rPr>
              <a:t>Completar con Nombre y Apellido</a:t>
            </a: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title</a:t>
            </a:r>
            <a:r>
              <a:rPr lang="es-ES" sz="1800" b="0" i="0" u="none" strike="noStrike" cap="none" dirty="0">
                <a:solidFill>
                  <a:srgbClr val="4A7B8B"/>
                </a:solidFill>
                <a:latin typeface="Tahoma"/>
                <a:ea typeface="Tahoma"/>
                <a:cs typeface="Tahoma"/>
                <a:sym typeface="Tahoma"/>
              </a:rPr>
              <a:t>&gt;</a:t>
            </a: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head</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body</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body</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html</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p:txBody>
      </p:sp>
      <p:sp>
        <p:nvSpPr>
          <p:cNvPr id="1099" name="Google Shape;1099;p83"/>
          <p:cNvSpPr/>
          <p:nvPr/>
        </p:nvSpPr>
        <p:spPr>
          <a:xfrm>
            <a:off x="1733271" y="2800704"/>
            <a:ext cx="5219700" cy="55640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00" name="Google Shape;1100;p83"/>
          <p:cNvGrpSpPr/>
          <p:nvPr/>
        </p:nvGrpSpPr>
        <p:grpSpPr>
          <a:xfrm>
            <a:off x="0" y="0"/>
            <a:ext cx="12192000" cy="413657"/>
            <a:chOff x="0" y="0"/>
            <a:chExt cx="12192000" cy="413657"/>
          </a:xfrm>
        </p:grpSpPr>
        <p:sp>
          <p:nvSpPr>
            <p:cNvPr id="1101" name="Google Shape;1101;p83"/>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02" name="Google Shape;1102;p83"/>
            <p:cNvGrpSpPr/>
            <p:nvPr/>
          </p:nvGrpSpPr>
          <p:grpSpPr>
            <a:xfrm>
              <a:off x="575484" y="52939"/>
              <a:ext cx="1447716" cy="350261"/>
              <a:chOff x="575484" y="52939"/>
              <a:chExt cx="1447716" cy="350261"/>
            </a:xfrm>
          </p:grpSpPr>
          <p:sp>
            <p:nvSpPr>
              <p:cNvPr id="1103" name="Google Shape;1103;p83"/>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04" name="Google Shape;1104;p83"/>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05" name="Google Shape;1105;p83"/>
          <p:cNvSpPr/>
          <p:nvPr/>
        </p:nvSpPr>
        <p:spPr>
          <a:xfrm>
            <a:off x="3237876" y="3927422"/>
            <a:ext cx="8550292" cy="245972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9. Actualizamos el contenido de la etiqueta &lt;</a:t>
            </a:r>
            <a:r>
              <a:rPr lang="es-ES" sz="1800" b="0" i="0" u="none" strike="noStrike" cap="none" dirty="0" err="1">
                <a:solidFill>
                  <a:schemeClr val="lt1"/>
                </a:solidFill>
                <a:latin typeface="Gotham Rounded" pitchFamily="50" charset="0"/>
                <a:ea typeface="Tahoma"/>
                <a:cs typeface="Tahoma"/>
                <a:sym typeface="Tahoma"/>
              </a:rPr>
              <a:t>title</a:t>
            </a:r>
            <a:r>
              <a:rPr lang="es-ES" sz="1800" b="0" i="0" u="none" strike="noStrike" cap="none" dirty="0">
                <a:solidFill>
                  <a:schemeClr val="lt1"/>
                </a:solidFill>
                <a:latin typeface="Gotham Rounded" pitchFamily="50" charset="0"/>
                <a:ea typeface="Tahoma"/>
                <a:cs typeface="Tahoma"/>
                <a:sym typeface="Tahoma"/>
              </a:rPr>
              <a:t>&gt; escribiendo nuestro </a:t>
            </a:r>
            <a:r>
              <a:rPr lang="es-ES" sz="1800" b="1" i="0" u="none" strike="noStrike" cap="none" dirty="0">
                <a:solidFill>
                  <a:schemeClr val="lt1"/>
                </a:solidFill>
                <a:latin typeface="Gotham Rounded" pitchFamily="50" charset="0"/>
                <a:ea typeface="Tahoma"/>
                <a:cs typeface="Tahoma"/>
                <a:sym typeface="Tahoma"/>
              </a:rPr>
              <a:t>Nombre y Apellido</a:t>
            </a:r>
            <a:r>
              <a:rPr lang="es-ES" sz="1800" b="0" i="0" u="none" strike="noStrike" cap="none" dirty="0">
                <a:solidFill>
                  <a:schemeClr val="lt1"/>
                </a:solidFill>
                <a:latin typeface="Gotham Rounded" pitchFamily="50" charset="0"/>
                <a:ea typeface="Tahoma"/>
                <a:cs typeface="Tahoma"/>
                <a:sym typeface="Tahoma"/>
              </a:rPr>
              <a:t>. La etiqueta &lt;</a:t>
            </a:r>
            <a:r>
              <a:rPr lang="es-ES" sz="1800" b="0" i="0" u="none" strike="noStrike" cap="none" dirty="0" err="1">
                <a:solidFill>
                  <a:schemeClr val="lt1"/>
                </a:solidFill>
                <a:latin typeface="Gotham Rounded" pitchFamily="50" charset="0"/>
                <a:ea typeface="Tahoma"/>
                <a:cs typeface="Tahoma"/>
                <a:sym typeface="Tahoma"/>
              </a:rPr>
              <a:t>title</a:t>
            </a:r>
            <a:r>
              <a:rPr lang="es-ES" sz="1800" b="0" i="0" u="none" strike="noStrike" cap="none" dirty="0">
                <a:solidFill>
                  <a:schemeClr val="lt1"/>
                </a:solidFill>
                <a:latin typeface="Gotham Rounded" pitchFamily="50" charset="0"/>
                <a:ea typeface="Tahoma"/>
                <a:cs typeface="Tahoma"/>
                <a:sym typeface="Tahoma"/>
              </a:rPr>
              <a:t>&gt; se utiliza dentro del &lt;head&gt; y nos permite indicarle al navegador web qué nombre queremos que muestre en la pestaña cuando se abra este archivo </a:t>
            </a:r>
            <a:r>
              <a:rPr lang="es-ES" sz="1800" b="0" i="0" u="none" strike="noStrike" cap="none" dirty="0" err="1">
                <a:solidFill>
                  <a:schemeClr val="lt1"/>
                </a:solidFill>
                <a:latin typeface="Gotham Rounded" pitchFamily="50" charset="0"/>
                <a:ea typeface="Tahoma"/>
                <a:cs typeface="Tahoma"/>
                <a:sym typeface="Tahoma"/>
              </a:rPr>
              <a:t>html</a:t>
            </a:r>
            <a:r>
              <a:rPr lang="es-ES" sz="1800" b="0" i="0" u="none" strike="noStrike" cap="none" dirty="0">
                <a:solidFill>
                  <a:schemeClr val="lt1"/>
                </a:solidFill>
                <a:latin typeface="Gotham Rounded" pitchFamily="50" charset="0"/>
                <a:ea typeface="Tahoma"/>
                <a:cs typeface="Tahoma"/>
                <a:sym typeface="Tahoma"/>
              </a:rPr>
              <a:t>.</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3er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3138944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3" name="Rectángulo 2"/>
          <p:cNvSpPr/>
          <p:nvPr/>
        </p:nvSpPr>
        <p:spPr>
          <a:xfrm>
            <a:off x="1690433" y="837461"/>
            <a:ext cx="8998702" cy="4585871"/>
          </a:xfrm>
          <a:prstGeom prst="rect">
            <a:avLst/>
          </a:prstGeom>
        </p:spPr>
        <p:txBody>
          <a:bodyPr wrap="square">
            <a:spAutoFit/>
          </a:bodyPr>
          <a:lstStyle/>
          <a:p>
            <a:pPr lvl="0" algn="ctr">
              <a:buSzPts val="2400"/>
            </a:pPr>
            <a:r>
              <a:rPr lang="es-MX" sz="2000" dirty="0">
                <a:solidFill>
                  <a:schemeClr val="tx1"/>
                </a:solidFill>
                <a:latin typeface="Gotham Rounded" pitchFamily="50" charset="0"/>
              </a:rPr>
              <a:t>3er paso</a:t>
            </a: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Añadir un título y un párrafo en el &lt;</a:t>
            </a:r>
            <a:r>
              <a:rPr lang="es-MX" sz="6600" dirty="0" err="1">
                <a:solidFill>
                  <a:srgbClr val="7030A0"/>
                </a:solidFill>
                <a:latin typeface="Gotham Rounded" pitchFamily="50" charset="0"/>
              </a:rPr>
              <a:t>body</a:t>
            </a:r>
            <a:r>
              <a:rPr lang="es-MX" sz="6600" dirty="0">
                <a:solidFill>
                  <a:srgbClr val="7030A0"/>
                </a:solidFill>
                <a:latin typeface="Gotham Rounded" pitchFamily="50" charset="0"/>
              </a:rPr>
              <a:t>&gt;</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r>
              <a:rPr lang="es-MX" sz="2000" b="1" dirty="0">
                <a:solidFill>
                  <a:schemeClr val="tx1"/>
                </a:solidFill>
                <a:latin typeface="Gotham Rounded" pitchFamily="50" charset="0"/>
              </a:rPr>
              <a:t>.</a:t>
            </a:r>
            <a:endParaRPr lang="es-MX" sz="2000" dirty="0">
              <a:solidFill>
                <a:schemeClr val="tx1"/>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p>
        </p:txBody>
      </p:sp>
    </p:spTree>
    <p:extLst>
      <p:ext uri="{BB962C8B-B14F-4D97-AF65-F5344CB8AC3E}">
        <p14:creationId xmlns:p14="http://schemas.microsoft.com/office/powerpoint/2010/main" val="7103546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86"/>
          <p:cNvSpPr txBox="1"/>
          <p:nvPr/>
        </p:nvSpPr>
        <p:spPr>
          <a:xfrm>
            <a:off x="772885" y="0"/>
            <a:ext cx="10781101" cy="48013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26" name="Google Shape;1126;p86"/>
          <p:cNvSpPr/>
          <p:nvPr/>
        </p:nvSpPr>
        <p:spPr>
          <a:xfrm>
            <a:off x="1480166" y="2783299"/>
            <a:ext cx="6813396" cy="88599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27" name="Google Shape;1127;p86"/>
          <p:cNvGrpSpPr/>
          <p:nvPr/>
        </p:nvGrpSpPr>
        <p:grpSpPr>
          <a:xfrm>
            <a:off x="0" y="0"/>
            <a:ext cx="12192000" cy="413657"/>
            <a:chOff x="0" y="0"/>
            <a:chExt cx="12192000" cy="413657"/>
          </a:xfrm>
        </p:grpSpPr>
        <p:sp>
          <p:nvSpPr>
            <p:cNvPr id="1128" name="Google Shape;1128;p86"/>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29" name="Google Shape;1129;p86"/>
            <p:cNvGrpSpPr/>
            <p:nvPr/>
          </p:nvGrpSpPr>
          <p:grpSpPr>
            <a:xfrm>
              <a:off x="575484" y="52939"/>
              <a:ext cx="1447716" cy="350261"/>
              <a:chOff x="575484" y="52939"/>
              <a:chExt cx="1447716" cy="350261"/>
            </a:xfrm>
          </p:grpSpPr>
          <p:sp>
            <p:nvSpPr>
              <p:cNvPr id="1130" name="Google Shape;1130;p86"/>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31" name="Google Shape;1131;p86"/>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32" name="Google Shape;1132;p86"/>
          <p:cNvSpPr/>
          <p:nvPr/>
        </p:nvSpPr>
        <p:spPr>
          <a:xfrm>
            <a:off x="2023199" y="4258102"/>
            <a:ext cx="9986831" cy="241565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10. La etiqueta &lt;h1&gt; se usa para indicar títulos dentro del sitio y la etiqueta &lt;p&gt;, para indicar párrafos. Estas etiquetas deben ir siempre dentro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 A su vez, las etiquetas &lt;h1&gt; existen en varios tamaños &lt;h1&gt;, &lt;h2&gt;, &lt;h3&gt; (hasta el &lt;h6&gt;). Esto está pensado para poder diferenciar títulos de subtítulos, siendo &lt;h1&gt; el nivel más alto y &lt;h6&gt; el nivel más bajo.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pic>
        <p:nvPicPr>
          <p:cNvPr id="1145" name="Google Shape;1145;p88" descr="Texto&#10;&#10;Descripción generada automáticamente"/>
          <p:cNvPicPr preferRelativeResize="0"/>
          <p:nvPr/>
        </p:nvPicPr>
        <p:blipFill rotWithShape="1">
          <a:blip r:embed="rId3">
            <a:alphaModFix/>
          </a:blip>
          <a:srcRect/>
          <a:stretch/>
        </p:blipFill>
        <p:spPr>
          <a:xfrm>
            <a:off x="599090" y="216946"/>
            <a:ext cx="11006958" cy="6437247"/>
          </a:xfrm>
          <a:prstGeom prst="rect">
            <a:avLst/>
          </a:prstGeom>
          <a:noFill/>
          <a:ln>
            <a:noFill/>
          </a:ln>
          <a:effectLst>
            <a:outerShdw blurRad="101600" dist="50800" sx="101000" sy="101000" algn="ctr" rotWithShape="0">
              <a:srgbClr val="7F7F7F">
                <a:alpha val="20000"/>
              </a:srgbClr>
            </a:outerShdw>
          </a:effectLst>
        </p:spPr>
      </p:pic>
      <p:sp>
        <p:nvSpPr>
          <p:cNvPr id="1146" name="Google Shape;1146;p88"/>
          <p:cNvSpPr/>
          <p:nvPr/>
        </p:nvSpPr>
        <p:spPr>
          <a:xfrm>
            <a:off x="1934010" y="1085273"/>
            <a:ext cx="1008145" cy="4444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7" name="Google Shape;1147;p88"/>
          <p:cNvSpPr/>
          <p:nvPr/>
        </p:nvSpPr>
        <p:spPr>
          <a:xfrm>
            <a:off x="3958813" y="4808668"/>
            <a:ext cx="7829353" cy="16351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 continuación abriremos nuestro archivo “index.html” haciendo doble clic. También puedes hacer </a:t>
            </a:r>
            <a:r>
              <a:rPr lang="es-ES" sz="1800" b="1" i="0" u="none" strike="noStrike" cap="none" dirty="0">
                <a:solidFill>
                  <a:schemeClr val="lt1"/>
                </a:solidFill>
                <a:latin typeface="Gotham Rounded" pitchFamily="50" charset="0"/>
                <a:ea typeface="Tahoma"/>
                <a:cs typeface="Tahoma"/>
                <a:sym typeface="Tahoma"/>
              </a:rPr>
              <a:t>clic derecho &gt; Abrir</a:t>
            </a:r>
            <a:r>
              <a:rPr lang="es-ES" sz="1800" b="0" i="0" u="none" strike="noStrike" cap="none" dirty="0">
                <a:solidFill>
                  <a:schemeClr val="lt1"/>
                </a:solidFill>
                <a:latin typeface="Gotham Rounded" pitchFamily="50" charset="0"/>
                <a:ea typeface="Tahoma"/>
                <a:cs typeface="Tahoma"/>
                <a:sym typeface="Tahoma"/>
              </a:rPr>
              <a:t> o usar la opción de </a:t>
            </a:r>
            <a:r>
              <a:rPr lang="es-ES" sz="1800" b="1" i="0" u="none" strike="noStrike" cap="none" dirty="0">
                <a:solidFill>
                  <a:schemeClr val="lt1"/>
                </a:solidFill>
                <a:latin typeface="Gotham Rounded" pitchFamily="50" charset="0"/>
                <a:ea typeface="Tahoma"/>
                <a:cs typeface="Tahoma"/>
                <a:sym typeface="Tahoma"/>
              </a:rPr>
              <a:t>Abrir con &gt; Microsoft </a:t>
            </a:r>
            <a:r>
              <a:rPr lang="es-ES" sz="1800" b="1" i="0" u="none" strike="noStrike" cap="none" dirty="0" err="1">
                <a:solidFill>
                  <a:schemeClr val="lt1"/>
                </a:solidFill>
                <a:latin typeface="Gotham Rounded" pitchFamily="50" charset="0"/>
                <a:ea typeface="Tahoma"/>
                <a:cs typeface="Tahoma"/>
                <a:sym typeface="Tahoma"/>
              </a:rPr>
              <a:t>Edge</a:t>
            </a:r>
            <a:r>
              <a:rPr lang="es-ES" sz="1800" b="1" i="0" u="none" strike="noStrike" cap="none" dirty="0">
                <a:solidFill>
                  <a:schemeClr val="lt1"/>
                </a:solidFill>
                <a:latin typeface="Gotham Rounded" pitchFamily="50" charset="0"/>
                <a:ea typeface="Tahoma"/>
                <a:cs typeface="Tahoma"/>
                <a:sym typeface="Tahoma"/>
              </a:rPr>
              <a:t>.</a:t>
            </a:r>
            <a:endParaRPr sz="1800" b="1" i="0" u="none" strike="noStrike" cap="none" dirty="0">
              <a:solidFill>
                <a:schemeClr val="lt1"/>
              </a:solidFill>
              <a:latin typeface="Gotham Rounded" pitchFamily="50" charset="0"/>
              <a:ea typeface="Tahoma"/>
              <a:cs typeface="Tahoma"/>
              <a:sym typeface="Tahoma"/>
            </a:endParaRPr>
          </a:p>
        </p:txBody>
      </p:sp>
      <p:sp>
        <p:nvSpPr>
          <p:cNvPr id="1148" name="Google Shape;1148;p88"/>
          <p:cNvSpPr/>
          <p:nvPr/>
        </p:nvSpPr>
        <p:spPr>
          <a:xfrm>
            <a:off x="2446389" y="2333376"/>
            <a:ext cx="1008145" cy="4444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9" name="Google Shape;1149;p88"/>
          <p:cNvSpPr/>
          <p:nvPr/>
        </p:nvSpPr>
        <p:spPr>
          <a:xfrm>
            <a:off x="5008285" y="2950858"/>
            <a:ext cx="1402282" cy="37872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pic>
        <p:nvPicPr>
          <p:cNvPr id="1155" name="Google Shape;1155;p89"/>
          <p:cNvPicPr preferRelativeResize="0"/>
          <p:nvPr/>
        </p:nvPicPr>
        <p:blipFill rotWithShape="1">
          <a:blip r:embed="rId3">
            <a:alphaModFix/>
          </a:blip>
          <a:srcRect/>
          <a:stretch/>
        </p:blipFill>
        <p:spPr>
          <a:xfrm>
            <a:off x="948113" y="211568"/>
            <a:ext cx="10295765"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90"/>
          <p:cNvSpPr txBox="1"/>
          <p:nvPr/>
        </p:nvSpPr>
        <p:spPr>
          <a:xfrm>
            <a:off x="772885" y="-2227303"/>
            <a:ext cx="10781101" cy="61863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Pueden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62" name="Google Shape;1162;p90"/>
          <p:cNvSpPr/>
          <p:nvPr/>
        </p:nvSpPr>
        <p:spPr>
          <a:xfrm>
            <a:off x="1437033" y="1442827"/>
            <a:ext cx="10160085" cy="1300054"/>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63" name="Google Shape;1163;p90"/>
          <p:cNvGrpSpPr/>
          <p:nvPr/>
        </p:nvGrpSpPr>
        <p:grpSpPr>
          <a:xfrm>
            <a:off x="0" y="0"/>
            <a:ext cx="12192000" cy="413657"/>
            <a:chOff x="0" y="0"/>
            <a:chExt cx="12192000" cy="413657"/>
          </a:xfrm>
        </p:grpSpPr>
        <p:sp>
          <p:nvSpPr>
            <p:cNvPr id="1164" name="Google Shape;1164;p90"/>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65" name="Google Shape;1165;p90"/>
            <p:cNvGrpSpPr/>
            <p:nvPr/>
          </p:nvGrpSpPr>
          <p:grpSpPr>
            <a:xfrm>
              <a:off x="575484" y="52939"/>
              <a:ext cx="1447716" cy="350261"/>
              <a:chOff x="575484" y="52939"/>
              <a:chExt cx="1447716" cy="350261"/>
            </a:xfrm>
          </p:grpSpPr>
          <p:sp>
            <p:nvSpPr>
              <p:cNvPr id="1166" name="Google Shape;1166;p90"/>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67" name="Google Shape;1167;p90"/>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68" name="Google Shape;1168;p90"/>
          <p:cNvSpPr/>
          <p:nvPr/>
        </p:nvSpPr>
        <p:spPr>
          <a:xfrm>
            <a:off x="482469" y="4011945"/>
            <a:ext cx="11227061" cy="24795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11. Creamos un segundo párrafo y añadimos una etiqueta &lt;a&gt;, que nos permitirá crear un hipervínculo. Esta etiqueta tiene un atributo y es “</a:t>
            </a:r>
            <a:r>
              <a:rPr lang="es-ES" sz="1800" b="0" i="0" u="none" strike="noStrike" cap="none" dirty="0" err="1">
                <a:solidFill>
                  <a:schemeClr val="lt1"/>
                </a:solidFill>
                <a:latin typeface="Gotham Rounded" pitchFamily="50" charset="0"/>
                <a:ea typeface="Tahoma"/>
                <a:cs typeface="Tahoma"/>
                <a:sym typeface="Tahoma"/>
              </a:rPr>
              <a:t>href</a:t>
            </a:r>
            <a:r>
              <a:rPr lang="es-ES" sz="1800" b="0" i="0" u="none" strike="noStrike" cap="none" dirty="0">
                <a:solidFill>
                  <a:schemeClr val="lt1"/>
                </a:solidFill>
                <a:latin typeface="Gotham Rounded" pitchFamily="50" charset="0"/>
                <a:ea typeface="Tahoma"/>
                <a:cs typeface="Tahoma"/>
                <a:sym typeface="Tahoma"/>
              </a:rPr>
              <a:t>=”. En él, </a:t>
            </a:r>
            <a:r>
              <a:rPr lang="es-ES" sz="1800" b="0" i="0" u="none" strike="noStrike" cap="none" dirty="0" err="1">
                <a:solidFill>
                  <a:schemeClr val="lt1"/>
                </a:solidFill>
                <a:latin typeface="Gotham Rounded" pitchFamily="50" charset="0"/>
                <a:ea typeface="Tahoma"/>
                <a:cs typeface="Tahoma"/>
                <a:sym typeface="Tahoma"/>
              </a:rPr>
              <a:t>ndicaremos</a:t>
            </a:r>
            <a:r>
              <a:rPr lang="es-ES" sz="1800" b="0" i="0" u="none" strike="noStrike" cap="none" dirty="0">
                <a:solidFill>
                  <a:schemeClr val="lt1"/>
                </a:solidFill>
                <a:latin typeface="Gotham Rounded" pitchFamily="50" charset="0"/>
                <a:ea typeface="Tahoma"/>
                <a:cs typeface="Tahoma"/>
                <a:sym typeface="Tahoma"/>
              </a:rPr>
              <a:t> cuál es la dirección que queremos que se abra. </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Los “atributos” se escriben en la etiqueta de &lt;apertura&gt; y son valores adicionales que algunas etiquetas soportan. La etiqueta &lt;a&gt; soporta muchos más, aquí usamos “</a:t>
            </a:r>
            <a:r>
              <a:rPr lang="es-ES" sz="1800" b="0" i="0" u="none" strike="noStrike" cap="none" dirty="0" err="1">
                <a:solidFill>
                  <a:schemeClr val="lt1"/>
                </a:solidFill>
                <a:latin typeface="Gotham Rounded" pitchFamily="50" charset="0"/>
                <a:ea typeface="Tahoma"/>
                <a:cs typeface="Tahoma"/>
                <a:sym typeface="Tahoma"/>
              </a:rPr>
              <a:t>href</a:t>
            </a:r>
            <a:r>
              <a:rPr lang="es-ES" sz="1800" b="0" i="0" u="none" strike="noStrike" cap="none" dirty="0">
                <a:solidFill>
                  <a:schemeClr val="lt1"/>
                </a:solidFill>
                <a:latin typeface="Gotham Rounded" pitchFamily="50" charset="0"/>
                <a:ea typeface="Tahoma"/>
                <a:cs typeface="Tahoma"/>
                <a:sym typeface="Tahoma"/>
              </a:rPr>
              <a:t>” para indicar la URL del sitio web al cual queremos </a:t>
            </a:r>
            <a:r>
              <a:rPr lang="es-ES" sz="1800" b="0" i="0" u="none" strike="noStrike" cap="none" dirty="0" err="1">
                <a:solidFill>
                  <a:schemeClr val="lt1"/>
                </a:solidFill>
                <a:latin typeface="Gotham Rounded" pitchFamily="50" charset="0"/>
                <a:ea typeface="Tahoma"/>
                <a:cs typeface="Tahoma"/>
                <a:sym typeface="Tahoma"/>
              </a:rPr>
              <a:t>redireccionar</a:t>
            </a:r>
            <a:r>
              <a:rPr lang="es-ES" sz="1800" b="0" i="0" u="none" strike="noStrike" cap="none" dirty="0">
                <a:solidFill>
                  <a:schemeClr val="lt1"/>
                </a:solidFill>
                <a:latin typeface="Gotham Rounded" pitchFamily="50" charset="0"/>
                <a:ea typeface="Tahoma"/>
                <a:cs typeface="Tahoma"/>
                <a:sym typeface="Tahoma"/>
              </a:rPr>
              <a:t>.</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91"/>
          <p:cNvSpPr txBox="1"/>
          <p:nvPr/>
        </p:nvSpPr>
        <p:spPr>
          <a:xfrm>
            <a:off x="772885" y="-1450555"/>
            <a:ext cx="10781101" cy="67403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75" name="Google Shape;1175;p91"/>
          <p:cNvSpPr/>
          <p:nvPr/>
        </p:nvSpPr>
        <p:spPr>
          <a:xfrm>
            <a:off x="1408278" y="3473699"/>
            <a:ext cx="1338413" cy="552084"/>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76" name="Google Shape;1176;p91"/>
          <p:cNvGrpSpPr/>
          <p:nvPr/>
        </p:nvGrpSpPr>
        <p:grpSpPr>
          <a:xfrm>
            <a:off x="0" y="0"/>
            <a:ext cx="12192000" cy="413657"/>
            <a:chOff x="0" y="0"/>
            <a:chExt cx="12192000" cy="413657"/>
          </a:xfrm>
        </p:grpSpPr>
        <p:sp>
          <p:nvSpPr>
            <p:cNvPr id="1177" name="Google Shape;1177;p91"/>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78" name="Google Shape;1178;p91"/>
            <p:cNvGrpSpPr/>
            <p:nvPr/>
          </p:nvGrpSpPr>
          <p:grpSpPr>
            <a:xfrm>
              <a:off x="575484" y="52939"/>
              <a:ext cx="1447716" cy="350261"/>
              <a:chOff x="575484" y="52939"/>
              <a:chExt cx="1447716" cy="350261"/>
            </a:xfrm>
          </p:grpSpPr>
          <p:sp>
            <p:nvSpPr>
              <p:cNvPr id="1179" name="Google Shape;1179;p91"/>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80" name="Google Shape;1180;p91"/>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81" name="Google Shape;1181;p91"/>
          <p:cNvSpPr/>
          <p:nvPr/>
        </p:nvSpPr>
        <p:spPr>
          <a:xfrm>
            <a:off x="3070746" y="4152609"/>
            <a:ext cx="8717421" cy="238346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Las etiquetas &lt;</a:t>
            </a:r>
            <a:r>
              <a:rPr lang="es-ES" sz="1800" b="0" i="0" u="none" strike="noStrike" cap="none" dirty="0" err="1">
                <a:solidFill>
                  <a:schemeClr val="lt1"/>
                </a:solidFill>
                <a:latin typeface="Gotham Rounded" pitchFamily="50" charset="0"/>
                <a:ea typeface="Tahoma"/>
                <a:cs typeface="Tahoma"/>
                <a:sym typeface="Tahoma"/>
              </a:rPr>
              <a:t>hr</a:t>
            </a:r>
            <a:r>
              <a:rPr lang="es-ES" sz="1800" b="0" i="0" u="none" strike="noStrike" cap="none" dirty="0">
                <a:solidFill>
                  <a:schemeClr val="lt1"/>
                </a:solidFill>
                <a:latin typeface="Gotham Rounded" pitchFamily="50" charset="0"/>
                <a:ea typeface="Tahoma"/>
                <a:cs typeface="Tahoma"/>
                <a:sym typeface="Tahoma"/>
              </a:rPr>
              <a:t>&gt; se usan para insertar una línea horizontal divisora de texto. No es necesario indicar el cierre de estas etiquetas &lt;/</a:t>
            </a:r>
            <a:r>
              <a:rPr lang="es-ES" sz="1800" b="0" i="0" u="none" strike="noStrike" cap="none" dirty="0" err="1">
                <a:solidFill>
                  <a:schemeClr val="lt1"/>
                </a:solidFill>
                <a:latin typeface="Gotham Rounded" pitchFamily="50" charset="0"/>
                <a:ea typeface="Tahoma"/>
                <a:cs typeface="Tahoma"/>
                <a:sym typeface="Tahoma"/>
              </a:rPr>
              <a:t>hr</a:t>
            </a:r>
            <a:r>
              <a:rPr lang="es-ES" sz="1800" b="0" i="0" u="none" strike="noStrike" cap="none" dirty="0">
                <a:solidFill>
                  <a:schemeClr val="lt1"/>
                </a:solidFill>
                <a:latin typeface="Gotham Rounded" pitchFamily="50" charset="0"/>
                <a:ea typeface="Tahoma"/>
                <a:cs typeface="Tahoma"/>
                <a:sym typeface="Tahoma"/>
              </a:rPr>
              <a:t>&gt; porque generalmente no se usan para contener ningún otro elemento... (sí, son una excepción a la regla... Qué rebeldes, ¿no? Hay algunas más, pero no se preocupen que son muy pocas las rebeldes)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92"/>
          <p:cNvSpPr txBox="1"/>
          <p:nvPr/>
        </p:nvSpPr>
        <p:spPr>
          <a:xfrm>
            <a:off x="772885" y="-4111726"/>
            <a:ext cx="10781101" cy="89562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texto y nos va a permitir ver cómo se comporta. El sitio web 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88" name="Google Shape;1188;p92"/>
          <p:cNvSpPr/>
          <p:nvPr/>
        </p:nvSpPr>
        <p:spPr>
          <a:xfrm>
            <a:off x="1393900" y="1270176"/>
            <a:ext cx="10160085" cy="2002222"/>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89" name="Google Shape;1189;p92"/>
          <p:cNvGrpSpPr/>
          <p:nvPr/>
        </p:nvGrpSpPr>
        <p:grpSpPr>
          <a:xfrm>
            <a:off x="0" y="0"/>
            <a:ext cx="12192000" cy="413657"/>
            <a:chOff x="0" y="0"/>
            <a:chExt cx="12192000" cy="413657"/>
          </a:xfrm>
        </p:grpSpPr>
        <p:sp>
          <p:nvSpPr>
            <p:cNvPr id="1190" name="Google Shape;1190;p92"/>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91" name="Google Shape;1191;p92"/>
            <p:cNvGrpSpPr/>
            <p:nvPr/>
          </p:nvGrpSpPr>
          <p:grpSpPr>
            <a:xfrm>
              <a:off x="575484" y="52939"/>
              <a:ext cx="1447716" cy="350261"/>
              <a:chOff x="575484" y="52939"/>
              <a:chExt cx="1447716" cy="350261"/>
            </a:xfrm>
          </p:grpSpPr>
          <p:sp>
            <p:nvSpPr>
              <p:cNvPr id="1192" name="Google Shape;1192;p92"/>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93" name="Google Shape;1193;p92"/>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94" name="Google Shape;1194;p92"/>
          <p:cNvSpPr/>
          <p:nvPr/>
        </p:nvSpPr>
        <p:spPr>
          <a:xfrm>
            <a:off x="2483894" y="4152609"/>
            <a:ext cx="9304274" cy="238346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Aquí añadimos un título nuevo, pero utilizando la etiqueta &lt;h2&gt; ya que será un subtítulo. Automáticamente el tamaño del texto será un poco más pequeño que el &lt;h1&gt;. Por otro lado, añadimos un párrafo con &lt;p&gt; y una URL a un sitio que vamos a utilizar para crear texto de relleno. Este sitio web es muy útil para simular el aspecto de los textos de nuestros sitios webs.</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93"/>
          <p:cNvSpPr txBox="1"/>
          <p:nvPr/>
        </p:nvSpPr>
        <p:spPr>
          <a:xfrm>
            <a:off x="772885" y="-6507277"/>
            <a:ext cx="10781101" cy="117262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 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01" name="Google Shape;1201;p93"/>
          <p:cNvSpPr/>
          <p:nvPr/>
        </p:nvSpPr>
        <p:spPr>
          <a:xfrm>
            <a:off x="1437033" y="962375"/>
            <a:ext cx="10394266" cy="306068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02" name="Google Shape;1202;p93"/>
          <p:cNvGrpSpPr/>
          <p:nvPr/>
        </p:nvGrpSpPr>
        <p:grpSpPr>
          <a:xfrm>
            <a:off x="0" y="0"/>
            <a:ext cx="12192000" cy="413657"/>
            <a:chOff x="0" y="0"/>
            <a:chExt cx="12192000" cy="413657"/>
          </a:xfrm>
        </p:grpSpPr>
        <p:sp>
          <p:nvSpPr>
            <p:cNvPr id="1203" name="Google Shape;1203;p93"/>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04" name="Google Shape;1204;p93"/>
            <p:cNvGrpSpPr/>
            <p:nvPr/>
          </p:nvGrpSpPr>
          <p:grpSpPr>
            <a:xfrm>
              <a:off x="575484" y="52939"/>
              <a:ext cx="1447716" cy="350261"/>
              <a:chOff x="575484" y="52939"/>
              <a:chExt cx="1447716" cy="350261"/>
            </a:xfrm>
          </p:grpSpPr>
          <p:sp>
            <p:nvSpPr>
              <p:cNvPr id="1205" name="Google Shape;1205;p93"/>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06" name="Google Shape;1206;p93"/>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07" name="Google Shape;1207;p93"/>
          <p:cNvSpPr/>
          <p:nvPr/>
        </p:nvSpPr>
        <p:spPr>
          <a:xfrm>
            <a:off x="4739423" y="4359348"/>
            <a:ext cx="5592083" cy="241359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Vamos a sitio web: </a:t>
            </a:r>
            <a:r>
              <a:rPr lang="es-ES" sz="1800" b="0" i="0" u="sng" strike="noStrike" cap="none" dirty="0">
                <a:solidFill>
                  <a:schemeClr val="lt1"/>
                </a:solidFill>
                <a:latin typeface="Gotham Rounded" pitchFamily="50" charset="0"/>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dirty="0">
                <a:solidFill>
                  <a:schemeClr val="lt1"/>
                </a:solidFill>
                <a:latin typeface="Gotham Rounded" pitchFamily="50" charset="0"/>
                <a:ea typeface="Tahoma"/>
                <a:cs typeface="Tahoma"/>
                <a:sym typeface="Tahoma"/>
              </a:rPr>
              <a:t> (o cualquier otro) Seleccionamos y copiamos un párrafo (</a:t>
            </a:r>
            <a:r>
              <a:rPr lang="es-ES" sz="1800" b="0" i="0" u="none" strike="noStrike" cap="none" dirty="0" err="1">
                <a:solidFill>
                  <a:schemeClr val="lt1"/>
                </a:solidFill>
                <a:latin typeface="Gotham Rounded" pitchFamily="50" charset="0"/>
                <a:ea typeface="Tahoma"/>
                <a:cs typeface="Tahoma"/>
                <a:sym typeface="Tahoma"/>
              </a:rPr>
              <a:t>ctrol+C</a:t>
            </a:r>
            <a:r>
              <a:rPr lang="es-ES" sz="1800" b="0" i="0" u="none" strike="noStrike" cap="none" dirty="0">
                <a:solidFill>
                  <a:schemeClr val="lt1"/>
                </a:solidFill>
                <a:latin typeface="Gotham Rounded" pitchFamily="50" charset="0"/>
                <a:ea typeface="Tahoma"/>
                <a:cs typeface="Tahoma"/>
                <a:sym typeface="Tahoma"/>
              </a:rPr>
              <a:t>) volvemos a nuestro código y pegamos (</a:t>
            </a:r>
            <a:r>
              <a:rPr lang="es-ES" sz="1800" b="0" i="0" u="none" strike="noStrike" cap="none" dirty="0" err="1">
                <a:solidFill>
                  <a:schemeClr val="lt1"/>
                </a:solidFill>
                <a:latin typeface="Gotham Rounded" pitchFamily="50" charset="0"/>
                <a:ea typeface="Tahoma"/>
                <a:cs typeface="Tahoma"/>
                <a:sym typeface="Tahoma"/>
              </a:rPr>
              <a:t>ctrl+V</a:t>
            </a:r>
            <a:r>
              <a:rPr lang="es-ES" sz="1800" b="0" i="0" u="none" strike="noStrike" cap="none" dirty="0">
                <a:solidFill>
                  <a:schemeClr val="lt1"/>
                </a:solidFill>
                <a:latin typeface="Gotham Rounded" pitchFamily="50" charset="0"/>
                <a:ea typeface="Tahoma"/>
                <a:cs typeface="Tahoma"/>
                <a:sym typeface="Tahoma"/>
              </a:rPr>
              <a:t>). También podemos hacerlo con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derecho y pegar.</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94"/>
          <p:cNvSpPr txBox="1"/>
          <p:nvPr/>
        </p:nvSpPr>
        <p:spPr>
          <a:xfrm>
            <a:off x="772885" y="-6652234"/>
            <a:ext cx="10781101" cy="12557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14" name="Google Shape;1214;p94"/>
          <p:cNvSpPr/>
          <p:nvPr/>
        </p:nvSpPr>
        <p:spPr>
          <a:xfrm>
            <a:off x="1947894" y="2225803"/>
            <a:ext cx="1318715" cy="56605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15" name="Google Shape;1215;p94"/>
          <p:cNvGrpSpPr/>
          <p:nvPr/>
        </p:nvGrpSpPr>
        <p:grpSpPr>
          <a:xfrm>
            <a:off x="0" y="0"/>
            <a:ext cx="12192000" cy="413657"/>
            <a:chOff x="0" y="0"/>
            <a:chExt cx="12192000" cy="413657"/>
          </a:xfrm>
        </p:grpSpPr>
        <p:sp>
          <p:nvSpPr>
            <p:cNvPr id="1216" name="Google Shape;1216;p94"/>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17" name="Google Shape;1217;p94"/>
            <p:cNvGrpSpPr/>
            <p:nvPr/>
          </p:nvGrpSpPr>
          <p:grpSpPr>
            <a:xfrm>
              <a:off x="575484" y="52939"/>
              <a:ext cx="1447716" cy="350261"/>
              <a:chOff x="575484" y="52939"/>
              <a:chExt cx="1447716" cy="350261"/>
            </a:xfrm>
          </p:grpSpPr>
          <p:sp>
            <p:nvSpPr>
              <p:cNvPr id="1218" name="Google Shape;1218;p94"/>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19" name="Google Shape;1219;p94"/>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20" name="Google Shape;1220;p94"/>
          <p:cNvSpPr/>
          <p:nvPr/>
        </p:nvSpPr>
        <p:spPr>
          <a:xfrm>
            <a:off x="2606722" y="4894729"/>
            <a:ext cx="9181446" cy="175169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Las etiquetas &lt;/</a:t>
            </a:r>
            <a:r>
              <a:rPr lang="es-ES" sz="1800" b="0" i="0" u="none" strike="noStrike" cap="none" dirty="0" err="1">
                <a:solidFill>
                  <a:schemeClr val="lt1"/>
                </a:solidFill>
                <a:latin typeface="Gotham Rounded" pitchFamily="50" charset="0"/>
                <a:ea typeface="Tahoma"/>
                <a:cs typeface="Tahoma"/>
                <a:sym typeface="Tahoma"/>
              </a:rPr>
              <a:t>br</a:t>
            </a:r>
            <a:r>
              <a:rPr lang="es-ES" sz="1800" b="0" i="0" u="none" strike="noStrike" cap="none" dirty="0">
                <a:solidFill>
                  <a:schemeClr val="lt1"/>
                </a:solidFill>
                <a:latin typeface="Gotham Rounded" pitchFamily="50" charset="0"/>
                <a:ea typeface="Tahoma"/>
                <a:cs typeface="Tahoma"/>
                <a:sym typeface="Tahoma"/>
              </a:rPr>
              <a:t>&gt; se usan para insertar un salto de línea y no hace falta indicar su apertura (sí, son del grupo de las rebeldes estas también) porque no se van a usar nunca para contener otros elementos.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95"/>
          <p:cNvSpPr txBox="1"/>
          <p:nvPr/>
        </p:nvSpPr>
        <p:spPr>
          <a:xfrm>
            <a:off x="772885" y="0"/>
            <a:ext cx="10781101" cy="12834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27" name="Google Shape;1227;p95"/>
          <p:cNvSpPr/>
          <p:nvPr/>
        </p:nvSpPr>
        <p:spPr>
          <a:xfrm>
            <a:off x="1273630" y="3004073"/>
            <a:ext cx="9840684" cy="41365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28" name="Google Shape;1228;p95"/>
          <p:cNvGrpSpPr/>
          <p:nvPr/>
        </p:nvGrpSpPr>
        <p:grpSpPr>
          <a:xfrm>
            <a:off x="0" y="0"/>
            <a:ext cx="12192000" cy="413657"/>
            <a:chOff x="0" y="0"/>
            <a:chExt cx="12192000" cy="413657"/>
          </a:xfrm>
        </p:grpSpPr>
        <p:sp>
          <p:nvSpPr>
            <p:cNvPr id="1229" name="Google Shape;1229;p95"/>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30" name="Google Shape;1230;p95"/>
            <p:cNvGrpSpPr/>
            <p:nvPr/>
          </p:nvGrpSpPr>
          <p:grpSpPr>
            <a:xfrm>
              <a:off x="575484" y="52939"/>
              <a:ext cx="1447716" cy="350261"/>
              <a:chOff x="575484" y="52939"/>
              <a:chExt cx="1447716" cy="350261"/>
            </a:xfrm>
          </p:grpSpPr>
          <p:sp>
            <p:nvSpPr>
              <p:cNvPr id="1231" name="Google Shape;1231;p95"/>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32" name="Google Shape;1232;p95"/>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33" name="Google Shape;1233;p95"/>
          <p:cNvSpPr/>
          <p:nvPr/>
        </p:nvSpPr>
        <p:spPr>
          <a:xfrm>
            <a:off x="365689" y="4490113"/>
            <a:ext cx="11460622" cy="215631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Por último, aquí añadimos a nuestro código un comentario interno. Como verán, se escribe de un modo distinto, utilizando &lt;!-- como apertura y --&gt; como cierre. Los comentarios se utilizan internamente, para hacer anotaciones entre quienes trabajan con el código. No salen nunca impresos en pantalla al cargar el sitio web. En códigos muy largos sirven para entender mejor el código HTML.</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pic>
        <p:nvPicPr>
          <p:cNvPr id="1238" name="Google Shape;1238;p103"/>
          <p:cNvPicPr preferRelativeResize="0"/>
          <p:nvPr/>
        </p:nvPicPr>
        <p:blipFill rotWithShape="1">
          <a:blip r:embed="rId3">
            <a:alphaModFix/>
          </a:blip>
          <a:srcRect/>
          <a:stretch/>
        </p:blipFill>
        <p:spPr>
          <a:xfrm>
            <a:off x="795338" y="0"/>
            <a:ext cx="10601325" cy="6700838"/>
          </a:xfrm>
          <a:prstGeom prst="rect">
            <a:avLst/>
          </a:prstGeom>
          <a:noFill/>
          <a:ln>
            <a:noFill/>
          </a:ln>
        </p:spPr>
      </p:pic>
      <p:sp>
        <p:nvSpPr>
          <p:cNvPr id="1239" name="Google Shape;1239;p103"/>
          <p:cNvSpPr/>
          <p:nvPr/>
        </p:nvSpPr>
        <p:spPr>
          <a:xfrm>
            <a:off x="4328160" y="3708400"/>
            <a:ext cx="508000" cy="29464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40" name="Google Shape;1240;p103"/>
          <p:cNvSpPr txBox="1"/>
          <p:nvPr/>
        </p:nvSpPr>
        <p:spPr>
          <a:xfrm>
            <a:off x="1950720" y="4318000"/>
            <a:ext cx="8575040" cy="1569620"/>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1600" b="0" i="0" u="none" strike="noStrike" cap="none" dirty="0">
                <a:solidFill>
                  <a:schemeClr val="lt1"/>
                </a:solidFill>
                <a:latin typeface="Gotham Rounded" pitchFamily="50" charset="0"/>
                <a:ea typeface="Tahoma"/>
                <a:cs typeface="Tahoma"/>
                <a:sym typeface="Tahoma"/>
              </a:rPr>
              <a:t>Ahora vamos a añadir ”clases”. Las clases se usan para asignar un mismo estilo a muchas etiquetas. Es una forma de reutilizar y reducir código a la hora de escribir. Las ”clases” en CSS se indican con un “.” (punto) al principio y luego se les añade un nombre a criterio personal.</a:t>
            </a:r>
            <a:endParaRPr sz="1600" dirty="0">
              <a:latin typeface="Gotham Rounded" pitchFamily="50"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pic>
        <p:nvPicPr>
          <p:cNvPr id="1245" name="Google Shape;1245;p104"/>
          <p:cNvPicPr preferRelativeResize="0"/>
          <p:nvPr/>
        </p:nvPicPr>
        <p:blipFill rotWithShape="1">
          <a:blip r:embed="rId3">
            <a:alphaModFix/>
          </a:blip>
          <a:srcRect/>
          <a:stretch/>
        </p:blipFill>
        <p:spPr>
          <a:xfrm>
            <a:off x="795337" y="0"/>
            <a:ext cx="10431461" cy="6593471"/>
          </a:xfrm>
          <a:prstGeom prst="rect">
            <a:avLst/>
          </a:prstGeom>
          <a:noFill/>
          <a:ln>
            <a:noFill/>
          </a:ln>
        </p:spPr>
      </p:pic>
      <p:sp>
        <p:nvSpPr>
          <p:cNvPr id="1246" name="Google Shape;1246;p104"/>
          <p:cNvSpPr txBox="1"/>
          <p:nvPr/>
        </p:nvSpPr>
        <p:spPr>
          <a:xfrm>
            <a:off x="1969477" y="4500880"/>
            <a:ext cx="7997483" cy="1323399"/>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b="0" i="0" u="none" strike="noStrike" cap="none" dirty="0">
                <a:solidFill>
                  <a:schemeClr val="lt1"/>
                </a:solidFill>
                <a:latin typeface="Gotham Rounded" pitchFamily="50" charset="0"/>
                <a:sym typeface="Arial"/>
              </a:rPr>
              <a:t>Para usar la Clase, vamos a una etiqueta dentro del &lt;</a:t>
            </a:r>
            <a:r>
              <a:rPr lang="es-ES" sz="2000" b="0" i="0" u="none" strike="noStrike" cap="none" dirty="0" err="1">
                <a:solidFill>
                  <a:schemeClr val="lt1"/>
                </a:solidFill>
                <a:latin typeface="Gotham Rounded" pitchFamily="50" charset="0"/>
                <a:sym typeface="Arial"/>
              </a:rPr>
              <a:t>body</a:t>
            </a:r>
            <a:r>
              <a:rPr lang="es-ES" sz="2000" b="0" i="0" u="none" strike="noStrike" cap="none" dirty="0">
                <a:solidFill>
                  <a:schemeClr val="lt1"/>
                </a:solidFill>
                <a:latin typeface="Gotham Rounded" pitchFamily="50" charset="0"/>
                <a:sym typeface="Arial"/>
              </a:rPr>
              <a:t>&gt; y añadimos el atributo “</a:t>
            </a:r>
            <a:r>
              <a:rPr lang="es-ES" sz="2000" b="0" i="0" u="none" strike="noStrike" cap="none" dirty="0" err="1">
                <a:solidFill>
                  <a:schemeClr val="lt1"/>
                </a:solidFill>
                <a:latin typeface="Gotham Rounded" pitchFamily="50" charset="0"/>
                <a:sym typeface="Arial"/>
              </a:rPr>
              <a:t>class</a:t>
            </a:r>
            <a:r>
              <a:rPr lang="es-ES" sz="2000" b="0" i="0" u="none" strike="noStrike" cap="none" dirty="0">
                <a:solidFill>
                  <a:schemeClr val="lt1"/>
                </a:solidFill>
                <a:latin typeface="Gotham Rounded" pitchFamily="50" charset="0"/>
                <a:sym typeface="Arial"/>
              </a:rPr>
              <a:t>=“ más el nombre de la clase que elijamos. Presten atención que en HTML la clase no se escribe con un punto al principio como en CSS.</a:t>
            </a:r>
            <a:endParaRPr dirty="0">
              <a:latin typeface="Gotham Rounded" pitchFamily="50" charset="0"/>
            </a:endParaRPr>
          </a:p>
        </p:txBody>
      </p:sp>
      <p:sp>
        <p:nvSpPr>
          <p:cNvPr id="1247" name="Google Shape;1247;p104"/>
          <p:cNvSpPr/>
          <p:nvPr/>
        </p:nvSpPr>
        <p:spPr>
          <a:xfrm>
            <a:off x="4206240" y="3606800"/>
            <a:ext cx="568960" cy="36576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pic>
        <p:nvPicPr>
          <p:cNvPr id="1252" name="Google Shape;1252;p105"/>
          <p:cNvPicPr preferRelativeResize="0"/>
          <p:nvPr/>
        </p:nvPicPr>
        <p:blipFill rotWithShape="1">
          <a:blip r:embed="rId3">
            <a:alphaModFix/>
          </a:blip>
          <a:srcRect/>
          <a:stretch/>
        </p:blipFill>
        <p:spPr>
          <a:xfrm>
            <a:off x="876300" y="261938"/>
            <a:ext cx="10360659" cy="6547306"/>
          </a:xfrm>
          <a:prstGeom prst="rect">
            <a:avLst/>
          </a:prstGeom>
          <a:noFill/>
          <a:ln>
            <a:noFill/>
          </a:ln>
        </p:spPr>
      </p:pic>
      <p:sp>
        <p:nvSpPr>
          <p:cNvPr id="1253" name="Google Shape;1253;p105"/>
          <p:cNvSpPr txBox="1"/>
          <p:nvPr/>
        </p:nvSpPr>
        <p:spPr>
          <a:xfrm>
            <a:off x="2338068" y="4572000"/>
            <a:ext cx="8620663" cy="1477328"/>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b="0" i="0" u="none" strike="noStrike" cap="none" dirty="0">
                <a:solidFill>
                  <a:schemeClr val="lt1"/>
                </a:solidFill>
                <a:latin typeface="Gotham Rounded" pitchFamily="50" charset="0"/>
                <a:sym typeface="Arial"/>
              </a:rPr>
              <a:t>A una misma etiqueta se le pueden asignar infinitas clases. Para hacerlo, simplemente hay que separarlas con un “ “ (espacio). Es importante respetar minúsculas y mayúsculas, debe ser idéntico a como está escrita la clase en CSS para que HTML pueda encontrarla y cargar las propiedades.</a:t>
            </a:r>
            <a:endParaRPr dirty="0">
              <a:latin typeface="Gotham Rounded" pitchFamily="50" charset="0"/>
            </a:endParaRPr>
          </a:p>
        </p:txBody>
      </p:sp>
      <p:sp>
        <p:nvSpPr>
          <p:cNvPr id="1254" name="Google Shape;1254;p105"/>
          <p:cNvSpPr/>
          <p:nvPr/>
        </p:nvSpPr>
        <p:spPr>
          <a:xfrm>
            <a:off x="4287520" y="3860800"/>
            <a:ext cx="579120" cy="32512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911574021"/>
      </p:ext>
    </p:extLst>
  </p:cSld>
  <p:clrMapOvr>
    <a:masterClrMapping/>
  </p:clrMapOvr>
  <p:transition spd="slow">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pic>
        <p:nvPicPr>
          <p:cNvPr id="1267" name="Google Shape;1267;p97"/>
          <p:cNvPicPr preferRelativeResize="0"/>
          <p:nvPr/>
        </p:nvPicPr>
        <p:blipFill rotWithShape="1">
          <a:blip r:embed="rId3">
            <a:alphaModFix/>
          </a:blip>
          <a:srcRect/>
          <a:stretch/>
        </p:blipFill>
        <p:spPr>
          <a:xfrm>
            <a:off x="948116" y="211574"/>
            <a:ext cx="10295765"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98"/>
          <p:cNvSpPr/>
          <p:nvPr/>
        </p:nvSpPr>
        <p:spPr>
          <a:xfrm>
            <a:off x="639493" y="533237"/>
            <a:ext cx="618442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Gotham Rounded" pitchFamily="50" charset="0"/>
                <a:sym typeface="Arial"/>
              </a:rPr>
              <a:t>Álbum de etiquetas desbloqueadas</a:t>
            </a:r>
            <a:endParaRPr sz="1400" b="0" i="0" u="none" strike="noStrike" cap="none" dirty="0">
              <a:solidFill>
                <a:srgbClr val="000000"/>
              </a:solidFill>
              <a:latin typeface="Gotham Rounded" pitchFamily="50" charset="0"/>
              <a:sym typeface="Arial"/>
            </a:endParaRPr>
          </a:p>
        </p:txBody>
      </p:sp>
      <p:graphicFrame>
        <p:nvGraphicFramePr>
          <p:cNvPr id="1274" name="Google Shape;1274;p98"/>
          <p:cNvGraphicFramePr/>
          <p:nvPr>
            <p:extLst>
              <p:ext uri="{D42A27DB-BD31-4B8C-83A1-F6EECF244321}">
                <p14:modId xmlns:p14="http://schemas.microsoft.com/office/powerpoint/2010/main" val="3668019743"/>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Raíz</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275" name="Google Shape;1275;p98"/>
          <p:cNvGraphicFramePr/>
          <p:nvPr>
            <p:extLst>
              <p:ext uri="{D42A27DB-BD31-4B8C-83A1-F6EECF244321}">
                <p14:modId xmlns:p14="http://schemas.microsoft.com/office/powerpoint/2010/main" val="838674106"/>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Texto</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&lt;h1&gt;, &lt;h2&gt;,...&lt;h6&gt;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&lt;p&gt;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276" name="Google Shape;1276;p98"/>
          <p:cNvGraphicFramePr/>
          <p:nvPr>
            <p:extLst>
              <p:ext uri="{D42A27DB-BD31-4B8C-83A1-F6EECF244321}">
                <p14:modId xmlns:p14="http://schemas.microsoft.com/office/powerpoint/2010/main" val="149898346"/>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Secciones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body</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header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nav</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aside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main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section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article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footer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&lt;div&gt;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1277" name="Google Shape;1277;p98"/>
          <p:cNvGraphicFramePr/>
          <p:nvPr>
            <p:extLst>
              <p:ext uri="{D42A27DB-BD31-4B8C-83A1-F6EECF244321}">
                <p14:modId xmlns:p14="http://schemas.microsoft.com/office/powerpoint/2010/main" val="1641905077"/>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Extras</a:t>
                      </a:r>
                      <a:endParaRPr sz="1400" u="none" strike="noStrike" cap="none" dirty="0">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&lt;!DOCTYPE </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&lt;!--Comentario--&gt;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278" name="Google Shape;1278;p98"/>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1279" name="Google Shape;1279;p98"/>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1280" name="Google Shape;1280;p98"/>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1281" name="Google Shape;1281;p98"/>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1282" name="Google Shape;1282;p98"/>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1283" name="Google Shape;1283;p98"/>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1284" name="Google Shape;1284;p98"/>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1285" name="Google Shape;1285;p98"/>
          <p:cNvPicPr preferRelativeResize="0"/>
          <p:nvPr/>
        </p:nvPicPr>
        <p:blipFill rotWithShape="1">
          <a:blip r:embed="rId3">
            <a:alphaModFix/>
          </a:blip>
          <a:srcRect/>
          <a:stretch/>
        </p:blipFill>
        <p:spPr>
          <a:xfrm>
            <a:off x="6823913" y="5829363"/>
            <a:ext cx="531524" cy="279050"/>
          </a:xfrm>
          <a:prstGeom prst="rect">
            <a:avLst/>
          </a:prstGeom>
          <a:noFill/>
          <a:ln>
            <a:noFill/>
          </a:ln>
        </p:spPr>
      </p:pic>
      <p:graphicFrame>
        <p:nvGraphicFramePr>
          <p:cNvPr id="1286" name="Google Shape;1286;p98"/>
          <p:cNvGraphicFramePr/>
          <p:nvPr>
            <p:extLst>
              <p:ext uri="{D42A27DB-BD31-4B8C-83A1-F6EECF244321}">
                <p14:modId xmlns:p14="http://schemas.microsoft.com/office/powerpoint/2010/main" val="2231378925"/>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Metadatos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&lt;head&gt;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&lt;meta&gt;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title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style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&lt;link&gt;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287" name="Google Shape;1287;p98"/>
          <p:cNvPicPr preferRelativeResize="0"/>
          <p:nvPr/>
        </p:nvPicPr>
        <p:blipFill rotWithShape="1">
          <a:blip r:embed="rId3">
            <a:alphaModFix/>
          </a:blip>
          <a:srcRect/>
          <a:stretch/>
        </p:blipFill>
        <p:spPr>
          <a:xfrm>
            <a:off x="1496587" y="4872792"/>
            <a:ext cx="531524" cy="279050"/>
          </a:xfrm>
          <a:prstGeom prst="rect">
            <a:avLst/>
          </a:prstGeom>
          <a:noFill/>
          <a:ln>
            <a:noFill/>
          </a:ln>
        </p:spPr>
      </p:pic>
      <p:pic>
        <p:nvPicPr>
          <p:cNvPr id="1288" name="Google Shape;1288;p98"/>
          <p:cNvPicPr preferRelativeResize="0"/>
          <p:nvPr/>
        </p:nvPicPr>
        <p:blipFill rotWithShape="1">
          <a:blip r:embed="rId3">
            <a:alphaModFix/>
          </a:blip>
          <a:srcRect/>
          <a:stretch/>
        </p:blipFill>
        <p:spPr>
          <a:xfrm>
            <a:off x="1496587" y="5329992"/>
            <a:ext cx="531524" cy="279050"/>
          </a:xfrm>
          <a:prstGeom prst="rect">
            <a:avLst/>
          </a:prstGeom>
          <a:noFill/>
          <a:ln>
            <a:noFill/>
          </a:ln>
        </p:spPr>
      </p:pic>
      <p:graphicFrame>
        <p:nvGraphicFramePr>
          <p:cNvPr id="1289" name="Google Shape;1289;p98"/>
          <p:cNvGraphicFramePr/>
          <p:nvPr>
            <p:extLst>
              <p:ext uri="{D42A27DB-BD31-4B8C-83A1-F6EECF244321}">
                <p14:modId xmlns:p14="http://schemas.microsoft.com/office/powerpoint/2010/main" val="1652122704"/>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Imágenes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img</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290" name="Google Shape;1290;p98"/>
          <p:cNvPicPr preferRelativeResize="0"/>
          <p:nvPr/>
        </p:nvPicPr>
        <p:blipFill rotWithShape="1">
          <a:blip r:embed="rId3">
            <a:alphaModFix/>
          </a:blip>
          <a:srcRect/>
          <a:stretch/>
        </p:blipFill>
        <p:spPr>
          <a:xfrm>
            <a:off x="4005325" y="5329992"/>
            <a:ext cx="531524" cy="279050"/>
          </a:xfrm>
          <a:prstGeom prst="rect">
            <a:avLst/>
          </a:prstGeom>
          <a:noFill/>
          <a:ln>
            <a:noFill/>
          </a:ln>
        </p:spPr>
      </p:pic>
      <p:sp>
        <p:nvSpPr>
          <p:cNvPr id="1291" name="Google Shape;1291;p98"/>
          <p:cNvSpPr/>
          <p:nvPr/>
        </p:nvSpPr>
        <p:spPr>
          <a:xfrm>
            <a:off x="8782592" y="5432886"/>
            <a:ext cx="2950984" cy="102049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pitchFamily="50" charset="0"/>
                <a:ea typeface="Tahoma"/>
                <a:cs typeface="Tahoma"/>
                <a:sym typeface="Tahoma"/>
              </a:rPr>
              <a:t>Conozcan más etiquetas en </a:t>
            </a:r>
            <a:r>
              <a:rPr lang="es-ES" sz="1600" b="0" i="0" u="sng" strike="noStrike" cap="none" dirty="0">
                <a:solidFill>
                  <a:schemeClr val="lt1"/>
                </a:solidFill>
                <a:latin typeface="Gotham Rounded"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pitchFamily="50" charset="0"/>
                <a:ea typeface="Tahoma"/>
                <a:cs typeface="Tahoma"/>
                <a:sym typeface="Tahoma"/>
              </a:rPr>
              <a:t> o </a:t>
            </a:r>
            <a:r>
              <a:rPr lang="es-ES" sz="1600" b="0" i="0" u="sng" strike="noStrike" cap="none" dirty="0">
                <a:solidFill>
                  <a:schemeClr val="lt1"/>
                </a:solidFill>
                <a:latin typeface="Gotham Rounded"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pitchFamily="50" charset="0"/>
                <a:ea typeface="Tahoma"/>
                <a:cs typeface="Tahoma"/>
                <a:sym typeface="Tahoma"/>
              </a:rPr>
              <a:t>.</a:t>
            </a:r>
            <a:endParaRPr sz="1600" b="0" i="1" u="none" strike="noStrike" cap="none" dirty="0">
              <a:solidFill>
                <a:schemeClr val="lt1"/>
              </a:solidFill>
              <a:latin typeface="Gotham Rounded" pitchFamily="50" charset="0"/>
              <a:ea typeface="Tahoma"/>
              <a:cs typeface="Tahoma"/>
              <a:sym typeface="Tahoma"/>
            </a:endParaRPr>
          </a:p>
        </p:txBody>
      </p:sp>
      <p:sp>
        <p:nvSpPr>
          <p:cNvPr id="1292" name="Google Shape;1292;p98"/>
          <p:cNvSpPr/>
          <p:nvPr/>
        </p:nvSpPr>
        <p:spPr>
          <a:xfrm>
            <a:off x="9009217" y="2574237"/>
            <a:ext cx="1808838" cy="457167"/>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3" name="Google Shape;1293;p98"/>
          <p:cNvSpPr/>
          <p:nvPr/>
        </p:nvSpPr>
        <p:spPr>
          <a:xfrm>
            <a:off x="3163630" y="2099218"/>
            <a:ext cx="2281826" cy="2358545"/>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4" name="Google Shape;1294;p98"/>
          <p:cNvSpPr/>
          <p:nvPr/>
        </p:nvSpPr>
        <p:spPr>
          <a:xfrm>
            <a:off x="1069145" y="3834136"/>
            <a:ext cx="1451479" cy="949581"/>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78" name="Google Shape;278;g15007f1fff0_0_0"/>
          <p:cNvSpPr txBox="1"/>
          <p:nvPr/>
        </p:nvSpPr>
        <p:spPr>
          <a:xfrm>
            <a:off x="2439181" y="1992536"/>
            <a:ext cx="7313638" cy="310850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800" dirty="0" smtClean="0">
                <a:solidFill>
                  <a:srgbClr val="1E1E1E"/>
                </a:solidFill>
                <a:latin typeface="Gotham Rounded" pitchFamily="50" charset="0"/>
                <a:ea typeface="Quattrocento Sans"/>
                <a:cs typeface="Quattrocento Sans"/>
                <a:sym typeface="Quattrocento Sans"/>
              </a:rPr>
              <a:t>Es momento de tomar asistencia.</a:t>
            </a:r>
            <a:endParaRPr sz="1200" dirty="0">
              <a:latin typeface="Gotham Rounded" pitchFamily="50" charset="0"/>
            </a:endParaRPr>
          </a:p>
          <a:p>
            <a:pPr marL="0" marR="0" lvl="0" indent="0" algn="l" rtl="0">
              <a:spcBef>
                <a:spcPts val="0"/>
              </a:spcBef>
              <a:spcAft>
                <a:spcPts val="0"/>
              </a:spcAft>
              <a:buNone/>
            </a:pPr>
            <a:endParaRPr sz="3600" b="1" dirty="0">
              <a:solidFill>
                <a:srgbClr val="1E1E1E"/>
              </a:solidFill>
              <a:latin typeface="Gotham Rounded" pitchFamily="50" charset="0"/>
              <a:ea typeface="Quattrocento Sans"/>
              <a:cs typeface="Quattrocento Sans"/>
              <a:sym typeface="Quattrocento Sans"/>
            </a:endParaRPr>
          </a:p>
          <a:p>
            <a:pPr marL="0" marR="0" lvl="0" indent="0" algn="ctr" rtl="0">
              <a:spcBef>
                <a:spcPts val="0"/>
              </a:spcBef>
              <a:spcAft>
                <a:spcPts val="0"/>
              </a:spcAft>
              <a:buNone/>
            </a:pPr>
            <a:r>
              <a:rPr lang="es-ES" sz="3200" b="1" i="0" dirty="0">
                <a:solidFill>
                  <a:srgbClr val="1E1E1E"/>
                </a:solidFill>
                <a:latin typeface="Gotham Rounded" pitchFamily="50" charset="0"/>
                <a:ea typeface="Quattrocento Sans"/>
                <a:cs typeface="Quattrocento Sans"/>
                <a:sym typeface="Quattrocento Sans"/>
              </a:rPr>
              <a:t>Recuerda que debes tener el 70% </a:t>
            </a:r>
            <a:r>
              <a:rPr lang="es-ES" sz="3200" b="1" i="0" dirty="0" smtClean="0">
                <a:solidFill>
                  <a:srgbClr val="1E1E1E"/>
                </a:solidFill>
                <a:latin typeface="Gotham Rounded" pitchFamily="50" charset="0"/>
                <a:ea typeface="Quattrocento Sans"/>
                <a:cs typeface="Quattrocento Sans"/>
                <a:sym typeface="Quattrocento Sans"/>
              </a:rPr>
              <a:t>para </a:t>
            </a:r>
            <a:r>
              <a:rPr lang="es-ES" sz="3200" b="1" i="0" dirty="0">
                <a:solidFill>
                  <a:srgbClr val="1E1E1E"/>
                </a:solidFill>
                <a:latin typeface="Gotham Rounded" pitchFamily="50" charset="0"/>
                <a:ea typeface="Quattrocento Sans"/>
                <a:cs typeface="Quattrocento Sans"/>
                <a:sym typeface="Quattrocento Sans"/>
              </a:rPr>
              <a:t>aprobar el </a:t>
            </a:r>
            <a:r>
              <a:rPr lang="es-ES" sz="3200" b="1" i="0" dirty="0" smtClean="0">
                <a:solidFill>
                  <a:srgbClr val="1E1E1E"/>
                </a:solidFill>
                <a:latin typeface="Gotham Rounded" pitchFamily="50" charset="0"/>
                <a:ea typeface="Quattrocento Sans"/>
                <a:cs typeface="Quattrocento Sans"/>
                <a:sym typeface="Quattrocento Sans"/>
              </a:rPr>
              <a:t>curso.</a:t>
            </a:r>
            <a:endParaRPr sz="1200" dirty="0">
              <a:latin typeface="Gotham Rounded" pitchFamily="50" charset="0"/>
            </a:endParaRPr>
          </a:p>
        </p:txBody>
      </p:sp>
    </p:spTree>
    <p:extLst>
      <p:ext uri="{BB962C8B-B14F-4D97-AF65-F5344CB8AC3E}">
        <p14:creationId xmlns:p14="http://schemas.microsoft.com/office/powerpoint/2010/main" val="12967335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100"/>
          <p:cNvSpPr/>
          <p:nvPr/>
        </p:nvSpPr>
        <p:spPr>
          <a:xfrm>
            <a:off x="4684541" y="826629"/>
            <a:ext cx="6749467"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CSS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a:t>
            </a:r>
            <a:r>
              <a:rPr lang="es-ES" sz="3600" b="1" i="0" u="none" strike="noStrike" cap="none" dirty="0">
                <a:solidFill>
                  <a:schemeClr val="tx1"/>
                </a:solidFill>
                <a:latin typeface="Gotham Rounded" pitchFamily="50" charset="0"/>
                <a:sym typeface="Arial"/>
              </a:rPr>
              <a:t>lenguaje de hojas de estilo </a:t>
            </a:r>
            <a:r>
              <a:rPr lang="es-ES" sz="3600" b="0" i="0" u="none" strike="noStrike" cap="none" dirty="0">
                <a:solidFill>
                  <a:schemeClr val="tx1"/>
                </a:solidFill>
                <a:latin typeface="Gotham Rounded" pitchFamily="50" charset="0"/>
                <a:sym typeface="Arial"/>
              </a:rPr>
              <a:t>que permite modificar la apariencia de los sitios webs. Es complementario a HTML, le añade mejoras visuales.</a:t>
            </a:r>
            <a:endParaRPr sz="1400" b="0" i="0" u="none" strike="noStrike" cap="none" dirty="0">
              <a:solidFill>
                <a:schemeClr val="tx1"/>
              </a:solidFill>
              <a:latin typeface="Gotham Rounded" pitchFamily="50" charset="0"/>
              <a:sym typeface="Arial"/>
            </a:endParaRPr>
          </a:p>
        </p:txBody>
      </p:sp>
      <p:pic>
        <p:nvPicPr>
          <p:cNvPr id="1307" name="Google Shape;1307;p100" descr="Ver las imágenes de origen"/>
          <p:cNvPicPr preferRelativeResize="0"/>
          <p:nvPr/>
        </p:nvPicPr>
        <p:blipFill rotWithShape="1">
          <a:blip r:embed="rId3">
            <a:alphaModFix/>
          </a:blip>
          <a:srcRect/>
          <a:stretch/>
        </p:blipFill>
        <p:spPr>
          <a:xfrm>
            <a:off x="812872" y="2151575"/>
            <a:ext cx="2546219" cy="2546219"/>
          </a:xfrm>
          <a:prstGeom prst="rect">
            <a:avLst/>
          </a:prstGeom>
          <a:noFill/>
          <a:ln>
            <a:noFill/>
          </a:ln>
        </p:spPr>
      </p:pic>
      <p:pic>
        <p:nvPicPr>
          <p:cNvPr id="4" name="Google Shape;1102;p6"/>
          <p:cNvPicPr preferRelativeResize="0"/>
          <p:nvPr/>
        </p:nvPicPr>
        <p:blipFill rotWithShape="1">
          <a:blip r:embed="rId4">
            <a:alphaModFix/>
          </a:blip>
          <a:srcRect/>
          <a:stretch/>
        </p:blipFill>
        <p:spPr>
          <a:xfrm>
            <a:off x="4684541" y="-62252"/>
            <a:ext cx="7507459" cy="6920251"/>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4to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2955267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1981131" y="899017"/>
            <a:ext cx="8346831" cy="4770537"/>
          </a:xfrm>
          <a:prstGeom prst="rect">
            <a:avLst/>
          </a:prstGeom>
        </p:spPr>
        <p:txBody>
          <a:bodyPr wrap="square">
            <a:spAutoFit/>
          </a:bodyPr>
          <a:lstStyle/>
          <a:p>
            <a:pPr lvl="0" algn="ctr">
              <a:buSzPts val="1400"/>
            </a:pP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Dar estilo con CSS de forma </a:t>
            </a:r>
            <a:r>
              <a:rPr lang="es-MX" sz="6600" u="sng" dirty="0">
                <a:solidFill>
                  <a:srgbClr val="7030A0"/>
                </a:solidFill>
                <a:latin typeface="Gotham Rounded" pitchFamily="50" charset="0"/>
              </a:rPr>
              <a:t>externa</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r>
              <a:rPr lang="es-MX" sz="2000" b="1" dirty="0" smtClean="0">
                <a:solidFill>
                  <a:srgbClr val="7030A0"/>
                </a:solidFill>
                <a:latin typeface="Gotham Rounded" pitchFamily="50" charset="0"/>
              </a:rPr>
              <a:t>.</a:t>
            </a:r>
          </a:p>
          <a:p>
            <a:pPr lvl="0" algn="ctr">
              <a:buSzPts val="2400"/>
            </a:pP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endParaRPr lang="es-MX" sz="20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20827011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pic>
        <p:nvPicPr>
          <p:cNvPr id="1334" name="Google Shape;1334;p110"/>
          <p:cNvPicPr preferRelativeResize="0"/>
          <p:nvPr/>
        </p:nvPicPr>
        <p:blipFill rotWithShape="1">
          <a:blip r:embed="rId3">
            <a:alphaModFix/>
          </a:blip>
          <a:srcRect/>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35" name="Google Shape;1335;p110"/>
          <p:cNvSpPr/>
          <p:nvPr/>
        </p:nvSpPr>
        <p:spPr>
          <a:xfrm>
            <a:off x="2287045" y="985529"/>
            <a:ext cx="354842" cy="30025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6" name="Google Shape;1336;p110"/>
          <p:cNvSpPr/>
          <p:nvPr/>
        </p:nvSpPr>
        <p:spPr>
          <a:xfrm>
            <a:off x="6196084" y="4765637"/>
            <a:ext cx="5592083" cy="162151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 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el ícono para crear una carpeta nueva.</a:t>
            </a:r>
            <a:endParaRPr sz="1400" b="0" i="0" u="none" strike="noStrike" cap="none" dirty="0">
              <a:solidFill>
                <a:srgbClr val="000000"/>
              </a:solidFill>
              <a:latin typeface="Gotham Rounded" pitchFamily="50" charset="0"/>
              <a:sym typeface="Arial"/>
            </a:endParaRPr>
          </a:p>
        </p:txBody>
      </p:sp>
      <p:pic>
        <p:nvPicPr>
          <p:cNvPr id="1337" name="Google Shape;1337;p110">
            <a:hlinkClick r:id="rId4"/>
          </p:cNvPr>
          <p:cNvPicPr preferRelativeResize="0"/>
          <p:nvPr/>
        </p:nvPicPr>
        <p:blipFill rotWithShape="1">
          <a:blip r:embed="rId5">
            <a:alphaModFix/>
          </a:blip>
          <a:srcRect/>
          <a:stretch/>
        </p:blipFill>
        <p:spPr>
          <a:xfrm>
            <a:off x="2378466" y="1135654"/>
            <a:ext cx="526842" cy="526842"/>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pic>
        <p:nvPicPr>
          <p:cNvPr id="1343" name="Google Shape;1343;p111"/>
          <p:cNvPicPr preferRelativeResize="0"/>
          <p:nvPr/>
        </p:nvPicPr>
        <p:blipFill rotWithShape="1">
          <a:blip r:embed="rId3">
            <a:alphaModFix/>
          </a:blip>
          <a:srcRect r="46889" b="4688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44" name="Google Shape;1344;p111"/>
          <p:cNvSpPr/>
          <p:nvPr/>
        </p:nvSpPr>
        <p:spPr>
          <a:xfrm>
            <a:off x="2261965" y="2023872"/>
            <a:ext cx="3133191" cy="70438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5" name="Google Shape;1345;p111"/>
          <p:cNvSpPr/>
          <p:nvPr/>
        </p:nvSpPr>
        <p:spPr>
          <a:xfrm>
            <a:off x="6196084" y="4701091"/>
            <a:ext cx="5592083" cy="168605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2. Le ponemos de nombre “</a:t>
            </a:r>
            <a:r>
              <a:rPr lang="es-ES" sz="1800" b="0" i="0" u="none" strike="noStrike" cap="none" dirty="0" err="1">
                <a:solidFill>
                  <a:schemeClr val="lt1"/>
                </a:solidFill>
                <a:latin typeface="Gotham Rounded" pitchFamily="50" charset="0"/>
                <a:ea typeface="Tahoma"/>
                <a:cs typeface="Tahoma"/>
                <a:sym typeface="Tahoma"/>
              </a:rPr>
              <a:t>assets</a:t>
            </a:r>
            <a:r>
              <a:rPr lang="es-ES" sz="1800" b="0" i="0" u="none" strike="noStrike" cap="none" dirty="0">
                <a:solidFill>
                  <a:schemeClr val="lt1"/>
                </a:solidFill>
                <a:latin typeface="Gotham Rounded" pitchFamily="50" charset="0"/>
                <a:ea typeface="Tahoma"/>
                <a:cs typeface="Tahoma"/>
                <a:sym typeface="Tahoma"/>
              </a:rPr>
              <a:t>” y la creamos apretando ENTER.</a:t>
            </a:r>
            <a:endParaRPr sz="1400" b="0" i="0" u="none" strike="noStrike" cap="none" dirty="0">
              <a:solidFill>
                <a:srgbClr val="000000"/>
              </a:solidFill>
              <a:latin typeface="Gotham Rounded" pitchFamily="50" charset="0"/>
              <a:sym typeface="Arial"/>
            </a:endParaRPr>
          </a:p>
        </p:txBody>
      </p:sp>
      <p:pic>
        <p:nvPicPr>
          <p:cNvPr id="1346" name="Google Shape;1346;p111">
            <a:hlinkClick r:id="rId4"/>
          </p:cNvPr>
          <p:cNvPicPr preferRelativeResize="0"/>
          <p:nvPr/>
        </p:nvPicPr>
        <p:blipFill rotWithShape="1">
          <a:blip r:embed="rId5">
            <a:alphaModFix/>
          </a:blip>
          <a:srcRect/>
          <a:stretch/>
        </p:blipFill>
        <p:spPr>
          <a:xfrm>
            <a:off x="3301718" y="228672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pic>
        <p:nvPicPr>
          <p:cNvPr id="1352" name="Google Shape;1352;p112"/>
          <p:cNvPicPr preferRelativeResize="0"/>
          <p:nvPr/>
        </p:nvPicPr>
        <p:blipFill rotWithShape="1">
          <a:blip r:embed="rId3">
            <a:alphaModFix/>
          </a:blip>
          <a:srcRect r="52849" b="5284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53" name="Google Shape;1353;p112"/>
          <p:cNvSpPr/>
          <p:nvPr/>
        </p:nvSpPr>
        <p:spPr>
          <a:xfrm>
            <a:off x="2065329" y="2398816"/>
            <a:ext cx="3717953" cy="49876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4" name="Google Shape;1354;p112"/>
          <p:cNvSpPr/>
          <p:nvPr/>
        </p:nvSpPr>
        <p:spPr>
          <a:xfrm>
            <a:off x="6196084" y="4733365"/>
            <a:ext cx="5592083" cy="165378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3. Vamos a dar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sobre la carpeta creada para ubicarnos en su directorio.</a:t>
            </a:r>
            <a:endParaRPr sz="1400" b="0" i="0" u="none" strike="noStrike" cap="none" dirty="0">
              <a:solidFill>
                <a:srgbClr val="000000"/>
              </a:solidFill>
              <a:latin typeface="Gotham Rounded" pitchFamily="50" charset="0"/>
              <a:sym typeface="Arial"/>
            </a:endParaRPr>
          </a:p>
        </p:txBody>
      </p:sp>
      <p:pic>
        <p:nvPicPr>
          <p:cNvPr id="1355" name="Google Shape;1355;p112">
            <a:hlinkClick r:id="rId4"/>
          </p:cNvPr>
          <p:cNvPicPr preferRelativeResize="0"/>
          <p:nvPr/>
        </p:nvPicPr>
        <p:blipFill rotWithShape="1">
          <a:blip r:embed="rId5">
            <a:alphaModFix/>
          </a:blip>
          <a:srcRect/>
          <a:stretch/>
        </p:blipFill>
        <p:spPr>
          <a:xfrm>
            <a:off x="3282108" y="263415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pic>
        <p:nvPicPr>
          <p:cNvPr id="1361" name="Google Shape;1361;p113"/>
          <p:cNvPicPr preferRelativeResize="0"/>
          <p:nvPr/>
        </p:nvPicPr>
        <p:blipFill rotWithShape="1">
          <a:blip r:embed="rId3">
            <a:alphaModFix/>
          </a:blip>
          <a:srcRect r="52849" b="5284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62" name="Google Shape;1362;p113"/>
          <p:cNvSpPr/>
          <p:nvPr/>
        </p:nvSpPr>
        <p:spPr>
          <a:xfrm>
            <a:off x="3842712" y="1899928"/>
            <a:ext cx="617665" cy="52263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63" name="Google Shape;1363;p113"/>
          <p:cNvSpPr/>
          <p:nvPr/>
        </p:nvSpPr>
        <p:spPr>
          <a:xfrm>
            <a:off x="6196084" y="4873213"/>
            <a:ext cx="5592083" cy="151393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bg1"/>
                </a:solidFill>
                <a:latin typeface="Gotham Rounded" pitchFamily="50" charset="0"/>
                <a:ea typeface="Tahoma"/>
                <a:cs typeface="Tahoma"/>
                <a:sym typeface="Tahoma"/>
              </a:rPr>
              <a:t>4. Volvemos a tocar el ícono para crear una nueva carpeta.</a:t>
            </a:r>
            <a:endParaRPr sz="1400" b="0" i="0" u="none" strike="noStrike" cap="none" dirty="0">
              <a:solidFill>
                <a:schemeClr val="bg1"/>
              </a:solidFill>
              <a:latin typeface="Gotham Rounded" pitchFamily="50" charset="0"/>
              <a:sym typeface="Arial"/>
            </a:endParaRPr>
          </a:p>
        </p:txBody>
      </p:sp>
      <p:pic>
        <p:nvPicPr>
          <p:cNvPr id="1364" name="Google Shape;1364;p113">
            <a:hlinkClick r:id="rId4"/>
          </p:cNvPr>
          <p:cNvPicPr preferRelativeResize="0"/>
          <p:nvPr/>
        </p:nvPicPr>
        <p:blipFill rotWithShape="1">
          <a:blip r:embed="rId5">
            <a:alphaModFix/>
          </a:blip>
          <a:srcRect/>
          <a:stretch/>
        </p:blipFill>
        <p:spPr>
          <a:xfrm>
            <a:off x="4035144" y="2159145"/>
            <a:ext cx="526842" cy="526842"/>
          </a:xfrm>
          <a:prstGeom prst="rect">
            <a:avLst/>
          </a:prstGeom>
          <a:noFill/>
          <a:ln>
            <a:noFill/>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pic>
        <p:nvPicPr>
          <p:cNvPr id="1370" name="Google Shape;1370;p114"/>
          <p:cNvPicPr preferRelativeResize="0"/>
          <p:nvPr/>
        </p:nvPicPr>
        <p:blipFill rotWithShape="1">
          <a:blip r:embed="rId3">
            <a:alphaModFix/>
          </a:blip>
          <a:srcRect l="1" r="52747" b="52749"/>
          <a:stretch/>
        </p:blipFill>
        <p:spPr>
          <a:xfrm>
            <a:off x="948114" y="211570"/>
            <a:ext cx="10295765" cy="6434853"/>
          </a:xfrm>
          <a:prstGeom prst="rect">
            <a:avLst/>
          </a:prstGeom>
          <a:noFill/>
          <a:ln>
            <a:noFill/>
          </a:ln>
          <a:effectLst>
            <a:outerShdw blurRad="101600" dist="50800" sx="101000" sy="101000" algn="ctr" rotWithShape="0">
              <a:srgbClr val="7F7F7F">
                <a:alpha val="20000"/>
              </a:srgbClr>
            </a:outerShdw>
          </a:effectLst>
        </p:spPr>
      </p:pic>
      <p:sp>
        <p:nvSpPr>
          <p:cNvPr id="1371" name="Google Shape;1371;p114"/>
          <p:cNvSpPr/>
          <p:nvPr/>
        </p:nvSpPr>
        <p:spPr>
          <a:xfrm>
            <a:off x="6196084" y="4883971"/>
            <a:ext cx="5592083" cy="150317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5. La nombramos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y damos ENTER para crearla.</a:t>
            </a:r>
            <a:endParaRPr sz="1400" b="0" i="0" u="none" strike="noStrike" cap="none" dirty="0">
              <a:solidFill>
                <a:srgbClr val="000000"/>
              </a:solidFill>
              <a:latin typeface="Gotham Rounded" pitchFamily="50" charset="0"/>
              <a:sym typeface="Arial"/>
            </a:endParaRPr>
          </a:p>
        </p:txBody>
      </p:sp>
      <p:sp>
        <p:nvSpPr>
          <p:cNvPr id="1372" name="Google Shape;1372;p114"/>
          <p:cNvSpPr/>
          <p:nvPr/>
        </p:nvSpPr>
        <p:spPr>
          <a:xfrm>
            <a:off x="2748081" y="2740192"/>
            <a:ext cx="3104079" cy="79548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73" name="Google Shape;1373;p114">
            <a:hlinkClick r:id="rId4"/>
          </p:cNvPr>
          <p:cNvPicPr preferRelativeResize="0"/>
          <p:nvPr/>
        </p:nvPicPr>
        <p:blipFill rotWithShape="1">
          <a:blip r:embed="rId5">
            <a:alphaModFix/>
          </a:blip>
          <a:srcRect/>
          <a:stretch/>
        </p:blipFill>
        <p:spPr>
          <a:xfrm>
            <a:off x="3658626" y="300883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78"/>
        <p:cNvGrpSpPr/>
        <p:nvPr/>
      </p:nvGrpSpPr>
      <p:grpSpPr>
        <a:xfrm>
          <a:off x="0" y="0"/>
          <a:ext cx="0" cy="0"/>
          <a:chOff x="0" y="0"/>
          <a:chExt cx="0" cy="0"/>
        </a:xfrm>
      </p:grpSpPr>
      <p:pic>
        <p:nvPicPr>
          <p:cNvPr id="1379" name="Google Shape;1379;p115"/>
          <p:cNvPicPr preferRelativeResize="0"/>
          <p:nvPr/>
        </p:nvPicPr>
        <p:blipFill rotWithShape="1">
          <a:blip r:embed="rId3">
            <a:alphaModFix/>
          </a:blip>
          <a:srcRect r="50795" b="50795"/>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80" name="Google Shape;1380;p115"/>
          <p:cNvSpPr/>
          <p:nvPr/>
        </p:nvSpPr>
        <p:spPr>
          <a:xfrm>
            <a:off x="3383280" y="2326640"/>
            <a:ext cx="904239" cy="45720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1" name="Google Shape;1381;p115"/>
          <p:cNvSpPr/>
          <p:nvPr/>
        </p:nvSpPr>
        <p:spPr>
          <a:xfrm>
            <a:off x="6196084" y="4701091"/>
            <a:ext cx="5592083" cy="168605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6. Vamos a dar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la carpeta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para ubicarnos dentro de ella.</a:t>
            </a:r>
            <a:endParaRPr sz="1400" b="0" i="0" u="none" strike="noStrike" cap="none" dirty="0">
              <a:solidFill>
                <a:srgbClr val="000000"/>
              </a:solidFill>
              <a:latin typeface="Gotham Rounded" pitchFamily="50" charset="0"/>
              <a:sym typeface="Arial"/>
            </a:endParaRPr>
          </a:p>
        </p:txBody>
      </p:sp>
      <p:pic>
        <p:nvPicPr>
          <p:cNvPr id="1382" name="Google Shape;1382;p115">
            <a:hlinkClick r:id="rId4"/>
          </p:cNvPr>
          <p:cNvPicPr preferRelativeResize="0"/>
          <p:nvPr/>
        </p:nvPicPr>
        <p:blipFill rotWithShape="1">
          <a:blip r:embed="rId5">
            <a:alphaModFix/>
          </a:blip>
          <a:srcRect/>
          <a:stretch/>
        </p:blipFill>
        <p:spPr>
          <a:xfrm>
            <a:off x="3769400" y="2520419"/>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pic>
        <p:nvPicPr>
          <p:cNvPr id="1388" name="Google Shape;1388;p116"/>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89" name="Google Shape;1389;p116"/>
          <p:cNvSpPr/>
          <p:nvPr/>
        </p:nvSpPr>
        <p:spPr>
          <a:xfrm>
            <a:off x="1996589" y="985529"/>
            <a:ext cx="354842" cy="30025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0" name="Google Shape;1390;p116"/>
          <p:cNvSpPr/>
          <p:nvPr/>
        </p:nvSpPr>
        <p:spPr>
          <a:xfrm>
            <a:off x="6196084" y="4722607"/>
            <a:ext cx="5275782" cy="166454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7. 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el ícono para crear un archivo nuevo.</a:t>
            </a:r>
            <a:endParaRPr sz="1400" b="0" i="0" u="none" strike="noStrike" cap="none" dirty="0">
              <a:solidFill>
                <a:srgbClr val="000000"/>
              </a:solidFill>
              <a:latin typeface="Gotham Rounded" pitchFamily="50" charset="0"/>
              <a:sym typeface="Arial"/>
            </a:endParaRPr>
          </a:p>
        </p:txBody>
      </p:sp>
      <p:pic>
        <p:nvPicPr>
          <p:cNvPr id="1391" name="Google Shape;1391;p116">
            <a:hlinkClick r:id="rId4"/>
          </p:cNvPr>
          <p:cNvPicPr preferRelativeResize="0"/>
          <p:nvPr/>
        </p:nvPicPr>
        <p:blipFill rotWithShape="1">
          <a:blip r:embed="rId5">
            <a:alphaModFix/>
          </a:blip>
          <a:srcRect/>
          <a:stretch/>
        </p:blipFill>
        <p:spPr>
          <a:xfrm>
            <a:off x="2088010" y="1135654"/>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96"/>
        <p:cNvGrpSpPr/>
        <p:nvPr/>
      </p:nvGrpSpPr>
      <p:grpSpPr>
        <a:xfrm>
          <a:off x="0" y="0"/>
          <a:ext cx="0" cy="0"/>
          <a:chOff x="0" y="0"/>
          <a:chExt cx="0" cy="0"/>
        </a:xfrm>
      </p:grpSpPr>
      <p:pic>
        <p:nvPicPr>
          <p:cNvPr id="1397" name="Google Shape;1397;p117"/>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98" name="Google Shape;1398;p117"/>
          <p:cNvSpPr/>
          <p:nvPr/>
        </p:nvSpPr>
        <p:spPr>
          <a:xfrm>
            <a:off x="1609310" y="1405077"/>
            <a:ext cx="1693288" cy="35917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9" name="Google Shape;1399;p117"/>
          <p:cNvSpPr/>
          <p:nvPr/>
        </p:nvSpPr>
        <p:spPr>
          <a:xfrm>
            <a:off x="6196084" y="4776395"/>
            <a:ext cx="5592083" cy="161075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8. Nombramos al archivo “style.css” y damos ENTER para crearlo.</a:t>
            </a:r>
            <a:endParaRPr sz="1400" b="0" i="0" u="none" strike="noStrike" cap="none" dirty="0">
              <a:solidFill>
                <a:srgbClr val="000000"/>
              </a:solidFill>
              <a:latin typeface="Gotham Rounded" pitchFamily="50" charset="0"/>
              <a:sym typeface="Arial"/>
            </a:endParaRPr>
          </a:p>
        </p:txBody>
      </p:sp>
      <p:pic>
        <p:nvPicPr>
          <p:cNvPr id="1400" name="Google Shape;1400;p117">
            <a:hlinkClick r:id="rId4"/>
          </p:cNvPr>
          <p:cNvPicPr preferRelativeResize="0"/>
          <p:nvPr/>
        </p:nvPicPr>
        <p:blipFill rotWithShape="1">
          <a:blip r:embed="rId5">
            <a:alphaModFix/>
          </a:blip>
          <a:srcRect/>
          <a:stretch/>
        </p:blipFill>
        <p:spPr>
          <a:xfrm>
            <a:off x="2455954" y="1500833"/>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pic>
        <p:nvPicPr>
          <p:cNvPr id="1406" name="Google Shape;1406;p118"/>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07" name="Google Shape;1407;p118"/>
          <p:cNvSpPr/>
          <p:nvPr/>
        </p:nvSpPr>
        <p:spPr>
          <a:xfrm>
            <a:off x="3810000" y="800100"/>
            <a:ext cx="7258050" cy="23622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8" name="Google Shape;1408;p118"/>
          <p:cNvSpPr/>
          <p:nvPr/>
        </p:nvSpPr>
        <p:spPr>
          <a:xfrm>
            <a:off x="1534006" y="1641745"/>
            <a:ext cx="1080102" cy="35917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9" name="Google Shape;1409;p118"/>
          <p:cNvSpPr/>
          <p:nvPr/>
        </p:nvSpPr>
        <p:spPr>
          <a:xfrm>
            <a:off x="6196084" y="4249271"/>
            <a:ext cx="5592083" cy="213788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9. Si hicimos todo bien, nos tiene que aparecer el archivo creado dentro de la carpeta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y tiene que abrirse automáticamente.</a:t>
            </a:r>
            <a:endParaRPr sz="1400" b="0" i="0" u="none" strike="noStrike" cap="none" dirty="0">
              <a:solidFill>
                <a:srgbClr val="000000"/>
              </a:solidFill>
              <a:latin typeface="Gotham Rounded" pitchFamily="50" charset="0"/>
              <a:sym typeface="Arial"/>
            </a:endParaRPr>
          </a:p>
        </p:txBody>
      </p:sp>
      <p:pic>
        <p:nvPicPr>
          <p:cNvPr id="1410" name="Google Shape;1410;p118">
            <a:hlinkClick r:id="rId4"/>
          </p:cNvPr>
          <p:cNvPicPr preferRelativeResize="0"/>
          <p:nvPr/>
        </p:nvPicPr>
        <p:blipFill rotWithShape="1">
          <a:blip r:embed="rId5">
            <a:alphaModFix/>
          </a:blip>
          <a:srcRect/>
          <a:stretch/>
        </p:blipFill>
        <p:spPr>
          <a:xfrm>
            <a:off x="2087266" y="1717779"/>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pic>
        <p:nvPicPr>
          <p:cNvPr id="1416" name="Google Shape;1416;p119"/>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17" name="Google Shape;1417;p119"/>
          <p:cNvSpPr/>
          <p:nvPr/>
        </p:nvSpPr>
        <p:spPr>
          <a:xfrm>
            <a:off x="3810000" y="800100"/>
            <a:ext cx="7258050" cy="23622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8" name="Google Shape;1418;p119"/>
          <p:cNvSpPr/>
          <p:nvPr/>
        </p:nvSpPr>
        <p:spPr>
          <a:xfrm>
            <a:off x="4341751" y="233085"/>
            <a:ext cx="1359801" cy="326312"/>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9" name="Google Shape;1419;p119"/>
          <p:cNvSpPr/>
          <p:nvPr/>
        </p:nvSpPr>
        <p:spPr>
          <a:xfrm>
            <a:off x="6196084" y="4658061"/>
            <a:ext cx="5592083" cy="172909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10. Esto indica que ya estamos trabajando dentro del archivo “style.css”</a:t>
            </a:r>
            <a:endParaRPr sz="1400" b="0" i="0" u="none" strike="noStrike" cap="none" dirty="0">
              <a:solidFill>
                <a:srgbClr val="000000"/>
              </a:solidFill>
              <a:latin typeface="Gotham Rounded" pitchFamily="50" charset="0"/>
              <a:sym typeface="Arial"/>
            </a:endParaRPr>
          </a:p>
        </p:txBody>
      </p:sp>
      <p:pic>
        <p:nvPicPr>
          <p:cNvPr id="1420" name="Google Shape;1420;p119">
            <a:hlinkClick r:id="rId4"/>
          </p:cNvPr>
          <p:cNvPicPr preferRelativeResize="0"/>
          <p:nvPr/>
        </p:nvPicPr>
        <p:blipFill rotWithShape="1">
          <a:blip r:embed="rId5">
            <a:alphaModFix/>
          </a:blip>
          <a:srcRect/>
          <a:stretch/>
        </p:blipFill>
        <p:spPr>
          <a:xfrm>
            <a:off x="5174710" y="31749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pic>
        <p:nvPicPr>
          <p:cNvPr id="1426" name="Google Shape;1426;p120"/>
          <p:cNvPicPr preferRelativeResize="0"/>
          <p:nvPr/>
        </p:nvPicPr>
        <p:blipFill rotWithShape="1">
          <a:blip r:embed="rId3">
            <a:alphaModFix/>
          </a:blip>
          <a:srcRect r="27157" b="27157"/>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27" name="Google Shape;1427;p120"/>
          <p:cNvSpPr/>
          <p:nvPr/>
        </p:nvSpPr>
        <p:spPr>
          <a:xfrm>
            <a:off x="1990166" y="4808668"/>
            <a:ext cx="9798002" cy="1578482"/>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11. Ahora vamos a poner todo el código CSS dentro de él. No es necesario colocar las etiquetas &lt;</a:t>
            </a:r>
            <a:r>
              <a:rPr lang="es-ES" sz="1800" b="0" i="0" u="none" strike="noStrike" cap="none" dirty="0" err="1">
                <a:solidFill>
                  <a:schemeClr val="lt1"/>
                </a:solidFill>
                <a:latin typeface="Gotham Rounded" pitchFamily="50" charset="0"/>
                <a:ea typeface="Tahoma"/>
                <a:cs typeface="Tahoma"/>
                <a:sym typeface="Tahoma"/>
              </a:rPr>
              <a:t>style</a:t>
            </a:r>
            <a:r>
              <a:rPr lang="es-ES" sz="1800" b="0" i="0" u="none" strike="noStrike" cap="none" dirty="0">
                <a:solidFill>
                  <a:schemeClr val="lt1"/>
                </a:solidFill>
                <a:latin typeface="Gotham Rounded" pitchFamily="50" charset="0"/>
                <a:ea typeface="Tahoma"/>
                <a:cs typeface="Tahoma"/>
                <a:sym typeface="Tahoma"/>
              </a:rPr>
              <a:t>&gt;&lt;/</a:t>
            </a:r>
            <a:r>
              <a:rPr lang="es-ES" sz="1800" b="0" i="0" u="none" strike="noStrike" cap="none" dirty="0" err="1">
                <a:solidFill>
                  <a:schemeClr val="lt1"/>
                </a:solidFill>
                <a:latin typeface="Gotham Rounded" pitchFamily="50" charset="0"/>
                <a:ea typeface="Tahoma"/>
                <a:cs typeface="Tahoma"/>
                <a:sym typeface="Tahoma"/>
              </a:rPr>
              <a:t>style</a:t>
            </a:r>
            <a:r>
              <a:rPr lang="es-ES" sz="1800" b="0" i="0" u="none" strike="noStrike" cap="none" dirty="0">
                <a:solidFill>
                  <a:schemeClr val="lt1"/>
                </a:solidFill>
                <a:latin typeface="Gotham Rounded" pitchFamily="50" charset="0"/>
                <a:ea typeface="Tahoma"/>
                <a:cs typeface="Tahoma"/>
                <a:sym typeface="Tahoma"/>
              </a:rPr>
              <a:t>&gt; porque esto ya no es un archivo “.</a:t>
            </a:r>
            <a:r>
              <a:rPr lang="es-ES" sz="1800" b="0" i="0" u="none" strike="noStrike" cap="none" dirty="0" err="1">
                <a:solidFill>
                  <a:schemeClr val="lt1"/>
                </a:solidFill>
                <a:latin typeface="Gotham Rounded" pitchFamily="50" charset="0"/>
                <a:ea typeface="Tahoma"/>
                <a:cs typeface="Tahoma"/>
                <a:sym typeface="Tahoma"/>
              </a:rPr>
              <a:t>html</a:t>
            </a:r>
            <a:r>
              <a:rPr lang="es-ES" sz="1800" b="0" i="0" u="none" strike="noStrike" cap="none" dirty="0">
                <a:solidFill>
                  <a:schemeClr val="lt1"/>
                </a:solidFill>
                <a:latin typeface="Gotham Rounded" pitchFamily="50" charset="0"/>
                <a:ea typeface="Tahoma"/>
                <a:cs typeface="Tahoma"/>
                <a:sym typeface="Tahoma"/>
              </a:rPr>
              <a:t>”, sino que es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a:t>
            </a:r>
            <a:endParaRPr sz="1800" b="0" i="0" u="none" strike="noStrike" cap="none" dirty="0">
              <a:solidFill>
                <a:schemeClr val="lt1"/>
              </a:solidFill>
              <a:latin typeface="Gotham Rounded" pitchFamily="50" charset="0"/>
              <a:ea typeface="Tahoma"/>
              <a:cs typeface="Tahoma"/>
              <a:sym typeface="Tahoma"/>
            </a:endParaRPr>
          </a:p>
        </p:txBody>
      </p:sp>
      <p:sp>
        <p:nvSpPr>
          <p:cNvPr id="1428" name="Google Shape;1428;p120"/>
          <p:cNvSpPr/>
          <p:nvPr/>
        </p:nvSpPr>
        <p:spPr>
          <a:xfrm>
            <a:off x="4445189" y="980635"/>
            <a:ext cx="4515931" cy="327777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3312112937"/>
      </p:ext>
    </p:extLst>
  </p:cSld>
  <p:clrMapOvr>
    <a:masterClrMapping/>
  </p:clrMapOvr>
  <p:transition spd="slow">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pic>
        <p:nvPicPr>
          <p:cNvPr id="1441" name="Google Shape;1441;p122"/>
          <p:cNvPicPr preferRelativeResize="0"/>
          <p:nvPr/>
        </p:nvPicPr>
        <p:blipFill rotWithShape="1">
          <a:blip r:embed="rId3">
            <a:alphaModFix/>
          </a:blip>
          <a:srcRect/>
          <a:stretch/>
        </p:blipFill>
        <p:spPr>
          <a:xfrm>
            <a:off x="948116"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442" name="Google Shape;1442;p122"/>
          <p:cNvSpPr/>
          <p:nvPr/>
        </p:nvSpPr>
        <p:spPr>
          <a:xfrm>
            <a:off x="4733366" y="4281544"/>
            <a:ext cx="7054802" cy="210560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13. El sitio debe seguir viéndose igual, pero ahora el estilo está siendo cargado desde el archivo “</a:t>
            </a:r>
            <a:r>
              <a:rPr lang="es-ES" sz="1800" b="0" i="1" u="none" strike="noStrike" cap="none" dirty="0">
                <a:solidFill>
                  <a:schemeClr val="lt1"/>
                </a:solidFill>
                <a:latin typeface="Gotham Rounded" pitchFamily="50" charset="0"/>
                <a:ea typeface="Tahoma"/>
                <a:cs typeface="Tahoma"/>
                <a:sym typeface="Tahoma"/>
              </a:rPr>
              <a:t>style.css”... </a:t>
            </a:r>
            <a:r>
              <a:rPr lang="es-ES" sz="1800" b="0" i="0" u="none" strike="noStrike" cap="none" dirty="0">
                <a:solidFill>
                  <a:schemeClr val="lt1"/>
                </a:solidFill>
                <a:latin typeface="Gotham Rounded" pitchFamily="50" charset="0"/>
                <a:ea typeface="Tahoma"/>
                <a:cs typeface="Tahoma"/>
                <a:sym typeface="Tahoma"/>
              </a:rPr>
              <a:t>Pueden usar el “Inspector” para examinarlo mejor ;)</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5to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824599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3" name="Rectángulo 2"/>
          <p:cNvSpPr/>
          <p:nvPr/>
        </p:nvSpPr>
        <p:spPr>
          <a:xfrm>
            <a:off x="1992922" y="1006174"/>
            <a:ext cx="8768862" cy="3662541"/>
          </a:xfrm>
          <a:prstGeom prst="rect">
            <a:avLst/>
          </a:prstGeom>
        </p:spPr>
        <p:txBody>
          <a:bodyPr wrap="square">
            <a:spAutoFit/>
          </a:bodyPr>
          <a:lstStyle/>
          <a:p>
            <a:pPr lvl="0" algn="ctr">
              <a:buSzPts val="7200"/>
            </a:pPr>
            <a:r>
              <a:rPr lang="es-MX" sz="6600" dirty="0">
                <a:solidFill>
                  <a:srgbClr val="7030A0"/>
                </a:solidFill>
                <a:latin typeface="Gotham Rounded" pitchFamily="50" charset="0"/>
              </a:rPr>
              <a:t>Insertar una imagen</a:t>
            </a:r>
            <a:endParaRPr lang="es-MX" sz="1200" dirty="0">
              <a:solidFill>
                <a:srgbClr val="7030A0"/>
              </a:solidFill>
              <a:latin typeface="Gotham Rounded" pitchFamily="50" charset="0"/>
            </a:endParaRPr>
          </a:p>
          <a:p>
            <a:pPr lvl="0" algn="ctr">
              <a:buSzPts val="7200"/>
            </a:pPr>
            <a:r>
              <a:rPr lang="es-MX" sz="6600" dirty="0">
                <a:solidFill>
                  <a:srgbClr val="7030A0"/>
                </a:solidFill>
                <a:latin typeface="Gotham Rounded" pitchFamily="50" charset="0"/>
              </a:rPr>
              <a:t>con HTML</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endParaRPr lang="es-MX" sz="20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29186369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93"/>
        <p:cNvGrpSpPr/>
        <p:nvPr/>
      </p:nvGrpSpPr>
      <p:grpSpPr>
        <a:xfrm>
          <a:off x="0" y="0"/>
          <a:ext cx="0" cy="0"/>
          <a:chOff x="0" y="0"/>
          <a:chExt cx="0" cy="0"/>
        </a:xfrm>
      </p:grpSpPr>
      <p:pic>
        <p:nvPicPr>
          <p:cNvPr id="1494" name="Google Shape;1494;p127"/>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495" name="Google Shape;1495;p127"/>
          <p:cNvSpPr/>
          <p:nvPr/>
        </p:nvSpPr>
        <p:spPr>
          <a:xfrm>
            <a:off x="6314739" y="4120178"/>
            <a:ext cx="5473428" cy="226697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Ingresamos al sitio "</a:t>
            </a:r>
            <a:r>
              <a:rPr lang="es-ES" sz="1800" b="0" i="1" u="none" strike="noStrike" cap="none" dirty="0">
                <a:solidFill>
                  <a:schemeClr val="lt1"/>
                </a:solidFill>
                <a:latin typeface="Gotham Rounded" pitchFamily="50" charset="0"/>
                <a:ea typeface="Tahoma"/>
                <a:cs typeface="Tahoma"/>
                <a:sym typeface="Tahoma"/>
              </a:rPr>
              <a:t>www.unsplash.com”  </a:t>
            </a:r>
            <a:r>
              <a:rPr lang="es-ES" sz="1800" b="0" i="0" u="none" strike="noStrike" cap="none" dirty="0">
                <a:solidFill>
                  <a:schemeClr val="lt1"/>
                </a:solidFill>
                <a:latin typeface="Gotham Rounded" pitchFamily="50" charset="0"/>
                <a:ea typeface="Tahoma"/>
                <a:cs typeface="Tahoma"/>
                <a:sym typeface="Tahoma"/>
              </a:rPr>
              <a:t>para descargar una imagen que tenga buena calidad.</a:t>
            </a:r>
            <a:endParaRPr sz="1400" b="0" i="0" u="none" strike="noStrike" cap="none" dirty="0">
              <a:solidFill>
                <a:srgbClr val="000000"/>
              </a:solidFill>
              <a:latin typeface="Gotham Rounded"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00"/>
        <p:cNvGrpSpPr/>
        <p:nvPr/>
      </p:nvGrpSpPr>
      <p:grpSpPr>
        <a:xfrm>
          <a:off x="0" y="0"/>
          <a:ext cx="0" cy="0"/>
          <a:chOff x="0" y="0"/>
          <a:chExt cx="0" cy="0"/>
        </a:xfrm>
      </p:grpSpPr>
      <p:pic>
        <p:nvPicPr>
          <p:cNvPr id="1501" name="Google Shape;1501;p128"/>
          <p:cNvPicPr preferRelativeResize="0"/>
          <p:nvPr/>
        </p:nvPicPr>
        <p:blipFill rotWithShape="1">
          <a:blip r:embed="rId3">
            <a:alphaModFix/>
          </a:blip>
          <a:srcRect l="12660" t="29009" r="38298" b="21951"/>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02" name="Google Shape;1502;p128"/>
          <p:cNvSpPr/>
          <p:nvPr/>
        </p:nvSpPr>
        <p:spPr>
          <a:xfrm>
            <a:off x="6831106" y="4322476"/>
            <a:ext cx="4957061" cy="206467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Buscamos paisajes escribiendo en inglés “</a:t>
            </a:r>
            <a:r>
              <a:rPr lang="es-ES" sz="1800" b="0" i="0" u="none" strike="noStrike" cap="none" dirty="0" err="1">
                <a:solidFill>
                  <a:schemeClr val="lt1"/>
                </a:solidFill>
                <a:latin typeface="Gotham Rounded" pitchFamily="50" charset="0"/>
                <a:ea typeface="Tahoma"/>
                <a:cs typeface="Tahoma"/>
                <a:sym typeface="Tahoma"/>
              </a:rPr>
              <a:t>landscape</a:t>
            </a:r>
            <a:r>
              <a:rPr lang="es-ES" sz="1800" b="0" i="0" u="none" strike="noStrike" cap="none" dirty="0">
                <a:solidFill>
                  <a:schemeClr val="lt1"/>
                </a:solidFill>
                <a:latin typeface="Gotham Rounded" pitchFamily="50" charset="0"/>
                <a:ea typeface="Tahoma"/>
                <a:cs typeface="Tahoma"/>
                <a:sym typeface="Tahoma"/>
              </a:rPr>
              <a:t>” en el buscador (pueden elegir la imagen que más les guste)</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pic>
        <p:nvPicPr>
          <p:cNvPr id="1508" name="Google Shape;1508;p129"/>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pic>
        <p:nvPicPr>
          <p:cNvPr id="1514" name="Google Shape;1514;p130"/>
          <p:cNvPicPr preferRelativeResize="0"/>
          <p:nvPr/>
        </p:nvPicPr>
        <p:blipFill rotWithShape="1">
          <a:blip r:embed="rId3">
            <a:alphaModFix/>
          </a:blip>
          <a:srcRect l="25020" t="37270" r="25022" b="12774"/>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15" name="Google Shape;1515;p130"/>
          <p:cNvSpPr/>
          <p:nvPr/>
        </p:nvSpPr>
        <p:spPr>
          <a:xfrm>
            <a:off x="7977065" y="5185954"/>
            <a:ext cx="3811102" cy="120119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una imagen</a:t>
            </a:r>
            <a:endParaRPr sz="1400" b="0" i="0" u="none" strike="noStrike" cap="none" dirty="0">
              <a:solidFill>
                <a:srgbClr val="000000"/>
              </a:solidFill>
              <a:latin typeface="Gotham Rounded" pitchFamily="50" charset="0"/>
              <a:sym typeface="Arial"/>
            </a:endParaRPr>
          </a:p>
        </p:txBody>
      </p:sp>
      <p:pic>
        <p:nvPicPr>
          <p:cNvPr id="1516" name="Google Shape;1516;p130">
            <a:hlinkClick r:id="rId4"/>
          </p:cNvPr>
          <p:cNvPicPr preferRelativeResize="0"/>
          <p:nvPr/>
        </p:nvPicPr>
        <p:blipFill rotWithShape="1">
          <a:blip r:embed="rId5">
            <a:alphaModFix/>
          </a:blip>
          <a:srcRect/>
          <a:stretch/>
        </p:blipFill>
        <p:spPr>
          <a:xfrm>
            <a:off x="5832577" y="355747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pic>
        <p:nvPicPr>
          <p:cNvPr id="1522" name="Google Shape;1522;p131"/>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23" name="Google Shape;1523;p131"/>
          <p:cNvSpPr/>
          <p:nvPr/>
        </p:nvSpPr>
        <p:spPr>
          <a:xfrm>
            <a:off x="6756801" y="4890655"/>
            <a:ext cx="4154348" cy="149649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la flechita para descargar la imagen.</a:t>
            </a:r>
            <a:endParaRPr sz="1800" b="0" i="0" u="none" strike="noStrike" cap="none" dirty="0">
              <a:solidFill>
                <a:srgbClr val="4A7B8B"/>
              </a:solidFill>
              <a:latin typeface="Gotham Rounded" pitchFamily="50" charset="0"/>
              <a:ea typeface="Tahoma"/>
              <a:cs typeface="Tahoma"/>
              <a:sym typeface="Tahoma"/>
            </a:endParaRPr>
          </a:p>
        </p:txBody>
      </p:sp>
      <p:sp>
        <p:nvSpPr>
          <p:cNvPr id="1524" name="Google Shape;1524;p131"/>
          <p:cNvSpPr/>
          <p:nvPr/>
        </p:nvSpPr>
        <p:spPr>
          <a:xfrm>
            <a:off x="9747289" y="929888"/>
            <a:ext cx="856821" cy="62182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25" name="Google Shape;1525;p131">
            <a:hlinkClick r:id="rId4"/>
          </p:cNvPr>
          <p:cNvPicPr preferRelativeResize="0"/>
          <p:nvPr/>
        </p:nvPicPr>
        <p:blipFill rotWithShape="1">
          <a:blip r:embed="rId5">
            <a:alphaModFix/>
          </a:blip>
          <a:srcRect/>
          <a:stretch/>
        </p:blipFill>
        <p:spPr>
          <a:xfrm>
            <a:off x="10077268" y="1154506"/>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pic>
        <p:nvPicPr>
          <p:cNvPr id="1531" name="Google Shape;1531;p132"/>
          <p:cNvPicPr preferRelativeResize="0"/>
          <p:nvPr/>
        </p:nvPicPr>
        <p:blipFill rotWithShape="1">
          <a:blip r:embed="rId3">
            <a:alphaModFix/>
          </a:blip>
          <a:srcRect l="46187" t="1680" r="2701" b="47209"/>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32" name="Google Shape;1532;p132"/>
          <p:cNvSpPr/>
          <p:nvPr/>
        </p:nvSpPr>
        <p:spPr>
          <a:xfrm>
            <a:off x="6196084" y="5070764"/>
            <a:ext cx="5592083" cy="131638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Elegimos descargar en tamaño “Medium (1920x1200)”.</a:t>
            </a:r>
            <a:endParaRPr sz="1800" b="0" i="0" u="none" strike="noStrike" cap="none" dirty="0">
              <a:solidFill>
                <a:srgbClr val="4A7B8B"/>
              </a:solidFill>
              <a:latin typeface="Gotham Rounded" pitchFamily="50" charset="0"/>
              <a:ea typeface="Tahoma"/>
              <a:cs typeface="Tahoma"/>
              <a:sym typeface="Tahoma"/>
            </a:endParaRPr>
          </a:p>
        </p:txBody>
      </p:sp>
      <p:sp>
        <p:nvSpPr>
          <p:cNvPr id="1533" name="Google Shape;1533;p132"/>
          <p:cNvSpPr/>
          <p:nvPr/>
        </p:nvSpPr>
        <p:spPr>
          <a:xfrm>
            <a:off x="7433582" y="2862593"/>
            <a:ext cx="2583256" cy="62182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34" name="Google Shape;1534;p132">
            <a:hlinkClick r:id="rId4"/>
          </p:cNvPr>
          <p:cNvPicPr preferRelativeResize="0"/>
          <p:nvPr/>
        </p:nvPicPr>
        <p:blipFill rotWithShape="1">
          <a:blip r:embed="rId5">
            <a:alphaModFix/>
          </a:blip>
          <a:srcRect/>
          <a:stretch/>
        </p:blipFill>
        <p:spPr>
          <a:xfrm>
            <a:off x="8865327" y="3087211"/>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pic>
        <p:nvPicPr>
          <p:cNvPr id="1540" name="Google Shape;1540;p133"/>
          <p:cNvPicPr preferRelativeResize="0"/>
          <p:nvPr/>
        </p:nvPicPr>
        <p:blipFill rotWithShape="1">
          <a:blip r:embed="rId3">
            <a:alphaModFix/>
          </a:blip>
          <a:srcRect t="5563" r="1030" b="34799"/>
          <a:stretch/>
        </p:blipFill>
        <p:spPr>
          <a:xfrm>
            <a:off x="948115" y="569626"/>
            <a:ext cx="10189577" cy="3837482"/>
          </a:xfrm>
          <a:prstGeom prst="rect">
            <a:avLst/>
          </a:prstGeom>
          <a:noFill/>
          <a:ln>
            <a:noFill/>
          </a:ln>
          <a:effectLst>
            <a:outerShdw blurRad="101600" dist="50800" sx="101000" sy="101000" algn="ctr" rotWithShape="0">
              <a:srgbClr val="7F7F7F">
                <a:alpha val="20000"/>
              </a:srgbClr>
            </a:outerShdw>
          </a:effectLst>
        </p:spPr>
      </p:pic>
      <p:sp>
        <p:nvSpPr>
          <p:cNvPr id="1541" name="Google Shape;1541;p133"/>
          <p:cNvSpPr/>
          <p:nvPr/>
        </p:nvSpPr>
        <p:spPr>
          <a:xfrm>
            <a:off x="674371" y="327212"/>
            <a:ext cx="7679920" cy="80435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42" name="Google Shape;1542;p133"/>
          <p:cNvSpPr/>
          <p:nvPr/>
        </p:nvSpPr>
        <p:spPr>
          <a:xfrm>
            <a:off x="674370" y="2349305"/>
            <a:ext cx="6415747" cy="41814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Creamos la carpeta “</a:t>
            </a:r>
            <a:r>
              <a:rPr lang="es-ES" sz="1800" b="0" i="0" u="none" strike="noStrike" cap="none" dirty="0" err="1">
                <a:solidFill>
                  <a:schemeClr val="lt1"/>
                </a:solidFill>
                <a:latin typeface="Gotham Rounded" pitchFamily="50" charset="0"/>
                <a:ea typeface="Tahoma"/>
                <a:cs typeface="Tahoma"/>
                <a:sym typeface="Tahoma"/>
              </a:rPr>
              <a:t>images</a:t>
            </a:r>
            <a:r>
              <a:rPr lang="es-ES" sz="1800" b="0" i="0" u="none" strike="noStrike" cap="none" dirty="0">
                <a:solidFill>
                  <a:schemeClr val="lt1"/>
                </a:solidFill>
                <a:latin typeface="Gotham Rounded" pitchFamily="50" charset="0"/>
                <a:ea typeface="Tahoma"/>
                <a:cs typeface="Tahoma"/>
                <a:sym typeface="Tahoma"/>
              </a:rPr>
              <a:t>” y ponemos dentro de ella la imagen que descargamos. Por último, cambiamos el nombre de la imagen para que sea “paisaje.jpg”. Esto es muy importante, será el nombre que usemos en HTML para leer la imagen. </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Recuerden que las minúsculas y mayúsculas importan.</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endParaRPr sz="1800" b="0" i="1"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Ruta: </a:t>
            </a:r>
            <a:r>
              <a:rPr lang="es-ES" sz="1800" b="0" i="1" u="none" strike="noStrike" cap="none" dirty="0" err="1">
                <a:solidFill>
                  <a:schemeClr val="lt1"/>
                </a:solidFill>
                <a:latin typeface="Gotham Rounded" pitchFamily="50" charset="0"/>
                <a:ea typeface="Tahoma"/>
                <a:cs typeface="Tahoma"/>
                <a:sym typeface="Tahoma"/>
              </a:rPr>
              <a:t>assets</a:t>
            </a:r>
            <a:r>
              <a:rPr lang="es-ES" sz="1800" b="0" i="1" u="none" strike="noStrike" cap="none" dirty="0">
                <a:solidFill>
                  <a:schemeClr val="lt1"/>
                </a:solidFill>
                <a:latin typeface="Gotham Rounded" pitchFamily="50" charset="0"/>
                <a:ea typeface="Tahoma"/>
                <a:cs typeface="Tahoma"/>
                <a:sym typeface="Tahoma"/>
              </a:rPr>
              <a:t>/</a:t>
            </a:r>
            <a:r>
              <a:rPr lang="es-ES" sz="1800" b="0" i="1" u="none" strike="noStrike" cap="none" dirty="0" err="1">
                <a:solidFill>
                  <a:schemeClr val="lt1"/>
                </a:solidFill>
                <a:latin typeface="Gotham Rounded" pitchFamily="50" charset="0"/>
                <a:ea typeface="Tahoma"/>
                <a:cs typeface="Tahoma"/>
                <a:sym typeface="Tahoma"/>
              </a:rPr>
              <a:t>images</a:t>
            </a:r>
            <a:r>
              <a:rPr lang="es-ES" sz="1800" b="0" i="1" u="none" strike="noStrike" cap="none" dirty="0">
                <a:solidFill>
                  <a:schemeClr val="lt1"/>
                </a:solidFill>
                <a:latin typeface="Gotham Rounded" pitchFamily="50" charset="0"/>
                <a:ea typeface="Tahoma"/>
                <a:cs typeface="Tahoma"/>
                <a:sym typeface="Tahoma"/>
              </a:rPr>
              <a:t>/paisaje.jpg</a:t>
            </a:r>
            <a:endParaRPr sz="1400" b="0" i="0" u="none" strike="noStrike" cap="none" dirty="0">
              <a:solidFill>
                <a:srgbClr val="000000"/>
              </a:solidFill>
              <a:latin typeface="Gotham Rounded"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134"/>
          <p:cNvSpPr txBox="1"/>
          <p:nvPr/>
        </p:nvSpPr>
        <p:spPr>
          <a:xfrm>
            <a:off x="772885" y="-5239447"/>
            <a:ext cx="10781101" cy="1449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Aquí vamos a LLAMAR nuestro código CSS de fomra externa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link</a:t>
            </a:r>
            <a:r>
              <a:rPr lang="es-ES" sz="1800" b="0" i="0" u="none" strike="noStrike" cap="none">
                <a:solidFill>
                  <a:srgbClr val="F2CD84"/>
                </a:solidFill>
                <a:latin typeface="Tahoma"/>
                <a:ea typeface="Tahoma"/>
                <a:cs typeface="Tahoma"/>
                <a:sym typeface="Tahoma"/>
              </a:rPr>
              <a:t> rel</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"stylesheet" 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"assets/css/style.css"</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 textoRojo"</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img </a:t>
            </a:r>
            <a:r>
              <a:rPr lang="es-ES" sz="1800" b="0" i="0" u="none" strike="noStrike" cap="none">
                <a:solidFill>
                  <a:srgbClr val="F2CD84"/>
                </a:solidFill>
                <a:latin typeface="Tahoma"/>
                <a:ea typeface="Tahoma"/>
                <a:cs typeface="Tahoma"/>
                <a:sym typeface="Tahoma"/>
              </a:rPr>
              <a:t>src</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"assets/images/paisaje.jpg" </a:t>
            </a:r>
            <a:r>
              <a:rPr lang="es-ES" sz="1800" b="0" i="0" u="none" strike="noStrike" cap="none">
                <a:solidFill>
                  <a:srgbClr val="4A7B8B"/>
                </a:solidFill>
                <a:latin typeface="Tahoma"/>
                <a:ea typeface="Tahoma"/>
                <a:cs typeface="Tahoma"/>
                <a:sym typeface="Tahoma"/>
              </a:rPr>
              <a:t>/&gt;</a:t>
            </a:r>
            <a:endParaRPr sz="1800" b="0" i="0" u="none" strike="noStrike" cap="none">
              <a:solidFill>
                <a:srgbClr val="79D2EA"/>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549" name="Google Shape;1549;p134"/>
          <p:cNvSpPr/>
          <p:nvPr/>
        </p:nvSpPr>
        <p:spPr>
          <a:xfrm>
            <a:off x="1487607" y="2055962"/>
            <a:ext cx="4848648" cy="602449"/>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50" name="Google Shape;1550;p134"/>
          <p:cNvGrpSpPr/>
          <p:nvPr/>
        </p:nvGrpSpPr>
        <p:grpSpPr>
          <a:xfrm>
            <a:off x="0" y="0"/>
            <a:ext cx="12192000" cy="413657"/>
            <a:chOff x="0" y="0"/>
            <a:chExt cx="12192000" cy="413657"/>
          </a:xfrm>
        </p:grpSpPr>
        <p:sp>
          <p:nvSpPr>
            <p:cNvPr id="1551" name="Google Shape;1551;p134"/>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52" name="Google Shape;1552;p134"/>
            <p:cNvGrpSpPr/>
            <p:nvPr/>
          </p:nvGrpSpPr>
          <p:grpSpPr>
            <a:xfrm>
              <a:off x="575484" y="52939"/>
              <a:ext cx="1447716" cy="350261"/>
              <a:chOff x="575484" y="52939"/>
              <a:chExt cx="1447716" cy="350261"/>
            </a:xfrm>
          </p:grpSpPr>
          <p:sp>
            <p:nvSpPr>
              <p:cNvPr id="1553" name="Google Shape;1553;p134"/>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554" name="Google Shape;1554;p134"/>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55" name="Google Shape;1555;p134"/>
          <p:cNvSpPr/>
          <p:nvPr/>
        </p:nvSpPr>
        <p:spPr>
          <a:xfrm>
            <a:off x="674370" y="4572001"/>
            <a:ext cx="10879616" cy="195878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Arriba de nuestra etiqueta &lt;h2&gt; vamos a insertar una imagen utilizando la etiqueta &lt;</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&gt;. Esta etiqueta tiene un atributo que es “</a:t>
            </a:r>
            <a:r>
              <a:rPr lang="es-ES" sz="1800" b="0" i="0" u="none" strike="noStrike" cap="none" dirty="0" err="1">
                <a:solidFill>
                  <a:schemeClr val="lt1"/>
                </a:solidFill>
                <a:latin typeface="Gotham Rounded" pitchFamily="50" charset="0"/>
                <a:ea typeface="Tahoma"/>
                <a:cs typeface="Tahoma"/>
                <a:sym typeface="Tahoma"/>
              </a:rPr>
              <a:t>src</a:t>
            </a:r>
            <a:r>
              <a:rPr lang="es-ES" sz="1800" b="0" i="0" u="none" strike="noStrike" cap="none" dirty="0">
                <a:solidFill>
                  <a:schemeClr val="lt1"/>
                </a:solidFill>
                <a:latin typeface="Gotham Rounded" pitchFamily="50" charset="0"/>
                <a:ea typeface="Tahoma"/>
                <a:cs typeface="Tahoma"/>
                <a:sym typeface="Tahoma"/>
              </a:rPr>
              <a:t>=“ para indicar la ruta a donde el archivo HTML debe ir a buscar la imagen para leerla.</a:t>
            </a:r>
            <a:endParaRPr sz="1800" b="0" i="0" u="none" strike="noStrike" cap="none" dirty="0">
              <a:solidFill>
                <a:srgbClr val="4A7B8B"/>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135"/>
          <p:cNvSpPr txBox="1"/>
          <p:nvPr/>
        </p:nvSpPr>
        <p:spPr>
          <a:xfrm>
            <a:off x="772885" y="-5185659"/>
            <a:ext cx="10781101" cy="1449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Aquí vamos a LLAMAR nuestro código CSS de fomra externa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link</a:t>
            </a:r>
            <a:r>
              <a:rPr lang="es-ES" sz="1800" b="0" i="0" u="none" strike="noStrike" cap="none">
                <a:solidFill>
                  <a:srgbClr val="F2CD84"/>
                </a:solidFill>
                <a:latin typeface="Tahoma"/>
                <a:ea typeface="Tahoma"/>
                <a:cs typeface="Tahoma"/>
                <a:sym typeface="Tahoma"/>
              </a:rPr>
              <a:t> rel</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"stylesheet" 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"assets/css/style.css"</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 textoRojo"</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img </a:t>
            </a:r>
            <a:r>
              <a:rPr lang="es-ES" sz="1800" b="0" i="0" u="none" strike="noStrike" cap="none">
                <a:solidFill>
                  <a:srgbClr val="F2CD84"/>
                </a:solidFill>
                <a:latin typeface="Tahoma"/>
                <a:ea typeface="Tahoma"/>
                <a:cs typeface="Tahoma"/>
                <a:sym typeface="Tahoma"/>
              </a:rPr>
              <a:t>src</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"assets/images/paisaje.jpg" alt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"Paisaje de colinas con árboles y pastos"</a:t>
            </a:r>
            <a:r>
              <a:rPr lang="es-ES" sz="1800" b="0" i="0" u="none" strike="noStrike" cap="none">
                <a:solidFill>
                  <a:srgbClr val="79D2EA"/>
                </a:solidFill>
                <a:latin typeface="Tahoma"/>
                <a:ea typeface="Tahoma"/>
                <a:cs typeface="Tahoma"/>
                <a:sym typeface="Tahoma"/>
              </a:rPr>
              <a:t> </a:t>
            </a:r>
            <a:r>
              <a:rPr lang="es-ES" sz="1800" b="0" i="0" u="none" strike="noStrike" cap="none">
                <a:solidFill>
                  <a:srgbClr val="4A7B8B"/>
                </a:solidFill>
                <a:latin typeface="Tahoma"/>
                <a:ea typeface="Tahoma"/>
                <a:cs typeface="Tahoma"/>
                <a:sym typeface="Tahoma"/>
              </a:rPr>
              <a:t>/&gt;</a:t>
            </a:r>
            <a:endParaRPr sz="1800" b="0" i="0" u="none" strike="noStrike" cap="none">
              <a:solidFill>
                <a:srgbClr val="79D2EA"/>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562" name="Google Shape;1562;p135"/>
          <p:cNvSpPr/>
          <p:nvPr/>
        </p:nvSpPr>
        <p:spPr>
          <a:xfrm>
            <a:off x="1537876" y="1712568"/>
            <a:ext cx="9648967" cy="535375"/>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63" name="Google Shape;1563;p135"/>
          <p:cNvGrpSpPr/>
          <p:nvPr/>
        </p:nvGrpSpPr>
        <p:grpSpPr>
          <a:xfrm>
            <a:off x="0" y="0"/>
            <a:ext cx="12192000" cy="413657"/>
            <a:chOff x="0" y="0"/>
            <a:chExt cx="12192000" cy="413657"/>
          </a:xfrm>
        </p:grpSpPr>
        <p:sp>
          <p:nvSpPr>
            <p:cNvPr id="1564" name="Google Shape;1564;p135"/>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65" name="Google Shape;1565;p135"/>
            <p:cNvGrpSpPr/>
            <p:nvPr/>
          </p:nvGrpSpPr>
          <p:grpSpPr>
            <a:xfrm>
              <a:off x="575484" y="52939"/>
              <a:ext cx="1447716" cy="350261"/>
              <a:chOff x="575484" y="52939"/>
              <a:chExt cx="1447716" cy="350261"/>
            </a:xfrm>
          </p:grpSpPr>
          <p:sp>
            <p:nvSpPr>
              <p:cNvPr id="1566" name="Google Shape;1566;p135"/>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567" name="Google Shape;1567;p135"/>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68" name="Google Shape;1568;p135"/>
          <p:cNvSpPr/>
          <p:nvPr/>
        </p:nvSpPr>
        <p:spPr>
          <a:xfrm>
            <a:off x="674370" y="3671669"/>
            <a:ext cx="10879616" cy="285912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 su vez, las &lt;</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&gt; usan un atributo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para dar una descripción escrita sobre la imagen. Este atributo sirve para que la gente que sufre de alguna discapacidad visual pueda pedirle al navegador que lea lo que hayamos escrito en el atributo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y así saber, en este ejemplo, que hay una imagen sobre un paisaje de colinas con árboles y pastos. Esto que escribimos en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también aparecerá escrito en caso de que la lectura de la imagen falle por algún motivo.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281942028"/>
      </p:ext>
    </p:extLst>
  </p:cSld>
  <p:clrMapOvr>
    <a:masterClrMapping/>
  </p:clrMapOvr>
  <p:transition spd="slow">
    <p:push/>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pic>
        <p:nvPicPr>
          <p:cNvPr id="1581" name="Google Shape;1581;p137"/>
          <p:cNvPicPr preferRelativeResize="0"/>
          <p:nvPr/>
        </p:nvPicPr>
        <p:blipFill rotWithShape="1">
          <a:blip r:embed="rId3">
            <a:alphaModFix/>
          </a:blip>
          <a:srcRect/>
          <a:stretch/>
        </p:blipFill>
        <p:spPr>
          <a:xfrm>
            <a:off x="948118" y="211574"/>
            <a:ext cx="10295763" cy="6434852"/>
          </a:xfrm>
          <a:prstGeom prst="rect">
            <a:avLst/>
          </a:prstGeom>
          <a:noFill/>
          <a:ln>
            <a:noFill/>
          </a:ln>
          <a:effectLst>
            <a:outerShdw blurRad="101600" dist="50800" sx="101000" sy="101000" algn="ctr" rotWithShape="0">
              <a:srgbClr val="7F7F7F">
                <a:alpha val="20000"/>
              </a:srgbClr>
            </a:outerShdw>
          </a:effectLst>
        </p:spPr>
      </p:pic>
      <p:sp>
        <p:nvSpPr>
          <p:cNvPr id="1582" name="Google Shape;1582;p137"/>
          <p:cNvSpPr/>
          <p:nvPr/>
        </p:nvSpPr>
        <p:spPr>
          <a:xfrm>
            <a:off x="4431324" y="4426857"/>
            <a:ext cx="7356844" cy="210393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¡Vemos que la imagen aparece en el sitio! ¡Muy bien! Ahora vamos a ajustarla, porque es muy grande y sobresale de la pantalla. Aquí CSS nos ayudará a ajustar el estilo ;)</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p138"/>
          <p:cNvSpPr txBox="1"/>
          <p:nvPr/>
        </p:nvSpPr>
        <p:spPr>
          <a:xfrm>
            <a:off x="772885" y="943550"/>
            <a:ext cx="10781101" cy="4524315"/>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589" name="Google Shape;1589;p138"/>
          <p:cNvSpPr/>
          <p:nvPr/>
        </p:nvSpPr>
        <p:spPr>
          <a:xfrm>
            <a:off x="1883391" y="2166257"/>
            <a:ext cx="6244609" cy="1262743"/>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90" name="Google Shape;1590;p138"/>
          <p:cNvGrpSpPr/>
          <p:nvPr/>
        </p:nvGrpSpPr>
        <p:grpSpPr>
          <a:xfrm>
            <a:off x="0" y="0"/>
            <a:ext cx="12192000" cy="413657"/>
            <a:chOff x="0" y="0"/>
            <a:chExt cx="12192000" cy="413657"/>
          </a:xfrm>
        </p:grpSpPr>
        <p:sp>
          <p:nvSpPr>
            <p:cNvPr id="1591" name="Google Shape;1591;p138"/>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92" name="Google Shape;1592;p138"/>
            <p:cNvGrpSpPr/>
            <p:nvPr/>
          </p:nvGrpSpPr>
          <p:grpSpPr>
            <a:xfrm>
              <a:off x="575484" y="52939"/>
              <a:ext cx="2944458" cy="350261"/>
              <a:chOff x="575484" y="52939"/>
              <a:chExt cx="2944458" cy="350261"/>
            </a:xfrm>
          </p:grpSpPr>
          <p:sp>
            <p:nvSpPr>
              <p:cNvPr id="1593" name="Google Shape;1593;p138"/>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594" name="Google Shape;1594;p138"/>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595" name="Google Shape;1595;p138"/>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96" name="Google Shape;1596;p138"/>
          <p:cNvSpPr/>
          <p:nvPr/>
        </p:nvSpPr>
        <p:spPr>
          <a:xfrm>
            <a:off x="4023360" y="4313815"/>
            <a:ext cx="7764807" cy="221697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En el ”style.css” asignamos la propiedad “</a:t>
            </a:r>
            <a:r>
              <a:rPr lang="es-ES" sz="1800" b="0" i="0" u="none" strike="noStrike" cap="none" dirty="0" err="1">
                <a:solidFill>
                  <a:schemeClr val="lt1"/>
                </a:solidFill>
                <a:latin typeface="Gotham Rounded" pitchFamily="50" charset="0"/>
                <a:ea typeface="Tahoma"/>
                <a:cs typeface="Tahoma"/>
                <a:sym typeface="Tahoma"/>
              </a:rPr>
              <a:t>width</a:t>
            </a:r>
            <a:r>
              <a:rPr lang="es-ES" sz="1800" b="0" i="0" u="none" strike="noStrike" cap="none" dirty="0">
                <a:solidFill>
                  <a:schemeClr val="lt1"/>
                </a:solidFill>
                <a:latin typeface="Gotham Rounded" pitchFamily="50" charset="0"/>
                <a:ea typeface="Tahoma"/>
                <a:cs typeface="Tahoma"/>
                <a:sym typeface="Tahoma"/>
              </a:rPr>
              <a:t>” (ancho) del 100%, para que todas las etiquetas “</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 se ajusten al ancho total del “</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rgbClr val="4A7B8B"/>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06514616"/>
      </p:ext>
    </p:extLst>
  </p:cSld>
  <p:clrMapOvr>
    <a:masterClrMapping/>
  </p:clrMapOvr>
  <p:transition spd="slow">
    <p:push/>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08"/>
        <p:cNvGrpSpPr/>
        <p:nvPr/>
      </p:nvGrpSpPr>
      <p:grpSpPr>
        <a:xfrm>
          <a:off x="0" y="0"/>
          <a:ext cx="0" cy="0"/>
          <a:chOff x="0" y="0"/>
          <a:chExt cx="0" cy="0"/>
        </a:xfrm>
      </p:grpSpPr>
      <p:pic>
        <p:nvPicPr>
          <p:cNvPr id="1609" name="Google Shape;1609;p140"/>
          <p:cNvPicPr preferRelativeResize="0"/>
          <p:nvPr/>
        </p:nvPicPr>
        <p:blipFill rotWithShape="1">
          <a:blip r:embed="rId3">
            <a:alphaModFix/>
          </a:blip>
          <a:srcRect/>
          <a:stretch/>
        </p:blipFill>
        <p:spPr>
          <a:xfrm>
            <a:off x="948115" y="211570"/>
            <a:ext cx="10295763" cy="6434852"/>
          </a:xfrm>
          <a:prstGeom prst="rect">
            <a:avLst/>
          </a:prstGeom>
          <a:noFill/>
          <a:ln>
            <a:noFill/>
          </a:ln>
          <a:effectLst>
            <a:outerShdw blurRad="101600" dist="50800" sx="101000" sy="101000" algn="ctr" rotWithShape="0">
              <a:srgbClr val="7F7F7F">
                <a:alpha val="20000"/>
              </a:srgbClr>
            </a:outerShdw>
          </a:effectLst>
        </p:spPr>
      </p:pic>
      <p:sp>
        <p:nvSpPr>
          <p:cNvPr id="1610" name="Google Shape;1610;p140"/>
          <p:cNvSpPr/>
          <p:nvPr/>
        </p:nvSpPr>
        <p:spPr>
          <a:xfrm>
            <a:off x="5249732" y="4426857"/>
            <a:ext cx="6538435" cy="210393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Ahora vemos la imagen completa y no “cortada” o “sobresalida” de la pantalla. Esto es porque se ajustó al 100%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6to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282800663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942535" y="1313340"/>
            <a:ext cx="10564837" cy="3877985"/>
          </a:xfrm>
          <a:prstGeom prst="rect">
            <a:avLst/>
          </a:prstGeom>
        </p:spPr>
        <p:txBody>
          <a:bodyPr wrap="square">
            <a:spAutoFit/>
          </a:bodyPr>
          <a:lstStyle/>
          <a:p>
            <a:pPr lvl="0" algn="ctr">
              <a:buSzPts val="2400"/>
            </a:pPr>
            <a:r>
              <a:rPr lang="es-MX" sz="1800" dirty="0">
                <a:solidFill>
                  <a:schemeClr val="tx1"/>
                </a:solidFill>
                <a:latin typeface="Gotham Rounded" pitchFamily="50" charset="0"/>
              </a:rPr>
              <a:t>6to paso</a:t>
            </a:r>
            <a:endParaRPr lang="es-MX" sz="1100" dirty="0">
              <a:solidFill>
                <a:schemeClr val="tx1"/>
              </a:solidFill>
              <a:latin typeface="Gotham Rounded" pitchFamily="50" charset="0"/>
            </a:endParaRPr>
          </a:p>
          <a:p>
            <a:pPr lvl="0" algn="ctr">
              <a:buSzPts val="2400"/>
            </a:pPr>
            <a:endParaRPr lang="es-MX" sz="1800" dirty="0">
              <a:solidFill>
                <a:schemeClr val="tx1"/>
              </a:solidFill>
              <a:latin typeface="Gotham Rounded" pitchFamily="50" charset="0"/>
            </a:endParaRPr>
          </a:p>
          <a:p>
            <a:pPr lvl="0" algn="ctr">
              <a:buSzPts val="7200"/>
            </a:pPr>
            <a:r>
              <a:rPr lang="es-MX" sz="6000" dirty="0">
                <a:solidFill>
                  <a:srgbClr val="872789"/>
                </a:solidFill>
                <a:latin typeface="Gotham Rounded" pitchFamily="50" charset="0"/>
              </a:rPr>
              <a:t>Ajustar márgenes y bordes del &lt;</a:t>
            </a:r>
            <a:r>
              <a:rPr lang="es-MX" sz="6000" dirty="0" err="1">
                <a:solidFill>
                  <a:srgbClr val="872789"/>
                </a:solidFill>
                <a:latin typeface="Gotham Rounded" pitchFamily="50" charset="0"/>
              </a:rPr>
              <a:t>body</a:t>
            </a:r>
            <a:r>
              <a:rPr lang="es-MX" sz="6000" dirty="0">
                <a:solidFill>
                  <a:srgbClr val="872789"/>
                </a:solidFill>
                <a:latin typeface="Gotham Rounded" pitchFamily="50" charset="0"/>
              </a:rPr>
              <a:t>&gt;</a:t>
            </a:r>
            <a:endParaRPr lang="es-MX" sz="1100" dirty="0">
              <a:solidFill>
                <a:srgbClr val="872789"/>
              </a:solidFill>
              <a:latin typeface="Gotham Rounded" pitchFamily="50" charset="0"/>
            </a:endParaRPr>
          </a:p>
          <a:p>
            <a:pPr lvl="0" algn="ctr">
              <a:buSzPts val="2400"/>
            </a:pPr>
            <a:endParaRPr lang="es-MX" sz="1800" dirty="0">
              <a:solidFill>
                <a:srgbClr val="872789"/>
              </a:solidFill>
              <a:latin typeface="Gotham Rounded" pitchFamily="50" charset="0"/>
            </a:endParaRPr>
          </a:p>
          <a:p>
            <a:pPr lvl="0" algn="ctr">
              <a:buSzPts val="2400"/>
            </a:pPr>
            <a:r>
              <a:rPr lang="es-MX" sz="1800" b="1" dirty="0">
                <a:solidFill>
                  <a:srgbClr val="872789"/>
                </a:solidFill>
                <a:latin typeface="Gotham Rounded" pitchFamily="50" charset="0"/>
              </a:rPr>
              <a:t>¡Importante! No copiar y pegar el código desde este PowerPoint</a:t>
            </a:r>
            <a:r>
              <a:rPr lang="es-MX" sz="1800" b="1" dirty="0" smtClean="0">
                <a:solidFill>
                  <a:srgbClr val="872789"/>
                </a:solidFill>
                <a:latin typeface="Gotham Rounded" pitchFamily="50" charset="0"/>
              </a:rPr>
              <a:t>.</a:t>
            </a:r>
          </a:p>
          <a:p>
            <a:pPr lvl="0" algn="ctr">
              <a:buSzPts val="2400"/>
            </a:pPr>
            <a:endParaRPr lang="es-MX" sz="1800" dirty="0">
              <a:solidFill>
                <a:srgbClr val="872789"/>
              </a:solidFill>
              <a:latin typeface="Gotham Rounded" pitchFamily="50" charset="0"/>
              <a:ea typeface="Calibri"/>
              <a:cs typeface="Calibri"/>
              <a:sym typeface="Calibri"/>
            </a:endParaRPr>
          </a:p>
          <a:p>
            <a:pPr lvl="0" algn="ctr">
              <a:buSzPts val="2400"/>
            </a:pPr>
            <a:r>
              <a:rPr lang="es-MX" sz="1800" dirty="0">
                <a:solidFill>
                  <a:schemeClr val="tx1"/>
                </a:solidFill>
                <a:latin typeface="Gotham Rounded" pitchFamily="50" charset="0"/>
              </a:rPr>
              <a:t>Hay que ir escribiendo todo directamente en el Visual Studio </a:t>
            </a:r>
            <a:r>
              <a:rPr lang="es-MX" sz="1800" dirty="0" err="1">
                <a:solidFill>
                  <a:schemeClr val="tx1"/>
                </a:solidFill>
                <a:latin typeface="Gotham Rounded" pitchFamily="50" charset="0"/>
              </a:rPr>
              <a:t>Code</a:t>
            </a:r>
            <a:r>
              <a:rPr lang="es-MX" sz="1800" dirty="0">
                <a:solidFill>
                  <a:schemeClr val="tx1"/>
                </a:solidFill>
                <a:latin typeface="Gotham Rounded" pitchFamily="50" charset="0"/>
              </a:rPr>
              <a:t>, porque algunos caracteres (como las comillas dobles y simples) fallan.</a:t>
            </a:r>
            <a:endParaRPr lang="es-MX" sz="18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324280271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sp>
        <p:nvSpPr>
          <p:cNvPr id="1681" name="Google Shape;1681;p147"/>
          <p:cNvSpPr txBox="1"/>
          <p:nvPr/>
        </p:nvSpPr>
        <p:spPr>
          <a:xfrm>
            <a:off x="772885" y="943550"/>
            <a:ext cx="10781101" cy="5078313"/>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682" name="Google Shape;1682;p147"/>
          <p:cNvSpPr/>
          <p:nvPr/>
        </p:nvSpPr>
        <p:spPr>
          <a:xfrm>
            <a:off x="2485820" y="1441525"/>
            <a:ext cx="3151188" cy="731520"/>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83" name="Google Shape;1683;p147"/>
          <p:cNvGrpSpPr/>
          <p:nvPr/>
        </p:nvGrpSpPr>
        <p:grpSpPr>
          <a:xfrm>
            <a:off x="0" y="0"/>
            <a:ext cx="12192000" cy="413657"/>
            <a:chOff x="0" y="0"/>
            <a:chExt cx="12192000" cy="413657"/>
          </a:xfrm>
        </p:grpSpPr>
        <p:sp>
          <p:nvSpPr>
            <p:cNvPr id="1684" name="Google Shape;1684;p147"/>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85" name="Google Shape;1685;p147"/>
            <p:cNvGrpSpPr/>
            <p:nvPr/>
          </p:nvGrpSpPr>
          <p:grpSpPr>
            <a:xfrm>
              <a:off x="575484" y="52939"/>
              <a:ext cx="2944458" cy="350261"/>
              <a:chOff x="575484" y="52939"/>
              <a:chExt cx="2944458" cy="350261"/>
            </a:xfrm>
          </p:grpSpPr>
          <p:sp>
            <p:nvSpPr>
              <p:cNvPr id="1686" name="Google Shape;1686;p147"/>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687" name="Google Shape;1687;p147"/>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688" name="Google Shape;1688;p147"/>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689" name="Google Shape;1689;p147"/>
          <p:cNvSpPr/>
          <p:nvPr/>
        </p:nvSpPr>
        <p:spPr>
          <a:xfrm>
            <a:off x="5637008" y="3679115"/>
            <a:ext cx="6151159" cy="285167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Por último, vamos a modificar el “</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 Utilizaremos la propiedad “</a:t>
            </a:r>
            <a:r>
              <a:rPr lang="es-ES" sz="1800" b="0" i="0" u="none" strike="noStrike" cap="none" dirty="0" err="1">
                <a:solidFill>
                  <a:schemeClr val="lt1"/>
                </a:solidFill>
                <a:latin typeface="Gotham Rounded" pitchFamily="50" charset="0"/>
                <a:ea typeface="Tahoma"/>
                <a:cs typeface="Tahoma"/>
                <a:sym typeface="Tahoma"/>
              </a:rPr>
              <a:t>margin</a:t>
            </a:r>
            <a:r>
              <a:rPr lang="es-ES" sz="1800" b="0" i="0" u="none" strike="noStrike" cap="none" dirty="0">
                <a:solidFill>
                  <a:schemeClr val="lt1"/>
                </a:solidFill>
                <a:latin typeface="Gotham Rounded" pitchFamily="50" charset="0"/>
                <a:ea typeface="Tahoma"/>
                <a:cs typeface="Tahoma"/>
                <a:sym typeface="Tahoma"/>
              </a:rPr>
              <a:t>” con valor “50px” (cincuenta píxeles) para añadir márgenes externos y la propiedad “</a:t>
            </a:r>
            <a:r>
              <a:rPr lang="es-ES" sz="1800" b="0" i="0" u="none" strike="noStrike" cap="none" dirty="0" err="1">
                <a:solidFill>
                  <a:schemeClr val="lt1"/>
                </a:solidFill>
                <a:latin typeface="Gotham Rounded" pitchFamily="50" charset="0"/>
                <a:ea typeface="Tahoma"/>
                <a:cs typeface="Tahoma"/>
                <a:sym typeface="Tahoma"/>
              </a:rPr>
              <a:t>padding</a:t>
            </a:r>
            <a:r>
              <a:rPr lang="es-ES" sz="1800" b="0" i="0" u="none" strike="noStrike" cap="none" dirty="0">
                <a:solidFill>
                  <a:schemeClr val="lt1"/>
                </a:solidFill>
                <a:latin typeface="Gotham Rounded" pitchFamily="50" charset="0"/>
                <a:ea typeface="Tahoma"/>
                <a:cs typeface="Tahoma"/>
                <a:sym typeface="Tahoma"/>
              </a:rPr>
              <a:t>” con valor “50px 100px” para asignar márgenes internos.</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1695" name="Google Shape;1695;p148"/>
          <p:cNvSpPr txBox="1"/>
          <p:nvPr/>
        </p:nvSpPr>
        <p:spPr>
          <a:xfrm>
            <a:off x="772885" y="943550"/>
            <a:ext cx="10781101" cy="5078313"/>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696" name="Google Shape;1696;p148"/>
          <p:cNvSpPr/>
          <p:nvPr/>
        </p:nvSpPr>
        <p:spPr>
          <a:xfrm>
            <a:off x="2485820" y="1441525"/>
            <a:ext cx="3151188" cy="731520"/>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97" name="Google Shape;1697;p148"/>
          <p:cNvGrpSpPr/>
          <p:nvPr/>
        </p:nvGrpSpPr>
        <p:grpSpPr>
          <a:xfrm>
            <a:off x="0" y="0"/>
            <a:ext cx="12192000" cy="413657"/>
            <a:chOff x="0" y="0"/>
            <a:chExt cx="12192000" cy="413657"/>
          </a:xfrm>
        </p:grpSpPr>
        <p:sp>
          <p:nvSpPr>
            <p:cNvPr id="1698" name="Google Shape;1698;p148"/>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99" name="Google Shape;1699;p148"/>
            <p:cNvGrpSpPr/>
            <p:nvPr/>
          </p:nvGrpSpPr>
          <p:grpSpPr>
            <a:xfrm>
              <a:off x="575484" y="52939"/>
              <a:ext cx="2944458" cy="350261"/>
              <a:chOff x="575484" y="52939"/>
              <a:chExt cx="2944458" cy="350261"/>
            </a:xfrm>
          </p:grpSpPr>
          <p:sp>
            <p:nvSpPr>
              <p:cNvPr id="1700" name="Google Shape;1700;p148"/>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701" name="Google Shape;1701;p148"/>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702" name="Google Shape;1702;p148"/>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703" name="Google Shape;1703;p148"/>
          <p:cNvSpPr/>
          <p:nvPr/>
        </p:nvSpPr>
        <p:spPr>
          <a:xfrm>
            <a:off x="6477000" y="283036"/>
            <a:ext cx="5311167" cy="624775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Cuando usamos </a:t>
            </a:r>
            <a:r>
              <a:rPr lang="es-ES" sz="1800" b="0" i="0" u="none" strike="noStrike" cap="none" dirty="0" err="1">
                <a:solidFill>
                  <a:schemeClr val="lt1"/>
                </a:solidFill>
                <a:latin typeface="Gotham Rounded" pitchFamily="50" charset="0"/>
                <a:ea typeface="Tahoma"/>
                <a:cs typeface="Tahoma"/>
                <a:sym typeface="Tahoma"/>
              </a:rPr>
              <a:t>margin</a:t>
            </a:r>
            <a:r>
              <a:rPr lang="es-ES" sz="1800" b="0" i="0" u="none" strike="noStrike" cap="none" dirty="0">
                <a:solidFill>
                  <a:schemeClr val="lt1"/>
                </a:solidFill>
                <a:latin typeface="Gotham Rounded" pitchFamily="50" charset="0"/>
                <a:ea typeface="Tahoma"/>
                <a:cs typeface="Tahoma"/>
                <a:sym typeface="Tahoma"/>
              </a:rPr>
              <a:t> o </a:t>
            </a:r>
            <a:r>
              <a:rPr lang="es-ES" sz="1800" b="0" i="0" u="none" strike="noStrike" cap="none" dirty="0" err="1">
                <a:solidFill>
                  <a:schemeClr val="lt1"/>
                </a:solidFill>
                <a:latin typeface="Gotham Rounded" pitchFamily="50" charset="0"/>
                <a:ea typeface="Tahoma"/>
                <a:cs typeface="Tahoma"/>
                <a:sym typeface="Tahoma"/>
              </a:rPr>
              <a:t>padding</a:t>
            </a:r>
            <a:r>
              <a:rPr lang="es-ES" sz="1800" b="0" i="0" u="none" strike="noStrike" cap="none" dirty="0">
                <a:solidFill>
                  <a:schemeClr val="lt1"/>
                </a:solidFill>
                <a:latin typeface="Gotham Rounded" pitchFamily="50" charset="0"/>
                <a:ea typeface="Tahoma"/>
                <a:cs typeface="Tahoma"/>
                <a:sym typeface="Tahoma"/>
              </a:rPr>
              <a:t> podemos asignar un valor distinto para cada borde.</a:t>
            </a:r>
            <a:endParaRPr sz="1400" b="0" i="0" u="none" strike="noStrike" cap="none" dirty="0">
              <a:solidFill>
                <a:srgbClr val="000000"/>
              </a:solidFill>
              <a:latin typeface="Gotham Rounded" pitchFamily="50" charset="0"/>
              <a:sym typeface="Arial"/>
            </a:endParaRPr>
          </a:p>
          <a:p>
            <a:pPr marL="342900" marR="0" lvl="0" indent="-228600" algn="l" rtl="0">
              <a:lnSpc>
                <a:spcPct val="150000"/>
              </a:lnSpc>
              <a:spcBef>
                <a:spcPts val="0"/>
              </a:spcBef>
              <a:spcAft>
                <a:spcPts val="0"/>
              </a:spcAft>
              <a:buClr>
                <a:schemeClr val="dk1"/>
              </a:buClr>
              <a:buSzPts val="1800"/>
              <a:buFont typeface="Calibri"/>
              <a:buNone/>
            </a:pPr>
            <a:endParaRPr sz="1800" b="0" i="1" u="none" strike="noStrike" cap="none" dirty="0">
              <a:solidFill>
                <a:schemeClr val="lt1"/>
              </a:solidFill>
              <a:latin typeface="Gotham Rounded" pitchFamily="50" charset="0"/>
              <a:ea typeface="Tahoma"/>
              <a:cs typeface="Tahoma"/>
              <a:sym typeface="Tahoma"/>
            </a:endParaRPr>
          </a:p>
          <a:p>
            <a:pPr marL="342900" marR="0" lvl="0" indent="-342900" algn="l" rtl="0">
              <a:lnSpc>
                <a:spcPct val="150000"/>
              </a:lnSpc>
              <a:spcBef>
                <a:spcPts val="0"/>
              </a:spcBef>
              <a:spcAft>
                <a:spcPts val="0"/>
              </a:spcAft>
              <a:buClr>
                <a:schemeClr val="lt1"/>
              </a:buClr>
              <a:buSzPts val="1800"/>
              <a:buFont typeface="Tahoma"/>
              <a:buAutoNum type="arabicPeriod"/>
            </a:pP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50px; </a:t>
            </a:r>
            <a:r>
              <a:rPr lang="es-ES" sz="1800" b="0" i="0" u="none" strike="noStrike" cap="none" dirty="0">
                <a:solidFill>
                  <a:schemeClr val="lt1"/>
                </a:solidFill>
                <a:latin typeface="Gotham Rounded" pitchFamily="50" charset="0"/>
                <a:ea typeface="Tahoma"/>
                <a:cs typeface="Tahoma"/>
                <a:sym typeface="Tahoma"/>
              </a:rPr>
              <a:t>(los cuatro márgenes con el mismo valor)</a:t>
            </a:r>
            <a:endParaRPr sz="1400" b="0" i="0" u="none" strike="noStrike" cap="none" dirty="0">
              <a:solidFill>
                <a:srgbClr val="000000"/>
              </a:solidFill>
              <a:latin typeface="Gotham Rounded" pitchFamily="50" charset="0"/>
              <a:sym typeface="Arial"/>
            </a:endParaRPr>
          </a:p>
          <a:p>
            <a:pPr marL="342900" marR="0" lvl="0" indent="-228600" algn="l" rtl="0">
              <a:lnSpc>
                <a:spcPct val="150000"/>
              </a:lnSpc>
              <a:spcBef>
                <a:spcPts val="0"/>
              </a:spcBef>
              <a:spcAft>
                <a:spcPts val="0"/>
              </a:spcAft>
              <a:buClr>
                <a:schemeClr val="dk1"/>
              </a:buClr>
              <a:buSzPts val="1800"/>
              <a:buFont typeface="Calibri"/>
              <a:buNone/>
            </a:pPr>
            <a:endParaRPr sz="1800" b="0" i="1"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2. </a:t>
            </a: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50px 25px; </a:t>
            </a:r>
            <a:r>
              <a:rPr lang="es-ES" sz="1800" b="0" i="0" u="none" strike="noStrike" cap="none" dirty="0">
                <a:solidFill>
                  <a:schemeClr val="lt1"/>
                </a:solidFill>
                <a:latin typeface="Gotham Rounded" pitchFamily="50" charset="0"/>
                <a:ea typeface="Tahoma"/>
                <a:cs typeface="Tahoma"/>
                <a:sym typeface="Tahoma"/>
              </a:rPr>
              <a:t>(los márgenes </a:t>
            </a:r>
            <a:r>
              <a:rPr lang="es-ES" sz="1800" b="0" i="0" u="none" strike="noStrike" cap="none" dirty="0" err="1">
                <a:solidFill>
                  <a:schemeClr val="lt1"/>
                </a:solidFill>
                <a:latin typeface="Gotham Rounded" pitchFamily="50" charset="0"/>
                <a:ea typeface="Tahoma"/>
                <a:cs typeface="Tahoma"/>
                <a:sym typeface="Tahoma"/>
              </a:rPr>
              <a:t>superiors</a:t>
            </a:r>
            <a:r>
              <a:rPr lang="es-ES" sz="1800" b="0" i="0" u="none" strike="noStrike" cap="none" dirty="0">
                <a:solidFill>
                  <a:schemeClr val="lt1"/>
                </a:solidFill>
                <a:latin typeface="Gotham Rounded" pitchFamily="50" charset="0"/>
                <a:ea typeface="Tahoma"/>
                <a:cs typeface="Tahoma"/>
                <a:sym typeface="Tahoma"/>
              </a:rPr>
              <a:t> e </a:t>
            </a:r>
            <a:r>
              <a:rPr lang="es-ES" sz="1800" b="0" i="0" u="none" strike="noStrike" cap="none" dirty="0" err="1">
                <a:solidFill>
                  <a:schemeClr val="lt1"/>
                </a:solidFill>
                <a:latin typeface="Gotham Rounded" pitchFamily="50" charset="0"/>
                <a:ea typeface="Tahoma"/>
                <a:cs typeface="Tahoma"/>
                <a:sym typeface="Tahoma"/>
              </a:rPr>
              <a:t>inferiors</a:t>
            </a:r>
            <a:r>
              <a:rPr lang="es-ES" sz="1800" b="0" i="0" u="none" strike="noStrike" cap="none" dirty="0">
                <a:solidFill>
                  <a:schemeClr val="lt1"/>
                </a:solidFill>
                <a:latin typeface="Gotham Rounded" pitchFamily="50" charset="0"/>
                <a:ea typeface="Tahoma"/>
                <a:cs typeface="Tahoma"/>
                <a:sym typeface="Tahoma"/>
              </a:rPr>
              <a:t> de 50px y los márgenes </a:t>
            </a:r>
            <a:r>
              <a:rPr lang="es-ES" sz="1800" b="0" i="0" u="none" strike="noStrike" cap="none" dirty="0" err="1">
                <a:solidFill>
                  <a:schemeClr val="lt1"/>
                </a:solidFill>
                <a:latin typeface="Gotham Rounded" pitchFamily="50" charset="0"/>
                <a:ea typeface="Tahoma"/>
                <a:cs typeface="Tahoma"/>
                <a:sym typeface="Tahoma"/>
              </a:rPr>
              <a:t>laterals</a:t>
            </a:r>
            <a:r>
              <a:rPr lang="es-ES" sz="1800" b="0" i="0" u="none" strike="noStrike" cap="none" dirty="0">
                <a:solidFill>
                  <a:schemeClr val="lt1"/>
                </a:solidFill>
                <a:latin typeface="Gotham Rounded" pitchFamily="50" charset="0"/>
                <a:ea typeface="Tahoma"/>
                <a:cs typeface="Tahoma"/>
                <a:sym typeface="Tahoma"/>
              </a:rPr>
              <a:t> de 25px)</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1"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3. </a:t>
            </a: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20px 25px 40px 10px; </a:t>
            </a:r>
            <a:r>
              <a:rPr lang="es-ES" sz="1800" b="0" i="0" u="none" strike="noStrike" cap="none" dirty="0">
                <a:solidFill>
                  <a:schemeClr val="lt1"/>
                </a:solidFill>
                <a:latin typeface="Gotham Rounded" pitchFamily="50" charset="0"/>
                <a:ea typeface="Tahoma"/>
                <a:cs typeface="Tahoma"/>
                <a:sym typeface="Tahoma"/>
              </a:rPr>
              <a:t>(un valor para cada margen. El orden sería: superior, derecho, inferior e izquierdo)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08"/>
        <p:cNvGrpSpPr/>
        <p:nvPr/>
      </p:nvGrpSpPr>
      <p:grpSpPr>
        <a:xfrm>
          <a:off x="0" y="0"/>
          <a:ext cx="0" cy="0"/>
          <a:chOff x="0" y="0"/>
          <a:chExt cx="0" cy="0"/>
        </a:xfrm>
      </p:grpSpPr>
      <p:sp>
        <p:nvSpPr>
          <p:cNvPr id="1709" name="Google Shape;1709;p149"/>
          <p:cNvSpPr txBox="1"/>
          <p:nvPr/>
        </p:nvSpPr>
        <p:spPr>
          <a:xfrm>
            <a:off x="772885" y="943550"/>
            <a:ext cx="10781101" cy="5355312"/>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border: </a:t>
            </a:r>
            <a:r>
              <a:rPr lang="es-ES" sz="1800" b="0" i="1" u="none" strike="noStrike" cap="none">
                <a:solidFill>
                  <a:srgbClr val="E8A47A"/>
                </a:solidFill>
                <a:latin typeface="Tahoma"/>
                <a:ea typeface="Tahoma"/>
                <a:cs typeface="Tahoma"/>
                <a:sym typeface="Tahoma"/>
              </a:rPr>
              <a:t>1px solid black</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710" name="Google Shape;1710;p149"/>
          <p:cNvSpPr/>
          <p:nvPr/>
        </p:nvSpPr>
        <p:spPr>
          <a:xfrm>
            <a:off x="2382361" y="2009162"/>
            <a:ext cx="3720539" cy="317888"/>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711" name="Google Shape;1711;p149"/>
          <p:cNvGrpSpPr/>
          <p:nvPr/>
        </p:nvGrpSpPr>
        <p:grpSpPr>
          <a:xfrm>
            <a:off x="0" y="0"/>
            <a:ext cx="12192000" cy="413657"/>
            <a:chOff x="0" y="0"/>
            <a:chExt cx="12192000" cy="413657"/>
          </a:xfrm>
        </p:grpSpPr>
        <p:sp>
          <p:nvSpPr>
            <p:cNvPr id="1712" name="Google Shape;1712;p149"/>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713" name="Google Shape;1713;p149"/>
            <p:cNvGrpSpPr/>
            <p:nvPr/>
          </p:nvGrpSpPr>
          <p:grpSpPr>
            <a:xfrm>
              <a:off x="575484" y="52939"/>
              <a:ext cx="2944458" cy="350261"/>
              <a:chOff x="575484" y="52939"/>
              <a:chExt cx="2944458" cy="350261"/>
            </a:xfrm>
          </p:grpSpPr>
          <p:sp>
            <p:nvSpPr>
              <p:cNvPr id="1714" name="Google Shape;1714;p149"/>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715" name="Google Shape;1715;p149"/>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716" name="Google Shape;1716;p149"/>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717" name="Google Shape;1717;p149"/>
          <p:cNvSpPr/>
          <p:nvPr/>
        </p:nvSpPr>
        <p:spPr>
          <a:xfrm>
            <a:off x="5637008" y="3593053"/>
            <a:ext cx="6151159" cy="293773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Finalizamos añadiendo la propiedad “</a:t>
            </a:r>
            <a:r>
              <a:rPr lang="es-ES" sz="1800" b="0" i="0" u="none" strike="noStrike" cap="none" dirty="0" err="1">
                <a:solidFill>
                  <a:schemeClr val="lt1"/>
                </a:solidFill>
                <a:latin typeface="Gotham Rounded" pitchFamily="50" charset="0"/>
                <a:ea typeface="Tahoma"/>
                <a:cs typeface="Tahoma"/>
                <a:sym typeface="Tahoma"/>
              </a:rPr>
              <a:t>border</a:t>
            </a:r>
            <a:r>
              <a:rPr lang="es-ES" sz="1800" b="0" i="0" u="none" strike="noStrike" cap="none" dirty="0">
                <a:solidFill>
                  <a:schemeClr val="lt1"/>
                </a:solidFill>
                <a:latin typeface="Gotham Rounded" pitchFamily="50" charset="0"/>
                <a:ea typeface="Tahoma"/>
                <a:cs typeface="Tahoma"/>
                <a:sym typeface="Tahoma"/>
              </a:rPr>
              <a:t>”, que nos permite añadir estilo al borde de un elemento. El primer valor que asignamos es el grosor del borde (1px); el segundo valor es el tipo de línea (</a:t>
            </a:r>
            <a:r>
              <a:rPr lang="es-ES" sz="1800" b="0" i="1" u="none" strike="noStrike" cap="none" dirty="0" err="1">
                <a:solidFill>
                  <a:schemeClr val="lt1"/>
                </a:solidFill>
                <a:latin typeface="Gotham Rounded" pitchFamily="50" charset="0"/>
                <a:ea typeface="Tahoma"/>
                <a:cs typeface="Tahoma"/>
                <a:sym typeface="Tahoma"/>
              </a:rPr>
              <a:t>solid</a:t>
            </a:r>
            <a:r>
              <a:rPr lang="es-ES" sz="1800" b="0" i="1" u="none" strike="noStrike" cap="none" dirty="0">
                <a:solidFill>
                  <a:schemeClr val="lt1"/>
                </a:solidFill>
                <a:latin typeface="Gotham Rounded" pitchFamily="50" charset="0"/>
                <a:ea typeface="Tahoma"/>
                <a:cs typeface="Tahoma"/>
                <a:sym typeface="Tahoma"/>
              </a:rPr>
              <a:t> o</a:t>
            </a:r>
            <a:r>
              <a:rPr lang="es-ES" sz="1800" b="0" i="0" u="none" strike="noStrike" cap="none" dirty="0">
                <a:solidFill>
                  <a:schemeClr val="lt1"/>
                </a:solidFill>
                <a:latin typeface="Gotham Rounded" pitchFamily="50" charset="0"/>
                <a:ea typeface="Tahoma"/>
                <a:cs typeface="Tahoma"/>
                <a:sym typeface="Tahoma"/>
              </a:rPr>
              <a:t> </a:t>
            </a:r>
            <a:r>
              <a:rPr lang="es-ES" sz="1800" b="0" i="1" u="none" strike="noStrike" cap="none" dirty="0" err="1">
                <a:solidFill>
                  <a:schemeClr val="lt1"/>
                </a:solidFill>
                <a:latin typeface="Gotham Rounded" pitchFamily="50" charset="0"/>
                <a:ea typeface="Tahoma"/>
                <a:cs typeface="Tahoma"/>
                <a:sym typeface="Tahoma"/>
              </a:rPr>
              <a:t>dashed</a:t>
            </a:r>
            <a:r>
              <a:rPr lang="es-ES" sz="1800" b="0" i="0" u="none" strike="noStrike" cap="none" dirty="0">
                <a:solidFill>
                  <a:schemeClr val="lt1"/>
                </a:solidFill>
                <a:latin typeface="Gotham Rounded" pitchFamily="50" charset="0"/>
                <a:ea typeface="Tahoma"/>
                <a:cs typeface="Tahoma"/>
                <a:sym typeface="Tahoma"/>
              </a:rPr>
              <a:t>) y, por último, el color del borde (</a:t>
            </a:r>
            <a:r>
              <a:rPr lang="es-ES" sz="1800" b="0" i="0" u="none" strike="noStrike" cap="none" dirty="0" err="1">
                <a:solidFill>
                  <a:schemeClr val="lt1"/>
                </a:solidFill>
                <a:latin typeface="Gotham Rounded" pitchFamily="50" charset="0"/>
                <a:ea typeface="Tahoma"/>
                <a:cs typeface="Tahoma"/>
                <a:sym typeface="Tahoma"/>
              </a:rPr>
              <a:t>black</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755376142"/>
      </p:ext>
    </p:extLst>
  </p:cSld>
  <p:clrMapOvr>
    <a:masterClrMapping/>
  </p:clrMapOvr>
  <p:transition spd="slow">
    <p:push/>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pic>
        <p:nvPicPr>
          <p:cNvPr id="1730" name="Google Shape;1730;p151"/>
          <p:cNvPicPr preferRelativeResize="0"/>
          <p:nvPr/>
        </p:nvPicPr>
        <p:blipFill rotWithShape="1">
          <a:blip r:embed="rId3">
            <a:alphaModFix/>
          </a:blip>
          <a:srcRect/>
          <a:stretch/>
        </p:blipFill>
        <p:spPr>
          <a:xfrm>
            <a:off x="948115" y="211570"/>
            <a:ext cx="10295763" cy="6434852"/>
          </a:xfrm>
          <a:prstGeom prst="rect">
            <a:avLst/>
          </a:prstGeom>
          <a:noFill/>
          <a:ln>
            <a:noFill/>
          </a:ln>
          <a:effectLst>
            <a:outerShdw blurRad="101600" dist="50800" sx="101000" sy="101000" algn="ctr" rotWithShape="0">
              <a:srgbClr val="7F7F7F">
                <a:alpha val="20000"/>
              </a:srgbClr>
            </a:outerShdw>
          </a:effectLst>
        </p:spPr>
      </p:pic>
      <p:sp>
        <p:nvSpPr>
          <p:cNvPr id="1731" name="Google Shape;1731;p151"/>
          <p:cNvSpPr/>
          <p:nvPr/>
        </p:nvSpPr>
        <p:spPr>
          <a:xfrm>
            <a:off x="5368066" y="5120640"/>
            <a:ext cx="4579801" cy="141014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Medium" panose="02000000000000000000" pitchFamily="50" charset="0"/>
                <a:ea typeface="Tahoma"/>
                <a:cs typeface="Tahoma"/>
                <a:sym typeface="Tahoma"/>
              </a:rPr>
              <a:t>¡Lo </a:t>
            </a:r>
            <a:r>
              <a:rPr lang="es-ES" sz="1800" b="0" i="1" u="none" strike="noStrike" cap="none" dirty="0" err="1">
                <a:solidFill>
                  <a:schemeClr val="lt1"/>
                </a:solidFill>
                <a:latin typeface="Gotham Rounded Medium" panose="02000000000000000000" pitchFamily="50" charset="0"/>
                <a:ea typeface="Tahoma"/>
                <a:cs typeface="Tahoma"/>
                <a:sym typeface="Tahoma"/>
              </a:rPr>
              <a:t>logramoooooos</a:t>
            </a:r>
            <a:r>
              <a:rPr lang="es-ES" sz="1800" b="0" i="1" u="none" strike="noStrike" cap="none" dirty="0">
                <a:solidFill>
                  <a:schemeClr val="lt1"/>
                </a:solidFill>
                <a:latin typeface="Gotham Rounded Medium" panose="02000000000000000000" pitchFamily="50" charset="0"/>
                <a:ea typeface="Tahoma"/>
                <a:cs typeface="Tahoma"/>
                <a:sym typeface="Tahoma"/>
              </a:rPr>
              <a:t>! Felicitaciones :)</a:t>
            </a:r>
            <a:endParaRPr sz="1800" b="0" i="1" u="none" strike="noStrike" cap="none" dirty="0">
              <a:solidFill>
                <a:srgbClr val="4A7B8B"/>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pic>
        <p:nvPicPr>
          <p:cNvPr id="1737" name="Google Shape;1737;p152"/>
          <p:cNvPicPr preferRelativeResize="0"/>
          <p:nvPr/>
        </p:nvPicPr>
        <p:blipFill rotWithShape="1">
          <a:blip r:embed="rId3">
            <a:alphaModFix/>
          </a:blip>
          <a:srcRect r="29068" b="29068"/>
          <a:stretch/>
        </p:blipFill>
        <p:spPr>
          <a:xfrm>
            <a:off x="948115" y="211574"/>
            <a:ext cx="10295763" cy="6434852"/>
          </a:xfrm>
          <a:prstGeom prst="rect">
            <a:avLst/>
          </a:prstGeom>
          <a:noFill/>
          <a:ln>
            <a:noFill/>
          </a:ln>
          <a:effectLst>
            <a:outerShdw blurRad="101600" dist="50800" sx="101000" sy="101000" algn="ctr" rotWithShape="0">
              <a:srgbClr val="7F7F7F">
                <a:alpha val="20000"/>
              </a:srgbClr>
            </a:outerShdw>
          </a:effectLst>
        </p:spPr>
      </p:pic>
      <p:sp>
        <p:nvSpPr>
          <p:cNvPr id="1738" name="Google Shape;1738;p152"/>
          <p:cNvSpPr/>
          <p:nvPr/>
        </p:nvSpPr>
        <p:spPr>
          <a:xfrm>
            <a:off x="3302598" y="3958813"/>
            <a:ext cx="8485570" cy="257197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Aquí vemos que el ”</a:t>
            </a:r>
            <a:r>
              <a:rPr lang="es-ES" sz="1800" b="0" i="0" u="none" strike="noStrike" cap="none" dirty="0" err="1">
                <a:solidFill>
                  <a:schemeClr val="lt1"/>
                </a:solidFill>
                <a:latin typeface="Gotham Rounded Medium" panose="02000000000000000000" pitchFamily="50" charset="0"/>
                <a:ea typeface="Tahoma"/>
                <a:cs typeface="Tahoma"/>
                <a:sym typeface="Tahoma"/>
              </a:rPr>
              <a:t>margin</a:t>
            </a:r>
            <a:r>
              <a:rPr lang="es-ES" sz="1800" b="0" i="0" u="none" strike="noStrike" cap="none" dirty="0">
                <a:solidFill>
                  <a:schemeClr val="lt1"/>
                </a:solidFill>
                <a:latin typeface="Gotham Rounded Medium" panose="02000000000000000000" pitchFamily="50" charset="0"/>
                <a:ea typeface="Tahoma"/>
                <a:cs typeface="Tahoma"/>
                <a:sym typeface="Tahoma"/>
              </a:rPr>
              <a:t>” es el espacio externo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 A su vez, vemos el borde negro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 con la propiedad “</a:t>
            </a:r>
            <a:r>
              <a:rPr lang="es-ES" sz="1800" b="0" i="0" u="none" strike="noStrike" cap="none" dirty="0" err="1">
                <a:solidFill>
                  <a:schemeClr val="lt1"/>
                </a:solidFill>
                <a:latin typeface="Gotham Rounded Medium" panose="02000000000000000000" pitchFamily="50" charset="0"/>
                <a:ea typeface="Tahoma"/>
                <a:cs typeface="Tahoma"/>
                <a:sym typeface="Tahoma"/>
              </a:rPr>
              <a:t>border</a:t>
            </a:r>
            <a:r>
              <a:rPr lang="es-ES" sz="1800" b="0" i="0" u="none" strike="noStrike" cap="none" dirty="0">
                <a:solidFill>
                  <a:schemeClr val="lt1"/>
                </a:solidFill>
                <a:latin typeface="Gotham Rounded Medium" panose="02000000000000000000" pitchFamily="50" charset="0"/>
                <a:ea typeface="Tahoma"/>
                <a:cs typeface="Tahoma"/>
                <a:sym typeface="Tahoma"/>
              </a:rPr>
              <a:t>”. Por último, vemos que el “</a:t>
            </a:r>
            <a:r>
              <a:rPr lang="es-ES" sz="1800" b="0" i="0" u="none" strike="noStrike" cap="none" dirty="0" err="1">
                <a:solidFill>
                  <a:schemeClr val="lt1"/>
                </a:solidFill>
                <a:latin typeface="Gotham Rounded Medium" panose="02000000000000000000" pitchFamily="50" charset="0"/>
                <a:ea typeface="Tahoma"/>
                <a:cs typeface="Tahoma"/>
                <a:sym typeface="Tahoma"/>
              </a:rPr>
              <a:t>padding</a:t>
            </a:r>
            <a:r>
              <a:rPr lang="es-ES" sz="1800" b="0" i="0" u="none" strike="noStrike" cap="none" dirty="0">
                <a:solidFill>
                  <a:schemeClr val="lt1"/>
                </a:solidFill>
                <a:latin typeface="Gotham Rounded Medium" panose="02000000000000000000" pitchFamily="50" charset="0"/>
                <a:ea typeface="Tahoma"/>
                <a:cs typeface="Tahoma"/>
                <a:sym typeface="Tahoma"/>
              </a:rPr>
              <a:t>” es el espacio interno entre el borde y el contenido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a:t>
            </a:r>
            <a:endParaRPr sz="1800" b="0" i="1" u="none" strike="noStrike" cap="none" dirty="0">
              <a:solidFill>
                <a:schemeClr val="lt1"/>
              </a:solidFill>
              <a:latin typeface="Gotham Rounded Medium" panose="02000000000000000000" pitchFamily="50" charset="0"/>
              <a:ea typeface="Tahoma"/>
              <a:cs typeface="Tahoma"/>
              <a:sym typeface="Tahoma"/>
            </a:endParaRPr>
          </a:p>
        </p:txBody>
      </p:sp>
      <p:sp>
        <p:nvSpPr>
          <p:cNvPr id="1739" name="Google Shape;1739;p152"/>
          <p:cNvSpPr/>
          <p:nvPr/>
        </p:nvSpPr>
        <p:spPr>
          <a:xfrm>
            <a:off x="871370" y="2294051"/>
            <a:ext cx="566909" cy="22591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40" name="Google Shape;1740;p152"/>
          <p:cNvSpPr/>
          <p:nvPr/>
        </p:nvSpPr>
        <p:spPr>
          <a:xfrm>
            <a:off x="1438279" y="3640996"/>
            <a:ext cx="1003707" cy="22591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741" name="Google Shape;1741;p152"/>
          <p:cNvCxnSpPr/>
          <p:nvPr/>
        </p:nvCxnSpPr>
        <p:spPr>
          <a:xfrm>
            <a:off x="1438279" y="4827483"/>
            <a:ext cx="0" cy="1336649"/>
          </a:xfrm>
          <a:prstGeom prst="straightConnector1">
            <a:avLst/>
          </a:prstGeom>
          <a:noFill/>
          <a:ln w="57150" cap="flat" cmpd="sng">
            <a:solidFill>
              <a:srgbClr val="E8A47A"/>
            </a:solidFill>
            <a:prstDash val="solid"/>
            <a:miter lim="800000"/>
            <a:headEnd type="none" w="sm" len="sm"/>
            <a:tailEnd type="none" w="sm" len="sm"/>
          </a:ln>
        </p:spPr>
      </p:cxnSp>
      <p:sp>
        <p:nvSpPr>
          <p:cNvPr id="1742" name="Google Shape;1742;p152"/>
          <p:cNvSpPr/>
          <p:nvPr/>
        </p:nvSpPr>
        <p:spPr>
          <a:xfrm>
            <a:off x="1471894" y="3254627"/>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
        <p:nvSpPr>
          <p:cNvPr id="1743" name="Google Shape;1743;p152"/>
          <p:cNvSpPr/>
          <p:nvPr/>
        </p:nvSpPr>
        <p:spPr>
          <a:xfrm>
            <a:off x="535419" y="1927999"/>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44" name="Google Shape;1744;p152"/>
          <p:cNvSpPr/>
          <p:nvPr/>
        </p:nvSpPr>
        <p:spPr>
          <a:xfrm rot="-5400000">
            <a:off x="743013" y="5103241"/>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border:</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pic>
        <p:nvPicPr>
          <p:cNvPr id="1750" name="Google Shape;1750;p153"/>
          <p:cNvPicPr preferRelativeResize="0"/>
          <p:nvPr/>
        </p:nvPicPr>
        <p:blipFill rotWithShape="1">
          <a:blip r:embed="rId3">
            <a:alphaModFix/>
          </a:blip>
          <a:srcRect/>
          <a:stretch/>
        </p:blipFill>
        <p:spPr>
          <a:xfrm>
            <a:off x="948118" y="211574"/>
            <a:ext cx="10295764" cy="6434852"/>
          </a:xfrm>
          <a:prstGeom prst="rect">
            <a:avLst/>
          </a:prstGeom>
          <a:noFill/>
          <a:ln>
            <a:noFill/>
          </a:ln>
          <a:effectLst>
            <a:outerShdw blurRad="101600" dist="50800" sx="101000" sy="101000" algn="ctr" rotWithShape="0">
              <a:srgbClr val="7F7F7F">
                <a:alpha val="20000"/>
              </a:srgbClr>
            </a:outerShdw>
          </a:effectLst>
        </p:spPr>
      </p:pic>
      <p:sp>
        <p:nvSpPr>
          <p:cNvPr id="1751" name="Google Shape;1751;p153"/>
          <p:cNvSpPr/>
          <p:nvPr/>
        </p:nvSpPr>
        <p:spPr>
          <a:xfrm>
            <a:off x="2043953" y="3216536"/>
            <a:ext cx="4052047" cy="212464"/>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52" name="Google Shape;1752;p153"/>
          <p:cNvSpPr/>
          <p:nvPr/>
        </p:nvSpPr>
        <p:spPr>
          <a:xfrm>
            <a:off x="2796230" y="2661042"/>
            <a:ext cx="254749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Esto es el espacio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que ocupa el contenido</a:t>
            </a:r>
            <a:endParaRPr sz="1400" b="0" i="0" u="none" strike="noStrike" cap="none">
              <a:solidFill>
                <a:schemeClr val="dk1"/>
              </a:solidFill>
              <a:latin typeface="Calibri"/>
              <a:ea typeface="Calibri"/>
              <a:cs typeface="Calibri"/>
              <a:sym typeface="Calibri"/>
            </a:endParaRPr>
          </a:p>
        </p:txBody>
      </p:sp>
      <p:pic>
        <p:nvPicPr>
          <p:cNvPr id="1753" name="Google Shape;1753;p153">
            <a:hlinkClick r:id="rId4"/>
          </p:cNvPr>
          <p:cNvPicPr preferRelativeResize="0"/>
          <p:nvPr/>
        </p:nvPicPr>
        <p:blipFill rotWithShape="1">
          <a:blip r:embed="rId5">
            <a:alphaModFix/>
          </a:blip>
          <a:srcRect/>
          <a:stretch/>
        </p:blipFill>
        <p:spPr>
          <a:xfrm>
            <a:off x="9765297" y="4231193"/>
            <a:ext cx="526842" cy="526842"/>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pic>
        <p:nvPicPr>
          <p:cNvPr id="1759" name="Google Shape;1759;p154"/>
          <p:cNvPicPr preferRelativeResize="0"/>
          <p:nvPr/>
        </p:nvPicPr>
        <p:blipFill rotWithShape="1">
          <a:blip r:embed="rId3">
            <a:alphaModFix/>
          </a:blip>
          <a:srcRect/>
          <a:stretch/>
        </p:blipFill>
        <p:spPr>
          <a:xfrm>
            <a:off x="948118" y="211574"/>
            <a:ext cx="10295764" cy="6434852"/>
          </a:xfrm>
          <a:prstGeom prst="rect">
            <a:avLst/>
          </a:prstGeom>
          <a:noFill/>
          <a:ln>
            <a:noFill/>
          </a:ln>
          <a:effectLst>
            <a:outerShdw blurRad="101600" dist="50800" sx="101000" sy="101000" algn="ctr" rotWithShape="0">
              <a:srgbClr val="7F7F7F">
                <a:alpha val="20000"/>
              </a:srgbClr>
            </a:outerShdw>
          </a:effectLst>
        </p:spPr>
      </p:pic>
      <p:sp>
        <p:nvSpPr>
          <p:cNvPr id="1760" name="Google Shape;1760;p154"/>
          <p:cNvSpPr/>
          <p:nvPr/>
        </p:nvSpPr>
        <p:spPr>
          <a:xfrm>
            <a:off x="1312434" y="3205779"/>
            <a:ext cx="731520" cy="22322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1" name="Google Shape;1761;p154"/>
          <p:cNvSpPr/>
          <p:nvPr/>
        </p:nvSpPr>
        <p:spPr>
          <a:xfrm>
            <a:off x="1253325" y="2816720"/>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pic>
        <p:nvPicPr>
          <p:cNvPr id="1762" name="Google Shape;1762;p154">
            <a:hlinkClick r:id="rId4"/>
          </p:cNvPr>
          <p:cNvPicPr preferRelativeResize="0"/>
          <p:nvPr/>
        </p:nvPicPr>
        <p:blipFill rotWithShape="1">
          <a:blip r:embed="rId5">
            <a:alphaModFix/>
          </a:blip>
          <a:srcRect/>
          <a:stretch/>
        </p:blipFill>
        <p:spPr>
          <a:xfrm>
            <a:off x="10163330" y="4381800"/>
            <a:ext cx="526842" cy="526842"/>
          </a:xfrm>
          <a:prstGeom prst="rect">
            <a:avLst/>
          </a:prstGeom>
          <a:noFill/>
          <a:ln>
            <a:noFill/>
          </a:ln>
        </p:spPr>
      </p:pic>
      <p:sp>
        <p:nvSpPr>
          <p:cNvPr id="1763" name="Google Shape;1763;p154"/>
          <p:cNvSpPr/>
          <p:nvPr/>
        </p:nvSpPr>
        <p:spPr>
          <a:xfrm>
            <a:off x="6078071" y="3205779"/>
            <a:ext cx="731520" cy="22322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4" name="Google Shape;1764;p154"/>
          <p:cNvSpPr/>
          <p:nvPr/>
        </p:nvSpPr>
        <p:spPr>
          <a:xfrm>
            <a:off x="6033340" y="2816720"/>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
        <p:nvSpPr>
          <p:cNvPr id="1765" name="Google Shape;1765;p154"/>
          <p:cNvSpPr/>
          <p:nvPr/>
        </p:nvSpPr>
        <p:spPr>
          <a:xfrm rot="-5400000">
            <a:off x="2773460" y="1235113"/>
            <a:ext cx="344245" cy="197669"/>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6" name="Google Shape;1766;p154"/>
          <p:cNvSpPr/>
          <p:nvPr/>
        </p:nvSpPr>
        <p:spPr>
          <a:xfrm rot="-5400000">
            <a:off x="2117359" y="1180058"/>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pic>
        <p:nvPicPr>
          <p:cNvPr id="1772" name="Google Shape;1772;p155"/>
          <p:cNvPicPr preferRelativeResize="0"/>
          <p:nvPr/>
        </p:nvPicPr>
        <p:blipFill rotWithShape="1">
          <a:blip r:embed="rId3">
            <a:alphaModFix/>
          </a:blip>
          <a:srcRect/>
          <a:stretch/>
        </p:blipFill>
        <p:spPr>
          <a:xfrm>
            <a:off x="948118" y="211573"/>
            <a:ext cx="10295764" cy="6434853"/>
          </a:xfrm>
          <a:prstGeom prst="rect">
            <a:avLst/>
          </a:prstGeom>
          <a:noFill/>
          <a:ln>
            <a:noFill/>
          </a:ln>
          <a:effectLst>
            <a:outerShdw blurRad="101600" dist="50800" sx="101000" sy="101000" algn="ctr" rotWithShape="0">
              <a:srgbClr val="7F7F7F">
                <a:alpha val="20000"/>
              </a:srgbClr>
            </a:outerShdw>
          </a:effectLst>
        </p:spPr>
      </p:pic>
      <p:pic>
        <p:nvPicPr>
          <p:cNvPr id="1773" name="Google Shape;1773;p155">
            <a:hlinkClick r:id="rId4"/>
          </p:cNvPr>
          <p:cNvPicPr preferRelativeResize="0"/>
          <p:nvPr/>
        </p:nvPicPr>
        <p:blipFill rotWithShape="1">
          <a:blip r:embed="rId5">
            <a:alphaModFix/>
          </a:blip>
          <a:srcRect/>
          <a:stretch/>
        </p:blipFill>
        <p:spPr>
          <a:xfrm>
            <a:off x="10366728" y="4553472"/>
            <a:ext cx="526842" cy="526842"/>
          </a:xfrm>
          <a:prstGeom prst="rect">
            <a:avLst/>
          </a:prstGeom>
          <a:noFill/>
          <a:ln>
            <a:noFill/>
          </a:ln>
        </p:spPr>
      </p:pic>
      <p:cxnSp>
        <p:nvCxnSpPr>
          <p:cNvPr id="1774" name="Google Shape;1774;p155"/>
          <p:cNvCxnSpPr/>
          <p:nvPr/>
        </p:nvCxnSpPr>
        <p:spPr>
          <a:xfrm>
            <a:off x="1298430" y="3713475"/>
            <a:ext cx="0" cy="1336649"/>
          </a:xfrm>
          <a:prstGeom prst="straightConnector1">
            <a:avLst/>
          </a:prstGeom>
          <a:noFill/>
          <a:ln w="57150" cap="flat" cmpd="sng">
            <a:solidFill>
              <a:srgbClr val="E8A47A"/>
            </a:solidFill>
            <a:prstDash val="solid"/>
            <a:miter lim="800000"/>
            <a:headEnd type="none" w="sm" len="sm"/>
            <a:tailEnd type="none" w="sm" len="sm"/>
          </a:ln>
        </p:spPr>
      </p:cxnSp>
      <p:sp>
        <p:nvSpPr>
          <p:cNvPr id="1775" name="Google Shape;1775;p155"/>
          <p:cNvSpPr/>
          <p:nvPr/>
        </p:nvSpPr>
        <p:spPr>
          <a:xfrm rot="-5400000">
            <a:off x="603164" y="4139840"/>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border:</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pic>
        <p:nvPicPr>
          <p:cNvPr id="1781" name="Google Shape;1781;p156"/>
          <p:cNvPicPr preferRelativeResize="0"/>
          <p:nvPr/>
        </p:nvPicPr>
        <p:blipFill rotWithShape="1">
          <a:blip r:embed="rId3">
            <a:alphaModFix/>
          </a:blip>
          <a:srcRect/>
          <a:stretch/>
        </p:blipFill>
        <p:spPr>
          <a:xfrm>
            <a:off x="948118" y="211573"/>
            <a:ext cx="10295764" cy="6434853"/>
          </a:xfrm>
          <a:prstGeom prst="rect">
            <a:avLst/>
          </a:prstGeom>
          <a:noFill/>
          <a:ln>
            <a:noFill/>
          </a:ln>
          <a:effectLst>
            <a:outerShdw blurRad="101600" dist="50800" sx="101000" sy="101000" algn="ctr" rotWithShape="0">
              <a:srgbClr val="7F7F7F">
                <a:alpha val="20000"/>
              </a:srgbClr>
            </a:outerShdw>
          </a:effectLst>
        </p:spPr>
      </p:pic>
      <p:pic>
        <p:nvPicPr>
          <p:cNvPr id="1782" name="Google Shape;1782;p156">
            <a:hlinkClick r:id="rId4"/>
          </p:cNvPr>
          <p:cNvPicPr preferRelativeResize="0"/>
          <p:nvPr/>
        </p:nvPicPr>
        <p:blipFill rotWithShape="1">
          <a:blip r:embed="rId5">
            <a:alphaModFix/>
          </a:blip>
          <a:srcRect/>
          <a:stretch/>
        </p:blipFill>
        <p:spPr>
          <a:xfrm>
            <a:off x="10528093" y="4736352"/>
            <a:ext cx="526842" cy="526842"/>
          </a:xfrm>
          <a:prstGeom prst="rect">
            <a:avLst/>
          </a:prstGeom>
          <a:noFill/>
          <a:ln>
            <a:noFill/>
          </a:ln>
        </p:spPr>
      </p:pic>
      <p:sp>
        <p:nvSpPr>
          <p:cNvPr id="1783" name="Google Shape;1783;p156"/>
          <p:cNvSpPr/>
          <p:nvPr/>
        </p:nvSpPr>
        <p:spPr>
          <a:xfrm>
            <a:off x="948118" y="1939049"/>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4" name="Google Shape;1784;p156"/>
          <p:cNvSpPr/>
          <p:nvPr/>
        </p:nvSpPr>
        <p:spPr>
          <a:xfrm>
            <a:off x="395569" y="1572996"/>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85" name="Google Shape;1785;p156"/>
          <p:cNvSpPr/>
          <p:nvPr/>
        </p:nvSpPr>
        <p:spPr>
          <a:xfrm>
            <a:off x="6811036" y="1939049"/>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6" name="Google Shape;1786;p156"/>
          <p:cNvSpPr/>
          <p:nvPr/>
        </p:nvSpPr>
        <p:spPr>
          <a:xfrm>
            <a:off x="6258487" y="1572996"/>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87" name="Google Shape;1787;p156"/>
          <p:cNvSpPr/>
          <p:nvPr/>
        </p:nvSpPr>
        <p:spPr>
          <a:xfrm rot="-5400000">
            <a:off x="2100978" y="875837"/>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8" name="Google Shape;1788;p156"/>
          <p:cNvSpPr/>
          <p:nvPr/>
        </p:nvSpPr>
        <p:spPr>
          <a:xfrm rot="-5400000">
            <a:off x="1475795" y="950870"/>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pic>
        <p:nvPicPr>
          <p:cNvPr id="4"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1801" name="Google Shape;1801;p158"/>
          <p:cNvSpPr/>
          <p:nvPr/>
        </p:nvSpPr>
        <p:spPr>
          <a:xfrm>
            <a:off x="1618663" y="669208"/>
            <a:ext cx="8954674"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rgbClr val="7030A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rgbClr val="7030A0"/>
                </a:solidFill>
                <a:latin typeface="Gotham Rounded Medium" panose="02000000000000000000" pitchFamily="50" charset="0"/>
                <a:sym typeface="Arial"/>
              </a:rPr>
              <a:t>Fin de la parte práctica</a:t>
            </a:r>
            <a:endParaRPr sz="1400" b="0" i="0" u="none" strike="noStrike" cap="none" dirty="0">
              <a:solidFill>
                <a:srgbClr val="7030A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rgbClr val="7030A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3522</Words>
  <Application>Microsoft Office PowerPoint</Application>
  <PresentationFormat>Panorámica</PresentationFormat>
  <Paragraphs>723</Paragraphs>
  <Slides>95</Slides>
  <Notes>95</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95</vt:i4>
      </vt:variant>
    </vt:vector>
  </HeadingPairs>
  <TitlesOfParts>
    <vt:vector size="105" baseType="lpstr">
      <vt:lpstr>Arial</vt:lpstr>
      <vt:lpstr>Gotham Rounded Medium</vt:lpstr>
      <vt:lpstr>Quattrocento Sans</vt:lpstr>
      <vt:lpstr>Montserrat Medium</vt:lpstr>
      <vt:lpstr>Montserrat</vt:lpstr>
      <vt:lpstr>Calibri</vt:lpstr>
      <vt:lpstr>Gotham Rounded</vt:lpstr>
      <vt:lpstr>Tahoma</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Fabi</dc:creator>
  <cp:lastModifiedBy>Vanessa Soledad Antillano</cp:lastModifiedBy>
  <cp:revision>38</cp:revision>
  <dcterms:created xsi:type="dcterms:W3CDTF">2020-04-20T12:20:00Z</dcterms:created>
  <dcterms:modified xsi:type="dcterms:W3CDTF">2022-10-13T14:53:28Z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0x010100296E2714C9A4F64DBF5C2426E7D43925</vt:lpwstr>
  </property>
  <property fmtid="{D5CDD505-2E9C-101B-9397-08002B2CF9AE}" pid="3" name="Order">
    <vt:r8>97900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ies>
</file>