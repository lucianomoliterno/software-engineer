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9"/>
  </p:notesMasterIdLst>
  <p:sldIdLst>
    <p:sldId id="273" r:id="rId3"/>
    <p:sldId id="274" r:id="rId4"/>
    <p:sldId id="275" r:id="rId5"/>
    <p:sldId id="276" r:id="rId6"/>
    <p:sldId id="333" r:id="rId7"/>
    <p:sldId id="278" r:id="rId8"/>
    <p:sldId id="277" r:id="rId9"/>
    <p:sldId id="279" r:id="rId10"/>
    <p:sldId id="280" r:id="rId11"/>
    <p:sldId id="284" r:id="rId12"/>
    <p:sldId id="285" r:id="rId13"/>
    <p:sldId id="286" r:id="rId14"/>
    <p:sldId id="287" r:id="rId15"/>
    <p:sldId id="288" r:id="rId16"/>
    <p:sldId id="289" r:id="rId17"/>
    <p:sldId id="290" r:id="rId18"/>
    <p:sldId id="291" r:id="rId19"/>
    <p:sldId id="292" r:id="rId20"/>
    <p:sldId id="293" r:id="rId21"/>
    <p:sldId id="294" r:id="rId22"/>
    <p:sldId id="295" r:id="rId23"/>
    <p:sldId id="299" r:id="rId24"/>
    <p:sldId id="298" r:id="rId25"/>
    <p:sldId id="297" r:id="rId26"/>
    <p:sldId id="300" r:id="rId27"/>
    <p:sldId id="301" r:id="rId28"/>
    <p:sldId id="302" r:id="rId29"/>
    <p:sldId id="303" r:id="rId30"/>
    <p:sldId id="305" r:id="rId31"/>
    <p:sldId id="304" r:id="rId32"/>
    <p:sldId id="306" r:id="rId33"/>
    <p:sldId id="309" r:id="rId34"/>
    <p:sldId id="307" r:id="rId35"/>
    <p:sldId id="308" r:id="rId36"/>
    <p:sldId id="310" r:id="rId37"/>
    <p:sldId id="311" r:id="rId38"/>
    <p:sldId id="313" r:id="rId39"/>
    <p:sldId id="312" r:id="rId40"/>
    <p:sldId id="314" r:id="rId41"/>
    <p:sldId id="316" r:id="rId42"/>
    <p:sldId id="317" r:id="rId43"/>
    <p:sldId id="318" r:id="rId44"/>
    <p:sldId id="315" r:id="rId45"/>
    <p:sldId id="283" r:id="rId46"/>
    <p:sldId id="330" r:id="rId47"/>
    <p:sldId id="331" r:id="rId48"/>
    <p:sldId id="320" r:id="rId49"/>
    <p:sldId id="322" r:id="rId50"/>
    <p:sldId id="323" r:id="rId51"/>
    <p:sldId id="324" r:id="rId52"/>
    <p:sldId id="328" r:id="rId53"/>
    <p:sldId id="329" r:id="rId54"/>
    <p:sldId id="325" r:id="rId55"/>
    <p:sldId id="326" r:id="rId56"/>
    <p:sldId id="327" r:id="rId57"/>
    <p:sldId id="321" r:id="rId58"/>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stavo Fernández" initials="GF" lastIdx="1" clrIdx="0">
    <p:extLst>
      <p:ext uri="{19B8F6BF-5375-455C-9EA6-DF929625EA0E}">
        <p15:presenceInfo xmlns:p15="http://schemas.microsoft.com/office/powerpoint/2012/main" userId="S-1-5-21-410713885-3639572900-1975694635-16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E636D3-9772-40AF-BBEE-CC8A704C49C3}" v="3" dt="2022-08-16T02:40:1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03" autoAdjust="0"/>
    <p:restoredTop sz="76661" autoAdjust="0"/>
  </p:normalViewPr>
  <p:slideViewPr>
    <p:cSldViewPr snapToGrid="0">
      <p:cViewPr varScale="1">
        <p:scale>
          <a:sx n="53" d="100"/>
          <a:sy n="53" d="100"/>
        </p:scale>
        <p:origin x="552" y="78"/>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microsoft.com/office/2015/10/relationships/revisionInfo" Target="revisionInfo.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commentAuthors" Target="commentAuthors.xml"/><Relationship Id="rId65"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stavo Fernandez" userId="b9e0a9a7-5dbe-4d75-898c-161b8581a6bc" providerId="ADAL" clId="{FCE636D3-9772-40AF-BBEE-CC8A704C49C3}"/>
    <pc:docChg chg="undo custSel addSld delSld modSld">
      <pc:chgData name="Gustavo Fernandez" userId="b9e0a9a7-5dbe-4d75-898c-161b8581a6bc" providerId="ADAL" clId="{FCE636D3-9772-40AF-BBEE-CC8A704C49C3}" dt="2022-08-16T02:40:48.620" v="23" actId="2696"/>
      <pc:docMkLst>
        <pc:docMk/>
      </pc:docMkLst>
      <pc:sldChg chg="addSp delSp modSp mod setBg">
        <pc:chgData name="Gustavo Fernandez" userId="b9e0a9a7-5dbe-4d75-898c-161b8581a6bc" providerId="ADAL" clId="{FCE636D3-9772-40AF-BBEE-CC8A704C49C3}" dt="2022-08-16T02:39:58.763" v="14" actId="1076"/>
        <pc:sldMkLst>
          <pc:docMk/>
          <pc:sldMk cId="3598295049" sldId="276"/>
        </pc:sldMkLst>
        <pc:spChg chg="add del">
          <ac:chgData name="Gustavo Fernandez" userId="b9e0a9a7-5dbe-4d75-898c-161b8581a6bc" providerId="ADAL" clId="{FCE636D3-9772-40AF-BBEE-CC8A704C49C3}" dt="2022-08-16T02:39:51.374" v="10" actId="26606"/>
          <ac:spMkLst>
            <pc:docMk/>
            <pc:sldMk cId="3598295049" sldId="276"/>
            <ac:spMk id="9" creationId="{AB8C311F-7253-4AED-9701-7FC0708C41C7}"/>
          </ac:spMkLst>
        </pc:spChg>
        <pc:spChg chg="add del">
          <ac:chgData name="Gustavo Fernandez" userId="b9e0a9a7-5dbe-4d75-898c-161b8581a6bc" providerId="ADAL" clId="{FCE636D3-9772-40AF-BBEE-CC8A704C49C3}" dt="2022-08-16T02:39:51.374" v="10" actId="26606"/>
          <ac:spMkLst>
            <pc:docMk/>
            <pc:sldMk cId="3598295049" sldId="276"/>
            <ac:spMk id="11" creationId="{E2384209-CB15-4CDF-9D31-C44FD9A3F20D}"/>
          </ac:spMkLst>
        </pc:spChg>
        <pc:spChg chg="add del">
          <ac:chgData name="Gustavo Fernandez" userId="b9e0a9a7-5dbe-4d75-898c-161b8581a6bc" providerId="ADAL" clId="{FCE636D3-9772-40AF-BBEE-CC8A704C49C3}" dt="2022-08-16T02:39:51.374" v="10" actId="26606"/>
          <ac:spMkLst>
            <pc:docMk/>
            <pc:sldMk cId="3598295049" sldId="276"/>
            <ac:spMk id="13" creationId="{2633B3B5-CC90-43F0-8714-D31D1F3F0209}"/>
          </ac:spMkLst>
        </pc:spChg>
        <pc:spChg chg="add del">
          <ac:chgData name="Gustavo Fernandez" userId="b9e0a9a7-5dbe-4d75-898c-161b8581a6bc" providerId="ADAL" clId="{FCE636D3-9772-40AF-BBEE-CC8A704C49C3}" dt="2022-08-16T02:39:51.374" v="10" actId="26606"/>
          <ac:spMkLst>
            <pc:docMk/>
            <pc:sldMk cId="3598295049" sldId="276"/>
            <ac:spMk id="15" creationId="{A8D57A06-A426-446D-B02C-A2DC6B62E45E}"/>
          </ac:spMkLst>
        </pc:spChg>
        <pc:picChg chg="add del">
          <ac:chgData name="Gustavo Fernandez" userId="b9e0a9a7-5dbe-4d75-898c-161b8581a6bc" providerId="ADAL" clId="{FCE636D3-9772-40AF-BBEE-CC8A704C49C3}" dt="2022-08-16T02:39:52.300" v="12" actId="478"/>
          <ac:picMkLst>
            <pc:docMk/>
            <pc:sldMk cId="3598295049" sldId="276"/>
            <ac:picMk id="2" creationId="{00000000-0000-0000-0000-000000000000}"/>
          </ac:picMkLst>
        </pc:picChg>
        <pc:picChg chg="add del mod">
          <ac:chgData name="Gustavo Fernandez" userId="b9e0a9a7-5dbe-4d75-898c-161b8581a6bc" providerId="ADAL" clId="{FCE636D3-9772-40AF-BBEE-CC8A704C49C3}" dt="2022-08-16T02:39:58.763" v="14" actId="1076"/>
          <ac:picMkLst>
            <pc:docMk/>
            <pc:sldMk cId="3598295049" sldId="276"/>
            <ac:picMk id="3" creationId="{00000000-0000-0000-0000-000000000000}"/>
          </ac:picMkLst>
        </pc:picChg>
        <pc:picChg chg="add del mod">
          <ac:chgData name="Gustavo Fernandez" userId="b9e0a9a7-5dbe-4d75-898c-161b8581a6bc" providerId="ADAL" clId="{FCE636D3-9772-40AF-BBEE-CC8A704C49C3}" dt="2022-08-16T02:39:51.813" v="11"/>
          <ac:picMkLst>
            <pc:docMk/>
            <pc:sldMk cId="3598295049" sldId="276"/>
            <ac:picMk id="4" creationId="{92D3D40B-61F2-6CB8-FF9E-C28938BC7D16}"/>
          </ac:picMkLst>
        </pc:picChg>
      </pc:sldChg>
      <pc:sldChg chg="del">
        <pc:chgData name="Gustavo Fernandez" userId="b9e0a9a7-5dbe-4d75-898c-161b8581a6bc" providerId="ADAL" clId="{FCE636D3-9772-40AF-BBEE-CC8A704C49C3}" dt="2022-08-16T02:40:48.620" v="23" actId="2696"/>
        <pc:sldMkLst>
          <pc:docMk/>
          <pc:sldMk cId="191632854" sldId="332"/>
        </pc:sldMkLst>
      </pc:sldChg>
      <pc:sldChg chg="addSp modSp new mod setBg">
        <pc:chgData name="Gustavo Fernandez" userId="b9e0a9a7-5dbe-4d75-898c-161b8581a6bc" providerId="ADAL" clId="{FCE636D3-9772-40AF-BBEE-CC8A704C49C3}" dt="2022-08-16T02:40:34.716" v="22" actId="14100"/>
        <pc:sldMkLst>
          <pc:docMk/>
          <pc:sldMk cId="3181039005" sldId="333"/>
        </pc:sldMkLst>
        <pc:spChg chg="add">
          <ac:chgData name="Gustavo Fernandez" userId="b9e0a9a7-5dbe-4d75-898c-161b8581a6bc" providerId="ADAL" clId="{FCE636D3-9772-40AF-BBEE-CC8A704C49C3}" dt="2022-08-16T02:40:20.596" v="17" actId="26606"/>
          <ac:spMkLst>
            <pc:docMk/>
            <pc:sldMk cId="3181039005" sldId="333"/>
            <ac:spMk id="7" creationId="{AB8C311F-7253-4AED-9701-7FC0708C41C7}"/>
          </ac:spMkLst>
        </pc:spChg>
        <pc:spChg chg="add">
          <ac:chgData name="Gustavo Fernandez" userId="b9e0a9a7-5dbe-4d75-898c-161b8581a6bc" providerId="ADAL" clId="{FCE636D3-9772-40AF-BBEE-CC8A704C49C3}" dt="2022-08-16T02:40:20.596" v="17" actId="26606"/>
          <ac:spMkLst>
            <pc:docMk/>
            <pc:sldMk cId="3181039005" sldId="333"/>
            <ac:spMk id="9" creationId="{E2384209-CB15-4CDF-9D31-C44FD9A3F20D}"/>
          </ac:spMkLst>
        </pc:spChg>
        <pc:spChg chg="add">
          <ac:chgData name="Gustavo Fernandez" userId="b9e0a9a7-5dbe-4d75-898c-161b8581a6bc" providerId="ADAL" clId="{FCE636D3-9772-40AF-BBEE-CC8A704C49C3}" dt="2022-08-16T02:40:20.596" v="17" actId="26606"/>
          <ac:spMkLst>
            <pc:docMk/>
            <pc:sldMk cId="3181039005" sldId="333"/>
            <ac:spMk id="11" creationId="{2633B3B5-CC90-43F0-8714-D31D1F3F0209}"/>
          </ac:spMkLst>
        </pc:spChg>
        <pc:spChg chg="add">
          <ac:chgData name="Gustavo Fernandez" userId="b9e0a9a7-5dbe-4d75-898c-161b8581a6bc" providerId="ADAL" clId="{FCE636D3-9772-40AF-BBEE-CC8A704C49C3}" dt="2022-08-16T02:40:20.596" v="17" actId="26606"/>
          <ac:spMkLst>
            <pc:docMk/>
            <pc:sldMk cId="3181039005" sldId="333"/>
            <ac:spMk id="13" creationId="{A8D57A06-A426-446D-B02C-A2DC6B62E45E}"/>
          </ac:spMkLst>
        </pc:spChg>
        <pc:picChg chg="add mod">
          <ac:chgData name="Gustavo Fernandez" userId="b9e0a9a7-5dbe-4d75-898c-161b8581a6bc" providerId="ADAL" clId="{FCE636D3-9772-40AF-BBEE-CC8A704C49C3}" dt="2022-08-16T02:40:34.716" v="22" actId="14100"/>
          <ac:picMkLst>
            <pc:docMk/>
            <pc:sldMk cId="3181039005" sldId="333"/>
            <ac:picMk id="2" creationId="{96337C8B-349C-61CA-B4B7-B54BD57F3DCA}"/>
          </ac:picMkLst>
        </pc:pic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19-06-29T17:12:36.270" idx="1">
    <p:pos x="84" y="4344"/>
    <p:text>En esta tabla se comparan las diversas tecnologías utilizadas para transmitir datos entre estaciones móviles. 
En primer lugar tenemos las WWAN (Wireless WAN) formadas por los sistemas de telefonía celular. GSM, el más antiguo, es una tecnología de conmutación de circuitos pensada fundamentalmente para voz, que permite velocidades de tan solo 9,6 Kb/s. Su sucesor es GPRS, que se está empezando a implementar en España. GPRS es un servicio pensado para datos que permite llegar a velocidades de hasta 170 Kb/s usando la misma infraestructura que GSM pero de una forma mucho más eficiente. La verdadera revolución en este campo será UMTS, que promete llegar a 2 Mb/s. El alcance máximo de estas tecnologías es de unos 35 Km en condiciones óptimas, aunque normalmente es mucho menor. 35 Km es la distancia máxima que se contempla en los retardos al diseñar una red GSM.
Las WMAN han sido las últimas en incorporarse a este grupo. Ofrecen un servicio que podemos considerar equivalente al de las conexiones ADSL o CATV.
A continuación tenemos las WLAN (Wireless LAN) basadas en el estándar 802.11. Este estándar se ha ido mejorando por medio de sucesivas ampliaciones que han permitido incrementar su velocidad de los 1-2 Mb/s originales a los 11-54 Mb/s actuales. Según la velocidad de transmisión estas redes pueden tener un alcance de hasta unos 70 a 150 m. 
En el rango menor de todos se encuentran las denominadas WPAN (Wireless Personal Area Network) que son redes de muy corto alcance (10 m). Esta categoría viene representada fundamentalmente por los productos Bluetooth que siguen el estándar IEEE 802.15. Estas redes usan ondas de radio con el sistema denominado FHSS.
dtddfy</p:text>
    <p:extLst>
      <p:ext uri="{C676402C-5697-4E1C-873F-D02D1690AC5C}">
        <p15:threadingInfo xmlns:p15="http://schemas.microsoft.com/office/powerpoint/2012/main" timeZoneBias="1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0FA033-6A0F-40A0-B1AD-B0ABD62C7308}" type="datetimeFigureOut">
              <a:rPr lang="es-AR" smtClean="0"/>
              <a:t>15/8/2022</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1427D4-FEF7-4F40-B849-3983321A8A11}" type="slidenum">
              <a:rPr lang="es-AR" smtClean="0"/>
              <a:t>‹Nº›</a:t>
            </a:fld>
            <a:endParaRPr lang="es-AR"/>
          </a:p>
        </p:txBody>
      </p:sp>
    </p:spTree>
    <p:extLst>
      <p:ext uri="{BB962C8B-B14F-4D97-AF65-F5344CB8AC3E}">
        <p14:creationId xmlns:p14="http://schemas.microsoft.com/office/powerpoint/2010/main" val="159156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n-lt"/>
                <a:ea typeface="+mn-ea"/>
                <a:cs typeface="+mn-cs"/>
              </a:rPr>
              <a:t>En esta tabla se comparan las diversas tecnologías utilizadas para transmitir datos entre estaciones móviles.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n-lt"/>
                <a:ea typeface="+mn-ea"/>
                <a:cs typeface="+mn-cs"/>
              </a:rPr>
              <a:t>En primer lugar tenemos las WWAN (Wireless WAN) formadas por los sistemas de telefonía celular. GSM, el más antiguo, es una tecnología de conmutación de circuitos pensada fundamentalmente para voz, que permite velocidades de tan solo 9,6 Kb/s. Su sucesor es GPRS, que se está empezando a implementar en España. GPRS es un servicio pensado para datos que permite llegar a velocidades de hasta 170 Kb/s usando la misma infraestructura que GSM pero de una forma mucho más eficiente. La verdadera revolución en este campo será UMTS, que promete llegar a 2 Mb/s. El alcance máximo de estas tecnologías es de unos 35 Km en condiciones óptimas, aunque normalmente es mucho menor. 35 Km es la distancia máxima que se contempla en los retardos al diseñar una red GSM.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600" b="0" i="0" u="none" strike="noStrike" kern="1200" cap="none" spc="0" normalizeH="0" baseline="0" noProof="0" dirty="0">
                <a:ln>
                  <a:noFill/>
                </a:ln>
                <a:solidFill>
                  <a:prstClr val="black"/>
                </a:solidFill>
                <a:effectLst/>
                <a:uLnTx/>
                <a:uFillTx/>
                <a:latin typeface="+mn-lt"/>
                <a:ea typeface="+mn-ea"/>
                <a:cs typeface="+mn-cs"/>
              </a:rPr>
              <a:t>Las WMAN han sido las últimas en incorporarse a este grupo. Ofrecen un servicio que podemos considerar equivalente al de las conexiones ADSL o CATV.</a:t>
            </a:r>
            <a:endParaRPr kumimoji="0" lang="es-ES" sz="16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n-lt"/>
                <a:ea typeface="+mn-ea"/>
                <a:cs typeface="+mn-cs"/>
              </a:rPr>
              <a:t>A continuación tenemos las WLAN (Wireless LAN) basadas en el estándar 802.11. Este estándar se ha ido mejorando por medio de sucesivas ampliaciones que han permitido incrementar su velocidad de los 1-2 Mb/s originales a los 11-54 Mb/s actuales. Según la velocidad de transmisión estas redes pueden tener un alcance de hasta unos 70 a 150 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black"/>
                </a:solidFill>
                <a:effectLst/>
                <a:uLnTx/>
                <a:uFillTx/>
                <a:latin typeface="+mn-lt"/>
                <a:ea typeface="+mn-ea"/>
                <a:cs typeface="+mn-cs"/>
              </a:rPr>
              <a:t>En el rango menor de todos se encuentran las denominadas WPAN (Wireless Personal Area Network) que son redes de muy corto alcance (10 m). Esta categoría viene representada fundamentalmente por los productos Bluetooth que siguen el estándar IEEE 802.15. Estas redes usan ondas de radio con el sistema denominado FHSS.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600" b="0" i="0" u="none" strike="noStrike" kern="1200" cap="none" spc="0" normalizeH="0" baseline="0" noProof="0" dirty="0">
              <a:ln>
                <a:noFill/>
              </a:ln>
              <a:solidFill>
                <a:prstClr val="black"/>
              </a:solidFill>
              <a:effectLst/>
              <a:uLnTx/>
              <a:uFillTx/>
              <a:latin typeface="+mn-lt"/>
              <a:ea typeface="+mn-ea"/>
              <a:cs typeface="+mn-cs"/>
            </a:endParaRPr>
          </a:p>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2</a:t>
            </a:fld>
            <a:endParaRPr lang="es-AR"/>
          </a:p>
        </p:txBody>
      </p:sp>
    </p:spTree>
    <p:extLst>
      <p:ext uri="{BB962C8B-B14F-4D97-AF65-F5344CB8AC3E}">
        <p14:creationId xmlns:p14="http://schemas.microsoft.com/office/powerpoint/2010/main" val="3080595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dirty="0"/>
              <a:t>En esta tabla se comparan las diversas tecnologías utilizadas para transmitir datos entre estaciones móviles. </a:t>
            </a:r>
          </a:p>
          <a:p>
            <a:r>
              <a:rPr lang="es-ES" sz="1200" dirty="0"/>
              <a:t>En primer lugar tenemos las WWAN (Wireless WAN) formadas por los sistemas de telefonía celular. GSM, el más antiguo, es una tecnología de conmutación de circuitos pensada fundamentalmente para voz, que permite velocidades de tan solo 9,6 Kb/s. Su sucesor es GPRS, que se está empezando a implementar en España. GPRS es un servicio pensado para datos que permite llegar a velocidades de hasta 170 Kb/s usando la misma infraestructura que GSM pero de una forma mucho más eficiente. La verdadera revolución en este campo será UMTS, que promete llegar a 2 Mb/s. El alcance máximo de estas tecnologías es de unos 35 Km en condiciones óptimas, aunque normalmente es mucho menor. 35 Km es la distancia máxima que se contempla en los retardos al diseñar una red GSM.</a:t>
            </a:r>
          </a:p>
          <a:p>
            <a:r>
              <a:rPr lang="es-ES_tradnl" sz="1200" dirty="0"/>
              <a:t>Las WMAN han sido las últimas en incorporarse a este grupo. Ofrecen un servicio que podemos considerar equivalente al de las conexiones ADSL o CATV.</a:t>
            </a:r>
            <a:endParaRPr lang="es-ES" sz="1200" dirty="0"/>
          </a:p>
          <a:p>
            <a:r>
              <a:rPr lang="es-ES" sz="1200" dirty="0"/>
              <a:t>A continuación tenemos las WLAN (Wireless LAN) basadas en el estándar 802.11. Este estándar se ha ido mejorando por medio de sucesivas ampliaciones que han permitido incrementar su velocidad de los 1-2 Mb/s originales a los 11-54 Mb/s actuales. Según la velocidad de transmisión estas redes pueden tener un alcance de hasta unos 70 a 150 m. </a:t>
            </a:r>
          </a:p>
          <a:p>
            <a:r>
              <a:rPr lang="es-ES" sz="1200" dirty="0"/>
              <a:t>En el rango menor de todos se encuentran las denominadas WPAN (Wireless Personal Area Network) que son redes de muy corto alcance (10 m). Esta categoría viene representada fundamentalmente por los productos Bluetooth que siguen el estándar IEEE 802.15. Estas redes usan ondas de radio con el sistema denominado FHSS.</a:t>
            </a:r>
          </a:p>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3</a:t>
            </a:fld>
            <a:endParaRPr lang="es-AR"/>
          </a:p>
        </p:txBody>
      </p:sp>
    </p:spTree>
    <p:extLst>
      <p:ext uri="{BB962C8B-B14F-4D97-AF65-F5344CB8AC3E}">
        <p14:creationId xmlns:p14="http://schemas.microsoft.com/office/powerpoint/2010/main" val="3675432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4</a:t>
            </a:fld>
            <a:endParaRPr lang="es-AR"/>
          </a:p>
        </p:txBody>
      </p:sp>
    </p:spTree>
    <p:extLst>
      <p:ext uri="{BB962C8B-B14F-4D97-AF65-F5344CB8AC3E}">
        <p14:creationId xmlns:p14="http://schemas.microsoft.com/office/powerpoint/2010/main" val="2273965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6</a:t>
            </a:fld>
            <a:endParaRPr lang="es-AR"/>
          </a:p>
        </p:txBody>
      </p:sp>
    </p:spTree>
    <p:extLst>
      <p:ext uri="{BB962C8B-B14F-4D97-AF65-F5344CB8AC3E}">
        <p14:creationId xmlns:p14="http://schemas.microsoft.com/office/powerpoint/2010/main" val="2209704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topología de un ESS (Extended Service Set) consiste en tener dos o más APs interconectados (normalmente por una LAN convencional), de forma que cada AP abarca una zona o celda que corresponde a su radio de alcance. Los usuarios pueden moverse libremente de una celda a otra y su conexión se establecerá automáticamente con el AP que tengan más cerca, o mas exactamente con aquel del que reciban una señal más potente.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También es posible realizar la comunicación entre los APs por un canal diferente y utilizar antenas direccionales. Esto aumenta el alcance permitiendo separar más los APs. Además permite que las celdas se sintonicen en canales diferentes, minimizando de esta forma las interferencias en la zona de solapamiento. Pero para que eso sea posible los APs deben disponer de dos emisores de radio.</a:t>
            </a:r>
          </a:p>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8</a:t>
            </a:fld>
            <a:endParaRPr lang="es-AR"/>
          </a:p>
        </p:txBody>
      </p:sp>
    </p:spTree>
    <p:extLst>
      <p:ext uri="{BB962C8B-B14F-4D97-AF65-F5344CB8AC3E}">
        <p14:creationId xmlns:p14="http://schemas.microsoft.com/office/powerpoint/2010/main" val="3724929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9</a:t>
            </a:fld>
            <a:endParaRPr lang="es-AR"/>
          </a:p>
        </p:txBody>
      </p:sp>
    </p:spTree>
    <p:extLst>
      <p:ext uri="{BB962C8B-B14F-4D97-AF65-F5344CB8AC3E}">
        <p14:creationId xmlns:p14="http://schemas.microsoft.com/office/powerpoint/2010/main" val="4149001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10</a:t>
            </a:fld>
            <a:endParaRPr lang="es-AR"/>
          </a:p>
        </p:txBody>
      </p:sp>
    </p:spTree>
    <p:extLst>
      <p:ext uri="{BB962C8B-B14F-4D97-AF65-F5344CB8AC3E}">
        <p14:creationId xmlns:p14="http://schemas.microsoft.com/office/powerpoint/2010/main" val="2513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11</a:t>
            </a:fld>
            <a:endParaRPr lang="es-AR"/>
          </a:p>
        </p:txBody>
      </p:sp>
    </p:spTree>
    <p:extLst>
      <p:ext uri="{BB962C8B-B14F-4D97-AF65-F5344CB8AC3E}">
        <p14:creationId xmlns:p14="http://schemas.microsoft.com/office/powerpoint/2010/main" val="37037510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lnSpc>
                <a:spcPct val="90000"/>
              </a:lnSpc>
            </a:pPr>
            <a:r>
              <a:rPr lang="es-ES" dirty="0"/>
              <a:t>Esta figura muestra como funciona el protocolo CSMA/CA en 802.11. Supongamos que una estación (A) desea transmitir una trama hacia B y detecta que el canal está libre. A espera el tiempo DIFS (50 ms) y a continuación empieza a transmitir. De esta forma se asegura que cualquier trama emitida en la red irá separada de la anterior al menos por este espacio de tiempo.</a:t>
            </a:r>
          </a:p>
          <a:p>
            <a:pPr eaLnBrk="1" hangingPunct="1">
              <a:lnSpc>
                <a:spcPct val="90000"/>
              </a:lnSpc>
            </a:pPr>
            <a:r>
              <a:rPr lang="es-ES" dirty="0"/>
              <a:t>Una vez ha terminado de emitir su trama A espera una confirmación (ACK) de B. Dicha confirmación es un mensaje de alta prioridad, por lo que no ha de esperar el tiempo habitual (DIFS) después de que termine la trama de A, sino que solo ha de esperar el tiempo SIFS (10 ms). Durante el tiempo SIFS B ha calculado y comprobado que el CRC de la trama que ha recibido de A es correcto.</a:t>
            </a:r>
          </a:p>
          <a:p>
            <a:pPr eaLnBrk="1" hangingPunct="1">
              <a:lnSpc>
                <a:spcPct val="90000"/>
              </a:lnSpc>
            </a:pPr>
            <a:r>
              <a:rPr lang="es-ES" dirty="0"/>
              <a:t>En algún momento durante la emisión de la trama de A C desea enviar una trama a D (no mostrado en la figura). Como detecta que el canal está ocupado C espera, y cuando se produce el ACK de B C sigue esperando, ya que no se ha llegado a producir una pausa lo bastante grande (50 ms)  en ningún momento. Cuando por fin termina el ACK de B C empieza a contar el tiempo y cuando pasan 50 ms (DIFS) sabe que el canal está libre. Entonces no transmite de inmediato sino después del tiempo aleatorio que ha calculado. Esto reduce el riesgo de colisión con otras estaciones que pudieran también estar observando el proceso de A y B y esperando para transmitir a continuación. Si durante el tiempo aleatorio C detecta que alguna estación transmite congelará su contador de tiempo aleatorio para volver a activarlo 50 ms (DIFS) después de que haya cesado toda actividad.</a:t>
            </a:r>
          </a:p>
          <a:p>
            <a:pPr eaLnBrk="1" hangingPunct="1">
              <a:lnSpc>
                <a:spcPct val="90000"/>
              </a:lnSpc>
            </a:pPr>
            <a:r>
              <a:rPr lang="es-ES" dirty="0"/>
              <a:t>Obsérvese el diferente comportamiento de A y C. Mientras que A transmite inmediatamente después de esperar el tiempo DIFS C tiene que esperar además un tiempo aleatorio. Esto se debe a que cuando A quiso transmitir el medio estaba libre, mientras que cuando lo hizo C no lo estaba.</a:t>
            </a:r>
          </a:p>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12</a:t>
            </a:fld>
            <a:endParaRPr lang="es-AR"/>
          </a:p>
        </p:txBody>
      </p:sp>
    </p:spTree>
    <p:extLst>
      <p:ext uri="{BB962C8B-B14F-4D97-AF65-F5344CB8AC3E}">
        <p14:creationId xmlns:p14="http://schemas.microsoft.com/office/powerpoint/2010/main" val="24900279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r>
              <a:rPr lang="es-ES" dirty="0"/>
              <a:t>El problema de la estación oculta es una consecuencia del hecho de que en una red inalámbrica no todas las estaciones tienen por que ver a todas las demás. Esto provoca situaciones problemáticas como la que aparece en la figura.</a:t>
            </a:r>
          </a:p>
          <a:p>
            <a:pPr eaLnBrk="1" hangingPunct="1"/>
            <a:r>
              <a:rPr lang="es-ES" dirty="0"/>
              <a:t>Supongamos que A quiere enviar una trama a B. A detecta que el canal está libre y empieza a transmitir. Instantes más tarde, cuando A está aún transmitiendo, C quiere también enviar una trama a B; C detecta que el canal está libre, ya que el no está recibiendo la emisión de A pues se encuentra fuera de su radio de cobertura. Por tanto C empieza a transmitir y en B se produce una colisión. Como consecuencia B no recibe correctamente ni la trama de A ni la de C. </a:t>
            </a:r>
          </a:p>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13</a:t>
            </a:fld>
            <a:endParaRPr lang="es-AR"/>
          </a:p>
        </p:txBody>
      </p:sp>
    </p:spTree>
    <p:extLst>
      <p:ext uri="{BB962C8B-B14F-4D97-AF65-F5344CB8AC3E}">
        <p14:creationId xmlns:p14="http://schemas.microsoft.com/office/powerpoint/2010/main" val="974252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r>
              <a:rPr lang="es-ES" dirty="0"/>
              <a:t>El emisor (A) envía un mensaje RTS (Request To Send) a B en el que le advierte de su deseo de enviarle una trama; además en dicho mensaje A le informa de la duración de la misma. Este mensaje no es recibido por C.</a:t>
            </a:r>
          </a:p>
          <a:p>
            <a:pPr eaLnBrk="1" hangingPunct="1"/>
            <a:r>
              <a:rPr lang="es-ES" dirty="0"/>
              <a:t>Como respuesta al mensaje de A B envía un CTS (Clear To Send) en el que le confirma su disposición a recibir la trama que A le anuncia. Dicho mensaje CTS lleva también indicada la duración de la trama que B espera recibir de A. </a:t>
            </a:r>
          </a:p>
          <a:p>
            <a:pPr eaLnBrk="1" hangingPunct="1"/>
            <a:r>
              <a:rPr lang="es-ES" dirty="0"/>
              <a:t>C no recibe el mensaje RTS enviado por A, pero sí recibe el CTS enviado por B. Del contenido del mensaje CTS C puede saber cuanto tiempo estará ocupado el canal , pues el mensaje indica la duración de la trama a transmitir.</a:t>
            </a:r>
          </a:p>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14</a:t>
            </a:fld>
            <a:endParaRPr lang="es-AR"/>
          </a:p>
        </p:txBody>
      </p:sp>
    </p:spTree>
    <p:extLst>
      <p:ext uri="{BB962C8B-B14F-4D97-AF65-F5344CB8AC3E}">
        <p14:creationId xmlns:p14="http://schemas.microsoft.com/office/powerpoint/2010/main" val="4432953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15</a:t>
            </a:fld>
            <a:endParaRPr lang="es-AR"/>
          </a:p>
        </p:txBody>
      </p:sp>
    </p:spTree>
    <p:extLst>
      <p:ext uri="{BB962C8B-B14F-4D97-AF65-F5344CB8AC3E}">
        <p14:creationId xmlns:p14="http://schemas.microsoft.com/office/powerpoint/2010/main" val="3884536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16</a:t>
            </a:fld>
            <a:endParaRPr lang="es-AR"/>
          </a:p>
        </p:txBody>
      </p:sp>
    </p:spTree>
    <p:extLst>
      <p:ext uri="{BB962C8B-B14F-4D97-AF65-F5344CB8AC3E}">
        <p14:creationId xmlns:p14="http://schemas.microsoft.com/office/powerpoint/2010/main" val="29046521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18</a:t>
            </a:fld>
            <a:endParaRPr lang="es-AR"/>
          </a:p>
        </p:txBody>
      </p:sp>
    </p:spTree>
    <p:extLst>
      <p:ext uri="{BB962C8B-B14F-4D97-AF65-F5344CB8AC3E}">
        <p14:creationId xmlns:p14="http://schemas.microsoft.com/office/powerpoint/2010/main" val="3338374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19</a:t>
            </a:fld>
            <a:endParaRPr lang="es-AR"/>
          </a:p>
        </p:txBody>
      </p:sp>
    </p:spTree>
    <p:extLst>
      <p:ext uri="{BB962C8B-B14F-4D97-AF65-F5344CB8AC3E}">
        <p14:creationId xmlns:p14="http://schemas.microsoft.com/office/powerpoint/2010/main" val="39851837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25</a:t>
            </a:fld>
            <a:endParaRPr lang="es-AR"/>
          </a:p>
        </p:txBody>
      </p:sp>
    </p:spTree>
    <p:extLst>
      <p:ext uri="{BB962C8B-B14F-4D97-AF65-F5344CB8AC3E}">
        <p14:creationId xmlns:p14="http://schemas.microsoft.com/office/powerpoint/2010/main" val="9199347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26</a:t>
            </a:fld>
            <a:endParaRPr lang="es-AR"/>
          </a:p>
        </p:txBody>
      </p:sp>
    </p:spTree>
    <p:extLst>
      <p:ext uri="{BB962C8B-B14F-4D97-AF65-F5344CB8AC3E}">
        <p14:creationId xmlns:p14="http://schemas.microsoft.com/office/powerpoint/2010/main" val="22361343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30</a:t>
            </a:fld>
            <a:endParaRPr lang="es-AR"/>
          </a:p>
        </p:txBody>
      </p:sp>
    </p:spTree>
    <p:extLst>
      <p:ext uri="{BB962C8B-B14F-4D97-AF65-F5344CB8AC3E}">
        <p14:creationId xmlns:p14="http://schemas.microsoft.com/office/powerpoint/2010/main" val="35373466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31</a:t>
            </a:fld>
            <a:endParaRPr lang="es-AR"/>
          </a:p>
        </p:txBody>
      </p:sp>
    </p:spTree>
    <p:extLst>
      <p:ext uri="{BB962C8B-B14F-4D97-AF65-F5344CB8AC3E}">
        <p14:creationId xmlns:p14="http://schemas.microsoft.com/office/powerpoint/2010/main" val="14768505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0" algn="just" fontAlgn="base">
              <a:spcBef>
                <a:spcPct val="30000"/>
              </a:spcBef>
              <a:spcAft>
                <a:spcPct val="0"/>
              </a:spcAft>
            </a:pPr>
            <a:r>
              <a:rPr lang="es-ES" dirty="0">
                <a:solidFill>
                  <a:srgbClr val="000000"/>
                </a:solidFill>
                <a:latin typeface="Times New Roman" pitchFamily="18" charset="0"/>
              </a:rPr>
              <a:t>La interferencia debida a la multitrayectoria afecta de forma importante a las emisiones de radio. El problema se debe a que la onda electromagnética no solo llega al receptor en línea recta, sino que también llega reflejada por objetos sólidos presentes entre el emisor y el receptor. Dependiendo de la ubicación concreta de uno y otro (mas concretamente de sus antenas) la onda reflejada puede o no llegar al receptor. Si llega el receptor tendrá problemas pues la onda reflejada, al hacer un camino más largo, llega más tarde por lo que no coincide con la onda original. Normalmente la onda recibida directamente es más intensa, pero a menudo la onda reflejada no tiene una intensidad despreciable por lo que es percibida como una molesta interferencia por el receptor. A menudo pequeñas variaciones en la ubicación de la antena del emisor o del receptor provocan cambios significativos, para bien o para mal, en la cantidad de interferencia recibida como consecuencia de la multitrayectoria. Este fenómeno se puede observar claramente a veces cuando oímos la radio de FM en un coche en la cola de un semáforo: en ocasiones observamos como pequeñas variaciones  de 2 ó 3 metros en la ubicación del coche tienen efectos dramáticos en la calidad de la señal de radio recibida de una emisora; sin embargo para otra emisora el comportamiento puede ser diferente.</a:t>
            </a:r>
          </a:p>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32</a:t>
            </a:fld>
            <a:endParaRPr lang="es-AR"/>
          </a:p>
        </p:txBody>
      </p:sp>
    </p:spTree>
    <p:extLst>
      <p:ext uri="{BB962C8B-B14F-4D97-AF65-F5344CB8AC3E}">
        <p14:creationId xmlns:p14="http://schemas.microsoft.com/office/powerpoint/2010/main" val="37784120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r>
              <a:rPr lang="es-ES" dirty="0"/>
              <a:t>Las antenas diversidad son una aportación reciente a las LANs inalámbricas para reducir los problemas producidos por la multitrayectoria. Normalmente se implementan en los puntos de acceso ya que estos dispositivos se encuentran en comunicación con todas las estaciones de la red.</a:t>
            </a:r>
          </a:p>
          <a:p>
            <a:pPr eaLnBrk="1" hangingPunct="1"/>
            <a:r>
              <a:rPr lang="es-ES" dirty="0"/>
              <a:t>La antena diversidad consiste en dos antenas reales que se conectan por separado al receptor de radio. Cuando el equipo recibe una trama prueba a utilizar ambas antenas y elige la que considera más conveniente. El sondeo se realiza mientras recibe el preámbulo de la trama, que por ejemplo en el caso de DSSS tiene una longitud de 128 bits (que a 11 Mb/s equivale a 11,6 microsegundos).</a:t>
            </a:r>
          </a:p>
          <a:p>
            <a:pPr eaLnBrk="1" hangingPunct="1"/>
            <a:r>
              <a:rPr lang="es-ES" dirty="0"/>
              <a:t>Cuando ha de emitir una trama a una estación el emisor no puede saber cual de las dos antenas es la más adecuada. En este caso se utiliza la antena que dió mejor calidad la última vez que se recibió una trama de dicha estación. Si la emisión falla se reintenta enviando la trama por la otra antena.</a:t>
            </a:r>
          </a:p>
          <a:p>
            <a:pPr eaLnBrk="1" hangingPunct="1"/>
            <a:r>
              <a:rPr lang="es-ES" dirty="0"/>
              <a:t>Es importante observar que las dos antenas de una antena diversidad cubren la misma zona, no se pueden utilizar para cubrir zonas diferentes.</a:t>
            </a:r>
          </a:p>
          <a:p>
            <a:pPr eaLnBrk="1" hangingPunct="1"/>
            <a:r>
              <a:rPr lang="es-ES" dirty="0"/>
              <a:t>Puede resultar sorprendente como una diferencia de unos centímetros puede suponer una diferencia significativa en el efecto multitrayectoria de la señal recibida o emitida por una antena diversidad, cuando en el caso de una emisión de FM hacía falta mover el coche algunos metros. Pero debemos tener en cuenta que la longitud de onda de una emisión de FM es de unos 3 m, mientras que la longitud de onda de las emisiones de 2,4 GHz es de 12,5 cm. El efecto de las antenas diversidad es perceptible con diferencias de ubicación de ¼ de la longitud de onda.</a:t>
            </a:r>
          </a:p>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33</a:t>
            </a:fld>
            <a:endParaRPr lang="es-AR"/>
          </a:p>
        </p:txBody>
      </p:sp>
    </p:spTree>
    <p:extLst>
      <p:ext uri="{BB962C8B-B14F-4D97-AF65-F5344CB8AC3E}">
        <p14:creationId xmlns:p14="http://schemas.microsoft.com/office/powerpoint/2010/main" val="11308420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r>
              <a:rPr lang="es-ES" dirty="0"/>
              <a:t>Esta tabla muestra la relación de canales que se definen en la banda de 2,4 GHz para su uso en 802.11b/g.</a:t>
            </a:r>
          </a:p>
          <a:p>
            <a:pPr eaLnBrk="1" hangingPunct="1"/>
            <a:r>
              <a:rPr lang="es-ES" dirty="0"/>
              <a:t>Hasta el año 2001 España y Francia tenían una normativa diferente y más restrictiva que el resto de Europa en lo que se refiere a los canales 802.11 b/g, de forma que sólo era posible utilizar dos canales (concretamente en el caso español los canales  10 y 11). Aunque los equipos que se comercializan actualmente en España ya permiten utilizar los 13 canales autorizados en Europa los equipos antiguos solo permiten utilizar los canales 10 y 11. En ocasiones el firmware puede actualizarse para que puedan trabajar en los canales europeos, pero no siempre. Esto puede dar lugar a problemas de compatibilidad cuando se mezclan equipos nuevos y antiguos en una misma red, ya que puede que los equipos nuevos elijan funcionar en un canal que no esté disponible para los equipos antiguos. Además los canales 10 y 11 se solapan mucho de forma que no es posible solapar zonas de cobertura sin que se produzcan interferencias entre ellas.</a:t>
            </a:r>
          </a:p>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34</a:t>
            </a:fld>
            <a:endParaRPr lang="es-AR"/>
          </a:p>
        </p:txBody>
      </p:sp>
    </p:spTree>
    <p:extLst>
      <p:ext uri="{BB962C8B-B14F-4D97-AF65-F5344CB8AC3E}">
        <p14:creationId xmlns:p14="http://schemas.microsoft.com/office/powerpoint/2010/main" val="4147652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r>
              <a:rPr lang="es-ES" dirty="0"/>
              <a:t>Esta figura muestra la división en canales de la banda de 2,4 GHz. Cada canal está desplazado 5 MHz respecto al anterior (excepto el canal 14) y tiene una anchura de 22 MHz, por lo que los canales contiguos se solapan. </a:t>
            </a:r>
          </a:p>
          <a:p>
            <a:pPr eaLnBrk="1" hangingPunct="1"/>
            <a:r>
              <a:rPr lang="es-ES" dirty="0"/>
              <a:t>Cuando se instala una red inalámbrica utilizando varios APs para cubrir una zona se eligen canales no solapados,,de forma que aunque la zona de cobertura de APs vecinos se solape no haya interferencia entre ellos al utilizar frecuencias diferentes. </a:t>
            </a:r>
          </a:p>
          <a:p>
            <a:pPr eaLnBrk="1" hangingPunct="1"/>
            <a:r>
              <a:rPr lang="es-ES" dirty="0"/>
              <a:t>En América y China los canales habitualmente utilizados son el 1, el 6 y el 11. En Japón se puede disponer de cuatro canales no solapados, el 1, el 6, el 11 y el 14. En Israel se puede utilizar solo dos canales sin solapamiento entre ellos.</a:t>
            </a:r>
          </a:p>
          <a:p>
            <a:pPr eaLnBrk="1" hangingPunct="1"/>
            <a:r>
              <a:rPr lang="es-ES" dirty="0"/>
              <a:t>En el caso de Europa en principio se podrían utilizar los canales 1, 5, 9 y 13. Pero en ese caso los canales están completamente contiguos, por lo que se produce cierta interferencia entre ellos. Por ese motivo normalmente se utilizan solo tres canales; en ese caso la máxima separación se consigue utilizando el 1, el 7 y el 13.</a:t>
            </a:r>
          </a:p>
          <a:p>
            <a:pPr eaLnBrk="1" hangingPunct="1"/>
            <a:r>
              <a:rPr lang="es-ES" dirty="0"/>
              <a:t>La diversidad de canales entre regiones tiene importancia por cuestiones de compatibilidad, especialmente importantes en equipos móviles. Por ejemplo supongamos que un profesor de Estados Unidos va a Europa con su ordenador portátil e intenta trabajar en una red configurada para utilizar los canales 1, 7 y 13. Mientras se conecte a APs que utilicen los canales 1 ó 7 no tendrá ningún problema, pero si esta en el area de cobertura de un AP que usa el canal 13 no podrá conectar pues su interfaz inalámbrica no se lo permite. En este sentido los que menos problema tienen son los portátiles japoneses, que podrán trabajar en cualquier red.</a:t>
            </a:r>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35</a:t>
            </a:fld>
            <a:endParaRPr lang="es-AR"/>
          </a:p>
        </p:txBody>
      </p:sp>
    </p:spTree>
    <p:extLst>
      <p:ext uri="{BB962C8B-B14F-4D97-AF65-F5344CB8AC3E}">
        <p14:creationId xmlns:p14="http://schemas.microsoft.com/office/powerpoint/2010/main" val="28922060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36</a:t>
            </a:fld>
            <a:endParaRPr lang="es-AR"/>
          </a:p>
        </p:txBody>
      </p:sp>
    </p:spTree>
    <p:extLst>
      <p:ext uri="{BB962C8B-B14F-4D97-AF65-F5344CB8AC3E}">
        <p14:creationId xmlns:p14="http://schemas.microsoft.com/office/powerpoint/2010/main" val="38777985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hdr" sz="quarter"/>
          </p:nvPr>
        </p:nvSpPr>
        <p:spPr>
          <a:xfrm>
            <a:off x="0" y="0"/>
            <a:ext cx="2940050" cy="493713"/>
          </a:xfrm>
          <a:prstGeom prst="rect">
            <a:avLst/>
          </a:prstGeom>
          <a:noFill/>
        </p:spPr>
        <p:txBody>
          <a:bodyPr/>
          <a:lstStyle/>
          <a:p>
            <a:r>
              <a:rPr lang="es-ES">
                <a:solidFill>
                  <a:srgbClr val="000000"/>
                </a:solidFill>
              </a:rPr>
              <a:t>Redes Inalámbricas y Movilidad</a:t>
            </a:r>
          </a:p>
        </p:txBody>
      </p:sp>
      <p:sp>
        <p:nvSpPr>
          <p:cNvPr id="276483" name="Rectangle 6"/>
          <p:cNvSpPr>
            <a:spLocks noGrp="1" noChangeArrowheads="1"/>
          </p:cNvSpPr>
          <p:nvPr>
            <p:ph type="ftr" sz="quarter" idx="4"/>
          </p:nvPr>
        </p:nvSpPr>
        <p:spPr>
          <a:noFill/>
        </p:spPr>
        <p:txBody>
          <a:bodyPr/>
          <a:lstStyle/>
          <a:p>
            <a:r>
              <a:rPr lang="es-ES">
                <a:solidFill>
                  <a:srgbClr val="000000"/>
                </a:solidFill>
              </a:rPr>
              <a:t>Ampliación Redes</a:t>
            </a:r>
          </a:p>
        </p:txBody>
      </p:sp>
      <p:sp>
        <p:nvSpPr>
          <p:cNvPr id="276484" name="Rectangle 7"/>
          <p:cNvSpPr>
            <a:spLocks noGrp="1" noChangeArrowheads="1"/>
          </p:cNvSpPr>
          <p:nvPr>
            <p:ph type="sldNum" sz="quarter" idx="5"/>
          </p:nvPr>
        </p:nvSpPr>
        <p:spPr>
          <a:noFill/>
        </p:spPr>
        <p:txBody>
          <a:bodyPr/>
          <a:lstStyle/>
          <a:p>
            <a:r>
              <a:rPr lang="es-ES">
                <a:solidFill>
                  <a:srgbClr val="000000"/>
                </a:solidFill>
              </a:rPr>
              <a:t>5-</a:t>
            </a:r>
            <a:fld id="{71A65EB2-9966-43AA-9B28-9B784A45B90D}" type="slidenum">
              <a:rPr lang="es-ES">
                <a:solidFill>
                  <a:srgbClr val="000000"/>
                </a:solidFill>
              </a:rPr>
              <a:pPr/>
              <a:t>37</a:t>
            </a:fld>
            <a:endParaRPr lang="es-ES">
              <a:solidFill>
                <a:srgbClr val="000000"/>
              </a:solidFill>
            </a:endParaRPr>
          </a:p>
        </p:txBody>
      </p:sp>
      <p:sp>
        <p:nvSpPr>
          <p:cNvPr id="276485" name="Rectangle 2"/>
          <p:cNvSpPr>
            <a:spLocks noGrp="1" noRot="1" noChangeAspect="1" noChangeArrowheads="1" noTextEdit="1"/>
          </p:cNvSpPr>
          <p:nvPr>
            <p:ph type="sldImg"/>
          </p:nvPr>
        </p:nvSpPr>
        <p:spPr>
          <a:ln/>
        </p:spPr>
      </p:sp>
      <p:sp>
        <p:nvSpPr>
          <p:cNvPr id="276486" name="Rectangle 3"/>
          <p:cNvSpPr>
            <a:spLocks noGrp="1" noChangeArrowheads="1"/>
          </p:cNvSpPr>
          <p:nvPr>
            <p:ph type="body" idx="1"/>
          </p:nvPr>
        </p:nvSpPr>
        <p:spPr>
          <a:noFill/>
          <a:ln/>
        </p:spPr>
        <p:txBody>
          <a:bodyPr/>
          <a:lstStyle/>
          <a:p>
            <a:pPr eaLnBrk="1" hangingPunct="1"/>
            <a:endParaRPr lang="es-ES"/>
          </a:p>
        </p:txBody>
      </p:sp>
    </p:spTree>
    <p:extLst>
      <p:ext uri="{BB962C8B-B14F-4D97-AF65-F5344CB8AC3E}">
        <p14:creationId xmlns:p14="http://schemas.microsoft.com/office/powerpoint/2010/main" val="5400324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Hasta hace algunos años ETH</a:t>
            </a:r>
            <a:r>
              <a:rPr lang="es-MX" baseline="0" dirty="0"/>
              <a:t> tambien era compartido, desde la aparición de los switches a precios módicos, se transformó en full duplex y no compartido</a:t>
            </a:r>
          </a:p>
          <a:p>
            <a:endParaRPr lang="es-MX" baseline="0" dirty="0"/>
          </a:p>
          <a:p>
            <a:r>
              <a:rPr lang="es-MX" baseline="0" dirty="0"/>
              <a:t>La situación es CSNM/CD de ethernet perdió sentido, sin embrago CSMA/CA de wifi sigue vigente</a:t>
            </a:r>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44</a:t>
            </a:fld>
            <a:endParaRPr lang="es-AR"/>
          </a:p>
        </p:txBody>
      </p:sp>
    </p:spTree>
    <p:extLst>
      <p:ext uri="{BB962C8B-B14F-4D97-AF65-F5344CB8AC3E}">
        <p14:creationId xmlns:p14="http://schemas.microsoft.com/office/powerpoint/2010/main" val="34619904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45</a:t>
            </a:fld>
            <a:endParaRPr lang="es-AR"/>
          </a:p>
        </p:txBody>
      </p:sp>
    </p:spTree>
    <p:extLst>
      <p:ext uri="{BB962C8B-B14F-4D97-AF65-F5344CB8AC3E}">
        <p14:creationId xmlns:p14="http://schemas.microsoft.com/office/powerpoint/2010/main" val="24093929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100000"/>
              </a:lnSpc>
              <a:spcBef>
                <a:spcPct val="30000"/>
              </a:spcBef>
              <a:spcAft>
                <a:spcPct val="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Times New Roman" pitchFamily="18" charset="0"/>
                <a:ea typeface="+mn-ea"/>
                <a:cs typeface="+mn-cs"/>
              </a:rPr>
              <a:t>Los puentes inalámbricos permiten unir redes físicamente separadas entre sí sin necesidad de tender cables. En algunos casos, como cuando se ha de atravesar una vía pública, esto supone un ahorro considerable frente al alquiler de circuitos dedicados, quedando amortizado en poco tiempo el costo de la infraestructura. Además permite la conexión a una velocidad mayor de lo que normalmente es posible en enlaces telefónicos.</a:t>
            </a:r>
          </a:p>
          <a:p>
            <a:pPr marL="0" marR="0" lvl="0" indent="0" algn="just" defTabSz="914400" rtl="0" eaLnBrk="1" fontAlgn="base" latinLnBrk="0" hangingPunct="1">
              <a:lnSpc>
                <a:spcPct val="100000"/>
              </a:lnSpc>
              <a:spcBef>
                <a:spcPct val="30000"/>
              </a:spcBef>
              <a:spcAft>
                <a:spcPct val="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Times New Roman" pitchFamily="18" charset="0"/>
                <a:ea typeface="+mn-ea"/>
                <a:cs typeface="+mn-cs"/>
              </a:rPr>
              <a:t>A pesar de sus ventajas conviene saber cuales son las limitaciones de los enlaces entre puentes inalámbricos. Por un lado, aunque se realice un enlace punto a punto entre dos puentes la comunicación vía radio es half duplex, ya que ambos sentidos de la comunicación comparten un canal. Por otro lado tenemos el bajo rendimiento de las LANs inalámbricas, que significa que una velocidad de 11 Mb/s se queda en unos 6 Mb/s. Por comparación un enlace dedicado convencional de ‘tan solo’ 2 Mb/s es full duplex y tiene un rendimiento muy cercano al 100%, por lo que puede soportar un caudal total muy próximo a los 4 Mb/s.</a:t>
            </a:r>
          </a:p>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47</a:t>
            </a:fld>
            <a:endParaRPr lang="es-AR"/>
          </a:p>
        </p:txBody>
      </p:sp>
    </p:spTree>
    <p:extLst>
      <p:ext uri="{BB962C8B-B14F-4D97-AF65-F5344CB8AC3E}">
        <p14:creationId xmlns:p14="http://schemas.microsoft.com/office/powerpoint/2010/main" val="18111423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r>
              <a:rPr lang="es-ES" dirty="0"/>
              <a:t>Físicamente el puente inalámbrico es similar a un punto de acceso, con las adaptaciones necesarias para su nueva función. Dado que el puente es normalmente un dispositivo estático se pueden utilizar antenas muy direccionales para concentrar el haz radioeléctrico en la dirección de la otra antena con la que se desea contactar. Con las condiciones de emisión permitidas en Europa y antenas parabólicas, que son las que ofrecen mayor ganancia (20 dBi), es posible llegar hasta una distancia de 13 Km (a 1 Mb/s) siempre y cuando se disponga de visión directa entre las antenas.</a:t>
            </a:r>
          </a:p>
          <a:p>
            <a:pPr eaLnBrk="1" hangingPunct="1"/>
            <a:r>
              <a:rPr lang="es-ES" dirty="0"/>
              <a:t>A menudo las antenas se colocan en el exterior del edificio, para minimizar el riesgo de que se presenten obstáculos en el camino. Esto conlleva que a menudo se requiera un cable de conexión de cierta longitud entre el puente y la antena. A estas frecuencias la atenuación de la señal producida por el cable es considerable, por lo que es importante minimizar el trayecto de este cable y utilizar en cualquier caso cable de baja atenuación, lo cual significa que se debe instalar el puente lo más cerca posible de la antena alargando el cable de la LAN en caso necesario</a:t>
            </a:r>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48</a:t>
            </a:fld>
            <a:endParaRPr lang="es-AR"/>
          </a:p>
        </p:txBody>
      </p:sp>
    </p:spTree>
    <p:extLst>
      <p:ext uri="{BB962C8B-B14F-4D97-AF65-F5344CB8AC3E}">
        <p14:creationId xmlns:p14="http://schemas.microsoft.com/office/powerpoint/2010/main" val="40097902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49</a:t>
            </a:fld>
            <a:endParaRPr lang="es-AR"/>
          </a:p>
        </p:txBody>
      </p:sp>
    </p:spTree>
    <p:extLst>
      <p:ext uri="{BB962C8B-B14F-4D97-AF65-F5344CB8AC3E}">
        <p14:creationId xmlns:p14="http://schemas.microsoft.com/office/powerpoint/2010/main" val="977601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51</a:t>
            </a:fld>
            <a:endParaRPr lang="es-AR"/>
          </a:p>
        </p:txBody>
      </p:sp>
    </p:spTree>
    <p:extLst>
      <p:ext uri="{BB962C8B-B14F-4D97-AF65-F5344CB8AC3E}">
        <p14:creationId xmlns:p14="http://schemas.microsoft.com/office/powerpoint/2010/main" val="6431710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52</a:t>
            </a:fld>
            <a:endParaRPr lang="es-AR"/>
          </a:p>
        </p:txBody>
      </p:sp>
    </p:spTree>
    <p:extLst>
      <p:ext uri="{BB962C8B-B14F-4D97-AF65-F5344CB8AC3E}">
        <p14:creationId xmlns:p14="http://schemas.microsoft.com/office/powerpoint/2010/main" val="22358268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r>
              <a:rPr lang="es-ES" dirty="0"/>
              <a:t>También es posible interconectar entre sí varios edificios en una configuración multipunto, lo cual supone un ahorro en el número de equipos a instalar. Como es lógico en este caso la capacidad será compartida por todos ellos de acuerdo al protocolo CSMA/CA, y será conveniente utilizar mensajes RTS/CTS pues puede haber estaciones ocultas.</a:t>
            </a:r>
          </a:p>
          <a:p>
            <a:pPr eaLnBrk="1" hangingPunct="1"/>
            <a:r>
              <a:rPr lang="es-ES" dirty="0"/>
              <a:t>El tipo y configuración de las antenas a ubicar en cada edificio dependerá de la distancia y la situación concreta de cada caso.</a:t>
            </a:r>
          </a:p>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53</a:t>
            </a:fld>
            <a:endParaRPr lang="es-AR"/>
          </a:p>
        </p:txBody>
      </p:sp>
    </p:spTree>
    <p:extLst>
      <p:ext uri="{BB962C8B-B14F-4D97-AF65-F5344CB8AC3E}">
        <p14:creationId xmlns:p14="http://schemas.microsoft.com/office/powerpoint/2010/main" val="41921674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100000"/>
              </a:lnSpc>
              <a:spcBef>
                <a:spcPct val="30000"/>
              </a:spcBef>
              <a:spcAft>
                <a:spcPct val="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Times New Roman" pitchFamily="18" charset="0"/>
                <a:ea typeface="+mn-ea"/>
                <a:cs typeface="+mn-cs"/>
              </a:rPr>
              <a:t>Si necesitamos cubrir una distancia mayor que el alcance de los equipos es posible instalar un repetidor intermedio, como se muestra en esta figura.</a:t>
            </a:r>
          </a:p>
          <a:p>
            <a:pPr marL="0" marR="0" lvl="0" indent="0" algn="just" defTabSz="914400" rtl="0" eaLnBrk="1" fontAlgn="base" latinLnBrk="0" hangingPunct="1">
              <a:lnSpc>
                <a:spcPct val="100000"/>
              </a:lnSpc>
              <a:spcBef>
                <a:spcPct val="30000"/>
              </a:spcBef>
              <a:spcAft>
                <a:spcPct val="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Times New Roman" pitchFamily="18" charset="0"/>
                <a:ea typeface="+mn-ea"/>
                <a:cs typeface="+mn-cs"/>
              </a:rPr>
              <a:t>En la primera configuración se trata de dos enlaces punto a punto independientes; cada uno tendrá la capacidad para el solo. Para minimizar la interferencia se ha utilizado un canal diferente en cada caso.</a:t>
            </a:r>
          </a:p>
          <a:p>
            <a:pPr marL="0" marR="0" lvl="0" indent="0" algn="just" defTabSz="914400" rtl="0" eaLnBrk="1" fontAlgn="base" latinLnBrk="0" hangingPunct="1">
              <a:lnSpc>
                <a:spcPct val="100000"/>
              </a:lnSpc>
              <a:spcBef>
                <a:spcPct val="30000"/>
              </a:spcBef>
              <a:spcAft>
                <a:spcPct val="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Times New Roman" pitchFamily="18" charset="0"/>
                <a:ea typeface="+mn-ea"/>
                <a:cs typeface="+mn-cs"/>
              </a:rPr>
              <a:t>E la segunda los dos enlaces comparten el mismo puente en el edificio B. Por tanto los tres equipos funcionan compartiendo el mismo canal y la capacidad disponible se reparte entre los dos enlaces. Es interesante el hecho de que en esta segunda configuración se puede presentar el problema de la estación oculta, ya que los puentes del edificio A y del C no se ven directamente. Por tanto en este caso deberemos habilitar la portadora virtual, o lo que es lo mismo el uso de mensajes RTS/CTS. </a:t>
            </a:r>
          </a:p>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54</a:t>
            </a:fld>
            <a:endParaRPr lang="es-AR"/>
          </a:p>
        </p:txBody>
      </p:sp>
    </p:spTree>
    <p:extLst>
      <p:ext uri="{BB962C8B-B14F-4D97-AF65-F5344CB8AC3E}">
        <p14:creationId xmlns:p14="http://schemas.microsoft.com/office/powerpoint/2010/main" val="2289344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100000"/>
              </a:lnSpc>
              <a:spcBef>
                <a:spcPct val="30000"/>
              </a:spcBef>
              <a:spcAft>
                <a:spcPct val="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Times New Roman" pitchFamily="18" charset="0"/>
                <a:ea typeface="+mn-ea"/>
                <a:cs typeface="+mn-cs"/>
              </a:rPr>
              <a:t>Esta es otra configuración interesante en la que se conectan dos redes utilizando en paralelo tres enlaces inalámbricos. Aquí es imprescindible utilizar canales diferentes no solapados. Normalmente el router se encargaría de repartir el tráfico entre los tres enlaces de la forma mas equilibrada posible.</a:t>
            </a:r>
          </a:p>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55</a:t>
            </a:fld>
            <a:endParaRPr lang="es-AR"/>
          </a:p>
        </p:txBody>
      </p:sp>
    </p:spTree>
    <p:extLst>
      <p:ext uri="{BB962C8B-B14F-4D97-AF65-F5344CB8AC3E}">
        <p14:creationId xmlns:p14="http://schemas.microsoft.com/office/powerpoint/2010/main" val="25287392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761427D4-FEF7-4F40-B849-3983321A8A11}" type="slidenum">
              <a:rPr lang="es-AR" smtClean="0"/>
              <a:t>56</a:t>
            </a:fld>
            <a:endParaRPr lang="es-AR"/>
          </a:p>
        </p:txBody>
      </p:sp>
    </p:spTree>
    <p:extLst>
      <p:ext uri="{BB962C8B-B14F-4D97-AF65-F5344CB8AC3E}">
        <p14:creationId xmlns:p14="http://schemas.microsoft.com/office/powerpoint/2010/main" val="653447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p:cNvSpPr>
            <a:spLocks noGrp="1"/>
          </p:cNvSpPr>
          <p:nvPr>
            <p:ph type="dt" sz="half" idx="10"/>
          </p:nvPr>
        </p:nvSpPr>
        <p:spPr/>
        <p:txBody>
          <a:bodyPr/>
          <a:lstStyle/>
          <a:p>
            <a:fld id="{E8F3B2C6-2DEA-401B-8A94-29F0103304EB}" type="datetimeFigureOut">
              <a:rPr lang="es-AR" smtClean="0"/>
              <a:t>15/8/2022</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F1DF83E9-248D-4E9B-80B9-C2EBB2CD1C94}" type="slidenum">
              <a:rPr lang="es-AR" smtClean="0"/>
              <a:t>‹Nº›</a:t>
            </a:fld>
            <a:endParaRPr lang="es-AR"/>
          </a:p>
        </p:txBody>
      </p:sp>
    </p:spTree>
    <p:extLst>
      <p:ext uri="{BB962C8B-B14F-4D97-AF65-F5344CB8AC3E}">
        <p14:creationId xmlns:p14="http://schemas.microsoft.com/office/powerpoint/2010/main" val="2210374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p:cNvSpPr>
            <a:spLocks noGrp="1"/>
          </p:cNvSpPr>
          <p:nvPr>
            <p:ph type="dt" sz="half" idx="10"/>
          </p:nvPr>
        </p:nvSpPr>
        <p:spPr/>
        <p:txBody>
          <a:bodyPr/>
          <a:lstStyle/>
          <a:p>
            <a:fld id="{E8F3B2C6-2DEA-401B-8A94-29F0103304EB}" type="datetimeFigureOut">
              <a:rPr lang="es-AR" smtClean="0"/>
              <a:t>15/8/2022</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F1DF83E9-248D-4E9B-80B9-C2EBB2CD1C94}" type="slidenum">
              <a:rPr lang="es-AR" smtClean="0"/>
              <a:t>‹Nº›</a:t>
            </a:fld>
            <a:endParaRPr lang="es-AR"/>
          </a:p>
        </p:txBody>
      </p:sp>
    </p:spTree>
    <p:extLst>
      <p:ext uri="{BB962C8B-B14F-4D97-AF65-F5344CB8AC3E}">
        <p14:creationId xmlns:p14="http://schemas.microsoft.com/office/powerpoint/2010/main" val="3528068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E8F3B2C6-2DEA-401B-8A94-29F0103304EB}" type="datetimeFigureOut">
              <a:rPr lang="es-AR" smtClean="0"/>
              <a:t>15/8/2022</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F1DF83E9-248D-4E9B-80B9-C2EBB2CD1C94}" type="slidenum">
              <a:rPr lang="es-AR" smtClean="0"/>
              <a:t>‹Nº›</a:t>
            </a:fld>
            <a:endParaRPr lang="es-AR"/>
          </a:p>
        </p:txBody>
      </p:sp>
    </p:spTree>
    <p:extLst>
      <p:ext uri="{BB962C8B-B14F-4D97-AF65-F5344CB8AC3E}">
        <p14:creationId xmlns:p14="http://schemas.microsoft.com/office/powerpoint/2010/main" val="1155346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p:cNvSpPr>
            <a:spLocks noGrp="1"/>
          </p:cNvSpPr>
          <p:nvPr>
            <p:ph type="dt" sz="half" idx="10"/>
          </p:nvPr>
        </p:nvSpPr>
        <p:spPr/>
        <p:txBody>
          <a:bodyPr/>
          <a:lstStyle/>
          <a:p>
            <a:fld id="{E8F3B2C6-2DEA-401B-8A94-29F0103304EB}" type="datetimeFigureOut">
              <a:rPr lang="es-AR" smtClean="0"/>
              <a:t>15/8/2022</a:t>
            </a:fld>
            <a:endParaRPr lang="es-AR"/>
          </a:p>
        </p:txBody>
      </p:sp>
      <p:sp>
        <p:nvSpPr>
          <p:cNvPr id="6" name="Marcador de pie de página 5"/>
          <p:cNvSpPr>
            <a:spLocks noGrp="1"/>
          </p:cNvSpPr>
          <p:nvPr>
            <p:ph type="ftr" sz="quarter" idx="11"/>
          </p:nvPr>
        </p:nvSpPr>
        <p:spPr/>
        <p:txBody>
          <a:bodyPr/>
          <a:lstStyle/>
          <a:p>
            <a:endParaRPr lang="es-AR"/>
          </a:p>
        </p:txBody>
      </p:sp>
      <p:sp>
        <p:nvSpPr>
          <p:cNvPr id="7" name="Marcador de número de diapositiva 6"/>
          <p:cNvSpPr>
            <a:spLocks noGrp="1"/>
          </p:cNvSpPr>
          <p:nvPr>
            <p:ph type="sldNum" sz="quarter" idx="12"/>
          </p:nvPr>
        </p:nvSpPr>
        <p:spPr/>
        <p:txBody>
          <a:bodyPr/>
          <a:lstStyle/>
          <a:p>
            <a:fld id="{F1DF83E9-248D-4E9B-80B9-C2EBB2CD1C94}" type="slidenum">
              <a:rPr lang="es-AR" smtClean="0"/>
              <a:t>‹Nº›</a:t>
            </a:fld>
            <a:endParaRPr lang="es-AR"/>
          </a:p>
        </p:txBody>
      </p:sp>
    </p:spTree>
    <p:extLst>
      <p:ext uri="{BB962C8B-B14F-4D97-AF65-F5344CB8AC3E}">
        <p14:creationId xmlns:p14="http://schemas.microsoft.com/office/powerpoint/2010/main" val="79701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p:cNvSpPr>
            <a:spLocks noGrp="1"/>
          </p:cNvSpPr>
          <p:nvPr>
            <p:ph type="dt" sz="half" idx="10"/>
          </p:nvPr>
        </p:nvSpPr>
        <p:spPr/>
        <p:txBody>
          <a:bodyPr/>
          <a:lstStyle/>
          <a:p>
            <a:fld id="{E8F3B2C6-2DEA-401B-8A94-29F0103304EB}" type="datetimeFigureOut">
              <a:rPr lang="es-AR" smtClean="0"/>
              <a:t>15/8/2022</a:t>
            </a:fld>
            <a:endParaRPr lang="es-AR"/>
          </a:p>
        </p:txBody>
      </p:sp>
      <p:sp>
        <p:nvSpPr>
          <p:cNvPr id="8" name="Marcador de pie de página 7"/>
          <p:cNvSpPr>
            <a:spLocks noGrp="1"/>
          </p:cNvSpPr>
          <p:nvPr>
            <p:ph type="ftr" sz="quarter" idx="11"/>
          </p:nvPr>
        </p:nvSpPr>
        <p:spPr/>
        <p:txBody>
          <a:bodyPr/>
          <a:lstStyle/>
          <a:p>
            <a:endParaRPr lang="es-AR"/>
          </a:p>
        </p:txBody>
      </p:sp>
      <p:sp>
        <p:nvSpPr>
          <p:cNvPr id="9" name="Marcador de número de diapositiva 8"/>
          <p:cNvSpPr>
            <a:spLocks noGrp="1"/>
          </p:cNvSpPr>
          <p:nvPr>
            <p:ph type="sldNum" sz="quarter" idx="12"/>
          </p:nvPr>
        </p:nvSpPr>
        <p:spPr/>
        <p:txBody>
          <a:bodyPr/>
          <a:lstStyle/>
          <a:p>
            <a:fld id="{F1DF83E9-248D-4E9B-80B9-C2EBB2CD1C94}" type="slidenum">
              <a:rPr lang="es-AR" smtClean="0"/>
              <a:t>‹Nº›</a:t>
            </a:fld>
            <a:endParaRPr lang="es-AR"/>
          </a:p>
        </p:txBody>
      </p:sp>
    </p:spTree>
    <p:extLst>
      <p:ext uri="{BB962C8B-B14F-4D97-AF65-F5344CB8AC3E}">
        <p14:creationId xmlns:p14="http://schemas.microsoft.com/office/powerpoint/2010/main" val="86185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AR"/>
          </a:p>
        </p:txBody>
      </p:sp>
      <p:sp>
        <p:nvSpPr>
          <p:cNvPr id="3" name="Marcador de fecha 2"/>
          <p:cNvSpPr>
            <a:spLocks noGrp="1"/>
          </p:cNvSpPr>
          <p:nvPr>
            <p:ph type="dt" sz="half" idx="10"/>
          </p:nvPr>
        </p:nvSpPr>
        <p:spPr/>
        <p:txBody>
          <a:bodyPr/>
          <a:lstStyle/>
          <a:p>
            <a:fld id="{E8F3B2C6-2DEA-401B-8A94-29F0103304EB}" type="datetimeFigureOut">
              <a:rPr lang="es-AR" smtClean="0"/>
              <a:t>15/8/2022</a:t>
            </a:fld>
            <a:endParaRPr lang="es-AR"/>
          </a:p>
        </p:txBody>
      </p:sp>
      <p:sp>
        <p:nvSpPr>
          <p:cNvPr id="4" name="Marcador de pie de página 3"/>
          <p:cNvSpPr>
            <a:spLocks noGrp="1"/>
          </p:cNvSpPr>
          <p:nvPr>
            <p:ph type="ftr" sz="quarter" idx="11"/>
          </p:nvPr>
        </p:nvSpPr>
        <p:spPr/>
        <p:txBody>
          <a:bodyPr/>
          <a:lstStyle/>
          <a:p>
            <a:endParaRPr lang="es-AR"/>
          </a:p>
        </p:txBody>
      </p:sp>
      <p:sp>
        <p:nvSpPr>
          <p:cNvPr id="5" name="Marcador de número de diapositiva 4"/>
          <p:cNvSpPr>
            <a:spLocks noGrp="1"/>
          </p:cNvSpPr>
          <p:nvPr>
            <p:ph type="sldNum" sz="quarter" idx="12"/>
          </p:nvPr>
        </p:nvSpPr>
        <p:spPr/>
        <p:txBody>
          <a:bodyPr/>
          <a:lstStyle/>
          <a:p>
            <a:fld id="{F1DF83E9-248D-4E9B-80B9-C2EBB2CD1C94}" type="slidenum">
              <a:rPr lang="es-AR" smtClean="0"/>
              <a:t>‹Nº›</a:t>
            </a:fld>
            <a:endParaRPr lang="es-AR"/>
          </a:p>
        </p:txBody>
      </p:sp>
    </p:spTree>
    <p:extLst>
      <p:ext uri="{BB962C8B-B14F-4D97-AF65-F5344CB8AC3E}">
        <p14:creationId xmlns:p14="http://schemas.microsoft.com/office/powerpoint/2010/main" val="183369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E8F3B2C6-2DEA-401B-8A94-29F0103304EB}" type="datetimeFigureOut">
              <a:rPr lang="es-AR" smtClean="0"/>
              <a:t>15/8/2022</a:t>
            </a:fld>
            <a:endParaRPr lang="es-AR"/>
          </a:p>
        </p:txBody>
      </p:sp>
      <p:sp>
        <p:nvSpPr>
          <p:cNvPr id="3" name="Marcador de pie de página 2"/>
          <p:cNvSpPr>
            <a:spLocks noGrp="1"/>
          </p:cNvSpPr>
          <p:nvPr>
            <p:ph type="ftr" sz="quarter" idx="11"/>
          </p:nvPr>
        </p:nvSpPr>
        <p:spPr/>
        <p:txBody>
          <a:bodyPr/>
          <a:lstStyle/>
          <a:p>
            <a:endParaRPr lang="es-AR"/>
          </a:p>
        </p:txBody>
      </p:sp>
      <p:sp>
        <p:nvSpPr>
          <p:cNvPr id="4" name="Marcador de número de diapositiva 3"/>
          <p:cNvSpPr>
            <a:spLocks noGrp="1"/>
          </p:cNvSpPr>
          <p:nvPr>
            <p:ph type="sldNum" sz="quarter" idx="12"/>
          </p:nvPr>
        </p:nvSpPr>
        <p:spPr/>
        <p:txBody>
          <a:bodyPr/>
          <a:lstStyle/>
          <a:p>
            <a:fld id="{F1DF83E9-248D-4E9B-80B9-C2EBB2CD1C94}" type="slidenum">
              <a:rPr lang="es-AR" smtClean="0"/>
              <a:t>‹Nº›</a:t>
            </a:fld>
            <a:endParaRPr lang="es-AR"/>
          </a:p>
        </p:txBody>
      </p:sp>
    </p:spTree>
    <p:extLst>
      <p:ext uri="{BB962C8B-B14F-4D97-AF65-F5344CB8AC3E}">
        <p14:creationId xmlns:p14="http://schemas.microsoft.com/office/powerpoint/2010/main" val="2206193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E8F3B2C6-2DEA-401B-8A94-29F0103304EB}" type="datetimeFigureOut">
              <a:rPr lang="es-AR" smtClean="0"/>
              <a:t>15/8/2022</a:t>
            </a:fld>
            <a:endParaRPr lang="es-AR"/>
          </a:p>
        </p:txBody>
      </p:sp>
      <p:sp>
        <p:nvSpPr>
          <p:cNvPr id="6" name="Marcador de pie de página 5"/>
          <p:cNvSpPr>
            <a:spLocks noGrp="1"/>
          </p:cNvSpPr>
          <p:nvPr>
            <p:ph type="ftr" sz="quarter" idx="11"/>
          </p:nvPr>
        </p:nvSpPr>
        <p:spPr/>
        <p:txBody>
          <a:bodyPr/>
          <a:lstStyle/>
          <a:p>
            <a:endParaRPr lang="es-AR"/>
          </a:p>
        </p:txBody>
      </p:sp>
      <p:sp>
        <p:nvSpPr>
          <p:cNvPr id="7" name="Marcador de número de diapositiva 6"/>
          <p:cNvSpPr>
            <a:spLocks noGrp="1"/>
          </p:cNvSpPr>
          <p:nvPr>
            <p:ph type="sldNum" sz="quarter" idx="12"/>
          </p:nvPr>
        </p:nvSpPr>
        <p:spPr/>
        <p:txBody>
          <a:bodyPr/>
          <a:lstStyle/>
          <a:p>
            <a:fld id="{F1DF83E9-248D-4E9B-80B9-C2EBB2CD1C94}" type="slidenum">
              <a:rPr lang="es-AR" smtClean="0"/>
              <a:t>‹Nº›</a:t>
            </a:fld>
            <a:endParaRPr lang="es-AR"/>
          </a:p>
        </p:txBody>
      </p:sp>
    </p:spTree>
    <p:extLst>
      <p:ext uri="{BB962C8B-B14F-4D97-AF65-F5344CB8AC3E}">
        <p14:creationId xmlns:p14="http://schemas.microsoft.com/office/powerpoint/2010/main" val="2251685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E8F3B2C6-2DEA-401B-8A94-29F0103304EB}" type="datetimeFigureOut">
              <a:rPr lang="es-AR" smtClean="0"/>
              <a:t>15/8/2022</a:t>
            </a:fld>
            <a:endParaRPr lang="es-AR"/>
          </a:p>
        </p:txBody>
      </p:sp>
      <p:sp>
        <p:nvSpPr>
          <p:cNvPr id="6" name="Marcador de pie de página 5"/>
          <p:cNvSpPr>
            <a:spLocks noGrp="1"/>
          </p:cNvSpPr>
          <p:nvPr>
            <p:ph type="ftr" sz="quarter" idx="11"/>
          </p:nvPr>
        </p:nvSpPr>
        <p:spPr/>
        <p:txBody>
          <a:bodyPr/>
          <a:lstStyle/>
          <a:p>
            <a:endParaRPr lang="es-AR"/>
          </a:p>
        </p:txBody>
      </p:sp>
      <p:sp>
        <p:nvSpPr>
          <p:cNvPr id="7" name="Marcador de número de diapositiva 6"/>
          <p:cNvSpPr>
            <a:spLocks noGrp="1"/>
          </p:cNvSpPr>
          <p:nvPr>
            <p:ph type="sldNum" sz="quarter" idx="12"/>
          </p:nvPr>
        </p:nvSpPr>
        <p:spPr/>
        <p:txBody>
          <a:bodyPr/>
          <a:lstStyle/>
          <a:p>
            <a:fld id="{F1DF83E9-248D-4E9B-80B9-C2EBB2CD1C94}" type="slidenum">
              <a:rPr lang="es-AR" smtClean="0"/>
              <a:t>‹Nº›</a:t>
            </a:fld>
            <a:endParaRPr lang="es-AR"/>
          </a:p>
        </p:txBody>
      </p:sp>
    </p:spTree>
    <p:extLst>
      <p:ext uri="{BB962C8B-B14F-4D97-AF65-F5344CB8AC3E}">
        <p14:creationId xmlns:p14="http://schemas.microsoft.com/office/powerpoint/2010/main" val="1071873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p:cNvSpPr>
            <a:spLocks noGrp="1"/>
          </p:cNvSpPr>
          <p:nvPr>
            <p:ph type="dt" sz="half" idx="10"/>
          </p:nvPr>
        </p:nvSpPr>
        <p:spPr/>
        <p:txBody>
          <a:bodyPr/>
          <a:lstStyle/>
          <a:p>
            <a:fld id="{E8F3B2C6-2DEA-401B-8A94-29F0103304EB}" type="datetimeFigureOut">
              <a:rPr lang="es-AR" smtClean="0"/>
              <a:t>15/8/2022</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F1DF83E9-248D-4E9B-80B9-C2EBB2CD1C94}" type="slidenum">
              <a:rPr lang="es-AR" smtClean="0"/>
              <a:t>‹Nº›</a:t>
            </a:fld>
            <a:endParaRPr lang="es-AR"/>
          </a:p>
        </p:txBody>
      </p:sp>
    </p:spTree>
    <p:extLst>
      <p:ext uri="{BB962C8B-B14F-4D97-AF65-F5344CB8AC3E}">
        <p14:creationId xmlns:p14="http://schemas.microsoft.com/office/powerpoint/2010/main" val="2102819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p:cNvSpPr>
            <a:spLocks noGrp="1"/>
          </p:cNvSpPr>
          <p:nvPr>
            <p:ph type="dt" sz="half" idx="10"/>
          </p:nvPr>
        </p:nvSpPr>
        <p:spPr/>
        <p:txBody>
          <a:bodyPr/>
          <a:lstStyle/>
          <a:p>
            <a:fld id="{E8F3B2C6-2DEA-401B-8A94-29F0103304EB}" type="datetimeFigureOut">
              <a:rPr lang="es-AR" smtClean="0"/>
              <a:t>15/8/2022</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F1DF83E9-248D-4E9B-80B9-C2EBB2CD1C94}" type="slidenum">
              <a:rPr lang="es-AR" smtClean="0"/>
              <a:t>‹Nº›</a:t>
            </a:fld>
            <a:endParaRPr lang="es-AR"/>
          </a:p>
        </p:txBody>
      </p:sp>
    </p:spTree>
    <p:extLst>
      <p:ext uri="{BB962C8B-B14F-4D97-AF65-F5344CB8AC3E}">
        <p14:creationId xmlns:p14="http://schemas.microsoft.com/office/powerpoint/2010/main" val="12776511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
        <p:nvSpPr>
          <p:cNvPr id="4" name="Rectangle 7"/>
          <p:cNvSpPr>
            <a:spLocks noGrp="1" noChangeArrowheads="1"/>
          </p:cNvSpPr>
          <p:nvPr>
            <p:ph type="sldNum" sz="quarter" idx="10"/>
          </p:nvPr>
        </p:nvSpPr>
        <p:spPr>
          <a:ln/>
        </p:spPr>
        <p:txBody>
          <a:bodyPr/>
          <a:lstStyle>
            <a:lvl1pPr>
              <a:defRPr/>
            </a:lvl1pPr>
          </a:lstStyle>
          <a:p>
            <a:pPr>
              <a:defRPr/>
            </a:pPr>
            <a:r>
              <a:rPr lang="es-ES">
                <a:solidFill>
                  <a:srgbClr val="000000"/>
                </a:solidFill>
              </a:rPr>
              <a:t>Ampliación Redes 5-</a:t>
            </a:r>
            <a:fld id="{7BB46812-0057-4101-A73C-13EA95D67C9F}"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2604429429"/>
      </p:ext>
    </p:extLst>
  </p:cSld>
  <p:clrMapOvr>
    <a:masterClrMapping/>
  </p:clrMapOvr>
  <p:transition spd="med">
    <p:cover dir="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7"/>
          <p:cNvSpPr>
            <a:spLocks noGrp="1" noChangeArrowheads="1"/>
          </p:cNvSpPr>
          <p:nvPr>
            <p:ph type="sldNum" sz="quarter" idx="10"/>
          </p:nvPr>
        </p:nvSpPr>
        <p:spPr>
          <a:ln/>
        </p:spPr>
        <p:txBody>
          <a:bodyPr/>
          <a:lstStyle>
            <a:lvl1pPr>
              <a:defRPr/>
            </a:lvl1pPr>
          </a:lstStyle>
          <a:p>
            <a:pPr>
              <a:defRPr/>
            </a:pPr>
            <a:r>
              <a:rPr lang="es-ES">
                <a:solidFill>
                  <a:srgbClr val="000000"/>
                </a:solidFill>
              </a:rPr>
              <a:t>Ampliación Redes 5-</a:t>
            </a:r>
            <a:fld id="{3F720088-55EE-40B8-8BAB-764ED13201E9}"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3041075656"/>
      </p:ext>
    </p:extLst>
  </p:cSld>
  <p:clrMapOvr>
    <a:masterClrMapping/>
  </p:clrMapOvr>
  <p:transition spd="med">
    <p:cover dir="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7"/>
          <p:cNvSpPr>
            <a:spLocks noGrp="1" noChangeArrowheads="1"/>
          </p:cNvSpPr>
          <p:nvPr>
            <p:ph type="sldNum" sz="quarter" idx="10"/>
          </p:nvPr>
        </p:nvSpPr>
        <p:spPr>
          <a:ln/>
        </p:spPr>
        <p:txBody>
          <a:bodyPr/>
          <a:lstStyle>
            <a:lvl1pPr>
              <a:defRPr/>
            </a:lvl1pPr>
          </a:lstStyle>
          <a:p>
            <a:pPr>
              <a:defRPr/>
            </a:pPr>
            <a:r>
              <a:rPr lang="es-ES">
                <a:solidFill>
                  <a:srgbClr val="000000"/>
                </a:solidFill>
              </a:rPr>
              <a:t>Ampliación Redes 5-</a:t>
            </a:r>
            <a:fld id="{4AB9CC1A-A521-4D61-8B5F-281AEB43413E}"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307096869"/>
      </p:ext>
    </p:extLst>
  </p:cSld>
  <p:clrMapOvr>
    <a:masterClrMapping/>
  </p:clrMapOvr>
  <p:transition spd="med">
    <p:cover dir="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7"/>
          <p:cNvSpPr>
            <a:spLocks noGrp="1" noChangeArrowheads="1"/>
          </p:cNvSpPr>
          <p:nvPr>
            <p:ph type="sldNum" sz="quarter" idx="10"/>
          </p:nvPr>
        </p:nvSpPr>
        <p:spPr>
          <a:ln/>
        </p:spPr>
        <p:txBody>
          <a:bodyPr/>
          <a:lstStyle>
            <a:lvl1pPr>
              <a:defRPr/>
            </a:lvl1pPr>
          </a:lstStyle>
          <a:p>
            <a:pPr>
              <a:defRPr/>
            </a:pPr>
            <a:r>
              <a:rPr lang="es-ES">
                <a:solidFill>
                  <a:srgbClr val="000000"/>
                </a:solidFill>
              </a:rPr>
              <a:t>Ampliación Redes 5-</a:t>
            </a:r>
            <a:fld id="{D3AF2EB3-27B5-4BE6-BA50-91E835800A13}"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552399954"/>
      </p:ext>
    </p:extLst>
  </p:cSld>
  <p:clrMapOvr>
    <a:masterClrMapping/>
  </p:clrMapOvr>
  <p:transition spd="med">
    <p:cover dir="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609600" y="274638"/>
            <a:ext cx="10972800" cy="114300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Rectangle 7"/>
          <p:cNvSpPr>
            <a:spLocks noGrp="1" noChangeArrowheads="1"/>
          </p:cNvSpPr>
          <p:nvPr>
            <p:ph type="sldNum" sz="quarter" idx="10"/>
          </p:nvPr>
        </p:nvSpPr>
        <p:spPr>
          <a:ln/>
        </p:spPr>
        <p:txBody>
          <a:bodyPr/>
          <a:lstStyle>
            <a:lvl1pPr>
              <a:defRPr/>
            </a:lvl1pPr>
          </a:lstStyle>
          <a:p>
            <a:pPr>
              <a:defRPr/>
            </a:pPr>
            <a:r>
              <a:rPr lang="es-ES">
                <a:solidFill>
                  <a:srgbClr val="000000"/>
                </a:solidFill>
              </a:rPr>
              <a:t>Ampliación Redes 5-</a:t>
            </a:r>
            <a:fld id="{4209C078-1C82-4ACC-B5B2-178A64B2D397}"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4023991576"/>
      </p:ext>
    </p:extLst>
  </p:cSld>
  <p:clrMapOvr>
    <a:masterClrMapping/>
  </p:clrMapOvr>
  <p:transition spd="med">
    <p:cover dir="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Rectangle 7"/>
          <p:cNvSpPr>
            <a:spLocks noGrp="1" noChangeArrowheads="1"/>
          </p:cNvSpPr>
          <p:nvPr>
            <p:ph type="sldNum" sz="quarter" idx="10"/>
          </p:nvPr>
        </p:nvSpPr>
        <p:spPr>
          <a:ln/>
        </p:spPr>
        <p:txBody>
          <a:bodyPr/>
          <a:lstStyle>
            <a:lvl1pPr>
              <a:defRPr/>
            </a:lvl1pPr>
          </a:lstStyle>
          <a:p>
            <a:pPr>
              <a:defRPr/>
            </a:pPr>
            <a:r>
              <a:rPr lang="es-ES">
                <a:solidFill>
                  <a:srgbClr val="000000"/>
                </a:solidFill>
              </a:rPr>
              <a:t>Ampliación Redes 5-</a:t>
            </a:r>
            <a:fld id="{31A22598-AE61-4599-840A-438699D2398D}"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195649698"/>
      </p:ext>
    </p:extLst>
  </p:cSld>
  <p:clrMapOvr>
    <a:masterClrMapping/>
  </p:clrMapOvr>
  <p:transition spd="med">
    <p:cover dir="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7"/>
          <p:cNvSpPr>
            <a:spLocks noGrp="1" noChangeArrowheads="1"/>
          </p:cNvSpPr>
          <p:nvPr>
            <p:ph type="sldNum" sz="quarter" idx="10"/>
          </p:nvPr>
        </p:nvSpPr>
        <p:spPr>
          <a:ln/>
        </p:spPr>
        <p:txBody>
          <a:bodyPr/>
          <a:lstStyle>
            <a:lvl1pPr>
              <a:defRPr/>
            </a:lvl1pPr>
          </a:lstStyle>
          <a:p>
            <a:pPr>
              <a:defRPr/>
            </a:pPr>
            <a:r>
              <a:rPr lang="es-ES">
                <a:solidFill>
                  <a:srgbClr val="000000"/>
                </a:solidFill>
              </a:rPr>
              <a:t>Ampliación Redes 5-</a:t>
            </a:r>
            <a:fld id="{EE29E3E3-E037-486F-B563-4E25D3F3976C}"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4262882837"/>
      </p:ext>
    </p:extLst>
  </p:cSld>
  <p:clrMapOvr>
    <a:masterClrMapping/>
  </p:clrMapOvr>
  <p:transition spd="med">
    <p:cover dir="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7"/>
          <p:cNvSpPr>
            <a:spLocks noGrp="1" noChangeArrowheads="1"/>
          </p:cNvSpPr>
          <p:nvPr>
            <p:ph type="sldNum" sz="quarter" idx="10"/>
          </p:nvPr>
        </p:nvSpPr>
        <p:spPr>
          <a:ln/>
        </p:spPr>
        <p:txBody>
          <a:bodyPr/>
          <a:lstStyle>
            <a:lvl1pPr>
              <a:defRPr/>
            </a:lvl1pPr>
          </a:lstStyle>
          <a:p>
            <a:pPr>
              <a:defRPr/>
            </a:pPr>
            <a:r>
              <a:rPr lang="es-ES">
                <a:solidFill>
                  <a:srgbClr val="000000"/>
                </a:solidFill>
              </a:rPr>
              <a:t>Ampliación Redes 5-</a:t>
            </a:r>
            <a:fld id="{DAF412EF-D60E-44F6-9F30-DDAF2BBBCA5B}"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2406010388"/>
      </p:ext>
    </p:extLst>
  </p:cSld>
  <p:clrMapOvr>
    <a:masterClrMapping/>
  </p:clrMapOvr>
  <p:transition spd="med">
    <p:cover dir="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7"/>
          <p:cNvSpPr>
            <a:spLocks noGrp="1" noChangeArrowheads="1"/>
          </p:cNvSpPr>
          <p:nvPr>
            <p:ph type="sldNum" sz="quarter" idx="10"/>
          </p:nvPr>
        </p:nvSpPr>
        <p:spPr>
          <a:ln/>
        </p:spPr>
        <p:txBody>
          <a:bodyPr/>
          <a:lstStyle>
            <a:lvl1pPr>
              <a:defRPr/>
            </a:lvl1pPr>
          </a:lstStyle>
          <a:p>
            <a:pPr>
              <a:defRPr/>
            </a:pPr>
            <a:r>
              <a:rPr lang="es-ES">
                <a:solidFill>
                  <a:srgbClr val="000000"/>
                </a:solidFill>
              </a:rPr>
              <a:t>Ampliación Redes 5-</a:t>
            </a:r>
            <a:fld id="{0CF3616B-FD24-4183-B0A9-7BD7CA2736CA}"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4048625324"/>
      </p:ext>
    </p:extLst>
  </p:cSld>
  <p:clrMapOvr>
    <a:masterClrMapping/>
  </p:clrMapOvr>
  <p:transition spd="med">
    <p:cover dir="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7"/>
          <p:cNvSpPr>
            <a:spLocks noGrp="1" noChangeArrowheads="1"/>
          </p:cNvSpPr>
          <p:nvPr>
            <p:ph type="sldNum" sz="quarter" idx="10"/>
          </p:nvPr>
        </p:nvSpPr>
        <p:spPr>
          <a:ln/>
        </p:spPr>
        <p:txBody>
          <a:bodyPr/>
          <a:lstStyle>
            <a:lvl1pPr>
              <a:defRPr/>
            </a:lvl1pPr>
          </a:lstStyle>
          <a:p>
            <a:pPr>
              <a:defRPr/>
            </a:pPr>
            <a:r>
              <a:rPr lang="es-ES">
                <a:solidFill>
                  <a:srgbClr val="000000"/>
                </a:solidFill>
              </a:rPr>
              <a:t>Ampliación Redes 5-</a:t>
            </a:r>
            <a:fld id="{787C4F00-FDC9-47C1-B601-B8101B95F8B9}"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2509391013"/>
      </p:ext>
    </p:extLst>
  </p:cSld>
  <p:clrMapOvr>
    <a:masterClrMapping/>
  </p:clrMapOvr>
  <p:transition spd="med">
    <p:cover dir="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686800" y="609600"/>
            <a:ext cx="2590800" cy="5486400"/>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914400" y="609600"/>
            <a:ext cx="7569200" cy="5486400"/>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7"/>
          <p:cNvSpPr>
            <a:spLocks noGrp="1" noChangeArrowheads="1"/>
          </p:cNvSpPr>
          <p:nvPr>
            <p:ph type="sldNum" sz="quarter" idx="10"/>
          </p:nvPr>
        </p:nvSpPr>
        <p:spPr>
          <a:ln/>
        </p:spPr>
        <p:txBody>
          <a:bodyPr/>
          <a:lstStyle>
            <a:lvl1pPr>
              <a:defRPr/>
            </a:lvl1pPr>
          </a:lstStyle>
          <a:p>
            <a:pPr>
              <a:defRPr/>
            </a:pPr>
            <a:r>
              <a:rPr lang="es-ES">
                <a:solidFill>
                  <a:srgbClr val="000000"/>
                </a:solidFill>
              </a:rPr>
              <a:t>Ampliación Redes 5-</a:t>
            </a:r>
            <a:fld id="{4A84F11B-9973-4EEA-9F2A-49E0B905E0CB}"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254410735"/>
      </p:ext>
    </p:extLst>
  </p:cSld>
  <p:clrMapOvr>
    <a:masterClrMapping/>
  </p:clrMapOvr>
  <p:transition spd="med">
    <p:cover dir="r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914400" y="609600"/>
            <a:ext cx="10363200" cy="1143000"/>
          </a:xfrm>
        </p:spPr>
        <p:txBody>
          <a:bodyPr/>
          <a:lstStyle/>
          <a:p>
            <a:r>
              <a:rPr lang="es-ES"/>
              <a:t>Haga clic para modificar el estilo de título del patrón</a:t>
            </a:r>
          </a:p>
        </p:txBody>
      </p:sp>
      <p:sp>
        <p:nvSpPr>
          <p:cNvPr id="3" name="2 Marcador de tabla"/>
          <p:cNvSpPr>
            <a:spLocks noGrp="1"/>
          </p:cNvSpPr>
          <p:nvPr>
            <p:ph type="tbl" idx="1"/>
          </p:nvPr>
        </p:nvSpPr>
        <p:spPr>
          <a:xfrm>
            <a:off x="914400" y="1981200"/>
            <a:ext cx="10363200" cy="4114800"/>
          </a:xfrm>
        </p:spPr>
        <p:txBody>
          <a:bodyPr/>
          <a:lstStyle/>
          <a:p>
            <a:pPr lvl="0"/>
            <a:endParaRPr lang="es-ES" noProof="0"/>
          </a:p>
        </p:txBody>
      </p:sp>
      <p:sp>
        <p:nvSpPr>
          <p:cNvPr id="4" name="Rectangle 7"/>
          <p:cNvSpPr>
            <a:spLocks noGrp="1" noChangeArrowheads="1"/>
          </p:cNvSpPr>
          <p:nvPr>
            <p:ph type="sldNum" sz="quarter" idx="10"/>
          </p:nvPr>
        </p:nvSpPr>
        <p:spPr>
          <a:ln/>
        </p:spPr>
        <p:txBody>
          <a:bodyPr/>
          <a:lstStyle>
            <a:lvl1pPr>
              <a:defRPr/>
            </a:lvl1pPr>
          </a:lstStyle>
          <a:p>
            <a:pPr>
              <a:defRPr/>
            </a:pPr>
            <a:r>
              <a:rPr lang="es-ES">
                <a:solidFill>
                  <a:srgbClr val="000000"/>
                </a:solidFill>
              </a:rPr>
              <a:t>Ampliación Redes 5-</a:t>
            </a:r>
            <a:fld id="{D6BC2382-E67E-46AE-AF46-0B4FE78AFA19}"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3906620154"/>
      </p:ext>
    </p:extLst>
  </p:cSld>
  <p:clrMapOvr>
    <a:masterClrMapping/>
  </p:clrMapOvr>
  <p:transition spd="med">
    <p:cover dir="ru"/>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ítulo, text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914400" y="609600"/>
            <a:ext cx="10363200" cy="1143000"/>
          </a:xfrm>
        </p:spPr>
        <p:txBody>
          <a:bodyPr/>
          <a:lstStyle/>
          <a:p>
            <a:r>
              <a:rPr lang="es-ES"/>
              <a:t>Haga clic para modificar el estilo de título del patrón</a:t>
            </a:r>
          </a:p>
        </p:txBody>
      </p:sp>
      <p:sp>
        <p:nvSpPr>
          <p:cNvPr id="3" name="2 Marcador de texto"/>
          <p:cNvSpPr>
            <a:spLocks noGrp="1"/>
          </p:cNvSpPr>
          <p:nvPr>
            <p:ph type="body" sz="half" idx="1"/>
          </p:nvPr>
        </p:nvSpPr>
        <p:spPr>
          <a:xfrm>
            <a:off x="914400" y="1981200"/>
            <a:ext cx="5080000" cy="4114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6197600" y="1981200"/>
            <a:ext cx="5080000" cy="4114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7"/>
          <p:cNvSpPr>
            <a:spLocks noGrp="1" noChangeArrowheads="1"/>
          </p:cNvSpPr>
          <p:nvPr>
            <p:ph type="sldNum" sz="quarter" idx="10"/>
          </p:nvPr>
        </p:nvSpPr>
        <p:spPr>
          <a:ln/>
        </p:spPr>
        <p:txBody>
          <a:bodyPr/>
          <a:lstStyle>
            <a:lvl1pPr>
              <a:defRPr/>
            </a:lvl1pPr>
          </a:lstStyle>
          <a:p>
            <a:pPr>
              <a:defRPr/>
            </a:pPr>
            <a:r>
              <a:rPr lang="es-ES">
                <a:solidFill>
                  <a:srgbClr val="000000"/>
                </a:solidFill>
              </a:rPr>
              <a:t>Ampliación Redes 5-</a:t>
            </a:r>
            <a:fld id="{F001892B-7E4F-4BC5-BE04-BDAAD79981B2}"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2362345501"/>
      </p:ext>
    </p:extLst>
  </p:cSld>
  <p:clrMapOvr>
    <a:masterClrMapping/>
  </p:clrMapOvr>
  <p:transition spd="med">
    <p:cover dir="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dotDmnd">
          <a:fgClr>
            <a:schemeClr val="accent1"/>
          </a:fgClr>
          <a:bgClr>
            <a:schemeClr val="bg1"/>
          </a:bgClr>
        </a:patt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3B2C6-2DEA-401B-8A94-29F0103304EB}" type="datetimeFigureOut">
              <a:rPr lang="es-AR" smtClean="0"/>
              <a:t>15/8/2022</a:t>
            </a:fld>
            <a:endParaRPr lang="es-AR"/>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DF83E9-248D-4E9B-80B9-C2EBB2CD1C94}" type="slidenum">
              <a:rPr lang="es-AR" smtClean="0"/>
              <a:t>‹Nº›</a:t>
            </a:fld>
            <a:endParaRPr lang="es-AR"/>
          </a:p>
        </p:txBody>
      </p:sp>
    </p:spTree>
    <p:extLst>
      <p:ext uri="{BB962C8B-B14F-4D97-AF65-F5344CB8AC3E}">
        <p14:creationId xmlns:p14="http://schemas.microsoft.com/office/powerpoint/2010/main" val="3866217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ES"/>
              <a:t>Haga clic para modificar el estilo de título del patrón</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1031" name="Rectangle 7"/>
          <p:cNvSpPr>
            <a:spLocks noGrp="1" noChangeArrowheads="1"/>
          </p:cNvSpPr>
          <p:nvPr>
            <p:ph type="sldNum" sz="quarter" idx="4"/>
          </p:nvPr>
        </p:nvSpPr>
        <p:spPr bwMode="auto">
          <a:xfrm>
            <a:off x="4652433" y="6524625"/>
            <a:ext cx="2980267" cy="2730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b="0" smtClean="0">
                <a:latin typeface="+mn-lt"/>
              </a:defRPr>
            </a:lvl1pPr>
          </a:lstStyle>
          <a:p>
            <a:pPr fontAlgn="base">
              <a:spcBef>
                <a:spcPct val="0"/>
              </a:spcBef>
              <a:spcAft>
                <a:spcPct val="0"/>
              </a:spcAft>
              <a:defRPr/>
            </a:pPr>
            <a:r>
              <a:rPr lang="es-ES" sz="1400">
                <a:solidFill>
                  <a:srgbClr val="000000"/>
                </a:solidFill>
              </a:rPr>
              <a:t>Ampliación Redes 5-</a:t>
            </a:r>
            <a:fld id="{C0FF581B-75EB-4BE1-9F75-8E2F8184E93C}" type="slidenum">
              <a:rPr lang="es-ES" sz="1400">
                <a:solidFill>
                  <a:srgbClr val="000000"/>
                </a:solidFill>
              </a:rPr>
              <a:pPr fontAlgn="base">
                <a:spcBef>
                  <a:spcPct val="0"/>
                </a:spcBef>
                <a:spcAft>
                  <a:spcPct val="0"/>
                </a:spcAft>
                <a:defRPr/>
              </a:pPr>
              <a:t>‹Nº›</a:t>
            </a:fld>
            <a:endParaRPr lang="es-ES" sz="1400">
              <a:solidFill>
                <a:srgbClr val="000000"/>
              </a:solidFill>
            </a:endParaRPr>
          </a:p>
        </p:txBody>
      </p:sp>
      <p:sp>
        <p:nvSpPr>
          <p:cNvPr id="1032" name="Text Box 8"/>
          <p:cNvSpPr txBox="1">
            <a:spLocks noChangeArrowheads="1"/>
          </p:cNvSpPr>
          <p:nvPr userDrawn="1"/>
        </p:nvSpPr>
        <p:spPr bwMode="auto">
          <a:xfrm>
            <a:off x="133351" y="6507163"/>
            <a:ext cx="1939249" cy="307777"/>
          </a:xfrm>
          <a:prstGeom prst="rect">
            <a:avLst/>
          </a:prstGeom>
          <a:noFill/>
          <a:ln w="12700">
            <a:noFill/>
            <a:miter lim="800000"/>
            <a:headEnd/>
            <a:tailEnd/>
          </a:ln>
          <a:effectLst/>
        </p:spPr>
        <p:txBody>
          <a:bodyPr wrap="none">
            <a:spAutoFit/>
          </a:bodyPr>
          <a:lstStyle/>
          <a:p>
            <a:pPr fontAlgn="base">
              <a:spcBef>
                <a:spcPct val="0"/>
              </a:spcBef>
              <a:spcAft>
                <a:spcPct val="0"/>
              </a:spcAft>
              <a:defRPr/>
            </a:pPr>
            <a:r>
              <a:rPr lang="es-ES" sz="1400">
                <a:solidFill>
                  <a:srgbClr val="000000"/>
                </a:solidFill>
              </a:rPr>
              <a:t>Universidad de Valencia</a:t>
            </a:r>
            <a:endParaRPr lang="es-ES" sz="2400">
              <a:solidFill>
                <a:srgbClr val="000000"/>
              </a:solidFill>
            </a:endParaRPr>
          </a:p>
        </p:txBody>
      </p:sp>
      <p:sp>
        <p:nvSpPr>
          <p:cNvPr id="1033" name="Text Box 9"/>
          <p:cNvSpPr txBox="1">
            <a:spLocks noChangeArrowheads="1"/>
          </p:cNvSpPr>
          <p:nvPr userDrawn="1"/>
        </p:nvSpPr>
        <p:spPr bwMode="auto">
          <a:xfrm>
            <a:off x="10083800" y="6508750"/>
            <a:ext cx="1608133" cy="307777"/>
          </a:xfrm>
          <a:prstGeom prst="rect">
            <a:avLst/>
          </a:prstGeom>
          <a:noFill/>
          <a:ln w="12700">
            <a:noFill/>
            <a:miter lim="800000"/>
            <a:headEnd/>
            <a:tailEnd/>
          </a:ln>
          <a:effectLst/>
        </p:spPr>
        <p:txBody>
          <a:bodyPr wrap="none">
            <a:spAutoFit/>
          </a:bodyPr>
          <a:lstStyle/>
          <a:p>
            <a:pPr fontAlgn="base">
              <a:spcBef>
                <a:spcPct val="0"/>
              </a:spcBef>
              <a:spcAft>
                <a:spcPct val="0"/>
              </a:spcAft>
              <a:defRPr/>
            </a:pPr>
            <a:r>
              <a:rPr lang="es-ES" sz="1400">
                <a:solidFill>
                  <a:srgbClr val="000000"/>
                </a:solidFill>
              </a:rPr>
              <a:t>Rogelio Montañana</a:t>
            </a:r>
            <a:endParaRPr lang="es-ES" sz="2400">
              <a:solidFill>
                <a:srgbClr val="000000"/>
              </a:solidFill>
            </a:endParaRPr>
          </a:p>
        </p:txBody>
      </p:sp>
    </p:spTree>
    <p:extLst>
      <p:ext uri="{BB962C8B-B14F-4D97-AF65-F5344CB8AC3E}">
        <p14:creationId xmlns:p14="http://schemas.microsoft.com/office/powerpoint/2010/main" val="35186343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med">
    <p:cover dir="ru"/>
  </p:transition>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www.drizzle.com/~aboba/IEEE/rc4_ksaproc.pdf" TargetMode="External"/><Relationship Id="rId2" Type="http://schemas.openxmlformats.org/officeDocument/2006/relationships/hyperlink" Target="http://www.cs.umd.edu/~waa/wireless.html" TargetMode="External"/><Relationship Id="rId1" Type="http://schemas.openxmlformats.org/officeDocument/2006/relationships/slideLayout" Target="../slideLayouts/slideLayout7.xml"/><Relationship Id="rId4" Type="http://schemas.openxmlformats.org/officeDocument/2006/relationships/hyperlink" Target="http://dl.aircrack-ng.org/breakingwepandwpa.pdf"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jpeg"/><Relationship Id="rId2" Type="http://schemas.openxmlformats.org/officeDocument/2006/relationships/image" Target="../media/image35.jpe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48.jpeg"/><Relationship Id="rId4" Type="http://schemas.openxmlformats.org/officeDocument/2006/relationships/image" Target="../media/image47.png"/></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hyperlink" Target="https://www.ui.com/airfiber/airfiberx/" TargetMode="External"/><Relationship Id="rId5" Type="http://schemas.openxmlformats.org/officeDocument/2006/relationships/image" Target="../media/image51.png"/><Relationship Id="rId4" Type="http://schemas.openxmlformats.org/officeDocument/2006/relationships/image" Target="../media/image50.png"/></Relationships>
</file>

<file path=ppt/slides/_rels/slide53.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5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1880315" y="2215166"/>
            <a:ext cx="8641724" cy="2554545"/>
          </a:xfrm>
          <a:prstGeom prst="rect">
            <a:avLst/>
          </a:prstGeom>
          <a:noFill/>
        </p:spPr>
        <p:txBody>
          <a:bodyPr wrap="square" rtlCol="0">
            <a:spAutoFit/>
          </a:bodyPr>
          <a:lstStyle/>
          <a:p>
            <a:r>
              <a:rPr lang="es-MX" sz="8000" dirty="0"/>
              <a:t>Redes Inalámbricas</a:t>
            </a:r>
          </a:p>
          <a:p>
            <a:pPr algn="ctr"/>
            <a:r>
              <a:rPr lang="es-MX" sz="8000" dirty="0"/>
              <a:t>802.11</a:t>
            </a:r>
            <a:endParaRPr lang="es-AR" sz="8000" dirty="0"/>
          </a:p>
        </p:txBody>
      </p:sp>
    </p:spTree>
    <p:extLst>
      <p:ext uri="{BB962C8B-B14F-4D97-AF65-F5344CB8AC3E}">
        <p14:creationId xmlns:p14="http://schemas.microsoft.com/office/powerpoint/2010/main" val="872850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3"/>
          <a:srcRect l="14261" t="5766" r="14225" b="4974"/>
          <a:stretch/>
        </p:blipFill>
        <p:spPr>
          <a:xfrm>
            <a:off x="759854" y="193183"/>
            <a:ext cx="10740980" cy="6529590"/>
          </a:xfrm>
          <a:prstGeom prst="rect">
            <a:avLst/>
          </a:prstGeom>
        </p:spPr>
      </p:pic>
      <p:sp>
        <p:nvSpPr>
          <p:cNvPr id="5" name="Rectangle 3"/>
          <p:cNvSpPr txBox="1">
            <a:spLocks noChangeArrowheads="1"/>
          </p:cNvSpPr>
          <p:nvPr/>
        </p:nvSpPr>
        <p:spPr>
          <a:xfrm>
            <a:off x="0" y="6857999"/>
            <a:ext cx="12192000" cy="4073857"/>
          </a:xfrm>
          <a:prstGeom prst="rect">
            <a:avLst/>
          </a:prstGeom>
          <a:noFill/>
          <a:ln/>
        </p:spPr>
        <p:txBody>
          <a:bodyPr/>
          <a:lst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endParaRPr lang="es-ES" sz="1600" dirty="0"/>
          </a:p>
        </p:txBody>
      </p:sp>
    </p:spTree>
    <p:extLst>
      <p:ext uri="{BB962C8B-B14F-4D97-AF65-F5344CB8AC3E}">
        <p14:creationId xmlns:p14="http://schemas.microsoft.com/office/powerpoint/2010/main" val="4352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2239762" y="800169"/>
            <a:ext cx="8451683" cy="5248939"/>
          </a:xfrm>
          <a:prstGeom prst="rect">
            <a:avLst/>
          </a:prstGeom>
        </p:spPr>
      </p:pic>
    </p:spTree>
    <p:extLst>
      <p:ext uri="{BB962C8B-B14F-4D97-AF65-F5344CB8AC3E}">
        <p14:creationId xmlns:p14="http://schemas.microsoft.com/office/powerpoint/2010/main" val="1607702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rot="16200000">
            <a:off x="-1069144" y="937206"/>
            <a:ext cx="3446585" cy="1308296"/>
          </a:xfrm>
          <a:prstGeom prst="rect">
            <a:avLst/>
          </a:prstGeom>
        </p:spPr>
      </p:pic>
      <p:pic>
        <p:nvPicPr>
          <p:cNvPr id="3" name="Imagen 2"/>
          <p:cNvPicPr>
            <a:picLocks noChangeAspect="1"/>
          </p:cNvPicPr>
          <p:nvPr/>
        </p:nvPicPr>
        <p:blipFill rotWithShape="1">
          <a:blip r:embed="rId4"/>
          <a:srcRect l="4160" t="11897" r="3790" b="27854"/>
          <a:stretch/>
        </p:blipFill>
        <p:spPr>
          <a:xfrm>
            <a:off x="1308297" y="0"/>
            <a:ext cx="10771163" cy="6854352"/>
          </a:xfrm>
          <a:prstGeom prst="rect">
            <a:avLst/>
          </a:prstGeom>
        </p:spPr>
      </p:pic>
    </p:spTree>
    <p:extLst>
      <p:ext uri="{BB962C8B-B14F-4D97-AF65-F5344CB8AC3E}">
        <p14:creationId xmlns:p14="http://schemas.microsoft.com/office/powerpoint/2010/main" val="3598295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n 1">
            <a:extLst>
              <a:ext uri="{FF2B5EF4-FFF2-40B4-BE49-F238E27FC236}">
                <a16:creationId xmlns:a16="http://schemas.microsoft.com/office/drawing/2014/main" id="{96337C8B-349C-61CA-B4B7-B54BD57F3DCA}"/>
              </a:ext>
            </a:extLst>
          </p:cNvPr>
          <p:cNvPicPr>
            <a:picLocks noChangeAspect="1"/>
          </p:cNvPicPr>
          <p:nvPr/>
        </p:nvPicPr>
        <p:blipFill>
          <a:blip r:embed="rId2"/>
          <a:stretch>
            <a:fillRect/>
          </a:stretch>
        </p:blipFill>
        <p:spPr>
          <a:xfrm>
            <a:off x="1031839" y="-29473"/>
            <a:ext cx="10127556" cy="6857574"/>
          </a:xfrm>
          <a:prstGeom prst="rect">
            <a:avLst/>
          </a:prstGeom>
        </p:spPr>
      </p:pic>
    </p:spTree>
    <p:extLst>
      <p:ext uri="{BB962C8B-B14F-4D97-AF65-F5344CB8AC3E}">
        <p14:creationId xmlns:p14="http://schemas.microsoft.com/office/powerpoint/2010/main" val="3181039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3"/>
          <a:srcRect l="11153" t="1146" r="9651" b="47109"/>
          <a:stretch/>
        </p:blipFill>
        <p:spPr>
          <a:xfrm>
            <a:off x="400051" y="228601"/>
            <a:ext cx="10929938" cy="6372224"/>
          </a:xfrm>
          <a:prstGeom prst="rect">
            <a:avLst/>
          </a:prstGeom>
        </p:spPr>
      </p:pic>
    </p:spTree>
    <p:extLst>
      <p:ext uri="{BB962C8B-B14F-4D97-AF65-F5344CB8AC3E}">
        <p14:creationId xmlns:p14="http://schemas.microsoft.com/office/powerpoint/2010/main" val="1651729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rotWithShape="1">
          <a:blip r:embed="rId2"/>
          <a:srcRect l="15157" r="12403" b="51685"/>
          <a:stretch/>
        </p:blipFill>
        <p:spPr>
          <a:xfrm>
            <a:off x="1619297" y="113640"/>
            <a:ext cx="9082039" cy="6554926"/>
          </a:xfrm>
          <a:prstGeom prst="rect">
            <a:avLst/>
          </a:prstGeom>
        </p:spPr>
      </p:pic>
    </p:spTree>
    <p:extLst>
      <p:ext uri="{BB962C8B-B14F-4D97-AF65-F5344CB8AC3E}">
        <p14:creationId xmlns:p14="http://schemas.microsoft.com/office/powerpoint/2010/main" val="1117582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rotWithShape="1">
          <a:blip r:embed="rId3"/>
          <a:srcRect l="29334" t="23900" r="30828" b="26804"/>
          <a:stretch/>
        </p:blipFill>
        <p:spPr>
          <a:xfrm>
            <a:off x="1390918" y="0"/>
            <a:ext cx="9221273" cy="6864314"/>
          </a:xfrm>
          <a:prstGeom prst="rect">
            <a:avLst/>
          </a:prstGeom>
        </p:spPr>
      </p:pic>
    </p:spTree>
    <p:extLst>
      <p:ext uri="{BB962C8B-B14F-4D97-AF65-F5344CB8AC3E}">
        <p14:creationId xmlns:p14="http://schemas.microsoft.com/office/powerpoint/2010/main" val="1940214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3"/>
          <a:srcRect l="32000" t="28125" r="33167" b="31320"/>
          <a:stretch/>
        </p:blipFill>
        <p:spPr>
          <a:xfrm>
            <a:off x="790351" y="345440"/>
            <a:ext cx="10607307" cy="6238240"/>
          </a:xfrm>
          <a:prstGeom prst="rect">
            <a:avLst/>
          </a:prstGeom>
        </p:spPr>
      </p:pic>
    </p:spTree>
    <p:extLst>
      <p:ext uri="{BB962C8B-B14F-4D97-AF65-F5344CB8AC3E}">
        <p14:creationId xmlns:p14="http://schemas.microsoft.com/office/powerpoint/2010/main" val="598400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3"/>
          <a:srcRect l="31500" t="27570" r="33333" b="31597"/>
          <a:stretch/>
        </p:blipFill>
        <p:spPr>
          <a:xfrm>
            <a:off x="1056640" y="0"/>
            <a:ext cx="9753600" cy="6795163"/>
          </a:xfrm>
          <a:prstGeom prst="rect">
            <a:avLst/>
          </a:prstGeom>
        </p:spPr>
      </p:pic>
    </p:spTree>
    <p:extLst>
      <p:ext uri="{BB962C8B-B14F-4D97-AF65-F5344CB8AC3E}">
        <p14:creationId xmlns:p14="http://schemas.microsoft.com/office/powerpoint/2010/main" val="512828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3"/>
          <a:srcRect l="31500" t="26459" r="32334" b="31078"/>
          <a:stretch/>
        </p:blipFill>
        <p:spPr>
          <a:xfrm>
            <a:off x="1625600" y="113839"/>
            <a:ext cx="9062720" cy="6384356"/>
          </a:xfrm>
          <a:prstGeom prst="rect">
            <a:avLst/>
          </a:prstGeom>
        </p:spPr>
      </p:pic>
      <p:cxnSp>
        <p:nvCxnSpPr>
          <p:cNvPr id="4" name="Conector recto de flecha 3"/>
          <p:cNvCxnSpPr/>
          <p:nvPr/>
        </p:nvCxnSpPr>
        <p:spPr>
          <a:xfrm flipH="1">
            <a:off x="6299200" y="3217648"/>
            <a:ext cx="548640" cy="5486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CuadroTexto 4"/>
          <p:cNvSpPr txBox="1"/>
          <p:nvPr/>
        </p:nvSpPr>
        <p:spPr>
          <a:xfrm>
            <a:off x="6847840" y="1886188"/>
            <a:ext cx="772160" cy="369332"/>
          </a:xfrm>
          <a:prstGeom prst="rect">
            <a:avLst/>
          </a:prstGeom>
          <a:noFill/>
        </p:spPr>
        <p:txBody>
          <a:bodyPr wrap="square" rtlCol="0">
            <a:spAutoFit/>
          </a:bodyPr>
          <a:lstStyle/>
          <a:p>
            <a:r>
              <a:rPr lang="es-MX" dirty="0"/>
              <a:t>ACK</a:t>
            </a:r>
            <a:endParaRPr lang="es-AR" dirty="0"/>
          </a:p>
        </p:txBody>
      </p:sp>
    </p:spTree>
    <p:extLst>
      <p:ext uri="{BB962C8B-B14F-4D97-AF65-F5344CB8AC3E}">
        <p14:creationId xmlns:p14="http://schemas.microsoft.com/office/powerpoint/2010/main" val="3779191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3"/>
          <a:srcRect l="27500" t="23958" r="26667" b="23750"/>
          <a:stretch/>
        </p:blipFill>
        <p:spPr>
          <a:xfrm>
            <a:off x="1727200" y="203200"/>
            <a:ext cx="9320750" cy="6380480"/>
          </a:xfrm>
          <a:prstGeom prst="rect">
            <a:avLst/>
          </a:prstGeom>
        </p:spPr>
      </p:pic>
    </p:spTree>
    <p:extLst>
      <p:ext uri="{BB962C8B-B14F-4D97-AF65-F5344CB8AC3E}">
        <p14:creationId xmlns:p14="http://schemas.microsoft.com/office/powerpoint/2010/main" val="4055448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3"/>
          <a:srcRect l="26833" t="23680" r="27833" b="22154"/>
          <a:stretch/>
        </p:blipFill>
        <p:spPr>
          <a:xfrm>
            <a:off x="1598090" y="121920"/>
            <a:ext cx="9271651" cy="6646956"/>
          </a:xfrm>
          <a:prstGeom prst="rect">
            <a:avLst/>
          </a:prstGeom>
        </p:spPr>
      </p:pic>
    </p:spTree>
    <p:extLst>
      <p:ext uri="{BB962C8B-B14F-4D97-AF65-F5344CB8AC3E}">
        <p14:creationId xmlns:p14="http://schemas.microsoft.com/office/powerpoint/2010/main" val="3096804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3"/>
          <a:srcRect l="27167" t="27569" r="28167" b="17986"/>
          <a:stretch/>
        </p:blipFill>
        <p:spPr>
          <a:xfrm>
            <a:off x="1808480" y="264161"/>
            <a:ext cx="8807684" cy="6441440"/>
          </a:xfrm>
          <a:prstGeom prst="rect">
            <a:avLst/>
          </a:prstGeom>
        </p:spPr>
      </p:pic>
    </p:spTree>
    <p:extLst>
      <p:ext uri="{BB962C8B-B14F-4D97-AF65-F5344CB8AC3E}">
        <p14:creationId xmlns:p14="http://schemas.microsoft.com/office/powerpoint/2010/main" val="4014207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rotWithShape="1">
          <a:blip r:embed="rId3"/>
          <a:srcRect l="25334" t="27847" r="27999" b="17709"/>
          <a:stretch/>
        </p:blipFill>
        <p:spPr>
          <a:xfrm>
            <a:off x="1625600" y="235712"/>
            <a:ext cx="9083040" cy="6358128"/>
          </a:xfrm>
          <a:prstGeom prst="rect">
            <a:avLst/>
          </a:prstGeom>
        </p:spPr>
      </p:pic>
    </p:spTree>
    <p:extLst>
      <p:ext uri="{BB962C8B-B14F-4D97-AF65-F5344CB8AC3E}">
        <p14:creationId xmlns:p14="http://schemas.microsoft.com/office/powerpoint/2010/main" val="4179909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3"/>
          <a:srcRect l="25000" t="26737" r="25695" b="14467"/>
          <a:stretch/>
        </p:blipFill>
        <p:spPr>
          <a:xfrm>
            <a:off x="1388533" y="0"/>
            <a:ext cx="9411534" cy="6733887"/>
          </a:xfrm>
          <a:prstGeom prst="rect">
            <a:avLst/>
          </a:prstGeom>
        </p:spPr>
      </p:pic>
    </p:spTree>
    <p:extLst>
      <p:ext uri="{BB962C8B-B14F-4D97-AF65-F5344CB8AC3E}">
        <p14:creationId xmlns:p14="http://schemas.microsoft.com/office/powerpoint/2010/main" val="1591872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srcRect l="26944" t="26505" r="27361" b="17707"/>
          <a:stretch/>
        </p:blipFill>
        <p:spPr>
          <a:xfrm>
            <a:off x="1522876" y="82198"/>
            <a:ext cx="9111258" cy="6674204"/>
          </a:xfrm>
          <a:prstGeom prst="rect">
            <a:avLst/>
          </a:prstGeom>
        </p:spPr>
      </p:pic>
    </p:spTree>
    <p:extLst>
      <p:ext uri="{BB962C8B-B14F-4D97-AF65-F5344CB8AC3E}">
        <p14:creationId xmlns:p14="http://schemas.microsoft.com/office/powerpoint/2010/main" val="255554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3"/>
          <a:srcRect l="5001" t="27894" r="49305" b="19560"/>
          <a:stretch/>
        </p:blipFill>
        <p:spPr>
          <a:xfrm>
            <a:off x="1282457" y="75609"/>
            <a:ext cx="9707277" cy="6697726"/>
          </a:xfrm>
          <a:prstGeom prst="rect">
            <a:avLst/>
          </a:prstGeom>
        </p:spPr>
      </p:pic>
    </p:spTree>
    <p:extLst>
      <p:ext uri="{BB962C8B-B14F-4D97-AF65-F5344CB8AC3E}">
        <p14:creationId xmlns:p14="http://schemas.microsoft.com/office/powerpoint/2010/main" val="972806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3"/>
          <a:srcRect l="3333" t="23264" r="48750" b="20255"/>
          <a:stretch/>
        </p:blipFill>
        <p:spPr>
          <a:xfrm>
            <a:off x="1456267" y="135470"/>
            <a:ext cx="9337623" cy="6603999"/>
          </a:xfrm>
          <a:prstGeom prst="rect">
            <a:avLst/>
          </a:prstGeom>
        </p:spPr>
      </p:pic>
    </p:spTree>
    <p:extLst>
      <p:ext uri="{BB962C8B-B14F-4D97-AF65-F5344CB8AC3E}">
        <p14:creationId xmlns:p14="http://schemas.microsoft.com/office/powerpoint/2010/main" val="960643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270001" y="355600"/>
            <a:ext cx="9753600" cy="6001643"/>
          </a:xfrm>
          <a:prstGeom prst="rect">
            <a:avLst/>
          </a:prstGeom>
          <a:noFill/>
        </p:spPr>
        <p:txBody>
          <a:bodyPr wrap="square" rtlCol="0">
            <a:spAutoFit/>
          </a:bodyPr>
          <a:lstStyle/>
          <a:p>
            <a:r>
              <a:rPr lang="es-MX" sz="3600" dirty="0">
                <a:solidFill>
                  <a:schemeClr val="accent1"/>
                </a:solidFill>
              </a:rPr>
              <a:t>Identificación de Redes 802.11</a:t>
            </a:r>
          </a:p>
          <a:p>
            <a:endParaRPr lang="es-MX" sz="3600" dirty="0">
              <a:solidFill>
                <a:schemeClr val="accent1"/>
              </a:solidFill>
            </a:endParaRPr>
          </a:p>
          <a:p>
            <a:r>
              <a:rPr lang="es-MX" sz="2400" dirty="0"/>
              <a:t>.- Cada AP tiene un BSSID, de fábrica (Mac de su interfaz inalámbrica, no  admite cambios).</a:t>
            </a:r>
          </a:p>
          <a:p>
            <a:endParaRPr lang="es-MX" sz="2400" dirty="0"/>
          </a:p>
          <a:p>
            <a:r>
              <a:rPr lang="es-MX" sz="2400" dirty="0"/>
              <a:t>.- Cada red inalámbrica tiene un SSID (Service Set Identifier) (2 a 32 caracteres, conf por el usuario).</a:t>
            </a:r>
          </a:p>
          <a:p>
            <a:endParaRPr lang="es-MX" sz="2400" dirty="0"/>
          </a:p>
          <a:p>
            <a:r>
              <a:rPr lang="es-MX" sz="2400" dirty="0"/>
              <a:t>.- Si tenemos varios Aps formando un Extended Service Set (ESS), cada AP tiene un BSSID y todos comparten un SSID.</a:t>
            </a:r>
          </a:p>
          <a:p>
            <a:endParaRPr lang="es-MX" sz="2400" dirty="0"/>
          </a:p>
          <a:p>
            <a:r>
              <a:rPr lang="es-MX" sz="2400" dirty="0"/>
              <a:t>.- Los Aps actuales pueden participar de mas de una red inalámbrica. Cada red inalámbrica tiene un SSID diferente y el AP crea un BSSID diferente para cada SSID</a:t>
            </a:r>
          </a:p>
          <a:p>
            <a:endParaRPr lang="es-AR" sz="2400" dirty="0"/>
          </a:p>
        </p:txBody>
      </p:sp>
    </p:spTree>
    <p:extLst>
      <p:ext uri="{BB962C8B-B14F-4D97-AF65-F5344CB8AC3E}">
        <p14:creationId xmlns:p14="http://schemas.microsoft.com/office/powerpoint/2010/main" val="595340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202267" y="524933"/>
            <a:ext cx="10075333" cy="4924425"/>
          </a:xfrm>
          <a:prstGeom prst="rect">
            <a:avLst/>
          </a:prstGeom>
          <a:noFill/>
        </p:spPr>
        <p:txBody>
          <a:bodyPr wrap="square" rtlCol="0">
            <a:spAutoFit/>
          </a:bodyPr>
          <a:lstStyle/>
          <a:p>
            <a:r>
              <a:rPr lang="es-MX" sz="3200" b="1" dirty="0">
                <a:solidFill>
                  <a:schemeClr val="accent1"/>
                </a:solidFill>
              </a:rPr>
              <a:t>Conectividad en redes 802.11</a:t>
            </a:r>
          </a:p>
          <a:p>
            <a:endParaRPr lang="es-MX" dirty="0"/>
          </a:p>
          <a:p>
            <a:r>
              <a:rPr lang="es-MX" sz="2400" dirty="0"/>
              <a:t>.- Cualquier estación que pretenda participar en una red configurarse con el SSID.</a:t>
            </a:r>
          </a:p>
          <a:p>
            <a:endParaRPr lang="es-MX" sz="2400" dirty="0"/>
          </a:p>
          <a:p>
            <a:r>
              <a:rPr lang="es-MX" sz="2400" dirty="0"/>
              <a:t>.- Los APs difunden periódicamente unos mensajes </a:t>
            </a:r>
            <a:r>
              <a:rPr lang="es-MX" sz="2400" b="1" dirty="0">
                <a:solidFill>
                  <a:schemeClr val="accent1"/>
                </a:solidFill>
              </a:rPr>
              <a:t>broadcast, indicando el SSID de la red a la que pertenecen.</a:t>
            </a:r>
          </a:p>
          <a:p>
            <a:endParaRPr lang="es-MX" sz="2400" b="1" dirty="0">
              <a:solidFill>
                <a:schemeClr val="accent1"/>
              </a:solidFill>
            </a:endParaRPr>
          </a:p>
          <a:p>
            <a:r>
              <a:rPr lang="es-MX" sz="2400" b="1" dirty="0"/>
              <a:t>.-</a:t>
            </a:r>
            <a:r>
              <a:rPr lang="es-MX" sz="2400" dirty="0"/>
              <a:t> Tipicamente estos broadcast se envien 10 veces por segundo.</a:t>
            </a:r>
          </a:p>
          <a:p>
            <a:endParaRPr lang="es-MX" sz="2400" dirty="0"/>
          </a:p>
          <a:p>
            <a:r>
              <a:rPr lang="es-MX" sz="2400" b="1" dirty="0"/>
              <a:t>.-</a:t>
            </a:r>
            <a:r>
              <a:rPr lang="es-MX" sz="2400" dirty="0"/>
              <a:t> El AP puede configurarse para que no envíe SSID, o para que los envíe ocultando su SSID, pero los ssid NO VIAJAN ENCRIPTADOS.</a:t>
            </a:r>
          </a:p>
          <a:p>
            <a:endParaRPr lang="es-AR" sz="2400" b="1" dirty="0"/>
          </a:p>
        </p:txBody>
      </p:sp>
    </p:spTree>
    <p:extLst>
      <p:ext uri="{BB962C8B-B14F-4D97-AF65-F5344CB8AC3E}">
        <p14:creationId xmlns:p14="http://schemas.microsoft.com/office/powerpoint/2010/main" val="31459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8571" y="348790"/>
            <a:ext cx="2492990" cy="70788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4000" b="0" i="0" u="none" strike="noStrike" kern="0" cap="none" spc="0" normalizeH="0" baseline="0" noProof="0" dirty="0">
                <a:ln>
                  <a:noFill/>
                </a:ln>
                <a:solidFill>
                  <a:schemeClr val="accent1"/>
                </a:solidFill>
                <a:effectLst/>
                <a:uLnTx/>
                <a:uFillTx/>
                <a:latin typeface="Times New Roman"/>
                <a:ea typeface="+mj-ea"/>
                <a:cs typeface="+mj-cs"/>
              </a:rPr>
              <a:t>Asociación</a:t>
            </a:r>
            <a:endParaRPr kumimoji="0" lang="es-AR" sz="1800" b="0" i="0" u="none" strike="noStrike" kern="0" cap="none" spc="0" normalizeH="0" baseline="0" noProof="0" dirty="0">
              <a:ln>
                <a:noFill/>
              </a:ln>
              <a:solidFill>
                <a:schemeClr val="accent1"/>
              </a:solidFill>
              <a:effectLst/>
              <a:uLnTx/>
              <a:uFillTx/>
            </a:endParaRPr>
          </a:p>
        </p:txBody>
      </p:sp>
      <p:sp>
        <p:nvSpPr>
          <p:cNvPr id="3" name="Rectángulo 2"/>
          <p:cNvSpPr/>
          <p:nvPr/>
        </p:nvSpPr>
        <p:spPr>
          <a:xfrm>
            <a:off x="660401" y="1360944"/>
            <a:ext cx="11142133" cy="4893647"/>
          </a:xfrm>
          <a:prstGeom prst="rect">
            <a:avLst/>
          </a:prstGeom>
        </p:spPr>
        <p:txBody>
          <a:bodyPr wrap="square">
            <a:spAutoFit/>
          </a:bodyPr>
          <a:lstStyle/>
          <a:p>
            <a:r>
              <a:rPr lang="es-AR" sz="2400" dirty="0"/>
              <a:t>.- Si una red inalámbrica (o sea un SSID) no tiene configurada ninguna protección cualquier estación puede conectarse a ella asociándose a uno de sus APs.</a:t>
            </a:r>
          </a:p>
          <a:p>
            <a:r>
              <a:rPr lang="es-AR" sz="2400" dirty="0"/>
              <a:t>.- Cada AP de la red inalámbrica mantiene en todo momento una lista de las estaciones que tiene asociadas (identificadas por sus direcciones MAC)</a:t>
            </a:r>
          </a:p>
          <a:p>
            <a:r>
              <a:rPr lang="es-AR" sz="2400" dirty="0"/>
              <a:t>.- Asociarse a un AP en una red inalámbrica equivale a conectarse por cable a un switch en una red ethernet</a:t>
            </a:r>
          </a:p>
          <a:p>
            <a:r>
              <a:rPr lang="es-AR" sz="2400" dirty="0"/>
              <a:t>.- Cuando un AP recibe una trama del DS mira si la MAC de destino está en su lista de estaciones asociadas. Si es así envía la trama por radio, si no la descarta. </a:t>
            </a:r>
          </a:p>
          <a:p>
            <a:r>
              <a:rPr lang="es-AR" sz="2400" dirty="0"/>
              <a:t>.- En lo relativo al intercambio de tráfico entre su interfaz inalámbrica y su interfaz de cable el funcionamiento de un AP es similar al de un puente transparente o un switch LAN, salvo que el AP no inunda por la red inalámbrica las tramas que le llegan por el DS con destino desconocido. En cambio en el funcionamiento con las estaciones asociadas al AP en su interfaz inalámbrica el funcionamiento se asemeja al de un hub half-d</a:t>
            </a:r>
          </a:p>
        </p:txBody>
      </p:sp>
    </p:spTree>
    <p:extLst>
      <p:ext uri="{BB962C8B-B14F-4D97-AF65-F5344CB8AC3E}">
        <p14:creationId xmlns:p14="http://schemas.microsoft.com/office/powerpoint/2010/main" val="1165143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3892454" y="93133"/>
            <a:ext cx="4170025" cy="1176630"/>
          </a:xfrm>
          <a:prstGeom prst="rect">
            <a:avLst/>
          </a:prstGeom>
        </p:spPr>
      </p:pic>
      <p:sp>
        <p:nvSpPr>
          <p:cNvPr id="3" name="CuadroTexto 2"/>
          <p:cNvSpPr txBox="1"/>
          <p:nvPr/>
        </p:nvSpPr>
        <p:spPr>
          <a:xfrm>
            <a:off x="1151467" y="1595848"/>
            <a:ext cx="10380133" cy="4819781"/>
          </a:xfrm>
          <a:prstGeom prst="rect">
            <a:avLst/>
          </a:prstGeom>
          <a:noFill/>
        </p:spPr>
        <p:txBody>
          <a:bodyPr wrap="square" rtlCol="0">
            <a:spAutoFit/>
          </a:bodyPr>
          <a:lstStyle/>
          <a:p>
            <a:pPr marL="342900" lvl="0" indent="-342900" fontAlgn="base">
              <a:lnSpc>
                <a:spcPct val="90000"/>
              </a:lnSpc>
              <a:spcBef>
                <a:spcPct val="20000"/>
              </a:spcBef>
              <a:spcAft>
                <a:spcPct val="0"/>
              </a:spcAft>
              <a:buFontTx/>
              <a:buChar char="•"/>
            </a:pPr>
            <a:r>
              <a:rPr lang="es-ES" sz="3200" kern="0" dirty="0">
                <a:solidFill>
                  <a:srgbClr val="000000"/>
                </a:solidFill>
                <a:latin typeface="Times New Roman"/>
              </a:rPr>
              <a:t>Una red inalámbrica sin protección esta expuesta a ataques. Para evitarlo se debe utilizar algún protocolo de protección, como WEP, WPA, etc.</a:t>
            </a:r>
          </a:p>
          <a:p>
            <a:pPr marL="342900" lvl="0" indent="-342900" fontAlgn="base">
              <a:lnSpc>
                <a:spcPct val="90000"/>
              </a:lnSpc>
              <a:spcBef>
                <a:spcPct val="20000"/>
              </a:spcBef>
              <a:spcAft>
                <a:spcPct val="0"/>
              </a:spcAft>
              <a:buFontTx/>
              <a:buChar char="•"/>
            </a:pPr>
            <a:r>
              <a:rPr lang="es-ES" sz="3200" kern="0" dirty="0">
                <a:solidFill>
                  <a:srgbClr val="000000"/>
                </a:solidFill>
                <a:latin typeface="Times New Roman"/>
              </a:rPr>
              <a:t>Cuando se utiliza protección la red (el AP) obliga a las estaciones a autentificarse antes de asociarlas</a:t>
            </a:r>
          </a:p>
          <a:p>
            <a:pPr marL="342900" lvl="0" indent="-342900" fontAlgn="base">
              <a:lnSpc>
                <a:spcPct val="90000"/>
              </a:lnSpc>
              <a:spcBef>
                <a:spcPct val="20000"/>
              </a:spcBef>
              <a:spcAft>
                <a:spcPct val="0"/>
              </a:spcAft>
              <a:buFontTx/>
              <a:buChar char="•"/>
            </a:pPr>
            <a:r>
              <a:rPr lang="es-ES" sz="3200" kern="0" dirty="0">
                <a:solidFill>
                  <a:srgbClr val="000000"/>
                </a:solidFill>
                <a:latin typeface="Times New Roman"/>
              </a:rPr>
              <a:t>La autentificación se hace con un determinado SSID, la asociación con cada BSSID</a:t>
            </a:r>
          </a:p>
          <a:p>
            <a:pPr marL="342900" lvl="0" indent="-342900" fontAlgn="base">
              <a:lnSpc>
                <a:spcPct val="90000"/>
              </a:lnSpc>
              <a:spcBef>
                <a:spcPct val="20000"/>
              </a:spcBef>
              <a:spcAft>
                <a:spcPct val="0"/>
              </a:spcAft>
              <a:buFontTx/>
              <a:buChar char="•"/>
            </a:pPr>
            <a:r>
              <a:rPr lang="es-ES" sz="3200" kern="0" dirty="0">
                <a:solidFill>
                  <a:srgbClr val="000000"/>
                </a:solidFill>
                <a:latin typeface="Times New Roman"/>
              </a:rPr>
              <a:t>La autentificación se hace antes de asociarse y se realiza de forma abreviada al reasociarse (cambiar de AP) para acelerar la itinerancia (802.11r). </a:t>
            </a:r>
          </a:p>
        </p:txBody>
      </p:sp>
    </p:spTree>
    <p:extLst>
      <p:ext uri="{BB962C8B-B14F-4D97-AF65-F5344CB8AC3E}">
        <p14:creationId xmlns:p14="http://schemas.microsoft.com/office/powerpoint/2010/main" val="3042219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1761490" y="948267"/>
            <a:ext cx="9247708" cy="5909733"/>
          </a:xfrm>
          <a:prstGeom prst="rect">
            <a:avLst/>
          </a:prstGeom>
        </p:spPr>
      </p:pic>
      <p:pic>
        <p:nvPicPr>
          <p:cNvPr id="4" name="Imagen 3"/>
          <p:cNvPicPr>
            <a:picLocks noChangeAspect="1"/>
          </p:cNvPicPr>
          <p:nvPr/>
        </p:nvPicPr>
        <p:blipFill>
          <a:blip r:embed="rId3"/>
          <a:stretch>
            <a:fillRect/>
          </a:stretch>
        </p:blipFill>
        <p:spPr>
          <a:xfrm>
            <a:off x="1158477" y="5952065"/>
            <a:ext cx="591363" cy="518205"/>
          </a:xfrm>
          <a:prstGeom prst="rect">
            <a:avLst/>
          </a:prstGeom>
        </p:spPr>
      </p:pic>
      <p:pic>
        <p:nvPicPr>
          <p:cNvPr id="5" name="Imagen 4"/>
          <p:cNvPicPr>
            <a:picLocks noChangeAspect="1"/>
          </p:cNvPicPr>
          <p:nvPr/>
        </p:nvPicPr>
        <p:blipFill>
          <a:blip r:embed="rId3"/>
          <a:stretch>
            <a:fillRect/>
          </a:stretch>
        </p:blipFill>
        <p:spPr>
          <a:xfrm>
            <a:off x="10713516" y="5952065"/>
            <a:ext cx="591363" cy="518205"/>
          </a:xfrm>
          <a:prstGeom prst="rect">
            <a:avLst/>
          </a:prstGeom>
        </p:spPr>
      </p:pic>
    </p:spTree>
    <p:extLst>
      <p:ext uri="{BB962C8B-B14F-4D97-AF65-F5344CB8AC3E}">
        <p14:creationId xmlns:p14="http://schemas.microsoft.com/office/powerpoint/2010/main" val="611598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2878666" y="210348"/>
            <a:ext cx="7806267" cy="707886"/>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4000" b="0" i="0" u="none" strike="noStrike" kern="0" cap="none" spc="0" normalizeH="0" baseline="0" noProof="0" dirty="0">
                <a:ln>
                  <a:noFill/>
                </a:ln>
                <a:solidFill>
                  <a:schemeClr val="accent1"/>
                </a:solidFill>
                <a:effectLst/>
                <a:uLnTx/>
                <a:uFillTx/>
                <a:latin typeface="Times New Roman"/>
                <a:ea typeface="+mj-ea"/>
                <a:cs typeface="+mj-cs"/>
              </a:rPr>
              <a:t>Organización de una red 802.11</a:t>
            </a:r>
            <a:endParaRPr kumimoji="0" lang="es-AR" sz="1800" b="0" i="0" u="none" strike="noStrike" kern="0" cap="none" spc="0" normalizeH="0" baseline="0" noProof="0" dirty="0">
              <a:ln>
                <a:noFill/>
              </a:ln>
              <a:solidFill>
                <a:schemeClr val="accent1"/>
              </a:solidFill>
              <a:effectLst/>
              <a:uLnTx/>
              <a:uFillTx/>
            </a:endParaRPr>
          </a:p>
        </p:txBody>
      </p:sp>
      <p:sp>
        <p:nvSpPr>
          <p:cNvPr id="4" name="Rectángulo 3"/>
          <p:cNvSpPr/>
          <p:nvPr/>
        </p:nvSpPr>
        <p:spPr>
          <a:xfrm>
            <a:off x="846668" y="1288848"/>
            <a:ext cx="10803466" cy="5262979"/>
          </a:xfrm>
          <a:prstGeom prst="rect">
            <a:avLst/>
          </a:prstGeom>
        </p:spPr>
        <p:txBody>
          <a:bodyPr wrap="square">
            <a:spAutoFit/>
          </a:bodyPr>
          <a:lstStyle/>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Normalmente los APs se conectan a conmutadores ethernet que suministran alimentación eléctrica través del conector RJ45 (power over Ethernet, 802.3af) para simplificar y abaratar la instalación</a:t>
            </a:r>
          </a:p>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Un servidor DHCP se encarga de suministrar direcciones IP automáticas  a las estaciones cuando se asocian con un SSID. Podrían asignarse manualmente, pero obligaría a registrar las MAC de todos los dispositivos móviles.</a:t>
            </a:r>
          </a:p>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Todos los AP de un SSID se conectan a la misma VLAN</a:t>
            </a:r>
          </a:p>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Si los APs permiten configurar más de un SSID se pueden configurar varias redes virtuales sobre la misma red física. Esto permite ofrecer diferentes permisos, políticas de uso, etc.</a:t>
            </a:r>
          </a:p>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Si el AP tiene más de un SSID cada uno se corresponderá con una VLAN y la conexión al conmutador debe hacerse mediante un puerto trunk</a:t>
            </a:r>
          </a:p>
        </p:txBody>
      </p:sp>
    </p:spTree>
    <p:extLst>
      <p:ext uri="{BB962C8B-B14F-4D97-AF65-F5344CB8AC3E}">
        <p14:creationId xmlns:p14="http://schemas.microsoft.com/office/powerpoint/2010/main" val="2621123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93728" y="230257"/>
            <a:ext cx="4533612" cy="707886"/>
          </a:xfrm>
          <a:prstGeom prst="rect">
            <a:avLst/>
          </a:prstGeom>
        </p:spPr>
        <p:txBody>
          <a:bodyPr wrap="none">
            <a:spAutoFit/>
          </a:bodyPr>
          <a:lstStyle/>
          <a:p>
            <a:pPr lvl="0" algn="ctr" fontAlgn="base">
              <a:spcBef>
                <a:spcPct val="0"/>
              </a:spcBef>
              <a:spcAft>
                <a:spcPct val="0"/>
              </a:spcAft>
            </a:pPr>
            <a:r>
              <a:rPr lang="es-ES" sz="4000" dirty="0">
                <a:solidFill>
                  <a:schemeClr val="accent1"/>
                </a:solidFill>
                <a:latin typeface="Times New Roman" pitchFamily="18" charset="0"/>
              </a:rPr>
              <a:t>APs con varios SSID</a:t>
            </a:r>
          </a:p>
        </p:txBody>
      </p:sp>
      <p:sp>
        <p:nvSpPr>
          <p:cNvPr id="3" name="Line 18"/>
          <p:cNvSpPr>
            <a:spLocks noChangeShapeType="1"/>
          </p:cNvSpPr>
          <p:nvPr/>
        </p:nvSpPr>
        <p:spPr bwMode="auto">
          <a:xfrm flipH="1">
            <a:off x="3693727" y="3246478"/>
            <a:ext cx="2659215" cy="867097"/>
          </a:xfrm>
          <a:prstGeom prst="line">
            <a:avLst/>
          </a:prstGeom>
          <a:noFill/>
          <a:ln w="25400">
            <a:solidFill>
              <a:srgbClr val="0000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4" name="Line 17"/>
          <p:cNvSpPr>
            <a:spLocks noChangeShapeType="1"/>
          </p:cNvSpPr>
          <p:nvPr/>
        </p:nvSpPr>
        <p:spPr bwMode="auto">
          <a:xfrm>
            <a:off x="6613387" y="3319588"/>
            <a:ext cx="1873051" cy="841623"/>
          </a:xfrm>
          <a:prstGeom prst="line">
            <a:avLst/>
          </a:prstGeom>
          <a:noFill/>
          <a:ln w="25400">
            <a:solidFill>
              <a:srgbClr val="0000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5" name="Line 17"/>
          <p:cNvSpPr>
            <a:spLocks noChangeShapeType="1"/>
          </p:cNvSpPr>
          <p:nvPr/>
        </p:nvSpPr>
        <p:spPr bwMode="auto">
          <a:xfrm>
            <a:off x="6368049" y="3279246"/>
            <a:ext cx="0" cy="834329"/>
          </a:xfrm>
          <a:prstGeom prst="line">
            <a:avLst/>
          </a:prstGeom>
          <a:noFill/>
          <a:ln w="25400">
            <a:solidFill>
              <a:srgbClr val="0000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7" name="Line 17"/>
          <p:cNvSpPr>
            <a:spLocks noChangeShapeType="1"/>
          </p:cNvSpPr>
          <p:nvPr/>
        </p:nvSpPr>
        <p:spPr bwMode="auto">
          <a:xfrm>
            <a:off x="2768204" y="1856835"/>
            <a:ext cx="3501207" cy="1387475"/>
          </a:xfrm>
          <a:prstGeom prst="line">
            <a:avLst/>
          </a:prstGeom>
          <a:noFill/>
          <a:ln w="25400">
            <a:solidFill>
              <a:srgbClr val="0000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8" name="Line 18"/>
          <p:cNvSpPr>
            <a:spLocks noChangeShapeType="1"/>
          </p:cNvSpPr>
          <p:nvPr/>
        </p:nvSpPr>
        <p:spPr bwMode="auto">
          <a:xfrm flipH="1">
            <a:off x="6897157" y="1839384"/>
            <a:ext cx="2768071" cy="1270062"/>
          </a:xfrm>
          <a:prstGeom prst="line">
            <a:avLst/>
          </a:prstGeom>
          <a:noFill/>
          <a:ln w="25400">
            <a:solidFill>
              <a:srgbClr val="0000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9" name="Line 19"/>
          <p:cNvSpPr>
            <a:spLocks noChangeShapeType="1"/>
          </p:cNvSpPr>
          <p:nvPr/>
        </p:nvSpPr>
        <p:spPr bwMode="auto">
          <a:xfrm flipH="1">
            <a:off x="6611407" y="3218412"/>
            <a:ext cx="3882187" cy="44959"/>
          </a:xfrm>
          <a:prstGeom prst="line">
            <a:avLst/>
          </a:prstGeom>
          <a:noFill/>
          <a:ln w="25400">
            <a:solidFill>
              <a:srgbClr val="0000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pic>
        <p:nvPicPr>
          <p:cNvPr id="10" name="Picture 6"/>
          <p:cNvPicPr>
            <a:picLocks noChangeAspect="1" noChangeArrowheads="1"/>
          </p:cNvPicPr>
          <p:nvPr/>
        </p:nvPicPr>
        <p:blipFill>
          <a:blip r:embed="rId3" cstate="print"/>
          <a:srcRect/>
          <a:stretch>
            <a:fillRect/>
          </a:stretch>
        </p:blipFill>
        <p:spPr bwMode="auto">
          <a:xfrm>
            <a:off x="1815595" y="991019"/>
            <a:ext cx="1136626" cy="850481"/>
          </a:xfrm>
          <a:prstGeom prst="rect">
            <a:avLst/>
          </a:prstGeom>
          <a:noFill/>
          <a:ln w="9525">
            <a:noFill/>
            <a:miter lim="800000"/>
            <a:headEnd/>
            <a:tailEnd/>
          </a:ln>
        </p:spPr>
      </p:pic>
      <p:pic>
        <p:nvPicPr>
          <p:cNvPr id="11" name="Picture 9"/>
          <p:cNvPicPr>
            <a:picLocks noChangeArrowheads="1"/>
          </p:cNvPicPr>
          <p:nvPr/>
        </p:nvPicPr>
        <p:blipFill>
          <a:blip r:embed="rId4" cstate="print"/>
          <a:srcRect/>
          <a:stretch>
            <a:fillRect/>
          </a:stretch>
        </p:blipFill>
        <p:spPr bwMode="auto">
          <a:xfrm>
            <a:off x="10493595" y="2922058"/>
            <a:ext cx="931863" cy="609600"/>
          </a:xfrm>
          <a:prstGeom prst="rect">
            <a:avLst/>
          </a:prstGeom>
          <a:noFill/>
          <a:ln w="12700">
            <a:noFill/>
            <a:miter lim="800000"/>
            <a:headEnd/>
            <a:tailEnd/>
          </a:ln>
        </p:spPr>
      </p:pic>
      <p:pic>
        <p:nvPicPr>
          <p:cNvPr id="12" name="Picture 10"/>
          <p:cNvPicPr>
            <a:picLocks noChangeArrowheads="1"/>
          </p:cNvPicPr>
          <p:nvPr/>
        </p:nvPicPr>
        <p:blipFill>
          <a:blip r:embed="rId5" cstate="print"/>
          <a:srcRect/>
          <a:stretch>
            <a:fillRect/>
          </a:stretch>
        </p:blipFill>
        <p:spPr bwMode="auto">
          <a:xfrm>
            <a:off x="6108171" y="3118908"/>
            <a:ext cx="819150" cy="287338"/>
          </a:xfrm>
          <a:prstGeom prst="rect">
            <a:avLst/>
          </a:prstGeom>
          <a:noFill/>
          <a:ln w="12700">
            <a:noFill/>
            <a:miter lim="800000"/>
            <a:headEnd/>
            <a:tailEnd/>
          </a:ln>
        </p:spPr>
      </p:pic>
      <p:pic>
        <p:nvPicPr>
          <p:cNvPr id="13" name="Picture 12"/>
          <p:cNvPicPr>
            <a:picLocks noChangeArrowheads="1"/>
          </p:cNvPicPr>
          <p:nvPr/>
        </p:nvPicPr>
        <p:blipFill>
          <a:blip r:embed="rId6" cstate="print"/>
          <a:srcRect/>
          <a:stretch>
            <a:fillRect/>
          </a:stretch>
        </p:blipFill>
        <p:spPr bwMode="auto">
          <a:xfrm>
            <a:off x="3115713" y="3952960"/>
            <a:ext cx="519113" cy="692150"/>
          </a:xfrm>
          <a:prstGeom prst="rect">
            <a:avLst/>
          </a:prstGeom>
          <a:noFill/>
          <a:ln w="12700">
            <a:noFill/>
            <a:miter lim="800000"/>
            <a:headEnd/>
            <a:tailEnd/>
          </a:ln>
        </p:spPr>
      </p:pic>
      <p:pic>
        <p:nvPicPr>
          <p:cNvPr id="14" name="Picture 14"/>
          <p:cNvPicPr>
            <a:picLocks noChangeAspect="1" noChangeArrowheads="1"/>
          </p:cNvPicPr>
          <p:nvPr/>
        </p:nvPicPr>
        <p:blipFill>
          <a:blip r:embed="rId3" cstate="print"/>
          <a:srcRect/>
          <a:stretch>
            <a:fillRect/>
          </a:stretch>
        </p:blipFill>
        <p:spPr bwMode="auto">
          <a:xfrm>
            <a:off x="9665229" y="991019"/>
            <a:ext cx="1331444" cy="996257"/>
          </a:xfrm>
          <a:prstGeom prst="rect">
            <a:avLst/>
          </a:prstGeom>
          <a:noFill/>
          <a:ln w="9525">
            <a:noFill/>
            <a:miter lim="800000"/>
            <a:headEnd/>
            <a:tailEnd/>
          </a:ln>
        </p:spPr>
      </p:pic>
      <p:pic>
        <p:nvPicPr>
          <p:cNvPr id="15" name="Picture 16"/>
          <p:cNvPicPr>
            <a:picLocks noChangeArrowheads="1"/>
          </p:cNvPicPr>
          <p:nvPr/>
        </p:nvPicPr>
        <p:blipFill>
          <a:blip r:embed="rId6" cstate="print"/>
          <a:srcRect/>
          <a:stretch>
            <a:fillRect/>
          </a:stretch>
        </p:blipFill>
        <p:spPr bwMode="auto">
          <a:xfrm>
            <a:off x="8253676" y="3723423"/>
            <a:ext cx="519113" cy="692150"/>
          </a:xfrm>
          <a:prstGeom prst="rect">
            <a:avLst/>
          </a:prstGeom>
          <a:noFill/>
          <a:ln w="12700">
            <a:noFill/>
            <a:miter lim="800000"/>
            <a:headEnd/>
            <a:tailEnd/>
          </a:ln>
        </p:spPr>
      </p:pic>
      <p:sp>
        <p:nvSpPr>
          <p:cNvPr id="16" name="Text Box 20"/>
          <p:cNvSpPr txBox="1">
            <a:spLocks noChangeArrowheads="1"/>
          </p:cNvSpPr>
          <p:nvPr/>
        </p:nvSpPr>
        <p:spPr bwMode="auto">
          <a:xfrm>
            <a:off x="4348858" y="2043666"/>
            <a:ext cx="883832" cy="400110"/>
          </a:xfrm>
          <a:prstGeom prst="rect">
            <a:avLst/>
          </a:prstGeom>
          <a:noFill/>
          <a:ln w="9525">
            <a:noFill/>
            <a:miter lim="800000"/>
            <a:headEnd/>
            <a:tailEnd/>
          </a:ln>
        </p:spPr>
        <p:txBody>
          <a:bodyPr wrap="none">
            <a:spAutoFit/>
          </a:bodyPr>
          <a:lstStyle/>
          <a:p>
            <a:pPr fontAlgn="base">
              <a:spcBef>
                <a:spcPct val="0"/>
              </a:spcBef>
              <a:spcAft>
                <a:spcPct val="0"/>
              </a:spcAft>
            </a:pPr>
            <a:r>
              <a:rPr lang="es-ES" sz="2000" b="1" dirty="0">
                <a:solidFill>
                  <a:srgbClr val="000000"/>
                </a:solidFill>
                <a:latin typeface="Arial" charset="0"/>
              </a:rPr>
              <a:t>Trunk</a:t>
            </a:r>
          </a:p>
        </p:txBody>
      </p:sp>
      <p:sp>
        <p:nvSpPr>
          <p:cNvPr id="17" name="Text Box 21"/>
          <p:cNvSpPr txBox="1">
            <a:spLocks noChangeArrowheads="1"/>
          </p:cNvSpPr>
          <p:nvPr/>
        </p:nvSpPr>
        <p:spPr bwMode="auto">
          <a:xfrm>
            <a:off x="7750364" y="2069064"/>
            <a:ext cx="813108" cy="369332"/>
          </a:xfrm>
          <a:prstGeom prst="rect">
            <a:avLst/>
          </a:prstGeom>
          <a:noFill/>
          <a:ln w="9525">
            <a:noFill/>
            <a:miter lim="800000"/>
            <a:headEnd/>
            <a:tailEnd/>
          </a:ln>
        </p:spPr>
        <p:txBody>
          <a:bodyPr wrap="none">
            <a:spAutoFit/>
          </a:bodyPr>
          <a:lstStyle/>
          <a:p>
            <a:pPr fontAlgn="base">
              <a:spcBef>
                <a:spcPct val="0"/>
              </a:spcBef>
              <a:spcAft>
                <a:spcPct val="0"/>
              </a:spcAft>
            </a:pPr>
            <a:r>
              <a:rPr lang="es-ES" b="1" dirty="0">
                <a:solidFill>
                  <a:srgbClr val="000000"/>
                </a:solidFill>
                <a:latin typeface="Arial" charset="0"/>
              </a:rPr>
              <a:t>Trunk</a:t>
            </a:r>
          </a:p>
        </p:txBody>
      </p:sp>
      <p:sp>
        <p:nvSpPr>
          <p:cNvPr id="18" name="Text Box 22"/>
          <p:cNvSpPr txBox="1">
            <a:spLocks noChangeArrowheads="1"/>
          </p:cNvSpPr>
          <p:nvPr/>
        </p:nvSpPr>
        <p:spPr bwMode="auto">
          <a:xfrm>
            <a:off x="8340642" y="2818856"/>
            <a:ext cx="813108" cy="369332"/>
          </a:xfrm>
          <a:prstGeom prst="rect">
            <a:avLst/>
          </a:prstGeom>
          <a:noFill/>
          <a:ln w="9525">
            <a:noFill/>
            <a:miter lim="800000"/>
            <a:headEnd/>
            <a:tailEnd/>
          </a:ln>
        </p:spPr>
        <p:txBody>
          <a:bodyPr wrap="none">
            <a:spAutoFit/>
          </a:bodyPr>
          <a:lstStyle/>
          <a:p>
            <a:pPr fontAlgn="base">
              <a:spcBef>
                <a:spcPct val="0"/>
              </a:spcBef>
              <a:spcAft>
                <a:spcPct val="0"/>
              </a:spcAft>
            </a:pPr>
            <a:r>
              <a:rPr lang="es-ES" b="1" dirty="0">
                <a:solidFill>
                  <a:srgbClr val="000000"/>
                </a:solidFill>
                <a:latin typeface="Arial" charset="0"/>
              </a:rPr>
              <a:t>Trunk</a:t>
            </a:r>
          </a:p>
        </p:txBody>
      </p:sp>
      <p:sp>
        <p:nvSpPr>
          <p:cNvPr id="19" name="Text Box 23"/>
          <p:cNvSpPr txBox="1">
            <a:spLocks noChangeArrowheads="1"/>
          </p:cNvSpPr>
          <p:nvPr/>
        </p:nvSpPr>
        <p:spPr bwMode="auto">
          <a:xfrm>
            <a:off x="2967326" y="4769452"/>
            <a:ext cx="1133644" cy="369332"/>
          </a:xfrm>
          <a:prstGeom prst="rect">
            <a:avLst/>
          </a:prstGeom>
          <a:noFill/>
          <a:ln w="9525">
            <a:noFill/>
            <a:miter lim="800000"/>
            <a:headEnd/>
            <a:tailEnd/>
          </a:ln>
        </p:spPr>
        <p:txBody>
          <a:bodyPr wrap="none">
            <a:spAutoFit/>
          </a:bodyPr>
          <a:lstStyle/>
          <a:p>
            <a:pPr fontAlgn="base">
              <a:spcBef>
                <a:spcPct val="0"/>
              </a:spcBef>
              <a:spcAft>
                <a:spcPct val="0"/>
              </a:spcAft>
            </a:pPr>
            <a:r>
              <a:rPr lang="es-ES" b="1" dirty="0">
                <a:solidFill>
                  <a:srgbClr val="000000"/>
                </a:solidFill>
                <a:latin typeface="Arial" charset="0"/>
              </a:rPr>
              <a:t>VLAN 60</a:t>
            </a:r>
          </a:p>
        </p:txBody>
      </p:sp>
      <p:sp>
        <p:nvSpPr>
          <p:cNvPr id="20" name="Text Box 24"/>
          <p:cNvSpPr txBox="1">
            <a:spLocks noChangeArrowheads="1"/>
          </p:cNvSpPr>
          <p:nvPr/>
        </p:nvSpPr>
        <p:spPr bwMode="auto">
          <a:xfrm>
            <a:off x="8552500" y="4595535"/>
            <a:ext cx="1133644" cy="369332"/>
          </a:xfrm>
          <a:prstGeom prst="rect">
            <a:avLst/>
          </a:prstGeom>
          <a:noFill/>
          <a:ln w="9525">
            <a:noFill/>
            <a:miter lim="800000"/>
            <a:headEnd/>
            <a:tailEnd/>
          </a:ln>
        </p:spPr>
        <p:txBody>
          <a:bodyPr wrap="none">
            <a:spAutoFit/>
          </a:bodyPr>
          <a:lstStyle/>
          <a:p>
            <a:pPr fontAlgn="base">
              <a:spcBef>
                <a:spcPct val="0"/>
              </a:spcBef>
              <a:spcAft>
                <a:spcPct val="0"/>
              </a:spcAft>
            </a:pPr>
            <a:r>
              <a:rPr lang="es-ES" b="1" dirty="0">
                <a:solidFill>
                  <a:srgbClr val="000000"/>
                </a:solidFill>
                <a:latin typeface="Arial" charset="0"/>
              </a:rPr>
              <a:t>VLAN 62</a:t>
            </a:r>
          </a:p>
        </p:txBody>
      </p:sp>
      <p:sp>
        <p:nvSpPr>
          <p:cNvPr id="21" name="Text Box 24"/>
          <p:cNvSpPr txBox="1">
            <a:spLocks noChangeArrowheads="1"/>
          </p:cNvSpPr>
          <p:nvPr/>
        </p:nvSpPr>
        <p:spPr bwMode="auto">
          <a:xfrm>
            <a:off x="6106584" y="4735215"/>
            <a:ext cx="1133644" cy="369332"/>
          </a:xfrm>
          <a:prstGeom prst="rect">
            <a:avLst/>
          </a:prstGeom>
          <a:noFill/>
          <a:ln w="9525">
            <a:noFill/>
            <a:miter lim="800000"/>
            <a:headEnd/>
            <a:tailEnd/>
          </a:ln>
        </p:spPr>
        <p:txBody>
          <a:bodyPr wrap="none">
            <a:spAutoFit/>
          </a:bodyPr>
          <a:lstStyle/>
          <a:p>
            <a:pPr fontAlgn="base">
              <a:spcBef>
                <a:spcPct val="0"/>
              </a:spcBef>
              <a:spcAft>
                <a:spcPct val="0"/>
              </a:spcAft>
            </a:pPr>
            <a:r>
              <a:rPr lang="es-ES" b="1" dirty="0">
                <a:solidFill>
                  <a:srgbClr val="000000"/>
                </a:solidFill>
                <a:latin typeface="Arial" charset="0"/>
              </a:rPr>
              <a:t>VLAN 61</a:t>
            </a:r>
          </a:p>
        </p:txBody>
      </p:sp>
      <p:pic>
        <p:nvPicPr>
          <p:cNvPr id="22" name="Picture 16"/>
          <p:cNvPicPr>
            <a:picLocks noChangeArrowheads="1"/>
          </p:cNvPicPr>
          <p:nvPr/>
        </p:nvPicPr>
        <p:blipFill>
          <a:blip r:embed="rId6" cstate="print"/>
          <a:srcRect/>
          <a:stretch>
            <a:fillRect/>
          </a:stretch>
        </p:blipFill>
        <p:spPr bwMode="auto">
          <a:xfrm>
            <a:off x="5964477" y="3767501"/>
            <a:ext cx="519113" cy="692150"/>
          </a:xfrm>
          <a:prstGeom prst="rect">
            <a:avLst/>
          </a:prstGeom>
          <a:noFill/>
          <a:ln w="12700">
            <a:noFill/>
            <a:miter lim="800000"/>
            <a:headEnd/>
            <a:tailEnd/>
          </a:ln>
        </p:spPr>
      </p:pic>
      <p:sp>
        <p:nvSpPr>
          <p:cNvPr id="23" name="Text Box 25"/>
          <p:cNvSpPr txBox="1">
            <a:spLocks noChangeArrowheads="1"/>
          </p:cNvSpPr>
          <p:nvPr/>
        </p:nvSpPr>
        <p:spPr bwMode="auto">
          <a:xfrm>
            <a:off x="5950263" y="5167014"/>
            <a:ext cx="2277077" cy="923330"/>
          </a:xfrm>
          <a:prstGeom prst="rect">
            <a:avLst/>
          </a:prstGeom>
          <a:noFill/>
          <a:ln w="9525">
            <a:noFill/>
            <a:miter lim="800000"/>
            <a:headEnd/>
            <a:tailEnd/>
          </a:ln>
        </p:spPr>
        <p:txBody>
          <a:bodyPr wrap="square">
            <a:spAutoFit/>
          </a:bodyPr>
          <a:lstStyle/>
          <a:p>
            <a:pPr fontAlgn="base">
              <a:spcBef>
                <a:spcPct val="0"/>
              </a:spcBef>
              <a:spcAft>
                <a:spcPct val="0"/>
              </a:spcAft>
            </a:pPr>
            <a:r>
              <a:rPr lang="es-ES" b="1" dirty="0">
                <a:solidFill>
                  <a:srgbClr val="000000"/>
                </a:solidFill>
                <a:latin typeface="Arial" charset="0"/>
              </a:rPr>
              <a:t>10.0.0.1 </a:t>
            </a:r>
          </a:p>
          <a:p>
            <a:pPr fontAlgn="base">
              <a:spcBef>
                <a:spcPct val="0"/>
              </a:spcBef>
              <a:spcAft>
                <a:spcPct val="0"/>
              </a:spcAft>
            </a:pPr>
            <a:r>
              <a:rPr lang="es-ES" b="1" dirty="0">
                <a:solidFill>
                  <a:srgbClr val="000000"/>
                </a:solidFill>
                <a:latin typeface="Arial" charset="0"/>
              </a:rPr>
              <a:t>Servidor DHCP</a:t>
            </a:r>
          </a:p>
          <a:p>
            <a:pPr fontAlgn="base">
              <a:spcBef>
                <a:spcPct val="0"/>
              </a:spcBef>
              <a:spcAft>
                <a:spcPct val="0"/>
              </a:spcAft>
            </a:pPr>
            <a:r>
              <a:rPr lang="es-ES" b="1" dirty="0">
                <a:solidFill>
                  <a:srgbClr val="000000"/>
                </a:solidFill>
                <a:latin typeface="Arial" charset="0"/>
              </a:rPr>
              <a:t>Rango 10.0.0.0/16</a:t>
            </a:r>
          </a:p>
        </p:txBody>
      </p:sp>
      <p:sp>
        <p:nvSpPr>
          <p:cNvPr id="24" name="Rectángulo 23"/>
          <p:cNvSpPr/>
          <p:nvPr/>
        </p:nvSpPr>
        <p:spPr>
          <a:xfrm>
            <a:off x="406403" y="1891266"/>
            <a:ext cx="3175914" cy="923330"/>
          </a:xfrm>
          <a:prstGeom prst="rect">
            <a:avLst/>
          </a:prstGeom>
        </p:spPr>
        <p:txBody>
          <a:bodyPr wrap="square">
            <a:spAutoFit/>
          </a:bodyPr>
          <a:lstStyle/>
          <a:p>
            <a:pPr lvl="0" fontAlgn="base">
              <a:spcBef>
                <a:spcPct val="0"/>
              </a:spcBef>
              <a:spcAft>
                <a:spcPct val="0"/>
              </a:spcAft>
            </a:pPr>
            <a:r>
              <a:rPr lang="es-ES" b="1" dirty="0">
                <a:solidFill>
                  <a:srgbClr val="000000"/>
                </a:solidFill>
                <a:latin typeface="Arial" charset="0"/>
              </a:rPr>
              <a:t>eduroam (VLAN 60) </a:t>
            </a:r>
          </a:p>
          <a:p>
            <a:pPr lvl="0" fontAlgn="base">
              <a:spcBef>
                <a:spcPct val="0"/>
              </a:spcBef>
              <a:spcAft>
                <a:spcPct val="0"/>
              </a:spcAft>
            </a:pPr>
            <a:r>
              <a:rPr lang="es-ES" b="1" dirty="0">
                <a:solidFill>
                  <a:srgbClr val="000000"/>
                </a:solidFill>
                <a:latin typeface="Arial" charset="0"/>
              </a:rPr>
              <a:t>eduroam-vpn (VLAN 61)</a:t>
            </a:r>
          </a:p>
          <a:p>
            <a:pPr lvl="0" fontAlgn="base">
              <a:spcBef>
                <a:spcPct val="0"/>
              </a:spcBef>
              <a:spcAft>
                <a:spcPct val="0"/>
              </a:spcAft>
            </a:pPr>
            <a:r>
              <a:rPr lang="es-ES" b="1" dirty="0">
                <a:solidFill>
                  <a:srgbClr val="000000"/>
                </a:solidFill>
                <a:latin typeface="Arial" charset="0"/>
              </a:rPr>
              <a:t>agbell (VLAN 62)</a:t>
            </a:r>
          </a:p>
        </p:txBody>
      </p:sp>
      <p:sp>
        <p:nvSpPr>
          <p:cNvPr id="25" name="Rectángulo 24"/>
          <p:cNvSpPr/>
          <p:nvPr/>
        </p:nvSpPr>
        <p:spPr>
          <a:xfrm>
            <a:off x="9245590" y="2043666"/>
            <a:ext cx="2946409" cy="923330"/>
          </a:xfrm>
          <a:prstGeom prst="rect">
            <a:avLst/>
          </a:prstGeom>
        </p:spPr>
        <p:txBody>
          <a:bodyPr wrap="square">
            <a:spAutoFit/>
          </a:bodyPr>
          <a:lstStyle/>
          <a:p>
            <a:pPr lvl="0" fontAlgn="base">
              <a:spcBef>
                <a:spcPct val="0"/>
              </a:spcBef>
              <a:spcAft>
                <a:spcPct val="0"/>
              </a:spcAft>
            </a:pPr>
            <a:r>
              <a:rPr lang="es-ES" b="1" dirty="0">
                <a:solidFill>
                  <a:srgbClr val="000000"/>
                </a:solidFill>
                <a:latin typeface="Arial" charset="0"/>
              </a:rPr>
              <a:t>eduroam (VLAN 60) </a:t>
            </a:r>
          </a:p>
          <a:p>
            <a:pPr lvl="0" fontAlgn="base">
              <a:spcBef>
                <a:spcPct val="0"/>
              </a:spcBef>
              <a:spcAft>
                <a:spcPct val="0"/>
              </a:spcAft>
            </a:pPr>
            <a:r>
              <a:rPr lang="es-ES" b="1" dirty="0">
                <a:solidFill>
                  <a:srgbClr val="000000"/>
                </a:solidFill>
                <a:latin typeface="Arial" charset="0"/>
              </a:rPr>
              <a:t>eduroam-vpn (VLAN 61)</a:t>
            </a:r>
          </a:p>
          <a:p>
            <a:pPr lvl="0" fontAlgn="base">
              <a:spcBef>
                <a:spcPct val="0"/>
              </a:spcBef>
              <a:spcAft>
                <a:spcPct val="0"/>
              </a:spcAft>
            </a:pPr>
            <a:r>
              <a:rPr lang="es-ES" b="1" dirty="0">
                <a:solidFill>
                  <a:srgbClr val="000000"/>
                </a:solidFill>
                <a:latin typeface="Arial" charset="0"/>
              </a:rPr>
              <a:t>agbell (VLAN 62)</a:t>
            </a:r>
          </a:p>
        </p:txBody>
      </p:sp>
      <p:sp>
        <p:nvSpPr>
          <p:cNvPr id="26" name="Text Box 26"/>
          <p:cNvSpPr txBox="1">
            <a:spLocks noChangeArrowheads="1"/>
          </p:cNvSpPr>
          <p:nvPr/>
        </p:nvSpPr>
        <p:spPr bwMode="auto">
          <a:xfrm>
            <a:off x="1815595" y="5263126"/>
            <a:ext cx="2739472" cy="923330"/>
          </a:xfrm>
          <a:prstGeom prst="rect">
            <a:avLst/>
          </a:prstGeom>
          <a:noFill/>
          <a:ln w="9525">
            <a:noFill/>
            <a:miter lim="800000"/>
            <a:headEnd/>
            <a:tailEnd/>
          </a:ln>
        </p:spPr>
        <p:txBody>
          <a:bodyPr wrap="square">
            <a:spAutoFit/>
          </a:bodyPr>
          <a:lstStyle/>
          <a:p>
            <a:pPr algn="r" fontAlgn="base">
              <a:spcBef>
                <a:spcPct val="0"/>
              </a:spcBef>
              <a:spcAft>
                <a:spcPct val="0"/>
              </a:spcAft>
            </a:pPr>
            <a:r>
              <a:rPr lang="es-ES" b="1" dirty="0">
                <a:solidFill>
                  <a:srgbClr val="000000"/>
                </a:solidFill>
                <a:latin typeface="Arial" charset="0"/>
              </a:rPr>
              <a:t>147.156.248.1 </a:t>
            </a:r>
          </a:p>
          <a:p>
            <a:pPr algn="r" fontAlgn="base">
              <a:spcBef>
                <a:spcPct val="0"/>
              </a:spcBef>
              <a:spcAft>
                <a:spcPct val="0"/>
              </a:spcAft>
            </a:pPr>
            <a:r>
              <a:rPr lang="es-ES" b="1" dirty="0">
                <a:solidFill>
                  <a:srgbClr val="000000"/>
                </a:solidFill>
                <a:latin typeface="Arial" charset="0"/>
              </a:rPr>
              <a:t>Servidor DHCP</a:t>
            </a:r>
          </a:p>
          <a:p>
            <a:pPr algn="r" fontAlgn="base">
              <a:spcBef>
                <a:spcPct val="0"/>
              </a:spcBef>
              <a:spcAft>
                <a:spcPct val="0"/>
              </a:spcAft>
            </a:pPr>
            <a:r>
              <a:rPr lang="es-ES" b="1" dirty="0">
                <a:solidFill>
                  <a:srgbClr val="000000"/>
                </a:solidFill>
                <a:latin typeface="Arial" charset="0"/>
              </a:rPr>
              <a:t>Rango 147.156.248.0/22</a:t>
            </a:r>
          </a:p>
        </p:txBody>
      </p:sp>
      <p:sp>
        <p:nvSpPr>
          <p:cNvPr id="27" name="Rectángulo 26"/>
          <p:cNvSpPr/>
          <p:nvPr/>
        </p:nvSpPr>
        <p:spPr>
          <a:xfrm>
            <a:off x="8486438" y="5078460"/>
            <a:ext cx="6096000" cy="923330"/>
          </a:xfrm>
          <a:prstGeom prst="rect">
            <a:avLst/>
          </a:prstGeom>
        </p:spPr>
        <p:txBody>
          <a:bodyPr>
            <a:spAutoFit/>
          </a:bodyPr>
          <a:lstStyle/>
          <a:p>
            <a:pPr lvl="0" fontAlgn="base">
              <a:spcBef>
                <a:spcPct val="0"/>
              </a:spcBef>
              <a:spcAft>
                <a:spcPct val="0"/>
              </a:spcAft>
            </a:pPr>
            <a:r>
              <a:rPr lang="es-ES" b="1" dirty="0">
                <a:solidFill>
                  <a:srgbClr val="000000"/>
                </a:solidFill>
                <a:latin typeface="Arial" charset="0"/>
              </a:rPr>
              <a:t>10.1.0.1 </a:t>
            </a:r>
          </a:p>
          <a:p>
            <a:pPr lvl="0" fontAlgn="base">
              <a:spcBef>
                <a:spcPct val="0"/>
              </a:spcBef>
              <a:spcAft>
                <a:spcPct val="0"/>
              </a:spcAft>
            </a:pPr>
            <a:r>
              <a:rPr lang="es-ES" b="1" dirty="0">
                <a:solidFill>
                  <a:srgbClr val="000000"/>
                </a:solidFill>
                <a:latin typeface="Arial" charset="0"/>
              </a:rPr>
              <a:t>Servidor DHCP</a:t>
            </a:r>
          </a:p>
          <a:p>
            <a:pPr lvl="0" fontAlgn="base">
              <a:spcBef>
                <a:spcPct val="0"/>
              </a:spcBef>
              <a:spcAft>
                <a:spcPct val="0"/>
              </a:spcAft>
            </a:pPr>
            <a:r>
              <a:rPr lang="es-ES" b="1" dirty="0">
                <a:solidFill>
                  <a:srgbClr val="000000"/>
                </a:solidFill>
                <a:latin typeface="Arial" charset="0"/>
              </a:rPr>
              <a:t>Rango 10.1.0.0/16</a:t>
            </a:r>
          </a:p>
        </p:txBody>
      </p:sp>
    </p:spTree>
    <p:extLst>
      <p:ext uri="{BB962C8B-B14F-4D97-AF65-F5344CB8AC3E}">
        <p14:creationId xmlns:p14="http://schemas.microsoft.com/office/powerpoint/2010/main" val="34786861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152465" y="385747"/>
            <a:ext cx="3175869" cy="76944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4400" b="0" i="0" u="none" strike="noStrike" kern="0" cap="none" spc="0" normalizeH="0" baseline="0" noProof="0" dirty="0">
                <a:ln>
                  <a:noFill/>
                </a:ln>
                <a:solidFill>
                  <a:schemeClr val="accent1"/>
                </a:solidFill>
                <a:effectLst/>
                <a:uLnTx/>
                <a:uFillTx/>
                <a:latin typeface="Times New Roman"/>
                <a:ea typeface="+mj-ea"/>
                <a:cs typeface="+mj-cs"/>
              </a:rPr>
              <a:t>Seguridad (I)</a:t>
            </a:r>
            <a:endParaRPr kumimoji="0" lang="es-AR" sz="1800" b="0" i="0" u="none" strike="noStrike" kern="0" cap="none" spc="0" normalizeH="0" baseline="0" noProof="0" dirty="0">
              <a:ln>
                <a:noFill/>
              </a:ln>
              <a:solidFill>
                <a:schemeClr val="accent1"/>
              </a:solidFill>
              <a:effectLst/>
              <a:uLnTx/>
              <a:uFillTx/>
            </a:endParaRPr>
          </a:p>
        </p:txBody>
      </p:sp>
      <p:sp>
        <p:nvSpPr>
          <p:cNvPr id="3" name="Rectángulo 2"/>
          <p:cNvSpPr/>
          <p:nvPr/>
        </p:nvSpPr>
        <p:spPr>
          <a:xfrm>
            <a:off x="948265" y="1612388"/>
            <a:ext cx="10701867" cy="4573560"/>
          </a:xfrm>
          <a:prstGeom prst="rect">
            <a:avLst/>
          </a:prstGeom>
        </p:spPr>
        <p:txBody>
          <a:bodyPr wrap="square">
            <a:spAutoFit/>
          </a:bodyPr>
          <a:lstStyle/>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Las redes inalámbricas están mucho más expuestas que las LANs normales a problemas de seguridad</a:t>
            </a:r>
          </a:p>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Algunos mecanismos que ayudan a mejorar la seguridad son:</a:t>
            </a:r>
          </a:p>
          <a:p>
            <a:pPr marL="742950" lvl="1" indent="-285750" fontAlgn="base">
              <a:lnSpc>
                <a:spcPct val="80000"/>
              </a:lnSpc>
              <a:spcBef>
                <a:spcPct val="20000"/>
              </a:spcBef>
              <a:spcAft>
                <a:spcPct val="0"/>
              </a:spcAft>
              <a:buFontTx/>
              <a:buChar char="–"/>
            </a:pPr>
            <a:r>
              <a:rPr lang="es-ES" sz="2800" kern="0" dirty="0">
                <a:solidFill>
                  <a:srgbClr val="000000"/>
                </a:solidFill>
                <a:latin typeface="Times New Roman"/>
              </a:rPr>
              <a:t>Desactivar el anuncio del SSID en modo broadcast.  En este caso los usuarios deben conocer el SSID para conectarse a la red. No es una medida muy efectiva pues aun así el SSID se transmite no encriptado en los mensajes de asociación.</a:t>
            </a:r>
          </a:p>
          <a:p>
            <a:pPr marL="742950" lvl="1" indent="-285750" fontAlgn="base">
              <a:lnSpc>
                <a:spcPct val="80000"/>
              </a:lnSpc>
              <a:spcBef>
                <a:spcPct val="20000"/>
              </a:spcBef>
              <a:spcAft>
                <a:spcPct val="0"/>
              </a:spcAft>
              <a:buFontTx/>
              <a:buChar char="–"/>
            </a:pPr>
            <a:r>
              <a:rPr lang="es-ES_tradnl" sz="2800" kern="0" dirty="0">
                <a:solidFill>
                  <a:srgbClr val="000000"/>
                </a:solidFill>
                <a:latin typeface="Times New Roman"/>
              </a:rPr>
              <a:t>Filtrar por dirección MAC. Tampoco es seguro porque otras estaciones pueden averiguar la MAC autorizada y ponérsela cuando el verdadero propietario no está asociado </a:t>
            </a:r>
          </a:p>
          <a:p>
            <a:pPr marL="342900" lvl="0" indent="-342900" fontAlgn="base">
              <a:lnSpc>
                <a:spcPct val="80000"/>
              </a:lnSpc>
              <a:spcBef>
                <a:spcPct val="20000"/>
              </a:spcBef>
              <a:spcAft>
                <a:spcPct val="0"/>
              </a:spcAft>
              <a:buFontTx/>
              <a:buChar char="•"/>
            </a:pPr>
            <a:r>
              <a:rPr lang="es-ES_tradnl" sz="2800" kern="0" dirty="0">
                <a:solidFill>
                  <a:srgbClr val="000000"/>
                </a:solidFill>
                <a:latin typeface="Times New Roman"/>
              </a:rPr>
              <a:t>La verdadera seguridad solo es posible con protocolos basados en técnicas criptográficas</a:t>
            </a:r>
            <a:endParaRPr lang="es-ES" sz="2800" kern="0" dirty="0">
              <a:solidFill>
                <a:srgbClr val="000000"/>
              </a:solidFill>
              <a:latin typeface="Times New Roman"/>
            </a:endParaRPr>
          </a:p>
        </p:txBody>
      </p:sp>
    </p:spTree>
    <p:extLst>
      <p:ext uri="{BB962C8B-B14F-4D97-AF65-F5344CB8AC3E}">
        <p14:creationId xmlns:p14="http://schemas.microsoft.com/office/powerpoint/2010/main" val="27186776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194155" y="284147"/>
            <a:ext cx="3363421" cy="76944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4400" b="0" i="0" u="none" strike="noStrike" kern="0" cap="none" spc="0" normalizeH="0" baseline="0" noProof="0" dirty="0">
                <a:ln>
                  <a:noFill/>
                </a:ln>
                <a:solidFill>
                  <a:schemeClr val="accent1"/>
                </a:solidFill>
                <a:effectLst/>
                <a:uLnTx/>
                <a:uFillTx/>
                <a:latin typeface="Times New Roman"/>
                <a:ea typeface="+mj-ea"/>
                <a:cs typeface="+mj-cs"/>
              </a:rPr>
              <a:t>Seguridad (II)</a:t>
            </a:r>
            <a:endParaRPr kumimoji="0" lang="es-AR" sz="1800" b="0" i="0" u="none" strike="noStrike" kern="0" cap="none" spc="0" normalizeH="0" baseline="0" noProof="0" dirty="0">
              <a:ln>
                <a:noFill/>
              </a:ln>
              <a:solidFill>
                <a:schemeClr val="accent1"/>
              </a:solidFill>
              <a:effectLst/>
              <a:uLnTx/>
              <a:uFillTx/>
            </a:endParaRPr>
          </a:p>
        </p:txBody>
      </p:sp>
      <p:sp>
        <p:nvSpPr>
          <p:cNvPr id="3" name="Rectángulo 2"/>
          <p:cNvSpPr/>
          <p:nvPr/>
        </p:nvSpPr>
        <p:spPr>
          <a:xfrm>
            <a:off x="677333" y="1182547"/>
            <a:ext cx="10701866" cy="4893647"/>
          </a:xfrm>
          <a:prstGeom prst="rect">
            <a:avLst/>
          </a:prstGeom>
        </p:spPr>
        <p:txBody>
          <a:bodyPr wrap="square">
            <a:spAutoFit/>
          </a:bodyPr>
          <a:lstStyle/>
          <a:p>
            <a:pPr marL="342900" lvl="0" indent="-342900" fontAlgn="base">
              <a:lnSpc>
                <a:spcPct val="80000"/>
              </a:lnSpc>
              <a:spcBef>
                <a:spcPct val="20000"/>
              </a:spcBef>
              <a:spcAft>
                <a:spcPct val="0"/>
              </a:spcAft>
              <a:buFontTx/>
              <a:buChar char="•"/>
            </a:pPr>
            <a:r>
              <a:rPr lang="es-ES" sz="2400" kern="0" dirty="0">
                <a:solidFill>
                  <a:srgbClr val="000000"/>
                </a:solidFill>
                <a:latin typeface="Times New Roman"/>
              </a:rPr>
              <a:t>Originalmente 802.11 contempló para seguridad el protocolo WEP (Wired Equivalent Privacy)</a:t>
            </a:r>
          </a:p>
          <a:p>
            <a:pPr marL="342900" lvl="0" indent="-342900" fontAlgn="base">
              <a:lnSpc>
                <a:spcPct val="80000"/>
              </a:lnSpc>
              <a:spcBef>
                <a:spcPct val="20000"/>
              </a:spcBef>
              <a:spcAft>
                <a:spcPct val="0"/>
              </a:spcAft>
              <a:buFontTx/>
              <a:buChar char="•"/>
            </a:pPr>
            <a:r>
              <a:rPr lang="es-ES" sz="2400" kern="0" dirty="0">
                <a:solidFill>
                  <a:srgbClr val="000000"/>
                </a:solidFill>
                <a:latin typeface="Times New Roman"/>
              </a:rPr>
              <a:t>WEP es vulnerable e inseguro. El comité 802.11 ha sido muy criticado por ello, ej: </a:t>
            </a:r>
          </a:p>
          <a:p>
            <a:pPr marL="742950" lvl="1" indent="-285750" fontAlgn="base">
              <a:lnSpc>
                <a:spcPct val="80000"/>
              </a:lnSpc>
              <a:spcBef>
                <a:spcPct val="20000"/>
              </a:spcBef>
              <a:spcAft>
                <a:spcPct val="0"/>
              </a:spcAft>
              <a:buFontTx/>
              <a:buChar char="–"/>
            </a:pPr>
            <a:r>
              <a:rPr lang="es-ES" sz="2400" kern="0" dirty="0">
                <a:solidFill>
                  <a:srgbClr val="000000"/>
                </a:solidFill>
                <a:latin typeface="Times New Roman"/>
                <a:hlinkClick r:id="rId2"/>
              </a:rPr>
              <a:t>http://www.cs.umd.edu/~waa/wireless.html</a:t>
            </a:r>
            <a:endParaRPr lang="es-ES" sz="2400" kern="0" dirty="0">
              <a:solidFill>
                <a:srgbClr val="000000"/>
              </a:solidFill>
              <a:latin typeface="Times New Roman"/>
            </a:endParaRPr>
          </a:p>
          <a:p>
            <a:pPr marL="742950" lvl="1" indent="-285750" fontAlgn="base">
              <a:lnSpc>
                <a:spcPct val="80000"/>
              </a:lnSpc>
              <a:spcBef>
                <a:spcPct val="20000"/>
              </a:spcBef>
              <a:spcAft>
                <a:spcPct val="0"/>
              </a:spcAft>
              <a:buFontTx/>
              <a:buChar char="–"/>
            </a:pPr>
            <a:r>
              <a:rPr lang="es-ES" sz="2400" kern="0" dirty="0">
                <a:solidFill>
                  <a:srgbClr val="000000"/>
                </a:solidFill>
                <a:latin typeface="Times New Roman"/>
                <a:hlinkClick r:id="rId3"/>
              </a:rPr>
              <a:t>http://www.drizzle.com/%7Eaboba/IEEE/rc4_ksaproc.pdf</a:t>
            </a:r>
            <a:r>
              <a:rPr lang="es-ES" sz="2400" kern="0" dirty="0">
                <a:solidFill>
                  <a:srgbClr val="000000"/>
                </a:solidFill>
                <a:latin typeface="Times New Roman"/>
              </a:rPr>
              <a:t> </a:t>
            </a:r>
          </a:p>
          <a:p>
            <a:pPr marL="342900" lvl="0" indent="-342900" fontAlgn="base">
              <a:lnSpc>
                <a:spcPct val="80000"/>
              </a:lnSpc>
              <a:spcBef>
                <a:spcPct val="20000"/>
              </a:spcBef>
              <a:spcAft>
                <a:spcPct val="0"/>
              </a:spcAft>
              <a:buFontTx/>
              <a:buChar char="•"/>
            </a:pPr>
            <a:r>
              <a:rPr lang="es-ES" sz="2400" kern="0" dirty="0">
                <a:solidFill>
                  <a:srgbClr val="000000"/>
                </a:solidFill>
                <a:latin typeface="Times New Roman"/>
              </a:rPr>
              <a:t>Para corregirlo se desarrolló 802.11i en julio de 2004.</a:t>
            </a:r>
          </a:p>
          <a:p>
            <a:pPr marL="342900" lvl="0" indent="-342900" fontAlgn="base">
              <a:lnSpc>
                <a:spcPct val="80000"/>
              </a:lnSpc>
              <a:spcBef>
                <a:spcPct val="20000"/>
              </a:spcBef>
              <a:spcAft>
                <a:spcPct val="0"/>
              </a:spcAft>
              <a:buFontTx/>
              <a:buChar char="•"/>
            </a:pPr>
            <a:r>
              <a:rPr lang="es-ES_tradnl" sz="2400" kern="0" dirty="0">
                <a:solidFill>
                  <a:srgbClr val="000000"/>
                </a:solidFill>
                <a:latin typeface="Times New Roman"/>
              </a:rPr>
              <a:t>Mientras aparecía 802.11i la WiFi Alliance desarrolló el WPA (Wi-Fi Protected Access) y el WPA2 </a:t>
            </a:r>
            <a:endParaRPr lang="es-ES" sz="2400" kern="0" dirty="0">
              <a:solidFill>
                <a:srgbClr val="000000"/>
              </a:solidFill>
              <a:latin typeface="Times New Roman"/>
            </a:endParaRPr>
          </a:p>
          <a:p>
            <a:pPr marL="342900" lvl="0" indent="-342900" fontAlgn="base">
              <a:lnSpc>
                <a:spcPct val="80000"/>
              </a:lnSpc>
              <a:spcBef>
                <a:spcPct val="20000"/>
              </a:spcBef>
              <a:spcAft>
                <a:spcPct val="0"/>
              </a:spcAft>
              <a:buFontTx/>
              <a:buChar char="•"/>
            </a:pPr>
            <a:r>
              <a:rPr lang="es-ES" sz="2400" kern="0" dirty="0">
                <a:solidFill>
                  <a:srgbClr val="000000"/>
                </a:solidFill>
                <a:latin typeface="Times New Roman"/>
              </a:rPr>
              <a:t>En 2008 se detectaron debilidades en WPA cuando se utiliza el algoritmo de encriptación TKIP:</a:t>
            </a:r>
          </a:p>
          <a:p>
            <a:pPr marL="742950" lvl="1" indent="-285750" fontAlgn="base">
              <a:lnSpc>
                <a:spcPct val="80000"/>
              </a:lnSpc>
              <a:spcBef>
                <a:spcPct val="20000"/>
              </a:spcBef>
              <a:spcAft>
                <a:spcPct val="0"/>
              </a:spcAft>
              <a:buFontTx/>
              <a:buChar char="–"/>
            </a:pPr>
            <a:r>
              <a:rPr lang="es-ES" sz="2400" kern="0" dirty="0">
                <a:solidFill>
                  <a:srgbClr val="000000"/>
                </a:solidFill>
                <a:latin typeface="Times New Roman"/>
                <a:hlinkClick r:id="rId4"/>
              </a:rPr>
              <a:t>http://dl.aircrack-ng.org/breakingwepandwpa.pdf</a:t>
            </a:r>
            <a:r>
              <a:rPr lang="es-ES" sz="2400" kern="0" dirty="0">
                <a:solidFill>
                  <a:srgbClr val="000000"/>
                </a:solidFill>
                <a:latin typeface="Times New Roman"/>
              </a:rPr>
              <a:t> </a:t>
            </a:r>
          </a:p>
          <a:p>
            <a:pPr marL="342900" lvl="0" indent="-342900" fontAlgn="base">
              <a:lnSpc>
                <a:spcPct val="80000"/>
              </a:lnSpc>
              <a:spcBef>
                <a:spcPct val="20000"/>
              </a:spcBef>
              <a:spcAft>
                <a:spcPct val="0"/>
              </a:spcAft>
              <a:buFontTx/>
              <a:buChar char="•"/>
            </a:pPr>
            <a:r>
              <a:rPr lang="es-ES" sz="2400" kern="0" dirty="0">
                <a:solidFill>
                  <a:srgbClr val="000000"/>
                </a:solidFill>
                <a:latin typeface="Times New Roman"/>
              </a:rPr>
              <a:t>La recomendación hoy en día es usar WPA2, o si no WPA, con encriptación AES.</a:t>
            </a:r>
          </a:p>
          <a:p>
            <a:pPr marL="342900" lvl="0" indent="-342900" fontAlgn="base">
              <a:lnSpc>
                <a:spcPct val="80000"/>
              </a:lnSpc>
              <a:spcBef>
                <a:spcPct val="20000"/>
              </a:spcBef>
              <a:spcAft>
                <a:spcPct val="0"/>
              </a:spcAft>
              <a:buFontTx/>
              <a:buChar char="•"/>
            </a:pPr>
            <a:r>
              <a:rPr lang="es-ES" sz="2400" kern="0" dirty="0">
                <a:solidFill>
                  <a:srgbClr val="000000"/>
                </a:solidFill>
                <a:latin typeface="Times New Roman"/>
              </a:rPr>
              <a:t>802.11i, WPA y WPA2 se apoyan en el estándar 802.1x (port based control) aprobado en el 2001.</a:t>
            </a:r>
          </a:p>
        </p:txBody>
      </p:sp>
    </p:spTree>
    <p:extLst>
      <p:ext uri="{BB962C8B-B14F-4D97-AF65-F5344CB8AC3E}">
        <p14:creationId xmlns:p14="http://schemas.microsoft.com/office/powerpoint/2010/main" val="30511247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rot="16200000">
            <a:off x="-775025" y="2601089"/>
            <a:ext cx="3446585" cy="1896535"/>
          </a:xfrm>
          <a:prstGeom prst="rect">
            <a:avLst/>
          </a:prstGeom>
        </p:spPr>
      </p:pic>
      <p:pic>
        <p:nvPicPr>
          <p:cNvPr id="3" name="Imagen 2"/>
          <p:cNvPicPr>
            <a:picLocks noChangeAspect="1"/>
          </p:cNvPicPr>
          <p:nvPr/>
        </p:nvPicPr>
        <p:blipFill rotWithShape="1">
          <a:blip r:embed="rId3"/>
          <a:srcRect l="4160" t="12046" r="3790" b="27854"/>
          <a:stretch/>
        </p:blipFill>
        <p:spPr>
          <a:xfrm>
            <a:off x="1420837" y="105250"/>
            <a:ext cx="10771163" cy="6617286"/>
          </a:xfrm>
          <a:prstGeom prst="rect">
            <a:avLst/>
          </a:prstGeom>
        </p:spPr>
      </p:pic>
    </p:spTree>
    <p:extLst>
      <p:ext uri="{BB962C8B-B14F-4D97-AF65-F5344CB8AC3E}">
        <p14:creationId xmlns:p14="http://schemas.microsoft.com/office/powerpoint/2010/main" val="35732312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143838" y="0"/>
            <a:ext cx="2989921" cy="76944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4400" b="0" i="0" u="none" strike="noStrike" kern="0" cap="none" spc="0" normalizeH="0" baseline="0" noProof="0" dirty="0">
                <a:ln>
                  <a:noFill/>
                </a:ln>
                <a:solidFill>
                  <a:schemeClr val="accent1"/>
                </a:solidFill>
                <a:effectLst/>
                <a:uLnTx/>
                <a:uFillTx/>
                <a:latin typeface="Times New Roman"/>
                <a:ea typeface="+mj-ea"/>
                <a:cs typeface="+mj-cs"/>
              </a:rPr>
              <a:t>Bandas ISM</a:t>
            </a:r>
            <a:endParaRPr kumimoji="0" lang="es-AR" sz="1800" b="0" i="0" u="none" strike="noStrike" kern="0" cap="none" spc="0" normalizeH="0" baseline="0" noProof="0" dirty="0">
              <a:ln>
                <a:noFill/>
              </a:ln>
              <a:solidFill>
                <a:schemeClr val="accent1"/>
              </a:solidFill>
              <a:effectLst/>
              <a:uLnTx/>
              <a:uFillTx/>
            </a:endParaRPr>
          </a:p>
        </p:txBody>
      </p:sp>
      <p:sp>
        <p:nvSpPr>
          <p:cNvPr id="3" name="Rectángulo 2"/>
          <p:cNvSpPr/>
          <p:nvPr/>
        </p:nvSpPr>
        <p:spPr>
          <a:xfrm>
            <a:off x="321733" y="819424"/>
            <a:ext cx="11870267" cy="6038576"/>
          </a:xfrm>
          <a:prstGeom prst="rect">
            <a:avLst/>
          </a:prstGeom>
        </p:spPr>
        <p:txBody>
          <a:bodyPr wrap="square">
            <a:spAutoFit/>
          </a:bodyPr>
          <a:lstStyle/>
          <a:p>
            <a:pPr marL="342900" lvl="0" indent="-342900" fontAlgn="base">
              <a:lnSpc>
                <a:spcPct val="90000"/>
              </a:lnSpc>
              <a:spcBef>
                <a:spcPct val="20000"/>
              </a:spcBef>
              <a:spcAft>
                <a:spcPct val="0"/>
              </a:spcAft>
              <a:buFontTx/>
              <a:buChar char="•"/>
            </a:pPr>
            <a:r>
              <a:rPr lang="es-ES" sz="2800" kern="0" dirty="0">
                <a:solidFill>
                  <a:srgbClr val="000000"/>
                </a:solidFill>
                <a:latin typeface="Times New Roman"/>
              </a:rPr>
              <a:t>La ITU-R ha previsto unas bandas, llamadas ISM (Industrial-Scientific-Medical) en las que se puede emitir sin licencia.</a:t>
            </a:r>
          </a:p>
          <a:p>
            <a:pPr marL="342900" lvl="0" indent="-342900" fontAlgn="base">
              <a:lnSpc>
                <a:spcPct val="90000"/>
              </a:lnSpc>
              <a:spcBef>
                <a:spcPct val="20000"/>
              </a:spcBef>
              <a:spcAft>
                <a:spcPct val="0"/>
              </a:spcAft>
              <a:buFontTx/>
              <a:buChar char="•"/>
            </a:pPr>
            <a:endParaRPr lang="es-ES" sz="2800" kern="0" dirty="0">
              <a:solidFill>
                <a:srgbClr val="000000"/>
              </a:solidFill>
              <a:latin typeface="Times New Roman"/>
            </a:endParaRPr>
          </a:p>
          <a:p>
            <a:pPr marL="342900" lvl="0" indent="-342900" fontAlgn="base">
              <a:lnSpc>
                <a:spcPct val="90000"/>
              </a:lnSpc>
              <a:spcBef>
                <a:spcPct val="20000"/>
              </a:spcBef>
              <a:spcAft>
                <a:spcPct val="0"/>
              </a:spcAft>
              <a:buFontTx/>
              <a:buChar char="•"/>
            </a:pPr>
            <a:r>
              <a:rPr lang="es-ES" sz="2800" kern="0" dirty="0">
                <a:solidFill>
                  <a:srgbClr val="000000"/>
                </a:solidFill>
                <a:latin typeface="Times New Roman"/>
              </a:rPr>
              <a:t>Algunos teléfonos inalámbricos (pero no los DECT), mandos a distancia, aparatos inalámbricos de audio o vídeo y los hornos de microondas hacen uso de las bandas ISM. Gracias a esto no hay que pedir licencia al comprar un horno de microondas.</a:t>
            </a:r>
          </a:p>
          <a:p>
            <a:pPr marL="342900" lvl="0" indent="-342900" fontAlgn="base">
              <a:lnSpc>
                <a:spcPct val="90000"/>
              </a:lnSpc>
              <a:spcBef>
                <a:spcPct val="20000"/>
              </a:spcBef>
              <a:spcAft>
                <a:spcPct val="0"/>
              </a:spcAft>
              <a:buFontTx/>
              <a:buChar char="•"/>
            </a:pPr>
            <a:endParaRPr lang="es-ES" sz="2800" kern="0" dirty="0">
              <a:solidFill>
                <a:srgbClr val="000000"/>
              </a:solidFill>
              <a:latin typeface="Times New Roman"/>
            </a:endParaRPr>
          </a:p>
          <a:p>
            <a:pPr marL="342900" lvl="0" indent="-342900" fontAlgn="base">
              <a:lnSpc>
                <a:spcPct val="90000"/>
              </a:lnSpc>
              <a:spcBef>
                <a:spcPct val="20000"/>
              </a:spcBef>
              <a:spcAft>
                <a:spcPct val="0"/>
              </a:spcAft>
              <a:buFontTx/>
              <a:buChar char="•"/>
            </a:pPr>
            <a:r>
              <a:rPr lang="es-ES" sz="2800" kern="0" dirty="0">
                <a:solidFill>
                  <a:srgbClr val="000000"/>
                </a:solidFill>
                <a:latin typeface="Times New Roman"/>
              </a:rPr>
              <a:t>Las redes inalámbricas (excepto 802.11y)  utilizan siempre bandas ISM, pues no sería viable pedir licencia para cada red inalámbrica que se quisiera instalar.</a:t>
            </a:r>
          </a:p>
          <a:p>
            <a:pPr marL="342900" lvl="0" indent="-342900" fontAlgn="base">
              <a:lnSpc>
                <a:spcPct val="90000"/>
              </a:lnSpc>
              <a:spcBef>
                <a:spcPct val="20000"/>
              </a:spcBef>
              <a:spcAft>
                <a:spcPct val="0"/>
              </a:spcAft>
              <a:buFontTx/>
              <a:buChar char="•"/>
            </a:pPr>
            <a:endParaRPr lang="es-ES" sz="2800" kern="0" dirty="0">
              <a:solidFill>
                <a:srgbClr val="000000"/>
              </a:solidFill>
              <a:latin typeface="Times New Roman"/>
            </a:endParaRPr>
          </a:p>
          <a:p>
            <a:pPr marL="342900" lvl="0" indent="-342900" fontAlgn="base">
              <a:lnSpc>
                <a:spcPct val="90000"/>
              </a:lnSpc>
              <a:spcBef>
                <a:spcPct val="20000"/>
              </a:spcBef>
              <a:spcAft>
                <a:spcPct val="0"/>
              </a:spcAft>
              <a:buFontTx/>
              <a:buChar char="•"/>
            </a:pPr>
            <a:r>
              <a:rPr lang="es-ES" sz="2800" kern="0" dirty="0">
                <a:solidFill>
                  <a:srgbClr val="000000"/>
                </a:solidFill>
                <a:latin typeface="Times New Roman"/>
              </a:rPr>
              <a:t>La emisión en la banda ISM, aunque no esté regulada debe cumplir unas condiciones bastante estrictas en la potencia máxima de emisión y el tipo de antena utilizado.</a:t>
            </a:r>
          </a:p>
        </p:txBody>
      </p:sp>
    </p:spTree>
    <p:extLst>
      <p:ext uri="{BB962C8B-B14F-4D97-AF65-F5344CB8AC3E}">
        <p14:creationId xmlns:p14="http://schemas.microsoft.com/office/powerpoint/2010/main" val="15140627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333649" y="176368"/>
            <a:ext cx="5186035" cy="64633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3600" b="0" i="0" u="none" strike="noStrike" kern="0" cap="none" spc="0" normalizeH="0" baseline="0" noProof="0" dirty="0">
                <a:ln>
                  <a:noFill/>
                </a:ln>
                <a:solidFill>
                  <a:schemeClr val="accent1"/>
                </a:solidFill>
                <a:effectLst/>
                <a:uLnTx/>
                <a:uFillTx/>
                <a:latin typeface="Arial" charset="0"/>
                <a:ea typeface="+mj-ea"/>
                <a:cs typeface="+mj-cs"/>
              </a:rPr>
              <a:t>Bandas ISM de la ITU-R</a:t>
            </a:r>
            <a:endParaRPr kumimoji="0" lang="es-AR" sz="1800" b="0" i="0" u="none" strike="noStrike" kern="0" cap="none" spc="0" normalizeH="0" baseline="0" noProof="0" dirty="0">
              <a:ln>
                <a:noFill/>
              </a:ln>
              <a:solidFill>
                <a:schemeClr val="accent1"/>
              </a:solidFill>
              <a:effectLst/>
              <a:uLnTx/>
              <a:uFillTx/>
            </a:endParaRPr>
          </a:p>
        </p:txBody>
      </p:sp>
      <p:graphicFrame>
        <p:nvGraphicFramePr>
          <p:cNvPr id="3" name="Group 122"/>
          <p:cNvGraphicFramePr>
            <a:graphicFrameLocks noGrp="1"/>
          </p:cNvGraphicFramePr>
          <p:nvPr>
            <p:extLst>
              <p:ext uri="{D42A27DB-BD31-4B8C-83A1-F6EECF244321}">
                <p14:modId xmlns:p14="http://schemas.microsoft.com/office/powerpoint/2010/main" val="1715235490"/>
              </p:ext>
            </p:extLst>
          </p:nvPr>
        </p:nvGraphicFramePr>
        <p:xfrm>
          <a:off x="1782763" y="822697"/>
          <a:ext cx="10053636" cy="5815173"/>
        </p:xfrm>
        <a:graphic>
          <a:graphicData uri="http://schemas.openxmlformats.org/drawingml/2006/table">
            <a:tbl>
              <a:tblPr/>
              <a:tblGrid>
                <a:gridCol w="2828407">
                  <a:extLst>
                    <a:ext uri="{9D8B030D-6E8A-4147-A177-3AD203B41FA5}">
                      <a16:colId xmlns:a16="http://schemas.microsoft.com/office/drawing/2014/main" val="20000"/>
                    </a:ext>
                  </a:extLst>
                </a:gridCol>
                <a:gridCol w="1360409">
                  <a:extLst>
                    <a:ext uri="{9D8B030D-6E8A-4147-A177-3AD203B41FA5}">
                      <a16:colId xmlns:a16="http://schemas.microsoft.com/office/drawing/2014/main" val="20001"/>
                    </a:ext>
                  </a:extLst>
                </a:gridCol>
                <a:gridCol w="1936610">
                  <a:extLst>
                    <a:ext uri="{9D8B030D-6E8A-4147-A177-3AD203B41FA5}">
                      <a16:colId xmlns:a16="http://schemas.microsoft.com/office/drawing/2014/main" val="20002"/>
                    </a:ext>
                  </a:extLst>
                </a:gridCol>
                <a:gridCol w="3928210">
                  <a:extLst>
                    <a:ext uri="{9D8B030D-6E8A-4147-A177-3AD203B41FA5}">
                      <a16:colId xmlns:a16="http://schemas.microsoft.com/office/drawing/2014/main" val="20003"/>
                    </a:ext>
                  </a:extLst>
                </a:gridCol>
              </a:tblGrid>
              <a:tr h="462473">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Banda</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Anchura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Región ITU-T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Uso en WLAN</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6877">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6,765 – 6,795 MHz</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30 kHz</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Todas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No</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6877">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13,553 – 13,567 MHz</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14 kHz</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Todas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No</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6877">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26,957 – 27,283 MHz</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326 kHz</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Todas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No</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6877">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40,66 – 40,70 MHz</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40 kHz</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Todas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No</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6877">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433.05 – 434,79 MHz</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174 kHz</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1 (EMEA)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No</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67053">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902 – 928 MHz</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26 MHz</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2 (América)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Sistemas propietarios antiguos</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(solo en América)</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6"/>
                  </a:ext>
                </a:extLst>
              </a:tr>
              <a:tr h="416877">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2,4 – 2,5 GHz</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100 MHz</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Todas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802.11 ‘</a:t>
                      </a:r>
                      <a:r>
                        <a:rPr kumimoji="0" lang="es-ES" sz="1400" b="0" i="0" u="none" strike="noStrike" cap="none" normalizeH="0" baseline="0" dirty="0" err="1">
                          <a:ln>
                            <a:noFill/>
                          </a:ln>
                          <a:solidFill>
                            <a:schemeClr val="tx1"/>
                          </a:solidFill>
                          <a:effectLst/>
                          <a:latin typeface="Arial" charset="0"/>
                        </a:rPr>
                        <a:t>legacy</a:t>
                      </a:r>
                      <a:r>
                        <a:rPr kumimoji="0" lang="es-ES" sz="1400" b="0" i="0" u="none" strike="noStrike" cap="none" normalizeH="0" baseline="0" dirty="0">
                          <a:ln>
                            <a:noFill/>
                          </a:ln>
                          <a:solidFill>
                            <a:schemeClr val="tx1"/>
                          </a:solidFill>
                          <a:effectLst/>
                          <a:latin typeface="Arial" charset="0"/>
                        </a:rPr>
                        <a:t>’, 802.11 b/g</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extLst>
                  <a:ext uri="{0D108BD9-81ED-4DB2-BD59-A6C34878D82A}">
                    <a16:rowId xmlns:a16="http://schemas.microsoft.com/office/drawing/2014/main" val="10007"/>
                  </a:ext>
                </a:extLst>
              </a:tr>
              <a:tr h="416877">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5,725 – 5,875 GHz</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150 MHz</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Todas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802.11 a/h</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60000"/>
                        <a:lumOff val="40000"/>
                      </a:schemeClr>
                    </a:solidFill>
                  </a:tcPr>
                </a:tc>
                <a:extLst>
                  <a:ext uri="{0D108BD9-81ED-4DB2-BD59-A6C34878D82A}">
                    <a16:rowId xmlns:a16="http://schemas.microsoft.com/office/drawing/2014/main" val="10008"/>
                  </a:ext>
                </a:extLst>
              </a:tr>
              <a:tr h="416877">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24 – 24.25 GHz</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250 MHz</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Todas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No</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16877">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61 – 61,5 GHz</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500 MHz</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Todas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No</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16877">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122 – 123 GHz</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1 GHz</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Todas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No</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416877">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244 – 246 GHz</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2 GHz</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rPr>
                        <a:t>Todas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rPr>
                        <a:t>No</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4" name="Rectángulo 3"/>
          <p:cNvSpPr/>
          <p:nvPr/>
        </p:nvSpPr>
        <p:spPr>
          <a:xfrm>
            <a:off x="-95219" y="3576394"/>
            <a:ext cx="1663404" cy="338554"/>
          </a:xfrm>
          <a:prstGeom prst="rect">
            <a:avLst/>
          </a:prstGeom>
        </p:spPr>
        <p:txBody>
          <a:bodyPr wrap="none">
            <a:spAutoFit/>
          </a:bodyPr>
          <a:lstStyle/>
          <a:p>
            <a:pPr lvl="0" algn="ctr" fontAlgn="base">
              <a:spcBef>
                <a:spcPct val="0"/>
              </a:spcBef>
              <a:spcAft>
                <a:spcPct val="0"/>
              </a:spcAft>
            </a:pPr>
            <a:r>
              <a:rPr lang="es-ES" sz="1600" b="1" dirty="0">
                <a:solidFill>
                  <a:srgbClr val="000000"/>
                </a:solidFill>
                <a:latin typeface="Arial" charset="0"/>
              </a:rPr>
              <a:t>Teléfonos GSM</a:t>
            </a:r>
          </a:p>
        </p:txBody>
      </p:sp>
      <p:cxnSp>
        <p:nvCxnSpPr>
          <p:cNvPr id="6" name="Conector recto de flecha 5"/>
          <p:cNvCxnSpPr>
            <a:stCxn id="4" idx="3"/>
            <a:endCxn id="3" idx="1"/>
          </p:cNvCxnSpPr>
          <p:nvPr/>
        </p:nvCxnSpPr>
        <p:spPr>
          <a:xfrm flipV="1">
            <a:off x="1568185" y="3730283"/>
            <a:ext cx="214578" cy="15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ángulo 6"/>
          <p:cNvSpPr/>
          <p:nvPr/>
        </p:nvSpPr>
        <p:spPr>
          <a:xfrm>
            <a:off x="0" y="4214579"/>
            <a:ext cx="1472967" cy="2308324"/>
          </a:xfrm>
          <a:prstGeom prst="rect">
            <a:avLst/>
          </a:prstGeom>
        </p:spPr>
        <p:txBody>
          <a:bodyPr wrap="square">
            <a:spAutoFit/>
          </a:bodyPr>
          <a:lstStyle/>
          <a:p>
            <a:pPr lvl="0" algn="ctr" fontAlgn="base">
              <a:spcBef>
                <a:spcPct val="0"/>
              </a:spcBef>
              <a:spcAft>
                <a:spcPct val="0"/>
              </a:spcAft>
            </a:pPr>
            <a:r>
              <a:rPr lang="es-ES" b="1" dirty="0">
                <a:solidFill>
                  <a:srgbClr val="000000"/>
                </a:solidFill>
                <a:latin typeface="Arial" charset="0"/>
              </a:rPr>
              <a:t>Hornos de microondas, emisores de audio-vídeo, interfonos, mandos de garaje, etc.</a:t>
            </a:r>
          </a:p>
        </p:txBody>
      </p:sp>
      <p:cxnSp>
        <p:nvCxnSpPr>
          <p:cNvPr id="9" name="Conector recto de flecha 8"/>
          <p:cNvCxnSpPr/>
          <p:nvPr/>
        </p:nvCxnSpPr>
        <p:spPr>
          <a:xfrm flipV="1">
            <a:off x="1472967" y="4385733"/>
            <a:ext cx="321966" cy="338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76174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302934" y="0"/>
            <a:ext cx="8737600" cy="646331"/>
          </a:xfrm>
          <a:prstGeom prst="rect">
            <a:avLst/>
          </a:prstGeom>
        </p:spPr>
        <p:txBody>
          <a:bodyPr wrap="square">
            <a:spAutoFit/>
          </a:bodyPr>
          <a:lstStyle/>
          <a:p>
            <a:pPr lvl="0" fontAlgn="base">
              <a:spcBef>
                <a:spcPct val="0"/>
              </a:spcBef>
              <a:spcAft>
                <a:spcPct val="0"/>
              </a:spcAft>
            </a:pPr>
            <a:r>
              <a:rPr lang="es-ES" sz="3600" dirty="0">
                <a:solidFill>
                  <a:schemeClr val="accent1"/>
                </a:solidFill>
                <a:latin typeface="Times New Roman" pitchFamily="18" charset="0"/>
              </a:rPr>
              <a:t>Interferencia debida a la multitrayectoria</a:t>
            </a:r>
          </a:p>
        </p:txBody>
      </p:sp>
      <p:pic>
        <p:nvPicPr>
          <p:cNvPr id="3" name="Picture 2"/>
          <p:cNvPicPr>
            <a:picLocks noChangeAspect="1" noChangeArrowheads="1"/>
          </p:cNvPicPr>
          <p:nvPr/>
        </p:nvPicPr>
        <p:blipFill>
          <a:blip r:embed="rId3" cstate="print"/>
          <a:srcRect/>
          <a:stretch>
            <a:fillRect/>
          </a:stretch>
        </p:blipFill>
        <p:spPr bwMode="auto">
          <a:xfrm>
            <a:off x="2302934" y="641230"/>
            <a:ext cx="7334250" cy="2954338"/>
          </a:xfrm>
          <a:prstGeom prst="rect">
            <a:avLst/>
          </a:prstGeom>
          <a:noFill/>
          <a:ln w="9525">
            <a:noFill/>
            <a:miter lim="800000"/>
            <a:headEnd/>
            <a:tailEnd/>
          </a:ln>
        </p:spPr>
      </p:pic>
      <p:sp>
        <p:nvSpPr>
          <p:cNvPr id="4" name="Rectángulo 3"/>
          <p:cNvSpPr/>
          <p:nvPr/>
        </p:nvSpPr>
        <p:spPr>
          <a:xfrm>
            <a:off x="287867" y="3900368"/>
            <a:ext cx="11751733" cy="2677656"/>
          </a:xfrm>
          <a:prstGeom prst="rect">
            <a:avLst/>
          </a:prstGeom>
        </p:spPr>
        <p:txBody>
          <a:bodyPr wrap="square">
            <a:spAutoFit/>
          </a:bodyPr>
          <a:lstStyle/>
          <a:p>
            <a:pPr lvl="0" fontAlgn="base">
              <a:lnSpc>
                <a:spcPct val="110000"/>
              </a:lnSpc>
              <a:spcBef>
                <a:spcPct val="10000"/>
              </a:spcBef>
              <a:spcAft>
                <a:spcPct val="10000"/>
              </a:spcAft>
              <a:buFontTx/>
              <a:buChar char="•"/>
            </a:pPr>
            <a:r>
              <a:rPr lang="es-ES" sz="2400" dirty="0">
                <a:solidFill>
                  <a:srgbClr val="000000"/>
                </a:solidFill>
                <a:latin typeface="Times New Roman" pitchFamily="18" charset="0"/>
              </a:rPr>
              <a:t>Se produce debido a la diferencia de tiempo entre la señal que llega directamente y la que llega reflejada por diversos obstáculos.</a:t>
            </a:r>
          </a:p>
          <a:p>
            <a:pPr lvl="0" fontAlgn="base">
              <a:lnSpc>
                <a:spcPct val="110000"/>
              </a:lnSpc>
              <a:spcBef>
                <a:spcPct val="10000"/>
              </a:spcBef>
              <a:spcAft>
                <a:spcPct val="10000"/>
              </a:spcAft>
              <a:buFontTx/>
              <a:buChar char="•"/>
            </a:pPr>
            <a:r>
              <a:rPr lang="es-ES" sz="2400" dirty="0">
                <a:solidFill>
                  <a:srgbClr val="000000"/>
                </a:solidFill>
                <a:latin typeface="Times New Roman" pitchFamily="18" charset="0"/>
              </a:rPr>
              <a:t>La señal puede llegar a anularse por completo si el retraso de la onda reflejada coincide justamente con media longitud de onda. En ese caso un leve movimiento de la antena suele resolver el problema.</a:t>
            </a:r>
          </a:p>
          <a:p>
            <a:pPr lvl="0" fontAlgn="base">
              <a:lnSpc>
                <a:spcPct val="110000"/>
              </a:lnSpc>
              <a:spcBef>
                <a:spcPct val="10000"/>
              </a:spcBef>
              <a:spcAft>
                <a:spcPct val="10000"/>
              </a:spcAft>
              <a:buFontTx/>
              <a:buChar char="•"/>
            </a:pPr>
            <a:r>
              <a:rPr lang="es-ES" sz="2400" dirty="0">
                <a:solidFill>
                  <a:srgbClr val="000000"/>
                </a:solidFill>
                <a:latin typeface="Times New Roman" pitchFamily="18" charset="0"/>
              </a:rPr>
              <a:t>Para evitarlo hoy en día se utilizan antenas diversidad en DSSS</a:t>
            </a:r>
          </a:p>
        </p:txBody>
      </p:sp>
    </p:spTree>
    <p:extLst>
      <p:ext uri="{BB962C8B-B14F-4D97-AF65-F5344CB8AC3E}">
        <p14:creationId xmlns:p14="http://schemas.microsoft.com/office/powerpoint/2010/main" val="26766146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3" cstate="print"/>
          <a:srcRect/>
          <a:stretch>
            <a:fillRect/>
          </a:stretch>
        </p:blipFill>
        <p:spPr bwMode="auto">
          <a:xfrm>
            <a:off x="9772650" y="86996"/>
            <a:ext cx="1898650" cy="1681162"/>
          </a:xfrm>
          <a:prstGeom prst="rect">
            <a:avLst/>
          </a:prstGeom>
          <a:noFill/>
          <a:ln w="9525">
            <a:noFill/>
            <a:miter lim="800000"/>
            <a:headEnd/>
            <a:tailEnd/>
          </a:ln>
        </p:spPr>
      </p:pic>
      <p:sp>
        <p:nvSpPr>
          <p:cNvPr id="3" name="Rectángulo 2"/>
          <p:cNvSpPr/>
          <p:nvPr/>
        </p:nvSpPr>
        <p:spPr>
          <a:xfrm>
            <a:off x="8147050" y="89325"/>
            <a:ext cx="1625600" cy="1169551"/>
          </a:xfrm>
          <a:prstGeom prst="rect">
            <a:avLst/>
          </a:prstGeom>
        </p:spPr>
        <p:txBody>
          <a:bodyPr wrap="square">
            <a:spAutoFit/>
          </a:bodyPr>
          <a:lstStyle/>
          <a:p>
            <a:pPr lvl="0" algn="ctr" fontAlgn="base">
              <a:spcBef>
                <a:spcPct val="0"/>
              </a:spcBef>
              <a:spcAft>
                <a:spcPct val="0"/>
              </a:spcAft>
            </a:pPr>
            <a:r>
              <a:rPr lang="es-ES" sz="1400" b="1" dirty="0">
                <a:solidFill>
                  <a:srgbClr val="000000"/>
                </a:solidFill>
                <a:latin typeface="Arial" charset="0"/>
              </a:rPr>
              <a:t>Longitud de onda a 2,4 GHz: 12,5 cm</a:t>
            </a:r>
          </a:p>
          <a:p>
            <a:pPr lvl="0" algn="ctr" fontAlgn="base">
              <a:spcBef>
                <a:spcPct val="0"/>
              </a:spcBef>
              <a:spcAft>
                <a:spcPct val="0"/>
              </a:spcAft>
            </a:pPr>
            <a:r>
              <a:rPr lang="es-ES" sz="1400" b="1" dirty="0">
                <a:solidFill>
                  <a:srgbClr val="000000"/>
                </a:solidFill>
                <a:latin typeface="Arial" charset="0"/>
              </a:rPr>
              <a:t>A 5,7 GHz: 5,3 cm</a:t>
            </a:r>
          </a:p>
        </p:txBody>
      </p:sp>
      <p:sp>
        <p:nvSpPr>
          <p:cNvPr id="4" name="Rectángulo 3"/>
          <p:cNvSpPr/>
          <p:nvPr/>
        </p:nvSpPr>
        <p:spPr>
          <a:xfrm>
            <a:off x="2353168" y="320157"/>
            <a:ext cx="4132863" cy="70788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4000" b="0" i="0" u="none" strike="noStrike" kern="0" cap="none" spc="0" normalizeH="0" baseline="0" noProof="0" dirty="0">
                <a:ln>
                  <a:noFill/>
                </a:ln>
                <a:solidFill>
                  <a:schemeClr val="accent1"/>
                </a:solidFill>
                <a:effectLst/>
                <a:uLnTx/>
                <a:uFillTx/>
                <a:latin typeface="Times New Roman"/>
                <a:ea typeface="+mj-ea"/>
                <a:cs typeface="+mj-cs"/>
              </a:rPr>
              <a:t>Antenas diversidad</a:t>
            </a:r>
            <a:endParaRPr kumimoji="0" lang="es-AR" sz="1800" b="0" i="0" u="none" strike="noStrike" kern="0" cap="none" spc="0" normalizeH="0" baseline="0" noProof="0" dirty="0">
              <a:ln>
                <a:noFill/>
              </a:ln>
              <a:solidFill>
                <a:schemeClr val="accent1"/>
              </a:solidFill>
              <a:effectLst/>
              <a:uLnTx/>
              <a:uFillTx/>
            </a:endParaRPr>
          </a:p>
        </p:txBody>
      </p:sp>
      <p:sp>
        <p:nvSpPr>
          <p:cNvPr id="5" name="Rectángulo 4"/>
          <p:cNvSpPr/>
          <p:nvPr/>
        </p:nvSpPr>
        <p:spPr>
          <a:xfrm>
            <a:off x="967317" y="1768158"/>
            <a:ext cx="10703983" cy="4930581"/>
          </a:xfrm>
          <a:prstGeom prst="rect">
            <a:avLst/>
          </a:prstGeom>
        </p:spPr>
        <p:txBody>
          <a:bodyPr wrap="square">
            <a:spAutoFit/>
          </a:bodyPr>
          <a:lstStyle/>
          <a:p>
            <a:pPr marL="342900" lvl="0" indent="-342900" fontAlgn="base">
              <a:lnSpc>
                <a:spcPct val="90000"/>
              </a:lnSpc>
              <a:spcBef>
                <a:spcPct val="20000"/>
              </a:spcBef>
              <a:spcAft>
                <a:spcPct val="0"/>
              </a:spcAft>
              <a:buFontTx/>
              <a:buChar char="•"/>
            </a:pPr>
            <a:r>
              <a:rPr lang="es-ES" sz="2400" kern="0" dirty="0">
                <a:solidFill>
                  <a:srgbClr val="000000"/>
                </a:solidFill>
                <a:latin typeface="Times New Roman"/>
              </a:rPr>
              <a:t>Se utilizan en los puntos de acceso para minimizar la interferencia multitrayectoria. El proceso es el siguiente:</a:t>
            </a:r>
          </a:p>
          <a:p>
            <a:pPr marL="742950" lvl="1" indent="-285750" fontAlgn="base">
              <a:lnSpc>
                <a:spcPct val="90000"/>
              </a:lnSpc>
              <a:spcBef>
                <a:spcPct val="20000"/>
              </a:spcBef>
              <a:spcAft>
                <a:spcPct val="0"/>
              </a:spcAft>
              <a:buFontTx/>
              <a:buChar char="–"/>
            </a:pPr>
            <a:r>
              <a:rPr lang="es-ES" sz="2400" kern="0" dirty="0">
                <a:solidFill>
                  <a:srgbClr val="000000"/>
                </a:solidFill>
                <a:latin typeface="Times New Roman"/>
              </a:rPr>
              <a:t>El equipo recibe la señal por las dos antenas y compara, eligiendo la que le da mejor calidad de señal. El proceso se realiza de forma independiente para cada trama recibida, utilizando el preámbulo (128 bits en 2,4 GHz) para hacer la medida</a:t>
            </a:r>
          </a:p>
          <a:p>
            <a:pPr marL="742950" lvl="1" indent="-285750" fontAlgn="base">
              <a:lnSpc>
                <a:spcPct val="90000"/>
              </a:lnSpc>
              <a:spcBef>
                <a:spcPct val="20000"/>
              </a:spcBef>
              <a:spcAft>
                <a:spcPct val="0"/>
              </a:spcAft>
              <a:buFontTx/>
              <a:buChar char="–"/>
            </a:pPr>
            <a:endParaRPr lang="es-ES" sz="2400" kern="0" dirty="0">
              <a:solidFill>
                <a:srgbClr val="000000"/>
              </a:solidFill>
              <a:latin typeface="Times New Roman"/>
            </a:endParaRPr>
          </a:p>
          <a:p>
            <a:pPr marL="742950" lvl="1" indent="-285750" fontAlgn="base">
              <a:lnSpc>
                <a:spcPct val="90000"/>
              </a:lnSpc>
              <a:spcBef>
                <a:spcPct val="20000"/>
              </a:spcBef>
              <a:spcAft>
                <a:spcPct val="0"/>
              </a:spcAft>
              <a:buFontTx/>
              <a:buChar char="–"/>
            </a:pPr>
            <a:r>
              <a:rPr lang="es-ES" sz="2400" kern="0" dirty="0">
                <a:solidFill>
                  <a:srgbClr val="000000"/>
                </a:solidFill>
                <a:latin typeface="Times New Roman"/>
              </a:rPr>
              <a:t>Para emitir a una estación se usa la antena que dio mejor señal la última vez que se recibió algo de ella</a:t>
            </a:r>
          </a:p>
          <a:p>
            <a:pPr marL="742950" lvl="1" indent="-285750" fontAlgn="base">
              <a:lnSpc>
                <a:spcPct val="90000"/>
              </a:lnSpc>
              <a:spcBef>
                <a:spcPct val="20000"/>
              </a:spcBef>
              <a:spcAft>
                <a:spcPct val="0"/>
              </a:spcAft>
              <a:buFontTx/>
              <a:buChar char="–"/>
            </a:pPr>
            <a:endParaRPr lang="es-ES" sz="2400" kern="0" dirty="0">
              <a:solidFill>
                <a:srgbClr val="000000"/>
              </a:solidFill>
              <a:latin typeface="Times New Roman"/>
            </a:endParaRPr>
          </a:p>
          <a:p>
            <a:pPr marL="742950" lvl="1" indent="-285750" fontAlgn="base">
              <a:lnSpc>
                <a:spcPct val="90000"/>
              </a:lnSpc>
              <a:spcBef>
                <a:spcPct val="20000"/>
              </a:spcBef>
              <a:spcAft>
                <a:spcPct val="0"/>
              </a:spcAft>
              <a:buFontTx/>
              <a:buChar char="–"/>
            </a:pPr>
            <a:r>
              <a:rPr lang="es-ES" sz="2400" kern="0" dirty="0">
                <a:solidFill>
                  <a:srgbClr val="000000"/>
                </a:solidFill>
                <a:latin typeface="Times New Roman"/>
              </a:rPr>
              <a:t>Si la emisión falla (no se recibe el ACK) cambia a la otra antena y reintenta</a:t>
            </a:r>
          </a:p>
          <a:p>
            <a:pPr marL="742950" lvl="1" indent="-285750" fontAlgn="base">
              <a:lnSpc>
                <a:spcPct val="90000"/>
              </a:lnSpc>
              <a:spcBef>
                <a:spcPct val="20000"/>
              </a:spcBef>
              <a:spcAft>
                <a:spcPct val="0"/>
              </a:spcAft>
              <a:buFontTx/>
              <a:buChar char="–"/>
            </a:pPr>
            <a:endParaRPr lang="es-ES" sz="2400" kern="0" dirty="0">
              <a:solidFill>
                <a:srgbClr val="000000"/>
              </a:solidFill>
              <a:latin typeface="Times New Roman"/>
            </a:endParaRPr>
          </a:p>
          <a:p>
            <a:pPr marL="342900" lvl="0" indent="-342900" fontAlgn="base">
              <a:lnSpc>
                <a:spcPct val="90000"/>
              </a:lnSpc>
              <a:spcBef>
                <a:spcPct val="20000"/>
              </a:spcBef>
              <a:spcAft>
                <a:spcPct val="0"/>
              </a:spcAft>
              <a:buFontTx/>
              <a:buChar char="•"/>
            </a:pPr>
            <a:r>
              <a:rPr lang="es-ES" sz="2400" kern="0" dirty="0">
                <a:solidFill>
                  <a:srgbClr val="000000"/>
                </a:solidFill>
                <a:latin typeface="Times New Roman"/>
              </a:rPr>
              <a:t>Las dos antenas cubren la misma zona</a:t>
            </a:r>
          </a:p>
        </p:txBody>
      </p:sp>
    </p:spTree>
    <p:extLst>
      <p:ext uri="{BB962C8B-B14F-4D97-AF65-F5344CB8AC3E}">
        <p14:creationId xmlns:p14="http://schemas.microsoft.com/office/powerpoint/2010/main" val="20627918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185689" y="0"/>
            <a:ext cx="5854488" cy="58477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3200" b="0" i="0" u="none" strike="noStrike" kern="0" cap="none" spc="0" normalizeH="0" baseline="0" noProof="0" dirty="0">
                <a:ln>
                  <a:noFill/>
                </a:ln>
                <a:solidFill>
                  <a:schemeClr val="accent1"/>
                </a:solidFill>
                <a:effectLst/>
                <a:uLnTx/>
                <a:uFillTx/>
                <a:latin typeface="Arial" charset="0"/>
                <a:ea typeface="+mj-ea"/>
                <a:cs typeface="+mj-cs"/>
              </a:rPr>
              <a:t>Canales a 2,4 GHz (802.11b/g)</a:t>
            </a:r>
            <a:endParaRPr kumimoji="0" lang="es-AR" sz="1800" b="0" i="0" u="none" strike="noStrike" kern="0" cap="none" spc="0" normalizeH="0" baseline="0" noProof="0" dirty="0">
              <a:ln>
                <a:noFill/>
              </a:ln>
              <a:solidFill>
                <a:schemeClr val="accent1"/>
              </a:solidFill>
              <a:effectLst/>
              <a:uLnTx/>
              <a:uFillTx/>
            </a:endParaRPr>
          </a:p>
        </p:txBody>
      </p:sp>
      <p:graphicFrame>
        <p:nvGraphicFramePr>
          <p:cNvPr id="4" name="Tabla 3"/>
          <p:cNvGraphicFramePr>
            <a:graphicFrameLocks noGrp="1"/>
          </p:cNvGraphicFramePr>
          <p:nvPr>
            <p:extLst>
              <p:ext uri="{D42A27DB-BD31-4B8C-83A1-F6EECF244321}">
                <p14:modId xmlns:p14="http://schemas.microsoft.com/office/powerpoint/2010/main" val="1539788023"/>
              </p:ext>
            </p:extLst>
          </p:nvPr>
        </p:nvGraphicFramePr>
        <p:xfrm>
          <a:off x="635004" y="520994"/>
          <a:ext cx="10964334" cy="6202032"/>
        </p:xfrm>
        <a:graphic>
          <a:graphicData uri="http://schemas.openxmlformats.org/drawingml/2006/table">
            <a:tbl>
              <a:tblPr/>
              <a:tblGrid>
                <a:gridCol w="1022551">
                  <a:extLst>
                    <a:ext uri="{9D8B030D-6E8A-4147-A177-3AD203B41FA5}">
                      <a16:colId xmlns:a16="http://schemas.microsoft.com/office/drawing/2014/main" val="20000"/>
                    </a:ext>
                  </a:extLst>
                </a:gridCol>
                <a:gridCol w="2057049">
                  <a:extLst>
                    <a:ext uri="{9D8B030D-6E8A-4147-A177-3AD203B41FA5}">
                      <a16:colId xmlns:a16="http://schemas.microsoft.com/office/drawing/2014/main" val="20001"/>
                    </a:ext>
                  </a:extLst>
                </a:gridCol>
                <a:gridCol w="1409592">
                  <a:extLst>
                    <a:ext uri="{9D8B030D-6E8A-4147-A177-3AD203B41FA5}">
                      <a16:colId xmlns:a16="http://schemas.microsoft.com/office/drawing/2014/main" val="20002"/>
                    </a:ext>
                  </a:extLst>
                </a:gridCol>
                <a:gridCol w="1238053">
                  <a:extLst>
                    <a:ext uri="{9D8B030D-6E8A-4147-A177-3AD203B41FA5}">
                      <a16:colId xmlns:a16="http://schemas.microsoft.com/office/drawing/2014/main" val="20003"/>
                    </a:ext>
                  </a:extLst>
                </a:gridCol>
                <a:gridCol w="1445525">
                  <a:extLst>
                    <a:ext uri="{9D8B030D-6E8A-4147-A177-3AD203B41FA5}">
                      <a16:colId xmlns:a16="http://schemas.microsoft.com/office/drawing/2014/main" val="20004"/>
                    </a:ext>
                  </a:extLst>
                </a:gridCol>
                <a:gridCol w="1299692">
                  <a:extLst>
                    <a:ext uri="{9D8B030D-6E8A-4147-A177-3AD203B41FA5}">
                      <a16:colId xmlns:a16="http://schemas.microsoft.com/office/drawing/2014/main" val="20005"/>
                    </a:ext>
                  </a:extLst>
                </a:gridCol>
                <a:gridCol w="1299692">
                  <a:extLst>
                    <a:ext uri="{9D8B030D-6E8A-4147-A177-3AD203B41FA5}">
                      <a16:colId xmlns:a16="http://schemas.microsoft.com/office/drawing/2014/main" val="20006"/>
                    </a:ext>
                  </a:extLst>
                </a:gridCol>
                <a:gridCol w="1192180">
                  <a:extLst>
                    <a:ext uri="{9D8B030D-6E8A-4147-A177-3AD203B41FA5}">
                      <a16:colId xmlns:a16="http://schemas.microsoft.com/office/drawing/2014/main" val="20007"/>
                    </a:ext>
                  </a:extLst>
                </a:gridCol>
              </a:tblGrid>
              <a:tr h="369393">
                <a:tc rowSpan="2">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Canal</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Frecuencia central (MHz)</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Región o país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tc gridSpan="3">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Antiguamente (2001)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0"/>
                  </a:ext>
                </a:extLst>
              </a:tr>
              <a:tr h="627968">
                <a:tc vMerge="1">
                  <a:txBody>
                    <a:bodyPr/>
                    <a:lstStyle/>
                    <a:p>
                      <a:endParaRPr lang="es-ES"/>
                    </a:p>
                  </a:txBody>
                  <a:tcPr/>
                </a:tc>
                <a:tc vMerge="1">
                  <a:txBody>
                    <a:bodyPr/>
                    <a:lstStyle/>
                    <a:p>
                      <a:endParaRPr lang="es-ES"/>
                    </a:p>
                  </a:txBody>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EEUU/ Canadá</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Resto mundo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Japón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España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Francia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Japón</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393">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2412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393">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2</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2417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9393">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3</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2422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9393">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4</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2427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2562">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5</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2432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9393">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6</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2437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9393">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7</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2442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9393">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8</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2447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9393">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9</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2452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9393">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10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2457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9393">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11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2462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69393">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12</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2467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69393">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13</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2472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69393">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14</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2484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Solo 11b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ES" sz="1400" b="1"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defRPr>
                      </a:lvl1pPr>
                      <a:lvl2pPr marL="457200" algn="l" defTabSz="914400" rtl="0" eaLnBrk="1" latinLnBrk="0" hangingPunct="1">
                        <a:defRPr sz="1800" kern="1200">
                          <a:solidFill>
                            <a:schemeClr val="tx1"/>
                          </a:solidFill>
                          <a:latin typeface="Times New Roman"/>
                        </a:defRPr>
                      </a:lvl2pPr>
                      <a:lvl3pPr marL="914400" algn="l" defTabSz="914400" rtl="0" eaLnBrk="1" latinLnBrk="0" hangingPunct="1">
                        <a:defRPr sz="1800" kern="1200">
                          <a:solidFill>
                            <a:schemeClr val="tx1"/>
                          </a:solidFill>
                          <a:latin typeface="Times New Roman"/>
                        </a:defRPr>
                      </a:lvl3pPr>
                      <a:lvl4pPr marL="1371600" algn="l" defTabSz="914400" rtl="0" eaLnBrk="1" latinLnBrk="0" hangingPunct="1">
                        <a:defRPr sz="1800" kern="1200">
                          <a:solidFill>
                            <a:schemeClr val="tx1"/>
                          </a:solidFill>
                          <a:latin typeface="Times New Roman"/>
                        </a:defRPr>
                      </a:lvl4pPr>
                      <a:lvl5pPr marL="1828800" algn="l" defTabSz="914400" rtl="0" eaLnBrk="1" latinLnBrk="0" hangingPunct="1">
                        <a:defRPr sz="1800" kern="1200">
                          <a:solidFill>
                            <a:schemeClr val="tx1"/>
                          </a:solidFill>
                          <a:latin typeface="Times New Roman"/>
                        </a:defRPr>
                      </a:lvl5pPr>
                      <a:lvl6pPr marL="2286000" algn="l" defTabSz="914400" rtl="0" eaLnBrk="1" latinLnBrk="0" hangingPunct="1">
                        <a:defRPr sz="1800" kern="1200">
                          <a:solidFill>
                            <a:schemeClr val="tx1"/>
                          </a:solidFill>
                          <a:latin typeface="Times New Roman"/>
                        </a:defRPr>
                      </a:lvl6pPr>
                      <a:lvl7pPr marL="2743200" algn="l" defTabSz="914400" rtl="0" eaLnBrk="1" latinLnBrk="0" hangingPunct="1">
                        <a:defRPr sz="1800" kern="1200">
                          <a:solidFill>
                            <a:schemeClr val="tx1"/>
                          </a:solidFill>
                          <a:latin typeface="Times New Roman"/>
                        </a:defRPr>
                      </a:lvl7pPr>
                      <a:lvl8pPr marL="3200400" algn="l" defTabSz="914400" rtl="0" eaLnBrk="1" latinLnBrk="0" hangingPunct="1">
                        <a:defRPr sz="1800" kern="1200">
                          <a:solidFill>
                            <a:schemeClr val="tx1"/>
                          </a:solidFill>
                          <a:latin typeface="Times New Roman"/>
                        </a:defRPr>
                      </a:lvl8pPr>
                      <a:lvl9pPr marL="3657600" algn="l" defTabSz="914400" rtl="0" eaLnBrk="1" latinLnBrk="0" hangingPunct="1">
                        <a:defRPr sz="1800" kern="1200">
                          <a:solidFill>
                            <a:schemeClr val="tx1"/>
                          </a:solidFill>
                          <a:latin typeface="Times New Roman"/>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rPr>
                        <a:t>X</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17530896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675466" y="153369"/>
            <a:ext cx="8246533" cy="64633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3600" b="0" i="0" u="none" strike="noStrike" kern="0" cap="none" spc="0" normalizeH="0" baseline="0" noProof="0" dirty="0">
                <a:ln>
                  <a:noFill/>
                </a:ln>
                <a:solidFill>
                  <a:schemeClr val="accent1"/>
                </a:solidFill>
                <a:effectLst/>
                <a:uLnTx/>
                <a:uFillTx/>
                <a:latin typeface="Arial" charset="0"/>
                <a:ea typeface="+mj-ea"/>
                <a:cs typeface="+mj-cs"/>
              </a:rPr>
              <a:t>Distribución de canales 802.11b/g</a:t>
            </a:r>
            <a:endParaRPr kumimoji="0" lang="es-AR" sz="1800" b="0" i="0" u="none" strike="noStrike" kern="0" cap="none" spc="0" normalizeH="0" baseline="0" noProof="0" dirty="0">
              <a:ln>
                <a:noFill/>
              </a:ln>
              <a:solidFill>
                <a:schemeClr val="accent1"/>
              </a:solidFill>
              <a:effectLst/>
              <a:uLnTx/>
              <a:uFillTx/>
            </a:endParaRPr>
          </a:p>
        </p:txBody>
      </p:sp>
      <p:sp>
        <p:nvSpPr>
          <p:cNvPr id="3" name="Line 3"/>
          <p:cNvSpPr>
            <a:spLocks noChangeShapeType="1"/>
          </p:cNvSpPr>
          <p:nvPr/>
        </p:nvSpPr>
        <p:spPr bwMode="auto">
          <a:xfrm flipV="1">
            <a:off x="2675466" y="3406022"/>
            <a:ext cx="7345363" cy="4763"/>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4" name="Line 4"/>
          <p:cNvSpPr>
            <a:spLocks noChangeShapeType="1"/>
          </p:cNvSpPr>
          <p:nvPr/>
        </p:nvSpPr>
        <p:spPr bwMode="auto">
          <a:xfrm>
            <a:off x="2675466" y="2972635"/>
            <a:ext cx="0" cy="657225"/>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nvGrpSpPr>
          <p:cNvPr id="5" name="Group 5"/>
          <p:cNvGrpSpPr>
            <a:grpSpLocks/>
          </p:cNvGrpSpPr>
          <p:nvPr/>
        </p:nvGrpSpPr>
        <p:grpSpPr bwMode="auto">
          <a:xfrm>
            <a:off x="2823104" y="3153610"/>
            <a:ext cx="1470025" cy="257175"/>
            <a:chOff x="949" y="2832"/>
            <a:chExt cx="1270" cy="317"/>
          </a:xfrm>
        </p:grpSpPr>
        <p:sp>
          <p:nvSpPr>
            <p:cNvPr id="6" name="Arc 6"/>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7" name="Arc 7"/>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sp>
        <p:nvSpPr>
          <p:cNvPr id="8" name="Line 8"/>
          <p:cNvSpPr>
            <a:spLocks noChangeShapeType="1"/>
          </p:cNvSpPr>
          <p:nvPr/>
        </p:nvSpPr>
        <p:spPr bwMode="auto">
          <a:xfrm>
            <a:off x="10008129" y="2963110"/>
            <a:ext cx="0" cy="657225"/>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9" name="Line 9"/>
          <p:cNvSpPr>
            <a:spLocks noChangeShapeType="1"/>
          </p:cNvSpPr>
          <p:nvPr/>
        </p:nvSpPr>
        <p:spPr bwMode="auto">
          <a:xfrm>
            <a:off x="3559704" y="1753435"/>
            <a:ext cx="0" cy="1800225"/>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0" name="Line 10"/>
          <p:cNvSpPr>
            <a:spLocks noChangeShapeType="1"/>
          </p:cNvSpPr>
          <p:nvPr/>
        </p:nvSpPr>
        <p:spPr bwMode="auto">
          <a:xfrm>
            <a:off x="3928004" y="1753435"/>
            <a:ext cx="0" cy="1800225"/>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1" name="Line 11"/>
          <p:cNvSpPr>
            <a:spLocks noChangeShapeType="1"/>
          </p:cNvSpPr>
          <p:nvPr/>
        </p:nvSpPr>
        <p:spPr bwMode="auto">
          <a:xfrm>
            <a:off x="4293129" y="1753435"/>
            <a:ext cx="0" cy="1800225"/>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2" name="Line 12"/>
          <p:cNvSpPr>
            <a:spLocks noChangeShapeType="1"/>
          </p:cNvSpPr>
          <p:nvPr/>
        </p:nvSpPr>
        <p:spPr bwMode="auto">
          <a:xfrm>
            <a:off x="4664604" y="1753435"/>
            <a:ext cx="0" cy="1800225"/>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3" name="Line 13"/>
          <p:cNvSpPr>
            <a:spLocks noChangeShapeType="1"/>
          </p:cNvSpPr>
          <p:nvPr/>
        </p:nvSpPr>
        <p:spPr bwMode="auto">
          <a:xfrm>
            <a:off x="5032904" y="1753435"/>
            <a:ext cx="0" cy="1800225"/>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4" name="Line 14"/>
          <p:cNvSpPr>
            <a:spLocks noChangeShapeType="1"/>
          </p:cNvSpPr>
          <p:nvPr/>
        </p:nvSpPr>
        <p:spPr bwMode="auto">
          <a:xfrm>
            <a:off x="5398029" y="1753435"/>
            <a:ext cx="0" cy="1800225"/>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5" name="Line 15"/>
          <p:cNvSpPr>
            <a:spLocks noChangeShapeType="1"/>
          </p:cNvSpPr>
          <p:nvPr/>
        </p:nvSpPr>
        <p:spPr bwMode="auto">
          <a:xfrm>
            <a:off x="5769504" y="1753435"/>
            <a:ext cx="0" cy="1800225"/>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6" name="Line 16"/>
          <p:cNvSpPr>
            <a:spLocks noChangeShapeType="1"/>
          </p:cNvSpPr>
          <p:nvPr/>
        </p:nvSpPr>
        <p:spPr bwMode="auto">
          <a:xfrm>
            <a:off x="6137804" y="1753435"/>
            <a:ext cx="0" cy="1800225"/>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7" name="Line 17"/>
          <p:cNvSpPr>
            <a:spLocks noChangeShapeType="1"/>
          </p:cNvSpPr>
          <p:nvPr/>
        </p:nvSpPr>
        <p:spPr bwMode="auto">
          <a:xfrm>
            <a:off x="6502929" y="1753435"/>
            <a:ext cx="0" cy="1800225"/>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8" name="Line 18"/>
          <p:cNvSpPr>
            <a:spLocks noChangeShapeType="1"/>
          </p:cNvSpPr>
          <p:nvPr/>
        </p:nvSpPr>
        <p:spPr bwMode="auto">
          <a:xfrm>
            <a:off x="6874404" y="1753435"/>
            <a:ext cx="0" cy="1800225"/>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9" name="Line 19"/>
          <p:cNvSpPr>
            <a:spLocks noChangeShapeType="1"/>
          </p:cNvSpPr>
          <p:nvPr/>
        </p:nvSpPr>
        <p:spPr bwMode="auto">
          <a:xfrm>
            <a:off x="7241116" y="1753435"/>
            <a:ext cx="0" cy="1800225"/>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20" name="Line 20"/>
          <p:cNvSpPr>
            <a:spLocks noChangeShapeType="1"/>
          </p:cNvSpPr>
          <p:nvPr/>
        </p:nvSpPr>
        <p:spPr bwMode="auto">
          <a:xfrm>
            <a:off x="7607829" y="1753435"/>
            <a:ext cx="0" cy="1800225"/>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21" name="Line 21"/>
          <p:cNvSpPr>
            <a:spLocks noChangeShapeType="1"/>
          </p:cNvSpPr>
          <p:nvPr/>
        </p:nvSpPr>
        <p:spPr bwMode="auto">
          <a:xfrm>
            <a:off x="7979304" y="1753435"/>
            <a:ext cx="0" cy="1800225"/>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22" name="Line 22"/>
          <p:cNvSpPr>
            <a:spLocks noChangeShapeType="1"/>
          </p:cNvSpPr>
          <p:nvPr/>
        </p:nvSpPr>
        <p:spPr bwMode="auto">
          <a:xfrm>
            <a:off x="8863541" y="1753435"/>
            <a:ext cx="0" cy="1800225"/>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nvGrpSpPr>
          <p:cNvPr id="23" name="Group 23"/>
          <p:cNvGrpSpPr>
            <a:grpSpLocks/>
          </p:cNvGrpSpPr>
          <p:nvPr/>
        </p:nvGrpSpPr>
        <p:grpSpPr bwMode="auto">
          <a:xfrm>
            <a:off x="3188229" y="2812297"/>
            <a:ext cx="1473200" cy="257175"/>
            <a:chOff x="949" y="2832"/>
            <a:chExt cx="1270" cy="317"/>
          </a:xfrm>
        </p:grpSpPr>
        <p:sp>
          <p:nvSpPr>
            <p:cNvPr id="24" name="Arc 24"/>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FF"/>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25" name="Arc 25"/>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FF"/>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grpSp>
        <p:nvGrpSpPr>
          <p:cNvPr id="26" name="Group 26"/>
          <p:cNvGrpSpPr>
            <a:grpSpLocks/>
          </p:cNvGrpSpPr>
          <p:nvPr/>
        </p:nvGrpSpPr>
        <p:grpSpPr bwMode="auto">
          <a:xfrm>
            <a:off x="3559704" y="2463047"/>
            <a:ext cx="1473200" cy="257175"/>
            <a:chOff x="949" y="2832"/>
            <a:chExt cx="1270" cy="317"/>
          </a:xfrm>
        </p:grpSpPr>
        <p:sp>
          <p:nvSpPr>
            <p:cNvPr id="27" name="Arc 27"/>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993366"/>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28" name="Arc 28"/>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993366"/>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grpSp>
        <p:nvGrpSpPr>
          <p:cNvPr id="29" name="Group 29"/>
          <p:cNvGrpSpPr>
            <a:grpSpLocks/>
          </p:cNvGrpSpPr>
          <p:nvPr/>
        </p:nvGrpSpPr>
        <p:grpSpPr bwMode="auto">
          <a:xfrm>
            <a:off x="3928004" y="2134435"/>
            <a:ext cx="1470025" cy="257175"/>
            <a:chOff x="949" y="2832"/>
            <a:chExt cx="1270" cy="317"/>
          </a:xfrm>
        </p:grpSpPr>
        <p:sp>
          <p:nvSpPr>
            <p:cNvPr id="30" name="Arc 30"/>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C0C0C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31" name="Arc 31"/>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C0C0C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grpSp>
        <p:nvGrpSpPr>
          <p:cNvPr id="32" name="Group 35"/>
          <p:cNvGrpSpPr>
            <a:grpSpLocks/>
          </p:cNvGrpSpPr>
          <p:nvPr/>
        </p:nvGrpSpPr>
        <p:grpSpPr bwMode="auto">
          <a:xfrm>
            <a:off x="4664604" y="2813885"/>
            <a:ext cx="1473200" cy="257175"/>
            <a:chOff x="949" y="2832"/>
            <a:chExt cx="1270" cy="317"/>
          </a:xfrm>
        </p:grpSpPr>
        <p:sp>
          <p:nvSpPr>
            <p:cNvPr id="33" name="Arc 36"/>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FF"/>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34" name="Arc 37"/>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FF"/>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grpSp>
        <p:nvGrpSpPr>
          <p:cNvPr id="35" name="Group 38"/>
          <p:cNvGrpSpPr>
            <a:grpSpLocks/>
          </p:cNvGrpSpPr>
          <p:nvPr/>
        </p:nvGrpSpPr>
        <p:grpSpPr bwMode="auto">
          <a:xfrm>
            <a:off x="5032904" y="2453522"/>
            <a:ext cx="1470025" cy="257175"/>
            <a:chOff x="949" y="2832"/>
            <a:chExt cx="1270" cy="317"/>
          </a:xfrm>
        </p:grpSpPr>
        <p:sp>
          <p:nvSpPr>
            <p:cNvPr id="36" name="Arc 39"/>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993366"/>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37" name="Arc 40"/>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993366"/>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grpSp>
        <p:nvGrpSpPr>
          <p:cNvPr id="38" name="Group 41"/>
          <p:cNvGrpSpPr>
            <a:grpSpLocks/>
          </p:cNvGrpSpPr>
          <p:nvPr/>
        </p:nvGrpSpPr>
        <p:grpSpPr bwMode="auto">
          <a:xfrm>
            <a:off x="5398029" y="2136022"/>
            <a:ext cx="1473200" cy="257175"/>
            <a:chOff x="949" y="2832"/>
            <a:chExt cx="1270" cy="317"/>
          </a:xfrm>
        </p:grpSpPr>
        <p:sp>
          <p:nvSpPr>
            <p:cNvPr id="39" name="Arc 42"/>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C0C0C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40" name="Arc 43"/>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C0C0C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grpSp>
        <p:nvGrpSpPr>
          <p:cNvPr id="41" name="Group 44"/>
          <p:cNvGrpSpPr>
            <a:grpSpLocks/>
          </p:cNvGrpSpPr>
          <p:nvPr/>
        </p:nvGrpSpPr>
        <p:grpSpPr bwMode="auto">
          <a:xfrm>
            <a:off x="5769504" y="3172660"/>
            <a:ext cx="1471612" cy="257175"/>
            <a:chOff x="949" y="2832"/>
            <a:chExt cx="1270" cy="317"/>
          </a:xfrm>
        </p:grpSpPr>
        <p:sp>
          <p:nvSpPr>
            <p:cNvPr id="42" name="Arc 45"/>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43" name="Arc 46"/>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grpSp>
        <p:nvGrpSpPr>
          <p:cNvPr id="44" name="Group 47"/>
          <p:cNvGrpSpPr>
            <a:grpSpLocks/>
          </p:cNvGrpSpPr>
          <p:nvPr/>
        </p:nvGrpSpPr>
        <p:grpSpPr bwMode="auto">
          <a:xfrm>
            <a:off x="6137804" y="2812297"/>
            <a:ext cx="1470025" cy="257175"/>
            <a:chOff x="949" y="2832"/>
            <a:chExt cx="1270" cy="317"/>
          </a:xfrm>
        </p:grpSpPr>
        <p:sp>
          <p:nvSpPr>
            <p:cNvPr id="45" name="Arc 48"/>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FF"/>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46" name="Arc 49"/>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FF"/>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grpSp>
        <p:nvGrpSpPr>
          <p:cNvPr id="47" name="Group 50"/>
          <p:cNvGrpSpPr>
            <a:grpSpLocks/>
          </p:cNvGrpSpPr>
          <p:nvPr/>
        </p:nvGrpSpPr>
        <p:grpSpPr bwMode="auto">
          <a:xfrm>
            <a:off x="6502929" y="2453522"/>
            <a:ext cx="1473200" cy="257175"/>
            <a:chOff x="949" y="2832"/>
            <a:chExt cx="1270" cy="317"/>
          </a:xfrm>
        </p:grpSpPr>
        <p:sp>
          <p:nvSpPr>
            <p:cNvPr id="48" name="Arc 51"/>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993366"/>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49" name="Arc 52"/>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993366"/>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grpSp>
        <p:nvGrpSpPr>
          <p:cNvPr id="50" name="Group 53"/>
          <p:cNvGrpSpPr>
            <a:grpSpLocks/>
          </p:cNvGrpSpPr>
          <p:nvPr/>
        </p:nvGrpSpPr>
        <p:grpSpPr bwMode="auto">
          <a:xfrm>
            <a:off x="6874404" y="2134435"/>
            <a:ext cx="1471612" cy="257175"/>
            <a:chOff x="949" y="2832"/>
            <a:chExt cx="1270" cy="317"/>
          </a:xfrm>
        </p:grpSpPr>
        <p:sp>
          <p:nvSpPr>
            <p:cNvPr id="51" name="Arc 54"/>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C0C0C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52" name="Arc 55"/>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C0C0C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grpSp>
        <p:nvGrpSpPr>
          <p:cNvPr id="53" name="Group 56"/>
          <p:cNvGrpSpPr>
            <a:grpSpLocks/>
          </p:cNvGrpSpPr>
          <p:nvPr/>
        </p:nvGrpSpPr>
        <p:grpSpPr bwMode="auto">
          <a:xfrm>
            <a:off x="7241116" y="3172660"/>
            <a:ext cx="1471613" cy="257175"/>
            <a:chOff x="949" y="2832"/>
            <a:chExt cx="1270" cy="317"/>
          </a:xfrm>
        </p:grpSpPr>
        <p:sp>
          <p:nvSpPr>
            <p:cNvPr id="54" name="Arc 57"/>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55" name="Arc 58"/>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grpSp>
        <p:nvGrpSpPr>
          <p:cNvPr id="56" name="Group 59"/>
          <p:cNvGrpSpPr>
            <a:grpSpLocks/>
          </p:cNvGrpSpPr>
          <p:nvPr/>
        </p:nvGrpSpPr>
        <p:grpSpPr bwMode="auto">
          <a:xfrm>
            <a:off x="8125354" y="2812297"/>
            <a:ext cx="1471612" cy="257175"/>
            <a:chOff x="949" y="2832"/>
            <a:chExt cx="1270" cy="317"/>
          </a:xfrm>
        </p:grpSpPr>
        <p:sp>
          <p:nvSpPr>
            <p:cNvPr id="57" name="Arc 60"/>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FF"/>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58" name="Arc 61"/>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FF"/>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sp>
        <p:nvSpPr>
          <p:cNvPr id="59" name="Text Box 62"/>
          <p:cNvSpPr txBox="1">
            <a:spLocks noChangeArrowheads="1"/>
          </p:cNvSpPr>
          <p:nvPr/>
        </p:nvSpPr>
        <p:spPr bwMode="auto">
          <a:xfrm>
            <a:off x="4477266" y="4218932"/>
            <a:ext cx="2698175" cy="307777"/>
          </a:xfrm>
          <a:prstGeom prst="rect">
            <a:avLst/>
          </a:prstGeom>
          <a:noFill/>
          <a:ln w="9525">
            <a:noFill/>
            <a:miter lim="800000"/>
            <a:headEnd/>
            <a:tailEnd/>
          </a:ln>
        </p:spPr>
        <p:txBody>
          <a:bodyPr wrap="none">
            <a:spAutoFit/>
          </a:bodyPr>
          <a:lstStyle/>
          <a:p>
            <a:pPr fontAlgn="base">
              <a:spcBef>
                <a:spcPct val="0"/>
              </a:spcBef>
              <a:spcAft>
                <a:spcPct val="0"/>
              </a:spcAft>
            </a:pPr>
            <a:r>
              <a:rPr lang="es-ES" sz="1400" b="1" dirty="0">
                <a:solidFill>
                  <a:srgbClr val="000000"/>
                </a:solidFill>
                <a:latin typeface="Arial" charset="0"/>
              </a:rPr>
              <a:t>Resto mundo (canales 1 a 13)</a:t>
            </a:r>
          </a:p>
        </p:txBody>
      </p:sp>
      <p:sp>
        <p:nvSpPr>
          <p:cNvPr id="60" name="Text Box 63"/>
          <p:cNvSpPr txBox="1">
            <a:spLocks noChangeArrowheads="1"/>
          </p:cNvSpPr>
          <p:nvPr/>
        </p:nvSpPr>
        <p:spPr bwMode="auto">
          <a:xfrm>
            <a:off x="4504266" y="5043985"/>
            <a:ext cx="2840586" cy="307777"/>
          </a:xfrm>
          <a:prstGeom prst="rect">
            <a:avLst/>
          </a:prstGeom>
          <a:noFill/>
          <a:ln w="9525">
            <a:noFill/>
            <a:miter lim="800000"/>
            <a:headEnd/>
            <a:tailEnd/>
          </a:ln>
        </p:spPr>
        <p:txBody>
          <a:bodyPr wrap="none">
            <a:spAutoFit/>
          </a:bodyPr>
          <a:lstStyle/>
          <a:p>
            <a:pPr fontAlgn="base">
              <a:spcBef>
                <a:spcPct val="0"/>
              </a:spcBef>
              <a:spcAft>
                <a:spcPct val="0"/>
              </a:spcAft>
            </a:pPr>
            <a:r>
              <a:rPr lang="es-ES" sz="1400" b="1" dirty="0">
                <a:solidFill>
                  <a:srgbClr val="000000"/>
                </a:solidFill>
                <a:latin typeface="Arial" charset="0"/>
              </a:rPr>
              <a:t>EEUU / Canadá (canales 1 a 11)</a:t>
            </a:r>
          </a:p>
        </p:txBody>
      </p:sp>
      <p:sp>
        <p:nvSpPr>
          <p:cNvPr id="61" name="Text Box 64"/>
          <p:cNvSpPr txBox="1">
            <a:spLocks noChangeArrowheads="1"/>
          </p:cNvSpPr>
          <p:nvPr/>
        </p:nvSpPr>
        <p:spPr bwMode="auto">
          <a:xfrm>
            <a:off x="2446866" y="1416885"/>
            <a:ext cx="6600825" cy="304800"/>
          </a:xfrm>
          <a:prstGeom prst="rect">
            <a:avLst/>
          </a:prstGeom>
          <a:noFill/>
          <a:ln w="9525">
            <a:noFill/>
            <a:miter lim="800000"/>
            <a:headEnd/>
            <a:tailEnd/>
          </a:ln>
        </p:spPr>
        <p:txBody>
          <a:bodyPr wrap="none">
            <a:spAutoFit/>
          </a:bodyPr>
          <a:lstStyle/>
          <a:p>
            <a:pPr fontAlgn="base">
              <a:spcBef>
                <a:spcPct val="0"/>
              </a:spcBef>
              <a:spcAft>
                <a:spcPct val="0"/>
              </a:spcAft>
            </a:pPr>
            <a:r>
              <a:rPr lang="es-ES" sz="1400" b="1" dirty="0">
                <a:solidFill>
                  <a:srgbClr val="000000"/>
                </a:solidFill>
                <a:latin typeface="Arial" charset="0"/>
              </a:rPr>
              <a:t>Canal </a:t>
            </a:r>
            <a:r>
              <a:rPr lang="es-ES" sz="1400" b="1" dirty="0">
                <a:solidFill>
                  <a:srgbClr val="000000"/>
                </a:solidFill>
                <a:latin typeface="Arial" charset="0"/>
                <a:sym typeface="Symbol" pitchFamily="18" charset="2"/>
              </a:rPr>
              <a:t></a:t>
            </a:r>
            <a:r>
              <a:rPr lang="es-ES" sz="1400" b="1" dirty="0">
                <a:solidFill>
                  <a:srgbClr val="000000"/>
                </a:solidFill>
                <a:latin typeface="Arial" charset="0"/>
              </a:rPr>
              <a:t>     1      2     3      4      5     6      7     8     9     10   11    12   13              14</a:t>
            </a:r>
          </a:p>
        </p:txBody>
      </p:sp>
      <p:sp>
        <p:nvSpPr>
          <p:cNvPr id="62" name="Text Box 65"/>
          <p:cNvSpPr txBox="1">
            <a:spLocks noChangeArrowheads="1"/>
          </p:cNvSpPr>
          <p:nvPr/>
        </p:nvSpPr>
        <p:spPr bwMode="auto">
          <a:xfrm>
            <a:off x="2332566" y="2563060"/>
            <a:ext cx="835025" cy="304800"/>
          </a:xfrm>
          <a:prstGeom prst="rect">
            <a:avLst/>
          </a:prstGeom>
          <a:noFill/>
          <a:ln w="9525">
            <a:noFill/>
            <a:miter lim="800000"/>
            <a:headEnd/>
            <a:tailEnd/>
          </a:ln>
        </p:spPr>
        <p:txBody>
          <a:bodyPr wrap="none">
            <a:spAutoFit/>
          </a:bodyPr>
          <a:lstStyle/>
          <a:p>
            <a:pPr fontAlgn="base">
              <a:spcBef>
                <a:spcPct val="0"/>
              </a:spcBef>
              <a:spcAft>
                <a:spcPct val="0"/>
              </a:spcAft>
            </a:pPr>
            <a:r>
              <a:rPr lang="es-ES" sz="1400" b="1">
                <a:solidFill>
                  <a:srgbClr val="000000"/>
                </a:solidFill>
                <a:latin typeface="Arial" charset="0"/>
              </a:rPr>
              <a:t>2,4 GHz</a:t>
            </a:r>
          </a:p>
        </p:txBody>
      </p:sp>
      <p:sp>
        <p:nvSpPr>
          <p:cNvPr id="63" name="Text Box 66"/>
          <p:cNvSpPr txBox="1">
            <a:spLocks noChangeArrowheads="1"/>
          </p:cNvSpPr>
          <p:nvPr/>
        </p:nvSpPr>
        <p:spPr bwMode="auto">
          <a:xfrm>
            <a:off x="9531879" y="2563060"/>
            <a:ext cx="835025" cy="304800"/>
          </a:xfrm>
          <a:prstGeom prst="rect">
            <a:avLst/>
          </a:prstGeom>
          <a:noFill/>
          <a:ln w="9525">
            <a:noFill/>
            <a:miter lim="800000"/>
            <a:headEnd/>
            <a:tailEnd/>
          </a:ln>
        </p:spPr>
        <p:txBody>
          <a:bodyPr wrap="none">
            <a:spAutoFit/>
          </a:bodyPr>
          <a:lstStyle/>
          <a:p>
            <a:pPr fontAlgn="base">
              <a:spcBef>
                <a:spcPct val="0"/>
              </a:spcBef>
              <a:spcAft>
                <a:spcPct val="0"/>
              </a:spcAft>
            </a:pPr>
            <a:r>
              <a:rPr lang="es-ES" sz="1400" b="1">
                <a:solidFill>
                  <a:srgbClr val="000000"/>
                </a:solidFill>
                <a:latin typeface="Arial" charset="0"/>
              </a:rPr>
              <a:t>2,5 GHz</a:t>
            </a:r>
          </a:p>
        </p:txBody>
      </p:sp>
      <p:sp>
        <p:nvSpPr>
          <p:cNvPr id="64" name="Line 67"/>
          <p:cNvSpPr>
            <a:spLocks noChangeShapeType="1"/>
          </p:cNvSpPr>
          <p:nvPr/>
        </p:nvSpPr>
        <p:spPr bwMode="auto">
          <a:xfrm flipV="1">
            <a:off x="2675466" y="4218932"/>
            <a:ext cx="6167438" cy="0"/>
          </a:xfrm>
          <a:prstGeom prst="line">
            <a:avLst/>
          </a:prstGeom>
          <a:noFill/>
          <a:ln w="9525">
            <a:solidFill>
              <a:srgbClr val="000000"/>
            </a:solidFill>
            <a:round/>
            <a:headEnd type="triangle" w="med" len="med"/>
            <a:tailEnd type="triangle" w="med" len="me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65" name="Line 70"/>
          <p:cNvSpPr>
            <a:spLocks noChangeShapeType="1"/>
          </p:cNvSpPr>
          <p:nvPr/>
        </p:nvSpPr>
        <p:spPr bwMode="auto">
          <a:xfrm flipV="1">
            <a:off x="2675466" y="5043985"/>
            <a:ext cx="5405438" cy="0"/>
          </a:xfrm>
          <a:prstGeom prst="line">
            <a:avLst/>
          </a:prstGeom>
          <a:noFill/>
          <a:ln w="9525">
            <a:solidFill>
              <a:srgbClr val="000000"/>
            </a:solidFill>
            <a:round/>
            <a:headEnd type="triangle" w="med" len="med"/>
            <a:tailEnd type="triangle" w="med" len="me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66" name="Text Box 73"/>
          <p:cNvSpPr txBox="1">
            <a:spLocks noChangeArrowheads="1"/>
          </p:cNvSpPr>
          <p:nvPr/>
        </p:nvSpPr>
        <p:spPr bwMode="auto">
          <a:xfrm>
            <a:off x="3470804" y="3172660"/>
            <a:ext cx="184150"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1</a:t>
            </a:r>
          </a:p>
        </p:txBody>
      </p:sp>
      <p:sp>
        <p:nvSpPr>
          <p:cNvPr id="67" name="Text Box 74"/>
          <p:cNvSpPr txBox="1">
            <a:spLocks noChangeArrowheads="1"/>
          </p:cNvSpPr>
          <p:nvPr/>
        </p:nvSpPr>
        <p:spPr bwMode="auto">
          <a:xfrm>
            <a:off x="5671079" y="2534485"/>
            <a:ext cx="184150"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7</a:t>
            </a:r>
          </a:p>
        </p:txBody>
      </p:sp>
      <p:sp>
        <p:nvSpPr>
          <p:cNvPr id="68" name="Text Box 75"/>
          <p:cNvSpPr txBox="1">
            <a:spLocks noChangeArrowheads="1"/>
          </p:cNvSpPr>
          <p:nvPr/>
        </p:nvSpPr>
        <p:spPr bwMode="auto">
          <a:xfrm>
            <a:off x="5320241" y="2848810"/>
            <a:ext cx="184150"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6</a:t>
            </a:r>
          </a:p>
        </p:txBody>
      </p:sp>
      <p:sp>
        <p:nvSpPr>
          <p:cNvPr id="69" name="Text Box 77"/>
          <p:cNvSpPr txBox="1">
            <a:spLocks noChangeArrowheads="1"/>
          </p:cNvSpPr>
          <p:nvPr/>
        </p:nvSpPr>
        <p:spPr bwMode="auto">
          <a:xfrm>
            <a:off x="4575704" y="2202697"/>
            <a:ext cx="184150"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4</a:t>
            </a:r>
          </a:p>
        </p:txBody>
      </p:sp>
      <p:sp>
        <p:nvSpPr>
          <p:cNvPr id="70" name="Text Box 78"/>
          <p:cNvSpPr txBox="1">
            <a:spLocks noChangeArrowheads="1"/>
          </p:cNvSpPr>
          <p:nvPr/>
        </p:nvSpPr>
        <p:spPr bwMode="auto">
          <a:xfrm>
            <a:off x="4223279" y="2507497"/>
            <a:ext cx="184150"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3</a:t>
            </a:r>
          </a:p>
        </p:txBody>
      </p:sp>
      <p:sp>
        <p:nvSpPr>
          <p:cNvPr id="71" name="Text Box 79"/>
          <p:cNvSpPr txBox="1">
            <a:spLocks noChangeArrowheads="1"/>
          </p:cNvSpPr>
          <p:nvPr/>
        </p:nvSpPr>
        <p:spPr bwMode="auto">
          <a:xfrm>
            <a:off x="3842279" y="2885322"/>
            <a:ext cx="184150"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2</a:t>
            </a:r>
          </a:p>
        </p:txBody>
      </p:sp>
      <p:sp>
        <p:nvSpPr>
          <p:cNvPr id="72" name="Text Box 80"/>
          <p:cNvSpPr txBox="1">
            <a:spLocks noChangeArrowheads="1"/>
          </p:cNvSpPr>
          <p:nvPr/>
        </p:nvSpPr>
        <p:spPr bwMode="auto">
          <a:xfrm>
            <a:off x="6052079" y="2240797"/>
            <a:ext cx="184150"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8</a:t>
            </a:r>
          </a:p>
        </p:txBody>
      </p:sp>
      <p:sp>
        <p:nvSpPr>
          <p:cNvPr id="73" name="Text Box 81"/>
          <p:cNvSpPr txBox="1">
            <a:spLocks noChangeArrowheads="1"/>
          </p:cNvSpPr>
          <p:nvPr/>
        </p:nvSpPr>
        <p:spPr bwMode="auto">
          <a:xfrm>
            <a:off x="6444191" y="3248860"/>
            <a:ext cx="184150"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9</a:t>
            </a:r>
          </a:p>
        </p:txBody>
      </p:sp>
      <p:sp>
        <p:nvSpPr>
          <p:cNvPr id="74" name="Text Box 82"/>
          <p:cNvSpPr txBox="1">
            <a:spLocks noChangeArrowheads="1"/>
          </p:cNvSpPr>
          <p:nvPr/>
        </p:nvSpPr>
        <p:spPr bwMode="auto">
          <a:xfrm>
            <a:off x="6755341" y="2888497"/>
            <a:ext cx="282575"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10</a:t>
            </a:r>
          </a:p>
        </p:txBody>
      </p:sp>
      <p:sp>
        <p:nvSpPr>
          <p:cNvPr id="75" name="Text Box 83"/>
          <p:cNvSpPr txBox="1">
            <a:spLocks noChangeArrowheads="1"/>
          </p:cNvSpPr>
          <p:nvPr/>
        </p:nvSpPr>
        <p:spPr bwMode="auto">
          <a:xfrm>
            <a:off x="7107766" y="2488447"/>
            <a:ext cx="282575"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11</a:t>
            </a:r>
          </a:p>
        </p:txBody>
      </p:sp>
      <p:sp>
        <p:nvSpPr>
          <p:cNvPr id="76" name="Text Box 84"/>
          <p:cNvSpPr txBox="1">
            <a:spLocks noChangeArrowheads="1"/>
          </p:cNvSpPr>
          <p:nvPr/>
        </p:nvSpPr>
        <p:spPr bwMode="auto">
          <a:xfrm>
            <a:off x="7479241" y="2215397"/>
            <a:ext cx="282575"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12</a:t>
            </a:r>
          </a:p>
        </p:txBody>
      </p:sp>
      <p:sp>
        <p:nvSpPr>
          <p:cNvPr id="77" name="Text Box 85"/>
          <p:cNvSpPr txBox="1">
            <a:spLocks noChangeArrowheads="1"/>
          </p:cNvSpPr>
          <p:nvPr/>
        </p:nvSpPr>
        <p:spPr bwMode="auto">
          <a:xfrm>
            <a:off x="7831666" y="3217110"/>
            <a:ext cx="282575"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13</a:t>
            </a:r>
          </a:p>
        </p:txBody>
      </p:sp>
      <p:sp>
        <p:nvSpPr>
          <p:cNvPr id="78" name="Text Box 86"/>
          <p:cNvSpPr txBox="1">
            <a:spLocks noChangeArrowheads="1"/>
          </p:cNvSpPr>
          <p:nvPr/>
        </p:nvSpPr>
        <p:spPr bwMode="auto">
          <a:xfrm>
            <a:off x="8746066" y="2847222"/>
            <a:ext cx="282575"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14</a:t>
            </a:r>
          </a:p>
        </p:txBody>
      </p:sp>
      <p:grpSp>
        <p:nvGrpSpPr>
          <p:cNvPr id="79" name="Group 87"/>
          <p:cNvGrpSpPr>
            <a:grpSpLocks/>
          </p:cNvGrpSpPr>
          <p:nvPr/>
        </p:nvGrpSpPr>
        <p:grpSpPr bwMode="auto">
          <a:xfrm>
            <a:off x="2816754" y="3961757"/>
            <a:ext cx="1471612" cy="257175"/>
            <a:chOff x="949" y="2832"/>
            <a:chExt cx="1270" cy="317"/>
          </a:xfrm>
        </p:grpSpPr>
        <p:sp>
          <p:nvSpPr>
            <p:cNvPr id="80" name="Arc 88"/>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81" name="Arc 89"/>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sp>
        <p:nvSpPr>
          <p:cNvPr id="82" name="Text Box 90"/>
          <p:cNvSpPr txBox="1">
            <a:spLocks noChangeArrowheads="1"/>
          </p:cNvSpPr>
          <p:nvPr/>
        </p:nvSpPr>
        <p:spPr bwMode="auto">
          <a:xfrm>
            <a:off x="3450166" y="4006207"/>
            <a:ext cx="184150"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1</a:t>
            </a:r>
          </a:p>
        </p:txBody>
      </p:sp>
      <p:grpSp>
        <p:nvGrpSpPr>
          <p:cNvPr id="83" name="Group 95"/>
          <p:cNvGrpSpPr>
            <a:grpSpLocks/>
          </p:cNvGrpSpPr>
          <p:nvPr/>
        </p:nvGrpSpPr>
        <p:grpSpPr bwMode="auto">
          <a:xfrm>
            <a:off x="7247466" y="3961757"/>
            <a:ext cx="1473200" cy="257175"/>
            <a:chOff x="949" y="2832"/>
            <a:chExt cx="1270" cy="317"/>
          </a:xfrm>
        </p:grpSpPr>
        <p:sp>
          <p:nvSpPr>
            <p:cNvPr id="84" name="Arc 96"/>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85" name="Arc 97"/>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sp>
        <p:nvSpPr>
          <p:cNvPr id="86" name="Text Box 98"/>
          <p:cNvSpPr txBox="1">
            <a:spLocks noChangeArrowheads="1"/>
          </p:cNvSpPr>
          <p:nvPr/>
        </p:nvSpPr>
        <p:spPr bwMode="auto">
          <a:xfrm>
            <a:off x="7831666" y="4006207"/>
            <a:ext cx="282575"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13</a:t>
            </a:r>
          </a:p>
        </p:txBody>
      </p:sp>
      <p:grpSp>
        <p:nvGrpSpPr>
          <p:cNvPr id="87" name="Group 99"/>
          <p:cNvGrpSpPr>
            <a:grpSpLocks/>
          </p:cNvGrpSpPr>
          <p:nvPr/>
        </p:nvGrpSpPr>
        <p:grpSpPr bwMode="auto">
          <a:xfrm>
            <a:off x="2816754" y="4786810"/>
            <a:ext cx="1471612" cy="257175"/>
            <a:chOff x="949" y="2832"/>
            <a:chExt cx="1270" cy="317"/>
          </a:xfrm>
        </p:grpSpPr>
        <p:sp>
          <p:nvSpPr>
            <p:cNvPr id="88" name="Arc 100"/>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89" name="Arc 101"/>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sp>
        <p:nvSpPr>
          <p:cNvPr id="90" name="Text Box 102"/>
          <p:cNvSpPr txBox="1">
            <a:spLocks noChangeArrowheads="1"/>
          </p:cNvSpPr>
          <p:nvPr/>
        </p:nvSpPr>
        <p:spPr bwMode="auto">
          <a:xfrm>
            <a:off x="3464454" y="4805860"/>
            <a:ext cx="184150"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1</a:t>
            </a:r>
          </a:p>
        </p:txBody>
      </p:sp>
      <p:grpSp>
        <p:nvGrpSpPr>
          <p:cNvPr id="91" name="Group 103"/>
          <p:cNvGrpSpPr>
            <a:grpSpLocks/>
          </p:cNvGrpSpPr>
          <p:nvPr/>
        </p:nvGrpSpPr>
        <p:grpSpPr bwMode="auto">
          <a:xfrm>
            <a:off x="4664604" y="4796335"/>
            <a:ext cx="1473200" cy="257175"/>
            <a:chOff x="949" y="2832"/>
            <a:chExt cx="1270" cy="317"/>
          </a:xfrm>
        </p:grpSpPr>
        <p:sp>
          <p:nvSpPr>
            <p:cNvPr id="92" name="Arc 104"/>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FF"/>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93" name="Arc 105"/>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FF"/>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sp>
        <p:nvSpPr>
          <p:cNvPr id="94" name="Text Box 106"/>
          <p:cNvSpPr txBox="1">
            <a:spLocks noChangeArrowheads="1"/>
          </p:cNvSpPr>
          <p:nvPr/>
        </p:nvSpPr>
        <p:spPr bwMode="auto">
          <a:xfrm>
            <a:off x="5320241" y="4831260"/>
            <a:ext cx="184150"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6</a:t>
            </a:r>
          </a:p>
        </p:txBody>
      </p:sp>
      <p:grpSp>
        <p:nvGrpSpPr>
          <p:cNvPr id="95" name="Group 107"/>
          <p:cNvGrpSpPr>
            <a:grpSpLocks/>
          </p:cNvGrpSpPr>
          <p:nvPr/>
        </p:nvGrpSpPr>
        <p:grpSpPr bwMode="auto">
          <a:xfrm>
            <a:off x="6474354" y="4786810"/>
            <a:ext cx="1473200" cy="257175"/>
            <a:chOff x="949" y="2832"/>
            <a:chExt cx="1270" cy="317"/>
          </a:xfrm>
        </p:grpSpPr>
        <p:sp>
          <p:nvSpPr>
            <p:cNvPr id="96" name="Arc 108"/>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993366"/>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97" name="Arc 109"/>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993366"/>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sp>
        <p:nvSpPr>
          <p:cNvPr id="98" name="Text Box 110"/>
          <p:cNvSpPr txBox="1">
            <a:spLocks noChangeArrowheads="1"/>
          </p:cNvSpPr>
          <p:nvPr/>
        </p:nvSpPr>
        <p:spPr bwMode="auto">
          <a:xfrm>
            <a:off x="7077604" y="4821735"/>
            <a:ext cx="282575"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11</a:t>
            </a:r>
          </a:p>
        </p:txBody>
      </p:sp>
      <p:sp>
        <p:nvSpPr>
          <p:cNvPr id="99" name="AutoShape 111"/>
          <p:cNvSpPr>
            <a:spLocks/>
          </p:cNvSpPr>
          <p:nvPr/>
        </p:nvSpPr>
        <p:spPr bwMode="auto">
          <a:xfrm rot="16200000">
            <a:off x="3410464" y="5334065"/>
            <a:ext cx="228600" cy="1476375"/>
          </a:xfrm>
          <a:prstGeom prst="leftBrace">
            <a:avLst>
              <a:gd name="adj1" fmla="val 53819"/>
              <a:gd name="adj2" fmla="val 50000"/>
            </a:avLst>
          </a:prstGeom>
          <a:noFill/>
          <a:ln w="1905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00" name="Text Box 113"/>
          <p:cNvSpPr txBox="1">
            <a:spLocks noChangeArrowheads="1"/>
          </p:cNvSpPr>
          <p:nvPr/>
        </p:nvSpPr>
        <p:spPr bwMode="auto">
          <a:xfrm>
            <a:off x="4755091" y="5835701"/>
            <a:ext cx="2062163" cy="304800"/>
          </a:xfrm>
          <a:prstGeom prst="rect">
            <a:avLst/>
          </a:prstGeom>
          <a:noFill/>
          <a:ln w="9525">
            <a:noFill/>
            <a:miter lim="800000"/>
            <a:headEnd/>
            <a:tailEnd/>
          </a:ln>
        </p:spPr>
        <p:txBody>
          <a:bodyPr wrap="none">
            <a:spAutoFit/>
          </a:bodyPr>
          <a:lstStyle/>
          <a:p>
            <a:pPr fontAlgn="base">
              <a:spcBef>
                <a:spcPct val="0"/>
              </a:spcBef>
              <a:spcAft>
                <a:spcPct val="0"/>
              </a:spcAft>
            </a:pPr>
            <a:r>
              <a:rPr lang="es-ES" sz="1400" b="1">
                <a:solidFill>
                  <a:srgbClr val="000000"/>
                </a:solidFill>
                <a:latin typeface="Arial" charset="0"/>
              </a:rPr>
              <a:t>Japón (canales 1 a 14)</a:t>
            </a:r>
          </a:p>
        </p:txBody>
      </p:sp>
      <p:sp>
        <p:nvSpPr>
          <p:cNvPr id="101" name="Line 114"/>
          <p:cNvSpPr>
            <a:spLocks noChangeShapeType="1"/>
          </p:cNvSpPr>
          <p:nvPr/>
        </p:nvSpPr>
        <p:spPr bwMode="auto">
          <a:xfrm flipV="1">
            <a:off x="2662766" y="5835701"/>
            <a:ext cx="7138988" cy="0"/>
          </a:xfrm>
          <a:prstGeom prst="line">
            <a:avLst/>
          </a:prstGeom>
          <a:noFill/>
          <a:ln w="9525">
            <a:solidFill>
              <a:srgbClr val="000000"/>
            </a:solidFill>
            <a:round/>
            <a:headEnd type="triangle" w="med" len="med"/>
            <a:tailEnd type="triangle" w="med" len="me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nvGrpSpPr>
          <p:cNvPr id="102" name="Group 117"/>
          <p:cNvGrpSpPr>
            <a:grpSpLocks/>
          </p:cNvGrpSpPr>
          <p:nvPr/>
        </p:nvGrpSpPr>
        <p:grpSpPr bwMode="auto">
          <a:xfrm>
            <a:off x="2804054" y="5578526"/>
            <a:ext cx="1471612" cy="257175"/>
            <a:chOff x="949" y="2832"/>
            <a:chExt cx="1270" cy="317"/>
          </a:xfrm>
        </p:grpSpPr>
        <p:sp>
          <p:nvSpPr>
            <p:cNvPr id="103" name="Arc 118"/>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04" name="Arc 119"/>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sp>
        <p:nvSpPr>
          <p:cNvPr id="105" name="Text Box 120"/>
          <p:cNvSpPr txBox="1">
            <a:spLocks noChangeArrowheads="1"/>
          </p:cNvSpPr>
          <p:nvPr/>
        </p:nvSpPr>
        <p:spPr bwMode="auto">
          <a:xfrm>
            <a:off x="3437466" y="5622976"/>
            <a:ext cx="184150"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1</a:t>
            </a:r>
          </a:p>
        </p:txBody>
      </p:sp>
      <p:grpSp>
        <p:nvGrpSpPr>
          <p:cNvPr id="106" name="Group 131"/>
          <p:cNvGrpSpPr>
            <a:grpSpLocks/>
          </p:cNvGrpSpPr>
          <p:nvPr/>
        </p:nvGrpSpPr>
        <p:grpSpPr bwMode="auto">
          <a:xfrm>
            <a:off x="4678891" y="5588051"/>
            <a:ext cx="1473200" cy="257175"/>
            <a:chOff x="949" y="2832"/>
            <a:chExt cx="1270" cy="317"/>
          </a:xfrm>
        </p:grpSpPr>
        <p:sp>
          <p:nvSpPr>
            <p:cNvPr id="107" name="Arc 132"/>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FF"/>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08" name="Arc 133"/>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FF"/>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sp>
        <p:nvSpPr>
          <p:cNvPr id="109" name="Text Box 134"/>
          <p:cNvSpPr txBox="1">
            <a:spLocks noChangeArrowheads="1"/>
          </p:cNvSpPr>
          <p:nvPr/>
        </p:nvSpPr>
        <p:spPr bwMode="auto">
          <a:xfrm>
            <a:off x="5334529" y="5622976"/>
            <a:ext cx="184150"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6</a:t>
            </a:r>
          </a:p>
        </p:txBody>
      </p:sp>
      <p:grpSp>
        <p:nvGrpSpPr>
          <p:cNvPr id="110" name="Group 135"/>
          <p:cNvGrpSpPr>
            <a:grpSpLocks/>
          </p:cNvGrpSpPr>
          <p:nvPr/>
        </p:nvGrpSpPr>
        <p:grpSpPr bwMode="auto">
          <a:xfrm>
            <a:off x="6488641" y="5578526"/>
            <a:ext cx="1473200" cy="257175"/>
            <a:chOff x="949" y="2832"/>
            <a:chExt cx="1270" cy="317"/>
          </a:xfrm>
        </p:grpSpPr>
        <p:sp>
          <p:nvSpPr>
            <p:cNvPr id="111" name="Arc 136"/>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993366"/>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12" name="Arc 137"/>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993366"/>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sp>
        <p:nvSpPr>
          <p:cNvPr id="113" name="Text Box 138"/>
          <p:cNvSpPr txBox="1">
            <a:spLocks noChangeArrowheads="1"/>
          </p:cNvSpPr>
          <p:nvPr/>
        </p:nvSpPr>
        <p:spPr bwMode="auto">
          <a:xfrm>
            <a:off x="7091891" y="5613451"/>
            <a:ext cx="282575"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11</a:t>
            </a:r>
          </a:p>
        </p:txBody>
      </p:sp>
      <p:grpSp>
        <p:nvGrpSpPr>
          <p:cNvPr id="114" name="Group 139"/>
          <p:cNvGrpSpPr>
            <a:grpSpLocks/>
          </p:cNvGrpSpPr>
          <p:nvPr/>
        </p:nvGrpSpPr>
        <p:grpSpPr bwMode="auto">
          <a:xfrm>
            <a:off x="8134879" y="5578526"/>
            <a:ext cx="1471612" cy="257175"/>
            <a:chOff x="949" y="2832"/>
            <a:chExt cx="1270" cy="317"/>
          </a:xfrm>
        </p:grpSpPr>
        <p:sp>
          <p:nvSpPr>
            <p:cNvPr id="115" name="Arc 140"/>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FF"/>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16" name="Arc 141"/>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FF"/>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sp>
        <p:nvSpPr>
          <p:cNvPr id="117" name="Text Box 142"/>
          <p:cNvSpPr txBox="1">
            <a:spLocks noChangeArrowheads="1"/>
          </p:cNvSpPr>
          <p:nvPr/>
        </p:nvSpPr>
        <p:spPr bwMode="auto">
          <a:xfrm>
            <a:off x="8755591" y="5613451"/>
            <a:ext cx="282575"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14</a:t>
            </a:r>
          </a:p>
        </p:txBody>
      </p:sp>
      <p:grpSp>
        <p:nvGrpSpPr>
          <p:cNvPr id="118" name="Group 161"/>
          <p:cNvGrpSpPr>
            <a:grpSpLocks/>
          </p:cNvGrpSpPr>
          <p:nvPr/>
        </p:nvGrpSpPr>
        <p:grpSpPr bwMode="auto">
          <a:xfrm>
            <a:off x="4285191" y="3172660"/>
            <a:ext cx="1473200" cy="257175"/>
            <a:chOff x="949" y="2832"/>
            <a:chExt cx="1270" cy="317"/>
          </a:xfrm>
        </p:grpSpPr>
        <p:sp>
          <p:nvSpPr>
            <p:cNvPr id="119" name="Arc 162"/>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20" name="Arc 163"/>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sp>
        <p:nvSpPr>
          <p:cNvPr id="121" name="Text Box 164"/>
          <p:cNvSpPr txBox="1">
            <a:spLocks noChangeArrowheads="1"/>
          </p:cNvSpPr>
          <p:nvPr/>
        </p:nvSpPr>
        <p:spPr bwMode="auto">
          <a:xfrm>
            <a:off x="4946997" y="3205522"/>
            <a:ext cx="184150"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dirty="0">
                <a:ln>
                  <a:noFill/>
                </a:ln>
                <a:solidFill>
                  <a:srgbClr val="000000"/>
                </a:solidFill>
                <a:effectLst/>
                <a:uLnTx/>
                <a:uFillTx/>
                <a:latin typeface="Arial" charset="0"/>
              </a:rPr>
              <a:t>5</a:t>
            </a:r>
          </a:p>
        </p:txBody>
      </p:sp>
      <p:grpSp>
        <p:nvGrpSpPr>
          <p:cNvPr id="122" name="Group 44"/>
          <p:cNvGrpSpPr>
            <a:grpSpLocks/>
          </p:cNvGrpSpPr>
          <p:nvPr/>
        </p:nvGrpSpPr>
        <p:grpSpPr bwMode="auto">
          <a:xfrm>
            <a:off x="5791736" y="3952235"/>
            <a:ext cx="1471612" cy="257175"/>
            <a:chOff x="949" y="2832"/>
            <a:chExt cx="1270" cy="317"/>
          </a:xfrm>
        </p:grpSpPr>
        <p:sp>
          <p:nvSpPr>
            <p:cNvPr id="123" name="Arc 45"/>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24" name="Arc 46"/>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sp>
        <p:nvSpPr>
          <p:cNvPr id="125" name="Text Box 81"/>
          <p:cNvSpPr txBox="1">
            <a:spLocks noChangeArrowheads="1"/>
          </p:cNvSpPr>
          <p:nvPr/>
        </p:nvSpPr>
        <p:spPr bwMode="auto">
          <a:xfrm>
            <a:off x="6466423" y="4028435"/>
            <a:ext cx="184150"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a:ln>
                  <a:noFill/>
                </a:ln>
                <a:solidFill>
                  <a:srgbClr val="000000"/>
                </a:solidFill>
                <a:effectLst/>
                <a:uLnTx/>
                <a:uFillTx/>
                <a:latin typeface="Arial" charset="0"/>
              </a:rPr>
              <a:t>9</a:t>
            </a:r>
          </a:p>
        </p:txBody>
      </p:sp>
      <p:grpSp>
        <p:nvGrpSpPr>
          <p:cNvPr id="126" name="Group 161"/>
          <p:cNvGrpSpPr>
            <a:grpSpLocks/>
          </p:cNvGrpSpPr>
          <p:nvPr/>
        </p:nvGrpSpPr>
        <p:grpSpPr bwMode="auto">
          <a:xfrm>
            <a:off x="4307423" y="3952235"/>
            <a:ext cx="1473200" cy="257175"/>
            <a:chOff x="949" y="2832"/>
            <a:chExt cx="1270" cy="317"/>
          </a:xfrm>
        </p:grpSpPr>
        <p:sp>
          <p:nvSpPr>
            <p:cNvPr id="127" name="Arc 162"/>
            <p:cNvSpPr>
              <a:spLocks/>
            </p:cNvSpPr>
            <p:nvPr/>
          </p:nvSpPr>
          <p:spPr bwMode="auto">
            <a:xfrm rot="-5400000">
              <a:off x="1108" y="2673"/>
              <a:ext cx="317" cy="635"/>
            </a:xfrm>
            <a:custGeom>
              <a:avLst/>
              <a:gdLst>
                <a:gd name="T0" fmla="*/ 0 w 21600"/>
                <a:gd name="T1" fmla="*/ 0 h 21600"/>
                <a:gd name="T2" fmla="*/ 317 w 21600"/>
                <a:gd name="T3" fmla="*/ 635 h 21600"/>
                <a:gd name="T4" fmla="*/ 0 w 21600"/>
                <a:gd name="T5" fmla="*/ 63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28" name="Arc 163"/>
            <p:cNvSpPr>
              <a:spLocks/>
            </p:cNvSpPr>
            <p:nvPr/>
          </p:nvSpPr>
          <p:spPr bwMode="auto">
            <a:xfrm>
              <a:off x="1584" y="2832"/>
              <a:ext cx="635" cy="317"/>
            </a:xfrm>
            <a:custGeom>
              <a:avLst/>
              <a:gdLst>
                <a:gd name="T0" fmla="*/ 0 w 21600"/>
                <a:gd name="T1" fmla="*/ 0 h 21600"/>
                <a:gd name="T2" fmla="*/ 635 w 21600"/>
                <a:gd name="T3" fmla="*/ 317 h 21600"/>
                <a:gd name="T4" fmla="*/ 0 w 21600"/>
                <a:gd name="T5" fmla="*/ 31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00"/>
            </a:solidFill>
            <a:ln w="25400">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grpSp>
      <p:sp>
        <p:nvSpPr>
          <p:cNvPr id="129" name="Text Box 164"/>
          <p:cNvSpPr txBox="1">
            <a:spLocks noChangeArrowheads="1"/>
          </p:cNvSpPr>
          <p:nvPr/>
        </p:nvSpPr>
        <p:spPr bwMode="auto">
          <a:xfrm>
            <a:off x="4977332" y="4028435"/>
            <a:ext cx="184150" cy="212725"/>
          </a:xfrm>
          <a:prstGeom prst="rect">
            <a:avLst/>
          </a:prstGeom>
          <a:solidFill>
            <a:srgbClr val="FFFFFF"/>
          </a:solidFill>
          <a:ln w="9525">
            <a:noFill/>
            <a:miter lim="800000"/>
            <a:headEnd/>
            <a:tailEnd/>
          </a:ln>
        </p:spPr>
        <p:txBody>
          <a:bodyPr wrap="none" lIns="43200" tIns="0" rIns="43200" b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 sz="1400" b="1" i="0" u="none" strike="noStrike" kern="0" cap="none" spc="0" normalizeH="0" baseline="0" noProof="0" dirty="0">
                <a:ln>
                  <a:noFill/>
                </a:ln>
                <a:solidFill>
                  <a:srgbClr val="000000"/>
                </a:solidFill>
                <a:effectLst/>
                <a:uLnTx/>
                <a:uFillTx/>
                <a:latin typeface="Arial" charset="0"/>
              </a:rPr>
              <a:t>5</a:t>
            </a:r>
          </a:p>
        </p:txBody>
      </p:sp>
      <p:sp>
        <p:nvSpPr>
          <p:cNvPr id="130" name="1 Rectángulo"/>
          <p:cNvSpPr/>
          <p:nvPr/>
        </p:nvSpPr>
        <p:spPr bwMode="auto">
          <a:xfrm>
            <a:off x="2332566" y="3793149"/>
            <a:ext cx="6896497" cy="733560"/>
          </a:xfrm>
          <a:prstGeom prst="rect">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31" name="CuadroTexto 130"/>
          <p:cNvSpPr txBox="1"/>
          <p:nvPr/>
        </p:nvSpPr>
        <p:spPr>
          <a:xfrm>
            <a:off x="3036622" y="6274516"/>
            <a:ext cx="1223963" cy="369332"/>
          </a:xfrm>
          <a:prstGeom prst="rect">
            <a:avLst/>
          </a:prstGeom>
          <a:noFill/>
        </p:spPr>
        <p:txBody>
          <a:bodyPr wrap="square" rtlCol="0">
            <a:spAutoFit/>
          </a:bodyPr>
          <a:lstStyle/>
          <a:p>
            <a:r>
              <a:rPr lang="es-MX" dirty="0"/>
              <a:t>22 mHZ</a:t>
            </a:r>
            <a:endParaRPr lang="es-AR" dirty="0"/>
          </a:p>
        </p:txBody>
      </p:sp>
    </p:spTree>
    <p:extLst>
      <p:ext uri="{BB962C8B-B14F-4D97-AF65-F5344CB8AC3E}">
        <p14:creationId xmlns:p14="http://schemas.microsoft.com/office/powerpoint/2010/main" val="40078173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4611713" y="0"/>
            <a:ext cx="2127505" cy="76944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4400" b="0" i="0" u="none" strike="noStrike" kern="0" cap="none" spc="0" normalizeH="0" baseline="0" noProof="0" dirty="0">
                <a:ln>
                  <a:noFill/>
                </a:ln>
                <a:solidFill>
                  <a:schemeClr val="accent1"/>
                </a:solidFill>
                <a:effectLst/>
                <a:uLnTx/>
                <a:uFillTx/>
                <a:latin typeface="Times New Roman"/>
                <a:ea typeface="+mj-ea"/>
                <a:cs typeface="+mj-cs"/>
              </a:rPr>
              <a:t>802.11</a:t>
            </a:r>
            <a:r>
              <a:rPr kumimoji="0" lang="es-ES" sz="4400" b="0" i="0" u="none" strike="noStrike" kern="0" cap="none" spc="0" normalizeH="0" noProof="0" dirty="0">
                <a:ln>
                  <a:noFill/>
                </a:ln>
                <a:solidFill>
                  <a:schemeClr val="accent1"/>
                </a:solidFill>
                <a:effectLst/>
                <a:uLnTx/>
                <a:uFillTx/>
                <a:latin typeface="Times New Roman"/>
                <a:ea typeface="+mj-ea"/>
                <a:cs typeface="+mj-cs"/>
              </a:rPr>
              <a:t> a</a:t>
            </a:r>
            <a:endParaRPr kumimoji="0" lang="es-AR" sz="1800" b="0" i="0" u="none" strike="noStrike" kern="0" cap="none" spc="0" normalizeH="0" baseline="0" noProof="0" dirty="0">
              <a:ln>
                <a:noFill/>
              </a:ln>
              <a:solidFill>
                <a:schemeClr val="accent1"/>
              </a:solidFill>
              <a:effectLst/>
              <a:uLnTx/>
              <a:uFillTx/>
            </a:endParaRPr>
          </a:p>
        </p:txBody>
      </p:sp>
      <p:sp>
        <p:nvSpPr>
          <p:cNvPr id="4" name="Rectángulo 3"/>
          <p:cNvSpPr/>
          <p:nvPr/>
        </p:nvSpPr>
        <p:spPr>
          <a:xfrm>
            <a:off x="558801" y="769441"/>
            <a:ext cx="10989733" cy="5607689"/>
          </a:xfrm>
          <a:prstGeom prst="rect">
            <a:avLst/>
          </a:prstGeom>
        </p:spPr>
        <p:txBody>
          <a:bodyPr wrap="square">
            <a:spAutoFit/>
          </a:bodyPr>
          <a:lstStyle/>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802.11a utiliza la banda de U-NII 5 GHz</a:t>
            </a:r>
          </a:p>
          <a:p>
            <a:pPr marL="342900" lvl="0" indent="-342900" fontAlgn="base">
              <a:lnSpc>
                <a:spcPct val="80000"/>
              </a:lnSpc>
              <a:spcBef>
                <a:spcPct val="20000"/>
              </a:spcBef>
              <a:spcAft>
                <a:spcPct val="0"/>
              </a:spcAft>
              <a:buFontTx/>
              <a:buChar char="•"/>
            </a:pPr>
            <a:endParaRPr lang="es-ES" sz="2800" kern="0" dirty="0">
              <a:solidFill>
                <a:srgbClr val="000000"/>
              </a:solidFill>
              <a:latin typeface="Times New Roman"/>
            </a:endParaRPr>
          </a:p>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La técnica de radio es OFDM (Orthogonal Frequency Division Multiplexing)</a:t>
            </a:r>
          </a:p>
          <a:p>
            <a:pPr marL="342900" lvl="0" indent="-342900" fontAlgn="base">
              <a:lnSpc>
                <a:spcPct val="80000"/>
              </a:lnSpc>
              <a:spcBef>
                <a:spcPct val="20000"/>
              </a:spcBef>
              <a:spcAft>
                <a:spcPct val="0"/>
              </a:spcAft>
              <a:buFontTx/>
              <a:buChar char="•"/>
            </a:pPr>
            <a:endParaRPr lang="es-ES" sz="2800" kern="0" dirty="0">
              <a:solidFill>
                <a:srgbClr val="000000"/>
              </a:solidFill>
              <a:latin typeface="Times New Roman"/>
            </a:endParaRPr>
          </a:p>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Las velocidades son como en 802.11g: 6, 9, 12, 18, 24, 36, 48 y 54 Mb/s (6, 12 y 24 son obligatorias)</a:t>
            </a:r>
          </a:p>
          <a:p>
            <a:pPr marL="342900" lvl="0" indent="-342900" fontAlgn="base">
              <a:lnSpc>
                <a:spcPct val="80000"/>
              </a:lnSpc>
              <a:spcBef>
                <a:spcPct val="20000"/>
              </a:spcBef>
              <a:spcAft>
                <a:spcPct val="0"/>
              </a:spcAft>
              <a:buFontTx/>
              <a:buChar char="•"/>
            </a:pPr>
            <a:endParaRPr lang="es-ES" sz="2800" kern="0" dirty="0">
              <a:solidFill>
                <a:srgbClr val="000000"/>
              </a:solidFill>
              <a:latin typeface="Times New Roman"/>
            </a:endParaRPr>
          </a:p>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Es incompatible con 802.11b/g (distinta frecuencia)</a:t>
            </a:r>
          </a:p>
          <a:p>
            <a:pPr marL="342900" lvl="0" indent="-342900" fontAlgn="base">
              <a:lnSpc>
                <a:spcPct val="80000"/>
              </a:lnSpc>
              <a:spcBef>
                <a:spcPct val="20000"/>
              </a:spcBef>
              <a:spcAft>
                <a:spcPct val="0"/>
              </a:spcAft>
              <a:buFontTx/>
              <a:buChar char="•"/>
            </a:pPr>
            <a:endParaRPr lang="es-ES" sz="2800" kern="0" dirty="0">
              <a:solidFill>
                <a:srgbClr val="000000"/>
              </a:solidFill>
              <a:latin typeface="Times New Roman"/>
            </a:endParaRPr>
          </a:p>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En Europa la banda de 5 GHz se empezó a usar más tarde que en América, pues se exigió que incorporara mecanismos de ajuste dinámico de frecuencia y potencia para evitar interferencia con radares y otros aparatos. Esto se incluyo en el estándar 802.11h.</a:t>
            </a:r>
          </a:p>
        </p:txBody>
      </p:sp>
    </p:spTree>
    <p:extLst>
      <p:ext uri="{BB962C8B-B14F-4D97-AF65-F5344CB8AC3E}">
        <p14:creationId xmlns:p14="http://schemas.microsoft.com/office/powerpoint/2010/main" val="14378404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número de diapositiva"/>
          <p:cNvSpPr>
            <a:spLocks noGrp="1"/>
          </p:cNvSpPr>
          <p:nvPr>
            <p:ph type="sldNum" sz="quarter" idx="10"/>
          </p:nvPr>
        </p:nvSpPr>
        <p:spPr>
          <a:solidFill>
            <a:srgbClr val="00B0F0"/>
          </a:solidFill>
          <a:ln w="76200"/>
        </p:spPr>
        <p:txBody>
          <a:bodyPr/>
          <a:lstStyle/>
          <a:p>
            <a:pPr>
              <a:defRPr/>
            </a:pPr>
            <a:endParaRPr lang="es-ES" dirty="0">
              <a:solidFill>
                <a:srgbClr val="000000"/>
              </a:solidFill>
            </a:endParaRPr>
          </a:p>
        </p:txBody>
      </p:sp>
      <p:sp>
        <p:nvSpPr>
          <p:cNvPr id="105475" name="Rectangle 2"/>
          <p:cNvSpPr>
            <a:spLocks noGrp="1" noChangeArrowheads="1"/>
          </p:cNvSpPr>
          <p:nvPr>
            <p:ph type="title"/>
          </p:nvPr>
        </p:nvSpPr>
        <p:spPr>
          <a:xfrm>
            <a:off x="2301347" y="269875"/>
            <a:ext cx="7920037" cy="1143000"/>
          </a:xfrm>
        </p:spPr>
        <p:txBody>
          <a:bodyPr/>
          <a:lstStyle/>
          <a:p>
            <a:pPr eaLnBrk="1" hangingPunct="1"/>
            <a:r>
              <a:rPr lang="es-ES" sz="3200" dirty="0"/>
              <a:t>Ventajas/inconvenientes de 802.11a (5 GHz) frente a 802.11g (2,4 GHz)</a:t>
            </a:r>
          </a:p>
        </p:txBody>
      </p:sp>
      <p:sp>
        <p:nvSpPr>
          <p:cNvPr id="105476" name="Rectangle 3"/>
          <p:cNvSpPr>
            <a:spLocks noGrp="1" noChangeArrowheads="1"/>
          </p:cNvSpPr>
          <p:nvPr>
            <p:ph type="body" idx="1"/>
          </p:nvPr>
        </p:nvSpPr>
        <p:spPr>
          <a:xfrm>
            <a:off x="2209800" y="1412875"/>
            <a:ext cx="7772400" cy="4895850"/>
          </a:xfrm>
        </p:spPr>
        <p:txBody>
          <a:bodyPr/>
          <a:lstStyle/>
          <a:p>
            <a:pPr eaLnBrk="1" hangingPunct="1">
              <a:lnSpc>
                <a:spcPct val="80000"/>
              </a:lnSpc>
            </a:pPr>
            <a:r>
              <a:rPr lang="es-ES" sz="2200" dirty="0"/>
              <a:t>Ventajas:</a:t>
            </a:r>
          </a:p>
          <a:p>
            <a:pPr lvl="1" eaLnBrk="1" hangingPunct="1">
              <a:lnSpc>
                <a:spcPct val="80000"/>
              </a:lnSpc>
            </a:pPr>
            <a:r>
              <a:rPr lang="es-ES" sz="2200" dirty="0"/>
              <a:t>En 5 GHz hay muchas menos interferencias que en 2,4 GHz (Bluetooth, hornos de microondas, mandos a distancia, etc.). En el futuro es previsible que aparezcan más equipos que utilicen la banda de 5 GHz y haya más interferencia</a:t>
            </a:r>
          </a:p>
          <a:p>
            <a:pPr lvl="1" eaLnBrk="1" hangingPunct="1">
              <a:lnSpc>
                <a:spcPct val="80000"/>
              </a:lnSpc>
            </a:pPr>
            <a:r>
              <a:rPr lang="es-ES" sz="2200" dirty="0"/>
              <a:t>En 5 GHz hay más canales no solapados (en Europa 19 frente a 4). Es más fácil evitar interferencias, especialmente al diseñar una cobertura celular</a:t>
            </a:r>
          </a:p>
          <a:p>
            <a:pPr lvl="1" eaLnBrk="1" hangingPunct="1">
              <a:lnSpc>
                <a:spcPct val="80000"/>
              </a:lnSpc>
            </a:pPr>
            <a:r>
              <a:rPr lang="es-ES" sz="2200" dirty="0"/>
              <a:t>Las antenas son más pequeñas y en general tienen más ganancia</a:t>
            </a:r>
          </a:p>
          <a:p>
            <a:pPr eaLnBrk="1" hangingPunct="1">
              <a:lnSpc>
                <a:spcPct val="80000"/>
              </a:lnSpc>
            </a:pPr>
            <a:r>
              <a:rPr lang="es-ES" sz="2200" dirty="0"/>
              <a:t>Inconvenientes:</a:t>
            </a:r>
          </a:p>
          <a:p>
            <a:pPr lvl="1" eaLnBrk="1" hangingPunct="1">
              <a:lnSpc>
                <a:spcPct val="80000"/>
              </a:lnSpc>
            </a:pPr>
            <a:r>
              <a:rPr lang="es-ES" sz="2200" dirty="0"/>
              <a:t>Menor alcance, necesidad de poner más </a:t>
            </a:r>
            <a:r>
              <a:rPr lang="es-ES" sz="2200" dirty="0" err="1"/>
              <a:t>APs</a:t>
            </a:r>
            <a:endParaRPr lang="es-ES" sz="2200" dirty="0"/>
          </a:p>
          <a:p>
            <a:pPr lvl="1" eaLnBrk="1" hangingPunct="1">
              <a:lnSpc>
                <a:spcPct val="80000"/>
              </a:lnSpc>
            </a:pPr>
            <a:r>
              <a:rPr lang="es-ES" sz="2200" dirty="0"/>
              <a:t>Mayor costo de los equipos emisores/receptores</a:t>
            </a:r>
          </a:p>
          <a:p>
            <a:pPr lvl="1" eaLnBrk="1" hangingPunct="1">
              <a:lnSpc>
                <a:spcPct val="80000"/>
              </a:lnSpc>
            </a:pPr>
            <a:r>
              <a:rPr lang="es-ES" sz="2200" dirty="0"/>
              <a:t>Mayor consumo (menor duración de las baterías)</a:t>
            </a:r>
          </a:p>
          <a:p>
            <a:pPr lvl="1" eaLnBrk="1" hangingPunct="1">
              <a:lnSpc>
                <a:spcPct val="80000"/>
              </a:lnSpc>
            </a:pPr>
            <a:r>
              <a:rPr lang="es-ES" sz="2200" dirty="0"/>
              <a:t>Menor disponibilidad de equipos</a:t>
            </a:r>
          </a:p>
          <a:p>
            <a:pPr lvl="1" eaLnBrk="1" hangingPunct="1">
              <a:lnSpc>
                <a:spcPct val="80000"/>
              </a:lnSpc>
            </a:pPr>
            <a:endParaRPr lang="es-ES" sz="2200" dirty="0"/>
          </a:p>
        </p:txBody>
      </p:sp>
    </p:spTree>
    <p:extLst>
      <p:ext uri="{BB962C8B-B14F-4D97-AF65-F5344CB8AC3E}">
        <p14:creationId xmlns:p14="http://schemas.microsoft.com/office/powerpoint/2010/main" val="3705597085"/>
      </p:ext>
    </p:extLst>
  </p:cSld>
  <p:clrMapOvr>
    <a:masterClrMapping/>
  </p:clrMapOvr>
  <p:transition spd="med">
    <p:cover dir="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929465" y="176481"/>
            <a:ext cx="7890933" cy="707886"/>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4000" b="0" i="0" u="none" strike="noStrike" kern="0" cap="none" spc="0" normalizeH="0" baseline="0" noProof="0" dirty="0">
                <a:ln>
                  <a:noFill/>
                </a:ln>
                <a:solidFill>
                  <a:schemeClr val="accent1"/>
                </a:solidFill>
                <a:effectLst/>
                <a:uLnTx/>
                <a:uFillTx/>
                <a:latin typeface="Arial" charset="0"/>
                <a:ea typeface="+mj-ea"/>
                <a:cs typeface="+mj-cs"/>
              </a:rPr>
              <a:t>Relación velocidad/alcance</a:t>
            </a:r>
            <a:endParaRPr kumimoji="0" lang="es-AR" sz="1800" b="0" i="0" u="none" strike="noStrike" kern="0" cap="none" spc="0" normalizeH="0" baseline="0" noProof="0" dirty="0">
              <a:ln>
                <a:noFill/>
              </a:ln>
              <a:solidFill>
                <a:schemeClr val="accent1"/>
              </a:solidFill>
              <a:effectLst/>
              <a:uLnTx/>
              <a:uFillTx/>
            </a:endParaRPr>
          </a:p>
        </p:txBody>
      </p:sp>
      <p:pic>
        <p:nvPicPr>
          <p:cNvPr id="3" name="Picture 2"/>
          <p:cNvPicPr>
            <a:picLocks noChangeAspect="1" noChangeArrowheads="1"/>
          </p:cNvPicPr>
          <p:nvPr/>
        </p:nvPicPr>
        <p:blipFill>
          <a:blip r:embed="rId2" cstate="print"/>
          <a:srcRect/>
          <a:stretch>
            <a:fillRect/>
          </a:stretch>
        </p:blipFill>
        <p:spPr bwMode="auto">
          <a:xfrm>
            <a:off x="440267" y="745067"/>
            <a:ext cx="11277600" cy="5977466"/>
          </a:xfrm>
          <a:prstGeom prst="rect">
            <a:avLst/>
          </a:prstGeom>
          <a:noFill/>
          <a:ln w="25400">
            <a:noFill/>
            <a:miter lim="800000"/>
            <a:headEnd/>
            <a:tailEnd/>
          </a:ln>
        </p:spPr>
      </p:pic>
    </p:spTree>
    <p:extLst>
      <p:ext uri="{BB962C8B-B14F-4D97-AF65-F5344CB8AC3E}">
        <p14:creationId xmlns:p14="http://schemas.microsoft.com/office/powerpoint/2010/main" val="34712378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150533" y="0"/>
            <a:ext cx="7857067" cy="707886"/>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4000" b="0" i="0" u="none" strike="noStrike" kern="0" cap="none" spc="0" normalizeH="0" baseline="0" noProof="0" dirty="0">
                <a:ln>
                  <a:noFill/>
                </a:ln>
                <a:solidFill>
                  <a:schemeClr val="accent1"/>
                </a:solidFill>
                <a:effectLst/>
                <a:uLnTx/>
                <a:uFillTx/>
                <a:latin typeface="Arial" charset="0"/>
                <a:ea typeface="+mj-ea"/>
                <a:cs typeface="+mj-cs"/>
              </a:rPr>
              <a:t>Alcance relativo de 802.11a, b y g </a:t>
            </a:r>
            <a:endParaRPr kumimoji="0" lang="es-AR" sz="1800" b="0" i="0" u="none" strike="noStrike" kern="0" cap="none" spc="0" normalizeH="0" baseline="0" noProof="0" dirty="0">
              <a:ln>
                <a:noFill/>
              </a:ln>
              <a:solidFill>
                <a:schemeClr val="accent1"/>
              </a:solidFill>
              <a:effectLst/>
              <a:uLnTx/>
              <a:uFillTx/>
            </a:endParaRPr>
          </a:p>
        </p:txBody>
      </p:sp>
      <p:pic>
        <p:nvPicPr>
          <p:cNvPr id="3" name="Picture 3"/>
          <p:cNvPicPr>
            <a:picLocks noChangeAspect="1" noChangeArrowheads="1"/>
          </p:cNvPicPr>
          <p:nvPr/>
        </p:nvPicPr>
        <p:blipFill>
          <a:blip r:embed="rId2" cstate="print"/>
          <a:srcRect/>
          <a:stretch>
            <a:fillRect/>
          </a:stretch>
        </p:blipFill>
        <p:spPr bwMode="auto">
          <a:xfrm>
            <a:off x="694266" y="707886"/>
            <a:ext cx="10769600" cy="5866661"/>
          </a:xfrm>
          <a:prstGeom prst="rect">
            <a:avLst/>
          </a:prstGeom>
          <a:noFill/>
          <a:ln w="25400">
            <a:noFill/>
            <a:miter lim="800000"/>
            <a:headEnd/>
            <a:tailEnd/>
          </a:ln>
        </p:spPr>
      </p:pic>
    </p:spTree>
    <p:extLst>
      <p:ext uri="{BB962C8B-B14F-4D97-AF65-F5344CB8AC3E}">
        <p14:creationId xmlns:p14="http://schemas.microsoft.com/office/powerpoint/2010/main" val="5977555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983838" y="0"/>
            <a:ext cx="2416028" cy="707886"/>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4000" b="0" i="0" u="none" strike="noStrike" kern="0" cap="none" spc="0" normalizeH="0" baseline="0" noProof="0" dirty="0">
                <a:ln>
                  <a:noFill/>
                </a:ln>
                <a:solidFill>
                  <a:schemeClr val="accent1"/>
                </a:solidFill>
                <a:effectLst/>
                <a:uLnTx/>
                <a:uFillTx/>
                <a:latin typeface="Times New Roman"/>
                <a:ea typeface="+mj-ea"/>
                <a:cs typeface="+mj-cs"/>
              </a:rPr>
              <a:t>802.11n</a:t>
            </a:r>
            <a:endParaRPr kumimoji="0" lang="es-AR" sz="1800" b="0" i="0" u="none" strike="noStrike" kern="0" cap="none" spc="0" normalizeH="0" baseline="0" noProof="0" dirty="0">
              <a:ln>
                <a:noFill/>
              </a:ln>
              <a:solidFill>
                <a:schemeClr val="accent1"/>
              </a:solidFill>
              <a:effectLst/>
              <a:uLnTx/>
              <a:uFillTx/>
            </a:endParaRPr>
          </a:p>
        </p:txBody>
      </p:sp>
      <p:sp>
        <p:nvSpPr>
          <p:cNvPr id="3" name="Rectángulo 2"/>
          <p:cNvSpPr/>
          <p:nvPr/>
        </p:nvSpPr>
        <p:spPr>
          <a:xfrm>
            <a:off x="417585" y="1250311"/>
            <a:ext cx="11548534" cy="5607689"/>
          </a:xfrm>
          <a:prstGeom prst="rect">
            <a:avLst/>
          </a:prstGeom>
        </p:spPr>
        <p:txBody>
          <a:bodyPr wrap="square">
            <a:spAutoFit/>
          </a:bodyPr>
          <a:lstStyle/>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Estándar aprobado en 2009 (aunque antes ya había productos basados en el borrador)</a:t>
            </a:r>
          </a:p>
          <a:p>
            <a:pPr marL="342900" lvl="0" indent="-342900" fontAlgn="base">
              <a:lnSpc>
                <a:spcPct val="80000"/>
              </a:lnSpc>
              <a:spcBef>
                <a:spcPct val="20000"/>
              </a:spcBef>
              <a:spcAft>
                <a:spcPct val="0"/>
              </a:spcAft>
              <a:buFontTx/>
              <a:buChar char="•"/>
            </a:pPr>
            <a:endParaRPr lang="es-ES" sz="2800" kern="0" dirty="0">
              <a:solidFill>
                <a:srgbClr val="000000"/>
              </a:solidFill>
              <a:latin typeface="Times New Roman"/>
            </a:endParaRPr>
          </a:p>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Puede funcionar tanto a 2,4 como a 5 GHz. Los canales son de 20 MHz de anchura en toso los casos</a:t>
            </a:r>
          </a:p>
          <a:p>
            <a:pPr marL="342900" lvl="0" indent="-342900" fontAlgn="base">
              <a:lnSpc>
                <a:spcPct val="80000"/>
              </a:lnSpc>
              <a:spcBef>
                <a:spcPct val="20000"/>
              </a:spcBef>
              <a:spcAft>
                <a:spcPct val="0"/>
              </a:spcAft>
              <a:buFontTx/>
              <a:buChar char="•"/>
            </a:pPr>
            <a:endParaRPr lang="es-ES" sz="2800" kern="0" dirty="0">
              <a:solidFill>
                <a:srgbClr val="000000"/>
              </a:solidFill>
              <a:latin typeface="Times New Roman"/>
            </a:endParaRPr>
          </a:p>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Permite hacer agregación de dos canales consecutivos (40 MHz) para duplicar el rendimiento.</a:t>
            </a:r>
          </a:p>
          <a:p>
            <a:pPr marL="342900" lvl="0" indent="-342900" fontAlgn="base">
              <a:lnSpc>
                <a:spcPct val="80000"/>
              </a:lnSpc>
              <a:spcBef>
                <a:spcPct val="20000"/>
              </a:spcBef>
              <a:spcAft>
                <a:spcPct val="0"/>
              </a:spcAft>
              <a:buFontTx/>
              <a:buChar char="•"/>
            </a:pPr>
            <a:endParaRPr lang="es-ES" sz="2800" kern="0" dirty="0">
              <a:solidFill>
                <a:srgbClr val="000000"/>
              </a:solidFill>
              <a:latin typeface="Times New Roman"/>
            </a:endParaRPr>
          </a:p>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Previsiblemente muchas instalaciones se harán en 5 GHz, por disponer de más canales</a:t>
            </a:r>
          </a:p>
          <a:p>
            <a:pPr marL="342900" lvl="0" indent="-342900" fontAlgn="base">
              <a:lnSpc>
                <a:spcPct val="80000"/>
              </a:lnSpc>
              <a:spcBef>
                <a:spcPct val="20000"/>
              </a:spcBef>
              <a:spcAft>
                <a:spcPct val="0"/>
              </a:spcAft>
              <a:buFontTx/>
              <a:buChar char="•"/>
            </a:pPr>
            <a:endParaRPr lang="es-ES" sz="2800" kern="0" dirty="0">
              <a:solidFill>
                <a:srgbClr val="000000"/>
              </a:solidFill>
              <a:latin typeface="Times New Roman"/>
            </a:endParaRPr>
          </a:p>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Puede conseguir una velocidad máxima (teórica) de hasta 600 Mb/s. Las conexiones al DS son Gigabit Ethernet </a:t>
            </a:r>
          </a:p>
        </p:txBody>
      </p:sp>
    </p:spTree>
    <p:extLst>
      <p:ext uri="{BB962C8B-B14F-4D97-AF65-F5344CB8AC3E}">
        <p14:creationId xmlns:p14="http://schemas.microsoft.com/office/powerpoint/2010/main" val="14697835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489199" y="197991"/>
            <a:ext cx="8144933" cy="584775"/>
          </a:xfrm>
          <a:prstGeom prst="rect">
            <a:avLst/>
          </a:prstGeom>
        </p:spPr>
        <p:txBody>
          <a:bodyPr wrap="square">
            <a:spAutoFit/>
          </a:bodyPr>
          <a:lstStyle/>
          <a:p>
            <a:pPr lvl="0" fontAlgn="base">
              <a:spcBef>
                <a:spcPct val="0"/>
              </a:spcBef>
              <a:spcAft>
                <a:spcPct val="0"/>
              </a:spcAft>
            </a:pPr>
            <a:r>
              <a:rPr lang="es-ES" sz="3200" b="1" dirty="0">
                <a:solidFill>
                  <a:srgbClr val="000000"/>
                </a:solidFill>
                <a:latin typeface="Arial" charset="0"/>
              </a:rPr>
              <a:t>LAN inalámbrica en un almacén (caso 1)</a:t>
            </a:r>
          </a:p>
        </p:txBody>
      </p:sp>
      <p:sp>
        <p:nvSpPr>
          <p:cNvPr id="3" name="Rectángulo 2"/>
          <p:cNvSpPr/>
          <p:nvPr/>
        </p:nvSpPr>
        <p:spPr>
          <a:xfrm>
            <a:off x="1744132" y="782766"/>
            <a:ext cx="9262533" cy="523220"/>
          </a:xfrm>
          <a:prstGeom prst="rect">
            <a:avLst/>
          </a:prstGeom>
        </p:spPr>
        <p:txBody>
          <a:bodyPr wrap="square">
            <a:spAutoFit/>
          </a:bodyPr>
          <a:lstStyle/>
          <a:p>
            <a:pPr lvl="0" fontAlgn="base">
              <a:spcBef>
                <a:spcPct val="0"/>
              </a:spcBef>
              <a:spcAft>
                <a:spcPct val="0"/>
              </a:spcAft>
              <a:buFontTx/>
              <a:buChar char="•"/>
            </a:pPr>
            <a:r>
              <a:rPr lang="es-ES" sz="1400" b="1" dirty="0">
                <a:solidFill>
                  <a:srgbClr val="000000"/>
                </a:solidFill>
                <a:latin typeface="Arial" charset="0"/>
              </a:rPr>
              <a:t>Tomas RJ45 (100BASE-TX) disponibles por todo el almacén para conexión de los AP</a:t>
            </a:r>
          </a:p>
          <a:p>
            <a:pPr lvl="0" fontAlgn="base">
              <a:spcBef>
                <a:spcPct val="0"/>
              </a:spcBef>
              <a:spcAft>
                <a:spcPct val="0"/>
              </a:spcAft>
              <a:buFontTx/>
              <a:buChar char="•"/>
            </a:pPr>
            <a:r>
              <a:rPr lang="es-ES" sz="1400" b="1" dirty="0">
                <a:solidFill>
                  <a:srgbClr val="000000"/>
                </a:solidFill>
                <a:latin typeface="Arial" charset="0"/>
              </a:rPr>
              <a:t>Antenas omnidireccionales de mástil de alta ganancia (5,2 dBi)</a:t>
            </a:r>
          </a:p>
        </p:txBody>
      </p:sp>
      <p:sp>
        <p:nvSpPr>
          <p:cNvPr id="4" name="Rectangle 2"/>
          <p:cNvSpPr>
            <a:spLocks noChangeArrowheads="1"/>
          </p:cNvSpPr>
          <p:nvPr/>
        </p:nvSpPr>
        <p:spPr bwMode="auto">
          <a:xfrm>
            <a:off x="2089680" y="1723727"/>
            <a:ext cx="8415732" cy="4439296"/>
          </a:xfrm>
          <a:prstGeom prst="rect">
            <a:avLst/>
          </a:prstGeom>
          <a:noFill/>
          <a:ln w="19050">
            <a:solidFill>
              <a:srgbClr val="000000"/>
            </a:solidFill>
            <a:miter lim="800000"/>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5" name="Text Box 3"/>
          <p:cNvSpPr txBox="1">
            <a:spLocks noChangeArrowheads="1"/>
          </p:cNvSpPr>
          <p:nvPr/>
        </p:nvSpPr>
        <p:spPr bwMode="auto">
          <a:xfrm>
            <a:off x="1386417" y="3938074"/>
            <a:ext cx="734236" cy="319949"/>
          </a:xfrm>
          <a:prstGeom prst="rect">
            <a:avLst/>
          </a:prstGeom>
          <a:noFill/>
          <a:ln w="9525">
            <a:noFill/>
            <a:miter lim="800000"/>
            <a:headEnd/>
            <a:tailEnd/>
          </a:ln>
        </p:spPr>
        <p:txBody>
          <a:bodyPr wrap="square">
            <a:spAutoFit/>
          </a:bodyPr>
          <a:lstStyle/>
          <a:p>
            <a:pPr fontAlgn="base">
              <a:spcBef>
                <a:spcPct val="0"/>
              </a:spcBef>
              <a:spcAft>
                <a:spcPct val="0"/>
              </a:spcAft>
            </a:pPr>
            <a:r>
              <a:rPr lang="es-ES" sz="1400" b="1">
                <a:solidFill>
                  <a:srgbClr val="000000"/>
                </a:solidFill>
                <a:latin typeface="Arial" charset="0"/>
              </a:rPr>
              <a:t>260 m</a:t>
            </a:r>
          </a:p>
        </p:txBody>
      </p:sp>
      <p:sp>
        <p:nvSpPr>
          <p:cNvPr id="6" name="Text Box 4"/>
          <p:cNvSpPr txBox="1">
            <a:spLocks noChangeArrowheads="1"/>
          </p:cNvSpPr>
          <p:nvPr/>
        </p:nvSpPr>
        <p:spPr bwMode="auto">
          <a:xfrm>
            <a:off x="5677430" y="6376474"/>
            <a:ext cx="734235" cy="319949"/>
          </a:xfrm>
          <a:prstGeom prst="rect">
            <a:avLst/>
          </a:prstGeom>
          <a:noFill/>
          <a:ln w="9525">
            <a:noFill/>
            <a:miter lim="800000"/>
            <a:headEnd/>
            <a:tailEnd/>
          </a:ln>
        </p:spPr>
        <p:txBody>
          <a:bodyPr wrap="square">
            <a:spAutoFit/>
          </a:bodyPr>
          <a:lstStyle/>
          <a:p>
            <a:pPr fontAlgn="base">
              <a:spcBef>
                <a:spcPct val="0"/>
              </a:spcBef>
              <a:spcAft>
                <a:spcPct val="0"/>
              </a:spcAft>
            </a:pPr>
            <a:r>
              <a:rPr lang="es-ES" sz="1400" b="1">
                <a:solidFill>
                  <a:srgbClr val="000000"/>
                </a:solidFill>
                <a:latin typeface="Arial" charset="0"/>
              </a:rPr>
              <a:t>600 m</a:t>
            </a:r>
          </a:p>
        </p:txBody>
      </p:sp>
      <p:pic>
        <p:nvPicPr>
          <p:cNvPr id="7" name="Picture 7"/>
          <p:cNvPicPr>
            <a:picLocks noChangeAspect="1" noChangeArrowheads="1"/>
          </p:cNvPicPr>
          <p:nvPr/>
        </p:nvPicPr>
        <p:blipFill>
          <a:blip r:embed="rId2" cstate="print"/>
          <a:srcRect/>
          <a:stretch>
            <a:fillRect/>
          </a:stretch>
        </p:blipFill>
        <p:spPr bwMode="auto">
          <a:xfrm>
            <a:off x="2872317" y="2846174"/>
            <a:ext cx="790194" cy="630799"/>
          </a:xfrm>
          <a:prstGeom prst="rect">
            <a:avLst/>
          </a:prstGeom>
          <a:noFill/>
          <a:ln w="9525">
            <a:noFill/>
            <a:miter lim="800000"/>
            <a:headEnd/>
            <a:tailEnd/>
          </a:ln>
        </p:spPr>
      </p:pic>
      <p:pic>
        <p:nvPicPr>
          <p:cNvPr id="8" name="Picture 8"/>
          <p:cNvPicPr>
            <a:picLocks noChangeAspect="1" noChangeArrowheads="1"/>
          </p:cNvPicPr>
          <p:nvPr/>
        </p:nvPicPr>
        <p:blipFill>
          <a:blip r:embed="rId2" cstate="print"/>
          <a:srcRect/>
          <a:stretch>
            <a:fillRect/>
          </a:stretch>
        </p:blipFill>
        <p:spPr bwMode="auto">
          <a:xfrm>
            <a:off x="2837392" y="4459074"/>
            <a:ext cx="790194" cy="630799"/>
          </a:xfrm>
          <a:prstGeom prst="rect">
            <a:avLst/>
          </a:prstGeom>
          <a:noFill/>
          <a:ln w="9525">
            <a:noFill/>
            <a:miter lim="800000"/>
            <a:headEnd/>
            <a:tailEnd/>
          </a:ln>
        </p:spPr>
      </p:pic>
      <p:pic>
        <p:nvPicPr>
          <p:cNvPr id="9" name="Picture 9"/>
          <p:cNvPicPr>
            <a:picLocks noChangeAspect="1" noChangeArrowheads="1"/>
          </p:cNvPicPr>
          <p:nvPr/>
        </p:nvPicPr>
        <p:blipFill>
          <a:blip r:embed="rId2" cstate="print"/>
          <a:srcRect/>
          <a:stretch>
            <a:fillRect/>
          </a:stretch>
        </p:blipFill>
        <p:spPr bwMode="auto">
          <a:xfrm>
            <a:off x="5675842" y="2820774"/>
            <a:ext cx="790194" cy="630799"/>
          </a:xfrm>
          <a:prstGeom prst="rect">
            <a:avLst/>
          </a:prstGeom>
          <a:noFill/>
          <a:ln w="9525">
            <a:noFill/>
            <a:miter lim="800000"/>
            <a:headEnd/>
            <a:tailEnd/>
          </a:ln>
        </p:spPr>
      </p:pic>
      <p:pic>
        <p:nvPicPr>
          <p:cNvPr id="10" name="Picture 10"/>
          <p:cNvPicPr>
            <a:picLocks noChangeAspect="1" noChangeArrowheads="1"/>
          </p:cNvPicPr>
          <p:nvPr/>
        </p:nvPicPr>
        <p:blipFill>
          <a:blip r:embed="rId2" cstate="print"/>
          <a:srcRect/>
          <a:stretch>
            <a:fillRect/>
          </a:stretch>
        </p:blipFill>
        <p:spPr bwMode="auto">
          <a:xfrm>
            <a:off x="5664730" y="4459074"/>
            <a:ext cx="790194" cy="630799"/>
          </a:xfrm>
          <a:prstGeom prst="rect">
            <a:avLst/>
          </a:prstGeom>
          <a:noFill/>
          <a:ln w="9525">
            <a:noFill/>
            <a:miter lim="800000"/>
            <a:headEnd/>
            <a:tailEnd/>
          </a:ln>
        </p:spPr>
      </p:pic>
      <p:pic>
        <p:nvPicPr>
          <p:cNvPr id="11" name="Picture 11"/>
          <p:cNvPicPr>
            <a:picLocks noChangeAspect="1" noChangeArrowheads="1"/>
          </p:cNvPicPr>
          <p:nvPr/>
        </p:nvPicPr>
        <p:blipFill>
          <a:blip r:embed="rId2" cstate="print"/>
          <a:srcRect/>
          <a:stretch>
            <a:fillRect/>
          </a:stretch>
        </p:blipFill>
        <p:spPr bwMode="auto">
          <a:xfrm>
            <a:off x="8453967" y="2846174"/>
            <a:ext cx="790194" cy="630799"/>
          </a:xfrm>
          <a:prstGeom prst="rect">
            <a:avLst/>
          </a:prstGeom>
          <a:noFill/>
          <a:ln w="9525">
            <a:noFill/>
            <a:miter lim="800000"/>
            <a:headEnd/>
            <a:tailEnd/>
          </a:ln>
        </p:spPr>
      </p:pic>
      <p:pic>
        <p:nvPicPr>
          <p:cNvPr id="12" name="Picture 12"/>
          <p:cNvPicPr>
            <a:picLocks noChangeAspect="1" noChangeArrowheads="1"/>
          </p:cNvPicPr>
          <p:nvPr/>
        </p:nvPicPr>
        <p:blipFill>
          <a:blip r:embed="rId2" cstate="print"/>
          <a:srcRect/>
          <a:stretch>
            <a:fillRect/>
          </a:stretch>
        </p:blipFill>
        <p:spPr bwMode="auto">
          <a:xfrm>
            <a:off x="8442855" y="4535274"/>
            <a:ext cx="790194" cy="630799"/>
          </a:xfrm>
          <a:prstGeom prst="rect">
            <a:avLst/>
          </a:prstGeom>
          <a:noFill/>
          <a:ln w="9525">
            <a:noFill/>
            <a:miter lim="800000"/>
            <a:headEnd/>
            <a:tailEnd/>
          </a:ln>
        </p:spPr>
      </p:pic>
      <p:sp>
        <p:nvSpPr>
          <p:cNvPr id="13" name="Text Box 13"/>
          <p:cNvSpPr txBox="1">
            <a:spLocks noChangeArrowheads="1"/>
          </p:cNvSpPr>
          <p:nvPr/>
        </p:nvSpPr>
        <p:spPr bwMode="auto">
          <a:xfrm>
            <a:off x="5679017" y="5081074"/>
            <a:ext cx="869892" cy="319949"/>
          </a:xfrm>
          <a:prstGeom prst="rect">
            <a:avLst/>
          </a:prstGeom>
          <a:noFill/>
          <a:ln w="9525">
            <a:noFill/>
            <a:miter lim="800000"/>
            <a:headEnd/>
            <a:tailEnd/>
          </a:ln>
        </p:spPr>
        <p:txBody>
          <a:bodyPr wrap="square">
            <a:spAutoFit/>
          </a:bodyPr>
          <a:lstStyle/>
          <a:p>
            <a:pPr fontAlgn="base">
              <a:spcBef>
                <a:spcPct val="0"/>
              </a:spcBef>
              <a:spcAft>
                <a:spcPct val="0"/>
              </a:spcAft>
            </a:pPr>
            <a:r>
              <a:rPr lang="es-ES" sz="1400" b="1">
                <a:solidFill>
                  <a:srgbClr val="000000"/>
                </a:solidFill>
                <a:latin typeface="Arial" charset="0"/>
              </a:rPr>
              <a:t>Canal 1</a:t>
            </a:r>
          </a:p>
        </p:txBody>
      </p:sp>
      <p:sp>
        <p:nvSpPr>
          <p:cNvPr id="14" name="Text Box 14"/>
          <p:cNvSpPr txBox="1">
            <a:spLocks noChangeArrowheads="1"/>
          </p:cNvSpPr>
          <p:nvPr/>
        </p:nvSpPr>
        <p:spPr bwMode="auto">
          <a:xfrm>
            <a:off x="2864380" y="2566474"/>
            <a:ext cx="869891" cy="319949"/>
          </a:xfrm>
          <a:prstGeom prst="rect">
            <a:avLst/>
          </a:prstGeom>
          <a:noFill/>
          <a:ln w="9525">
            <a:noFill/>
            <a:miter lim="800000"/>
            <a:headEnd/>
            <a:tailEnd/>
          </a:ln>
        </p:spPr>
        <p:txBody>
          <a:bodyPr wrap="square">
            <a:spAutoFit/>
          </a:bodyPr>
          <a:lstStyle/>
          <a:p>
            <a:pPr fontAlgn="base">
              <a:spcBef>
                <a:spcPct val="0"/>
              </a:spcBef>
              <a:spcAft>
                <a:spcPct val="0"/>
              </a:spcAft>
            </a:pPr>
            <a:r>
              <a:rPr lang="es-ES" sz="1400" b="1">
                <a:solidFill>
                  <a:srgbClr val="000000"/>
                </a:solidFill>
                <a:latin typeface="Arial" charset="0"/>
              </a:rPr>
              <a:t>Canal 1</a:t>
            </a:r>
          </a:p>
        </p:txBody>
      </p:sp>
      <p:sp>
        <p:nvSpPr>
          <p:cNvPr id="15" name="Text Box 15"/>
          <p:cNvSpPr txBox="1">
            <a:spLocks noChangeArrowheads="1"/>
          </p:cNvSpPr>
          <p:nvPr/>
        </p:nvSpPr>
        <p:spPr bwMode="auto">
          <a:xfrm>
            <a:off x="5609167" y="2566474"/>
            <a:ext cx="975025" cy="319949"/>
          </a:xfrm>
          <a:prstGeom prst="rect">
            <a:avLst/>
          </a:prstGeom>
          <a:noFill/>
          <a:ln w="9525">
            <a:noFill/>
            <a:miter lim="800000"/>
            <a:headEnd/>
            <a:tailEnd/>
          </a:ln>
        </p:spPr>
        <p:txBody>
          <a:bodyPr wrap="square">
            <a:spAutoFit/>
          </a:bodyPr>
          <a:lstStyle/>
          <a:p>
            <a:pPr fontAlgn="base">
              <a:spcBef>
                <a:spcPct val="0"/>
              </a:spcBef>
              <a:spcAft>
                <a:spcPct val="0"/>
              </a:spcAft>
            </a:pPr>
            <a:r>
              <a:rPr lang="es-ES" sz="1400" b="1">
                <a:solidFill>
                  <a:srgbClr val="000000"/>
                </a:solidFill>
                <a:latin typeface="Arial" charset="0"/>
              </a:rPr>
              <a:t>Canal 13</a:t>
            </a:r>
          </a:p>
        </p:txBody>
      </p:sp>
      <p:sp>
        <p:nvSpPr>
          <p:cNvPr id="16" name="Text Box 16"/>
          <p:cNvSpPr txBox="1">
            <a:spLocks noChangeArrowheads="1"/>
          </p:cNvSpPr>
          <p:nvPr/>
        </p:nvSpPr>
        <p:spPr bwMode="auto">
          <a:xfrm>
            <a:off x="8422217" y="5157274"/>
            <a:ext cx="975025" cy="319949"/>
          </a:xfrm>
          <a:prstGeom prst="rect">
            <a:avLst/>
          </a:prstGeom>
          <a:noFill/>
          <a:ln w="9525">
            <a:noFill/>
            <a:miter lim="800000"/>
            <a:headEnd/>
            <a:tailEnd/>
          </a:ln>
        </p:spPr>
        <p:txBody>
          <a:bodyPr wrap="square">
            <a:spAutoFit/>
          </a:bodyPr>
          <a:lstStyle/>
          <a:p>
            <a:pPr fontAlgn="base">
              <a:spcBef>
                <a:spcPct val="0"/>
              </a:spcBef>
              <a:spcAft>
                <a:spcPct val="0"/>
              </a:spcAft>
            </a:pPr>
            <a:r>
              <a:rPr lang="es-ES" sz="1400" b="1">
                <a:solidFill>
                  <a:srgbClr val="000000"/>
                </a:solidFill>
                <a:latin typeface="Arial" charset="0"/>
              </a:rPr>
              <a:t>Canal 13</a:t>
            </a:r>
          </a:p>
        </p:txBody>
      </p:sp>
      <p:sp>
        <p:nvSpPr>
          <p:cNvPr id="17" name="Text Box 17"/>
          <p:cNvSpPr txBox="1">
            <a:spLocks noChangeArrowheads="1"/>
          </p:cNvSpPr>
          <p:nvPr/>
        </p:nvSpPr>
        <p:spPr bwMode="auto">
          <a:xfrm>
            <a:off x="2792942" y="5081074"/>
            <a:ext cx="869892" cy="319949"/>
          </a:xfrm>
          <a:prstGeom prst="rect">
            <a:avLst/>
          </a:prstGeom>
          <a:noFill/>
          <a:ln w="9525">
            <a:noFill/>
            <a:miter lim="800000"/>
            <a:headEnd/>
            <a:tailEnd/>
          </a:ln>
        </p:spPr>
        <p:txBody>
          <a:bodyPr wrap="square">
            <a:spAutoFit/>
          </a:bodyPr>
          <a:lstStyle/>
          <a:p>
            <a:pPr fontAlgn="base">
              <a:spcBef>
                <a:spcPct val="0"/>
              </a:spcBef>
              <a:spcAft>
                <a:spcPct val="0"/>
              </a:spcAft>
            </a:pPr>
            <a:r>
              <a:rPr lang="es-ES" sz="1400" b="1">
                <a:solidFill>
                  <a:srgbClr val="000000"/>
                </a:solidFill>
                <a:latin typeface="Arial" charset="0"/>
              </a:rPr>
              <a:t>Canal 7</a:t>
            </a:r>
          </a:p>
        </p:txBody>
      </p:sp>
      <p:sp>
        <p:nvSpPr>
          <p:cNvPr id="18" name="Text Box 18"/>
          <p:cNvSpPr txBox="1">
            <a:spLocks noChangeArrowheads="1"/>
          </p:cNvSpPr>
          <p:nvPr/>
        </p:nvSpPr>
        <p:spPr bwMode="auto">
          <a:xfrm>
            <a:off x="8433330" y="2566474"/>
            <a:ext cx="869891" cy="319949"/>
          </a:xfrm>
          <a:prstGeom prst="rect">
            <a:avLst/>
          </a:prstGeom>
          <a:noFill/>
          <a:ln w="9525">
            <a:noFill/>
            <a:miter lim="800000"/>
            <a:headEnd/>
            <a:tailEnd/>
          </a:ln>
        </p:spPr>
        <p:txBody>
          <a:bodyPr wrap="square">
            <a:spAutoFit/>
          </a:bodyPr>
          <a:lstStyle/>
          <a:p>
            <a:pPr fontAlgn="base">
              <a:spcBef>
                <a:spcPct val="0"/>
              </a:spcBef>
              <a:spcAft>
                <a:spcPct val="0"/>
              </a:spcAft>
            </a:pPr>
            <a:r>
              <a:rPr lang="es-ES" sz="1400" b="1">
                <a:solidFill>
                  <a:srgbClr val="000000"/>
                </a:solidFill>
                <a:latin typeface="Arial" charset="0"/>
              </a:rPr>
              <a:t>Canal 7</a:t>
            </a:r>
          </a:p>
        </p:txBody>
      </p:sp>
      <p:sp>
        <p:nvSpPr>
          <p:cNvPr id="19" name="Line 19"/>
          <p:cNvSpPr>
            <a:spLocks noChangeShapeType="1"/>
          </p:cNvSpPr>
          <p:nvPr/>
        </p:nvSpPr>
        <p:spPr bwMode="auto">
          <a:xfrm>
            <a:off x="2089680" y="6304061"/>
            <a:ext cx="0" cy="239962"/>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20" name="Line 20"/>
          <p:cNvSpPr>
            <a:spLocks noChangeShapeType="1"/>
          </p:cNvSpPr>
          <p:nvPr/>
        </p:nvSpPr>
        <p:spPr bwMode="auto">
          <a:xfrm>
            <a:off x="2089680" y="6391623"/>
            <a:ext cx="8415732" cy="0"/>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21" name="Line 21"/>
          <p:cNvSpPr>
            <a:spLocks noChangeShapeType="1"/>
          </p:cNvSpPr>
          <p:nvPr/>
        </p:nvSpPr>
        <p:spPr bwMode="auto">
          <a:xfrm>
            <a:off x="9968442" y="6304061"/>
            <a:ext cx="0" cy="239962"/>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22" name="Line 22"/>
          <p:cNvSpPr>
            <a:spLocks noChangeShapeType="1"/>
          </p:cNvSpPr>
          <p:nvPr/>
        </p:nvSpPr>
        <p:spPr bwMode="auto">
          <a:xfrm>
            <a:off x="1949980" y="1720394"/>
            <a:ext cx="0" cy="4442629"/>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23" name="Line 23"/>
          <p:cNvSpPr>
            <a:spLocks noChangeShapeType="1"/>
          </p:cNvSpPr>
          <p:nvPr/>
        </p:nvSpPr>
        <p:spPr bwMode="auto">
          <a:xfrm flipH="1">
            <a:off x="1808692" y="6163023"/>
            <a:ext cx="225528" cy="0"/>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24" name="Line 24"/>
          <p:cNvSpPr>
            <a:spLocks noChangeShapeType="1"/>
          </p:cNvSpPr>
          <p:nvPr/>
        </p:nvSpPr>
        <p:spPr bwMode="auto">
          <a:xfrm flipH="1">
            <a:off x="1811867" y="1927573"/>
            <a:ext cx="225528" cy="0"/>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25" name="Oval 25"/>
          <p:cNvSpPr>
            <a:spLocks noChangeArrowheads="1"/>
          </p:cNvSpPr>
          <p:nvPr/>
        </p:nvSpPr>
        <p:spPr bwMode="auto">
          <a:xfrm>
            <a:off x="1640417" y="3421766"/>
            <a:ext cx="3267604" cy="3211157"/>
          </a:xfrm>
          <a:prstGeom prst="ellipse">
            <a:avLst/>
          </a:prstGeom>
          <a:solidFill>
            <a:srgbClr val="3366FF">
              <a:alpha val="25098"/>
            </a:srgbClr>
          </a:solidFill>
          <a:ln w="19050">
            <a:noFill/>
            <a:prstDash val="dash"/>
            <a:round/>
            <a:headEnd/>
            <a:tailEnd/>
          </a:ln>
        </p:spPr>
        <p:txBody>
          <a:bodyPr wrap="none" anchor="ctr"/>
          <a:lstStyle/>
          <a:p>
            <a:pPr fontAlgn="base">
              <a:spcBef>
                <a:spcPct val="0"/>
              </a:spcBef>
              <a:spcAft>
                <a:spcPct val="0"/>
              </a:spcAft>
            </a:pPr>
            <a:endParaRPr lang="es-ES" sz="1400" b="1">
              <a:solidFill>
                <a:srgbClr val="000000"/>
              </a:solidFill>
              <a:latin typeface="Arial" charset="0"/>
            </a:endParaRPr>
          </a:p>
        </p:txBody>
      </p:sp>
      <p:sp>
        <p:nvSpPr>
          <p:cNvPr id="26" name="Oval 26"/>
          <p:cNvSpPr>
            <a:spLocks noChangeArrowheads="1"/>
          </p:cNvSpPr>
          <p:nvPr/>
        </p:nvSpPr>
        <p:spPr bwMode="auto">
          <a:xfrm>
            <a:off x="1640417" y="1296104"/>
            <a:ext cx="3267604" cy="3211158"/>
          </a:xfrm>
          <a:prstGeom prst="ellipse">
            <a:avLst/>
          </a:prstGeom>
          <a:solidFill>
            <a:srgbClr val="FF0000">
              <a:alpha val="25098"/>
            </a:srgbClr>
          </a:solidFill>
          <a:ln w="19050">
            <a:noFill/>
            <a:prstDash val="dash"/>
            <a:round/>
            <a:headEnd/>
            <a:tailEnd/>
          </a:ln>
        </p:spPr>
        <p:txBody>
          <a:bodyPr wrap="none" anchor="ctr"/>
          <a:lstStyle/>
          <a:p>
            <a:pPr fontAlgn="base">
              <a:spcBef>
                <a:spcPct val="0"/>
              </a:spcBef>
              <a:spcAft>
                <a:spcPct val="0"/>
              </a:spcAft>
            </a:pPr>
            <a:endParaRPr lang="es-ES" sz="1400" b="1">
              <a:solidFill>
                <a:srgbClr val="000000"/>
              </a:solidFill>
              <a:latin typeface="Arial" charset="0"/>
            </a:endParaRPr>
          </a:p>
        </p:txBody>
      </p:sp>
      <p:sp>
        <p:nvSpPr>
          <p:cNvPr id="27" name="Oval 27"/>
          <p:cNvSpPr>
            <a:spLocks noChangeArrowheads="1"/>
          </p:cNvSpPr>
          <p:nvPr/>
        </p:nvSpPr>
        <p:spPr bwMode="auto">
          <a:xfrm>
            <a:off x="4516967" y="3343979"/>
            <a:ext cx="3267604" cy="3211158"/>
          </a:xfrm>
          <a:prstGeom prst="ellipse">
            <a:avLst/>
          </a:prstGeom>
          <a:solidFill>
            <a:srgbClr val="FF0000">
              <a:alpha val="25098"/>
            </a:srgbClr>
          </a:solidFill>
          <a:ln w="19050">
            <a:noFill/>
            <a:prstDash val="dash"/>
            <a:round/>
            <a:headEnd/>
            <a:tailEnd/>
          </a:ln>
        </p:spPr>
        <p:txBody>
          <a:bodyPr wrap="none" anchor="ctr"/>
          <a:lstStyle/>
          <a:p>
            <a:pPr fontAlgn="base">
              <a:spcBef>
                <a:spcPct val="0"/>
              </a:spcBef>
              <a:spcAft>
                <a:spcPct val="0"/>
              </a:spcAft>
            </a:pPr>
            <a:endParaRPr lang="es-ES" sz="1400" b="1">
              <a:solidFill>
                <a:srgbClr val="000000"/>
              </a:solidFill>
              <a:latin typeface="Arial" charset="0"/>
            </a:endParaRPr>
          </a:p>
        </p:txBody>
      </p:sp>
      <p:sp>
        <p:nvSpPr>
          <p:cNvPr id="28" name="Oval 28"/>
          <p:cNvSpPr>
            <a:spLocks noChangeArrowheads="1"/>
          </p:cNvSpPr>
          <p:nvPr/>
        </p:nvSpPr>
        <p:spPr bwMode="auto">
          <a:xfrm>
            <a:off x="4520142" y="1367541"/>
            <a:ext cx="3267604" cy="3211157"/>
          </a:xfrm>
          <a:prstGeom prst="ellipse">
            <a:avLst/>
          </a:prstGeom>
          <a:solidFill>
            <a:srgbClr val="00FF00">
              <a:alpha val="25098"/>
            </a:srgbClr>
          </a:solidFill>
          <a:ln w="19050">
            <a:noFill/>
            <a:prstDash val="dash"/>
            <a:round/>
            <a:headEnd/>
            <a:tailEnd/>
          </a:ln>
        </p:spPr>
        <p:txBody>
          <a:bodyPr wrap="none" anchor="ctr"/>
          <a:lstStyle/>
          <a:p>
            <a:pPr fontAlgn="base">
              <a:spcBef>
                <a:spcPct val="0"/>
              </a:spcBef>
              <a:spcAft>
                <a:spcPct val="0"/>
              </a:spcAft>
            </a:pPr>
            <a:endParaRPr lang="es-ES" sz="1400" b="1">
              <a:solidFill>
                <a:srgbClr val="000000"/>
              </a:solidFill>
              <a:latin typeface="Arial" charset="0"/>
            </a:endParaRPr>
          </a:p>
        </p:txBody>
      </p:sp>
      <p:sp>
        <p:nvSpPr>
          <p:cNvPr id="29" name="Oval 29"/>
          <p:cNvSpPr>
            <a:spLocks noChangeArrowheads="1"/>
          </p:cNvSpPr>
          <p:nvPr/>
        </p:nvSpPr>
        <p:spPr bwMode="auto">
          <a:xfrm>
            <a:off x="7366529" y="3348741"/>
            <a:ext cx="3267603" cy="3211157"/>
          </a:xfrm>
          <a:prstGeom prst="ellipse">
            <a:avLst/>
          </a:prstGeom>
          <a:solidFill>
            <a:srgbClr val="00FF00">
              <a:alpha val="25098"/>
            </a:srgbClr>
          </a:solidFill>
          <a:ln w="19050">
            <a:noFill/>
            <a:prstDash val="dash"/>
            <a:round/>
            <a:headEnd/>
            <a:tailEnd/>
          </a:ln>
        </p:spPr>
        <p:txBody>
          <a:bodyPr wrap="none" anchor="ctr"/>
          <a:lstStyle/>
          <a:p>
            <a:pPr fontAlgn="base">
              <a:spcBef>
                <a:spcPct val="0"/>
              </a:spcBef>
              <a:spcAft>
                <a:spcPct val="0"/>
              </a:spcAft>
            </a:pPr>
            <a:endParaRPr lang="es-ES" sz="1400" b="1">
              <a:solidFill>
                <a:srgbClr val="000000"/>
              </a:solidFill>
              <a:latin typeface="Arial" charset="0"/>
            </a:endParaRPr>
          </a:p>
        </p:txBody>
      </p:sp>
      <p:sp>
        <p:nvSpPr>
          <p:cNvPr id="30" name="Oval 30"/>
          <p:cNvSpPr>
            <a:spLocks noChangeArrowheads="1"/>
          </p:cNvSpPr>
          <p:nvPr/>
        </p:nvSpPr>
        <p:spPr bwMode="auto">
          <a:xfrm>
            <a:off x="7328429" y="1286579"/>
            <a:ext cx="3267603" cy="3211158"/>
          </a:xfrm>
          <a:prstGeom prst="ellipse">
            <a:avLst/>
          </a:prstGeom>
          <a:solidFill>
            <a:srgbClr val="3366FF">
              <a:alpha val="25098"/>
            </a:srgbClr>
          </a:solidFill>
          <a:ln w="19050">
            <a:noFill/>
            <a:prstDash val="dash"/>
            <a:round/>
            <a:headEnd/>
            <a:tailEnd/>
          </a:ln>
        </p:spPr>
        <p:txBody>
          <a:bodyPr wrap="none" anchor="ctr"/>
          <a:lstStyle/>
          <a:p>
            <a:pPr fontAlgn="base">
              <a:spcBef>
                <a:spcPct val="0"/>
              </a:spcBef>
              <a:spcAft>
                <a:spcPct val="0"/>
              </a:spcAft>
            </a:pPr>
            <a:endParaRPr lang="es-ES" sz="1400" b="1">
              <a:solidFill>
                <a:srgbClr val="000000"/>
              </a:solidFill>
              <a:latin typeface="Arial" charset="0"/>
            </a:endParaRPr>
          </a:p>
        </p:txBody>
      </p:sp>
      <p:sp>
        <p:nvSpPr>
          <p:cNvPr id="31" name="AutoShape 31"/>
          <p:cNvSpPr>
            <a:spLocks noChangeArrowheads="1"/>
          </p:cNvSpPr>
          <p:nvPr/>
        </p:nvSpPr>
        <p:spPr bwMode="auto">
          <a:xfrm>
            <a:off x="8552392" y="2795112"/>
            <a:ext cx="54262" cy="453261"/>
          </a:xfrm>
          <a:prstGeom prst="can">
            <a:avLst>
              <a:gd name="adj" fmla="val 212500"/>
            </a:avLst>
          </a:prstGeom>
          <a:solidFill>
            <a:srgbClr val="333333"/>
          </a:solidFill>
          <a:ln w="952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32" name="AutoShape 32"/>
          <p:cNvSpPr>
            <a:spLocks noChangeArrowheads="1"/>
          </p:cNvSpPr>
          <p:nvPr/>
        </p:nvSpPr>
        <p:spPr bwMode="auto">
          <a:xfrm>
            <a:off x="5744105" y="2795112"/>
            <a:ext cx="54262" cy="453261"/>
          </a:xfrm>
          <a:prstGeom prst="can">
            <a:avLst>
              <a:gd name="adj" fmla="val 212500"/>
            </a:avLst>
          </a:prstGeom>
          <a:solidFill>
            <a:srgbClr val="333333"/>
          </a:solidFill>
          <a:ln w="952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33" name="AutoShape 33"/>
          <p:cNvSpPr>
            <a:spLocks noChangeArrowheads="1"/>
          </p:cNvSpPr>
          <p:nvPr/>
        </p:nvSpPr>
        <p:spPr bwMode="auto">
          <a:xfrm>
            <a:off x="2935817" y="2795112"/>
            <a:ext cx="54262" cy="453261"/>
          </a:xfrm>
          <a:prstGeom prst="can">
            <a:avLst>
              <a:gd name="adj" fmla="val 212500"/>
            </a:avLst>
          </a:prstGeom>
          <a:solidFill>
            <a:srgbClr val="333333"/>
          </a:solidFill>
          <a:ln w="952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34" name="AutoShape 34"/>
          <p:cNvSpPr>
            <a:spLocks noChangeArrowheads="1"/>
          </p:cNvSpPr>
          <p:nvPr/>
        </p:nvSpPr>
        <p:spPr bwMode="auto">
          <a:xfrm>
            <a:off x="8552392" y="4450875"/>
            <a:ext cx="54262" cy="453261"/>
          </a:xfrm>
          <a:prstGeom prst="can">
            <a:avLst>
              <a:gd name="adj" fmla="val 212500"/>
            </a:avLst>
          </a:prstGeom>
          <a:solidFill>
            <a:srgbClr val="333333"/>
          </a:solidFill>
          <a:ln w="952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35" name="AutoShape 35"/>
          <p:cNvSpPr>
            <a:spLocks noChangeArrowheads="1"/>
          </p:cNvSpPr>
          <p:nvPr/>
        </p:nvSpPr>
        <p:spPr bwMode="auto">
          <a:xfrm>
            <a:off x="5766330" y="4379437"/>
            <a:ext cx="54262" cy="453261"/>
          </a:xfrm>
          <a:prstGeom prst="can">
            <a:avLst>
              <a:gd name="adj" fmla="val 212500"/>
            </a:avLst>
          </a:prstGeom>
          <a:solidFill>
            <a:srgbClr val="333333"/>
          </a:solidFill>
          <a:ln w="952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36" name="AutoShape 36"/>
          <p:cNvSpPr>
            <a:spLocks noChangeArrowheads="1"/>
          </p:cNvSpPr>
          <p:nvPr/>
        </p:nvSpPr>
        <p:spPr bwMode="auto">
          <a:xfrm>
            <a:off x="2935817" y="4379437"/>
            <a:ext cx="54262" cy="453261"/>
          </a:xfrm>
          <a:prstGeom prst="can">
            <a:avLst>
              <a:gd name="adj" fmla="val 212500"/>
            </a:avLst>
          </a:prstGeom>
          <a:solidFill>
            <a:srgbClr val="333333"/>
          </a:solidFill>
          <a:ln w="952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Tree>
    <p:extLst>
      <p:ext uri="{BB962C8B-B14F-4D97-AF65-F5344CB8AC3E}">
        <p14:creationId xmlns:p14="http://schemas.microsoft.com/office/powerpoint/2010/main" val="22602025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958447" y="1710267"/>
            <a:ext cx="8269287" cy="4747155"/>
          </a:xfrm>
          <a:prstGeom prst="rect">
            <a:avLst/>
          </a:prstGeom>
          <a:noFill/>
          <a:ln w="19050">
            <a:solidFill>
              <a:srgbClr val="000000"/>
            </a:solidFill>
            <a:miter lim="800000"/>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3" name="Text Box 6"/>
          <p:cNvSpPr txBox="1">
            <a:spLocks noChangeArrowheads="1"/>
          </p:cNvSpPr>
          <p:nvPr/>
        </p:nvSpPr>
        <p:spPr bwMode="auto">
          <a:xfrm>
            <a:off x="3014133" y="1295514"/>
            <a:ext cx="6271529" cy="523220"/>
          </a:xfrm>
          <a:prstGeom prst="rect">
            <a:avLst/>
          </a:prstGeom>
          <a:noFill/>
          <a:ln w="9525">
            <a:noFill/>
            <a:miter lim="800000"/>
            <a:headEnd/>
            <a:tailEnd/>
          </a:ln>
        </p:spPr>
        <p:txBody>
          <a:bodyPr wrap="square">
            <a:spAutoFit/>
          </a:bodyPr>
          <a:lstStyle/>
          <a:p>
            <a:pPr fontAlgn="base">
              <a:spcBef>
                <a:spcPct val="0"/>
              </a:spcBef>
              <a:spcAft>
                <a:spcPct val="0"/>
              </a:spcAft>
              <a:buFontTx/>
              <a:buChar char="•"/>
            </a:pPr>
            <a:r>
              <a:rPr lang="es-ES" sz="1400" b="1">
                <a:solidFill>
                  <a:srgbClr val="000000"/>
                </a:solidFill>
                <a:latin typeface="Arial" charset="0"/>
              </a:rPr>
              <a:t>Tomas RJ45 (100BASE-TX) disponibles sólo en un lado del almacén</a:t>
            </a:r>
          </a:p>
          <a:p>
            <a:pPr fontAlgn="base">
              <a:spcBef>
                <a:spcPct val="0"/>
              </a:spcBef>
              <a:spcAft>
                <a:spcPct val="0"/>
              </a:spcAft>
              <a:buFontTx/>
              <a:buChar char="•"/>
            </a:pPr>
            <a:r>
              <a:rPr lang="es-ES" sz="1400" b="1">
                <a:solidFill>
                  <a:srgbClr val="000000"/>
                </a:solidFill>
                <a:latin typeface="Arial" charset="0"/>
              </a:rPr>
              <a:t>Antenas Yagi (13,5 dBi) y Dipolo diversidad(2,14 dBi)</a:t>
            </a:r>
          </a:p>
        </p:txBody>
      </p:sp>
      <p:pic>
        <p:nvPicPr>
          <p:cNvPr id="4" name="Picture 7"/>
          <p:cNvPicPr>
            <a:picLocks noChangeAspect="1" noChangeArrowheads="1"/>
          </p:cNvPicPr>
          <p:nvPr/>
        </p:nvPicPr>
        <p:blipFill>
          <a:blip r:embed="rId2" cstate="print"/>
          <a:srcRect/>
          <a:stretch>
            <a:fillRect/>
          </a:stretch>
        </p:blipFill>
        <p:spPr bwMode="auto">
          <a:xfrm>
            <a:off x="8302097" y="4933869"/>
            <a:ext cx="784025" cy="782190"/>
          </a:xfrm>
          <a:prstGeom prst="rect">
            <a:avLst/>
          </a:prstGeom>
          <a:noFill/>
          <a:ln w="9525">
            <a:noFill/>
            <a:miter lim="800000"/>
            <a:headEnd/>
            <a:tailEnd/>
          </a:ln>
        </p:spPr>
      </p:pic>
      <p:sp>
        <p:nvSpPr>
          <p:cNvPr id="5" name="Text Box 8"/>
          <p:cNvSpPr txBox="1">
            <a:spLocks noChangeArrowheads="1"/>
          </p:cNvSpPr>
          <p:nvPr/>
        </p:nvSpPr>
        <p:spPr bwMode="auto">
          <a:xfrm>
            <a:off x="6952722" y="2529277"/>
            <a:ext cx="854753" cy="307777"/>
          </a:xfrm>
          <a:prstGeom prst="rect">
            <a:avLst/>
          </a:prstGeom>
          <a:noFill/>
          <a:ln w="9525">
            <a:noFill/>
            <a:miter lim="800000"/>
            <a:headEnd/>
            <a:tailEnd/>
          </a:ln>
        </p:spPr>
        <p:txBody>
          <a:bodyPr wrap="square">
            <a:spAutoFit/>
          </a:bodyPr>
          <a:lstStyle/>
          <a:p>
            <a:pPr fontAlgn="base">
              <a:spcBef>
                <a:spcPct val="0"/>
              </a:spcBef>
              <a:spcAft>
                <a:spcPct val="0"/>
              </a:spcAft>
            </a:pPr>
            <a:r>
              <a:rPr lang="es-ES" sz="1400" b="1">
                <a:solidFill>
                  <a:srgbClr val="000000"/>
                </a:solidFill>
                <a:latin typeface="Arial" charset="0"/>
              </a:rPr>
              <a:t>Canal 1</a:t>
            </a:r>
          </a:p>
        </p:txBody>
      </p:sp>
      <p:sp>
        <p:nvSpPr>
          <p:cNvPr id="6" name="Text Box 9"/>
          <p:cNvSpPr txBox="1">
            <a:spLocks noChangeArrowheads="1"/>
          </p:cNvSpPr>
          <p:nvPr/>
        </p:nvSpPr>
        <p:spPr bwMode="auto">
          <a:xfrm>
            <a:off x="7486121" y="3069027"/>
            <a:ext cx="958057" cy="307777"/>
          </a:xfrm>
          <a:prstGeom prst="rect">
            <a:avLst/>
          </a:prstGeom>
          <a:noFill/>
          <a:ln w="9525">
            <a:noFill/>
            <a:miter lim="800000"/>
            <a:headEnd/>
            <a:tailEnd/>
          </a:ln>
        </p:spPr>
        <p:txBody>
          <a:bodyPr wrap="square">
            <a:spAutoFit/>
          </a:bodyPr>
          <a:lstStyle/>
          <a:p>
            <a:pPr fontAlgn="base">
              <a:spcBef>
                <a:spcPct val="0"/>
              </a:spcBef>
              <a:spcAft>
                <a:spcPct val="0"/>
              </a:spcAft>
            </a:pPr>
            <a:r>
              <a:rPr lang="es-ES" sz="1400" b="1">
                <a:solidFill>
                  <a:srgbClr val="000000"/>
                </a:solidFill>
                <a:latin typeface="Arial" charset="0"/>
              </a:rPr>
              <a:t>Canal 13</a:t>
            </a:r>
          </a:p>
        </p:txBody>
      </p:sp>
      <p:sp>
        <p:nvSpPr>
          <p:cNvPr id="7" name="Text Box 10"/>
          <p:cNvSpPr txBox="1">
            <a:spLocks noChangeArrowheads="1"/>
          </p:cNvSpPr>
          <p:nvPr/>
        </p:nvSpPr>
        <p:spPr bwMode="auto">
          <a:xfrm>
            <a:off x="6671734" y="4662877"/>
            <a:ext cx="958059" cy="307777"/>
          </a:xfrm>
          <a:prstGeom prst="rect">
            <a:avLst/>
          </a:prstGeom>
          <a:noFill/>
          <a:ln w="9525">
            <a:noFill/>
            <a:miter lim="800000"/>
            <a:headEnd/>
            <a:tailEnd/>
          </a:ln>
        </p:spPr>
        <p:txBody>
          <a:bodyPr wrap="square">
            <a:spAutoFit/>
          </a:bodyPr>
          <a:lstStyle/>
          <a:p>
            <a:pPr fontAlgn="base">
              <a:spcBef>
                <a:spcPct val="0"/>
              </a:spcBef>
              <a:spcAft>
                <a:spcPct val="0"/>
              </a:spcAft>
            </a:pPr>
            <a:r>
              <a:rPr lang="es-ES" sz="1400" b="1">
                <a:solidFill>
                  <a:srgbClr val="000000"/>
                </a:solidFill>
                <a:latin typeface="Arial" charset="0"/>
              </a:rPr>
              <a:t>Canal 13</a:t>
            </a:r>
          </a:p>
        </p:txBody>
      </p:sp>
      <p:sp>
        <p:nvSpPr>
          <p:cNvPr id="8" name="Text Box 11"/>
          <p:cNvSpPr txBox="1">
            <a:spLocks noChangeArrowheads="1"/>
          </p:cNvSpPr>
          <p:nvPr/>
        </p:nvSpPr>
        <p:spPr bwMode="auto">
          <a:xfrm>
            <a:off x="6741583" y="5729677"/>
            <a:ext cx="854755" cy="307777"/>
          </a:xfrm>
          <a:prstGeom prst="rect">
            <a:avLst/>
          </a:prstGeom>
          <a:noFill/>
          <a:ln w="9525">
            <a:noFill/>
            <a:miter lim="800000"/>
            <a:headEnd/>
            <a:tailEnd/>
          </a:ln>
        </p:spPr>
        <p:txBody>
          <a:bodyPr wrap="square">
            <a:spAutoFit/>
          </a:bodyPr>
          <a:lstStyle/>
          <a:p>
            <a:pPr fontAlgn="base">
              <a:spcBef>
                <a:spcPct val="0"/>
              </a:spcBef>
              <a:spcAft>
                <a:spcPct val="0"/>
              </a:spcAft>
            </a:pPr>
            <a:r>
              <a:rPr lang="es-ES" sz="1400" b="1">
                <a:solidFill>
                  <a:srgbClr val="000000"/>
                </a:solidFill>
                <a:latin typeface="Arial" charset="0"/>
              </a:rPr>
              <a:t>Canal 1</a:t>
            </a:r>
          </a:p>
        </p:txBody>
      </p:sp>
      <p:sp>
        <p:nvSpPr>
          <p:cNvPr id="9" name="Text Box 12"/>
          <p:cNvSpPr txBox="1">
            <a:spLocks noChangeArrowheads="1"/>
          </p:cNvSpPr>
          <p:nvPr/>
        </p:nvSpPr>
        <p:spPr bwMode="auto">
          <a:xfrm>
            <a:off x="6671733" y="3596077"/>
            <a:ext cx="854755" cy="307777"/>
          </a:xfrm>
          <a:prstGeom prst="rect">
            <a:avLst/>
          </a:prstGeom>
          <a:noFill/>
          <a:ln w="9525">
            <a:noFill/>
            <a:miter lim="800000"/>
            <a:headEnd/>
            <a:tailEnd/>
          </a:ln>
        </p:spPr>
        <p:txBody>
          <a:bodyPr wrap="square">
            <a:spAutoFit/>
          </a:bodyPr>
          <a:lstStyle/>
          <a:p>
            <a:pPr fontAlgn="base">
              <a:spcBef>
                <a:spcPct val="0"/>
              </a:spcBef>
              <a:spcAft>
                <a:spcPct val="0"/>
              </a:spcAft>
            </a:pPr>
            <a:r>
              <a:rPr lang="es-ES" sz="1400" b="1">
                <a:solidFill>
                  <a:srgbClr val="000000"/>
                </a:solidFill>
                <a:latin typeface="Arial" charset="0"/>
              </a:rPr>
              <a:t>Canal 7</a:t>
            </a:r>
          </a:p>
        </p:txBody>
      </p:sp>
      <p:sp>
        <p:nvSpPr>
          <p:cNvPr id="10" name="Text Box 13"/>
          <p:cNvSpPr txBox="1">
            <a:spLocks noChangeArrowheads="1"/>
          </p:cNvSpPr>
          <p:nvPr/>
        </p:nvSpPr>
        <p:spPr bwMode="auto">
          <a:xfrm>
            <a:off x="7516283" y="5196277"/>
            <a:ext cx="854755" cy="307777"/>
          </a:xfrm>
          <a:prstGeom prst="rect">
            <a:avLst/>
          </a:prstGeom>
          <a:noFill/>
          <a:ln w="9525">
            <a:noFill/>
            <a:miter lim="800000"/>
            <a:headEnd/>
            <a:tailEnd/>
          </a:ln>
        </p:spPr>
        <p:txBody>
          <a:bodyPr wrap="square">
            <a:spAutoFit/>
          </a:bodyPr>
          <a:lstStyle/>
          <a:p>
            <a:pPr fontAlgn="base">
              <a:spcBef>
                <a:spcPct val="0"/>
              </a:spcBef>
              <a:spcAft>
                <a:spcPct val="0"/>
              </a:spcAft>
            </a:pPr>
            <a:r>
              <a:rPr lang="es-ES" sz="1400" b="1">
                <a:solidFill>
                  <a:srgbClr val="000000"/>
                </a:solidFill>
                <a:latin typeface="Arial" charset="0"/>
              </a:rPr>
              <a:t>Canal 7</a:t>
            </a:r>
          </a:p>
        </p:txBody>
      </p:sp>
      <p:pic>
        <p:nvPicPr>
          <p:cNvPr id="11" name="Picture 14"/>
          <p:cNvPicPr>
            <a:picLocks noChangeAspect="1" noChangeArrowheads="1"/>
          </p:cNvPicPr>
          <p:nvPr/>
        </p:nvPicPr>
        <p:blipFill>
          <a:blip r:embed="rId3" cstate="print"/>
          <a:srcRect/>
          <a:stretch>
            <a:fillRect/>
          </a:stretch>
        </p:blipFill>
        <p:spPr bwMode="auto">
          <a:xfrm>
            <a:off x="8781522" y="2326334"/>
            <a:ext cx="855634" cy="683038"/>
          </a:xfrm>
          <a:prstGeom prst="rect">
            <a:avLst/>
          </a:prstGeom>
          <a:noFill/>
          <a:ln w="9525">
            <a:noFill/>
            <a:miter lim="800000"/>
            <a:headEnd/>
            <a:tailEnd/>
          </a:ln>
        </p:spPr>
      </p:pic>
      <p:pic>
        <p:nvPicPr>
          <p:cNvPr id="12" name="Picture 15"/>
          <p:cNvPicPr>
            <a:picLocks noChangeAspect="1" noChangeArrowheads="1"/>
          </p:cNvPicPr>
          <p:nvPr/>
        </p:nvPicPr>
        <p:blipFill>
          <a:blip r:embed="rId3" cstate="print"/>
          <a:srcRect/>
          <a:stretch>
            <a:fillRect/>
          </a:stretch>
        </p:blipFill>
        <p:spPr bwMode="auto">
          <a:xfrm>
            <a:off x="8805334" y="3405834"/>
            <a:ext cx="855634" cy="683038"/>
          </a:xfrm>
          <a:prstGeom prst="rect">
            <a:avLst/>
          </a:prstGeom>
          <a:noFill/>
          <a:ln w="9525">
            <a:noFill/>
            <a:miter lim="800000"/>
            <a:headEnd/>
            <a:tailEnd/>
          </a:ln>
        </p:spPr>
      </p:pic>
      <p:pic>
        <p:nvPicPr>
          <p:cNvPr id="13" name="Picture 16"/>
          <p:cNvPicPr>
            <a:picLocks noChangeAspect="1" noChangeArrowheads="1"/>
          </p:cNvPicPr>
          <p:nvPr/>
        </p:nvPicPr>
        <p:blipFill>
          <a:blip r:embed="rId3" cstate="print"/>
          <a:srcRect/>
          <a:stretch>
            <a:fillRect/>
          </a:stretch>
        </p:blipFill>
        <p:spPr bwMode="auto">
          <a:xfrm>
            <a:off x="8781522" y="4536134"/>
            <a:ext cx="855634" cy="683038"/>
          </a:xfrm>
          <a:prstGeom prst="rect">
            <a:avLst/>
          </a:prstGeom>
          <a:noFill/>
          <a:ln w="9525">
            <a:noFill/>
            <a:miter lim="800000"/>
            <a:headEnd/>
            <a:tailEnd/>
          </a:ln>
        </p:spPr>
      </p:pic>
      <p:pic>
        <p:nvPicPr>
          <p:cNvPr id="14" name="Picture 17"/>
          <p:cNvPicPr>
            <a:picLocks noChangeAspect="1" noChangeArrowheads="1"/>
          </p:cNvPicPr>
          <p:nvPr/>
        </p:nvPicPr>
        <p:blipFill>
          <a:blip r:embed="rId3" cstate="print"/>
          <a:srcRect/>
          <a:stretch>
            <a:fillRect/>
          </a:stretch>
        </p:blipFill>
        <p:spPr bwMode="auto">
          <a:xfrm>
            <a:off x="8781522" y="5526734"/>
            <a:ext cx="855634" cy="683038"/>
          </a:xfrm>
          <a:prstGeom prst="rect">
            <a:avLst/>
          </a:prstGeom>
          <a:noFill/>
          <a:ln w="9525">
            <a:noFill/>
            <a:miter lim="800000"/>
            <a:headEnd/>
            <a:tailEnd/>
          </a:ln>
        </p:spPr>
      </p:pic>
      <p:pic>
        <p:nvPicPr>
          <p:cNvPr id="15" name="Picture 18"/>
          <p:cNvPicPr>
            <a:picLocks noChangeAspect="1" noChangeArrowheads="1"/>
          </p:cNvPicPr>
          <p:nvPr/>
        </p:nvPicPr>
        <p:blipFill>
          <a:blip r:embed="rId2" cstate="print"/>
          <a:srcRect/>
          <a:stretch>
            <a:fillRect/>
          </a:stretch>
        </p:blipFill>
        <p:spPr bwMode="auto">
          <a:xfrm>
            <a:off x="8386234" y="2846308"/>
            <a:ext cx="782189" cy="782189"/>
          </a:xfrm>
          <a:prstGeom prst="rect">
            <a:avLst/>
          </a:prstGeom>
          <a:noFill/>
          <a:ln w="9525">
            <a:noFill/>
            <a:miter lim="800000"/>
            <a:headEnd/>
            <a:tailEnd/>
          </a:ln>
        </p:spPr>
      </p:pic>
      <p:sp>
        <p:nvSpPr>
          <p:cNvPr id="16" name="Line 19"/>
          <p:cNvSpPr>
            <a:spLocks noChangeShapeType="1"/>
          </p:cNvSpPr>
          <p:nvPr/>
        </p:nvSpPr>
        <p:spPr bwMode="auto">
          <a:xfrm>
            <a:off x="1958447" y="6581818"/>
            <a:ext cx="0" cy="256603"/>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7" name="Line 20"/>
          <p:cNvSpPr>
            <a:spLocks noChangeShapeType="1"/>
          </p:cNvSpPr>
          <p:nvPr/>
        </p:nvSpPr>
        <p:spPr bwMode="auto">
          <a:xfrm>
            <a:off x="1958447" y="6686022"/>
            <a:ext cx="8269287" cy="0"/>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8" name="Line 21"/>
          <p:cNvSpPr>
            <a:spLocks noChangeShapeType="1"/>
          </p:cNvSpPr>
          <p:nvPr/>
        </p:nvSpPr>
        <p:spPr bwMode="auto">
          <a:xfrm>
            <a:off x="9837209" y="6581818"/>
            <a:ext cx="0" cy="256603"/>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19" name="Line 22"/>
          <p:cNvSpPr>
            <a:spLocks noChangeShapeType="1"/>
          </p:cNvSpPr>
          <p:nvPr/>
        </p:nvSpPr>
        <p:spPr bwMode="auto">
          <a:xfrm>
            <a:off x="1811867" y="1451882"/>
            <a:ext cx="7221" cy="5005541"/>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20" name="Line 23"/>
          <p:cNvSpPr>
            <a:spLocks noChangeShapeType="1"/>
          </p:cNvSpPr>
          <p:nvPr/>
        </p:nvSpPr>
        <p:spPr bwMode="auto">
          <a:xfrm flipH="1">
            <a:off x="1677458" y="6457422"/>
            <a:ext cx="221604" cy="0"/>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21" name="Line 24"/>
          <p:cNvSpPr>
            <a:spLocks noChangeShapeType="1"/>
          </p:cNvSpPr>
          <p:nvPr/>
        </p:nvSpPr>
        <p:spPr bwMode="auto">
          <a:xfrm flipH="1">
            <a:off x="1680633" y="2221972"/>
            <a:ext cx="221604" cy="0"/>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22" name="AutoShape 25"/>
          <p:cNvSpPr>
            <a:spLocks noChangeArrowheads="1"/>
          </p:cNvSpPr>
          <p:nvPr/>
        </p:nvSpPr>
        <p:spPr bwMode="auto">
          <a:xfrm rot="5400000">
            <a:off x="4862917" y="-1246698"/>
            <a:ext cx="1940561" cy="7784427"/>
          </a:xfrm>
          <a:prstGeom prst="triangle">
            <a:avLst>
              <a:gd name="adj" fmla="val 50000"/>
            </a:avLst>
          </a:prstGeom>
          <a:solidFill>
            <a:srgbClr val="FF0000">
              <a:alpha val="25098"/>
            </a:srgbClr>
          </a:solidFill>
          <a:ln w="9525">
            <a:noFill/>
            <a:miter lim="800000"/>
            <a:headEnd/>
            <a:tailEnd/>
          </a:ln>
        </p:spPr>
        <p:txBody>
          <a:bodyPr wrap="none" anchor="ctr"/>
          <a:lstStyle/>
          <a:p>
            <a:pPr fontAlgn="base">
              <a:spcBef>
                <a:spcPct val="0"/>
              </a:spcBef>
              <a:spcAft>
                <a:spcPct val="0"/>
              </a:spcAft>
            </a:pPr>
            <a:endParaRPr lang="es-ES" sz="1400" b="1">
              <a:solidFill>
                <a:srgbClr val="000000"/>
              </a:solidFill>
              <a:latin typeface="Arial" charset="0"/>
            </a:endParaRPr>
          </a:p>
        </p:txBody>
      </p:sp>
      <p:sp>
        <p:nvSpPr>
          <p:cNvPr id="23" name="Oval 26"/>
          <p:cNvSpPr>
            <a:spLocks noChangeArrowheads="1"/>
          </p:cNvSpPr>
          <p:nvPr/>
        </p:nvSpPr>
        <p:spPr bwMode="auto">
          <a:xfrm>
            <a:off x="7628998" y="3976855"/>
            <a:ext cx="2455960" cy="2626617"/>
          </a:xfrm>
          <a:prstGeom prst="ellipse">
            <a:avLst/>
          </a:prstGeom>
          <a:solidFill>
            <a:srgbClr val="3366FF">
              <a:alpha val="25098"/>
            </a:srgbClr>
          </a:solidFill>
          <a:ln w="19050">
            <a:noFill/>
            <a:prstDash val="dash"/>
            <a:round/>
            <a:headEnd/>
            <a:tailEnd/>
          </a:ln>
        </p:spPr>
        <p:txBody>
          <a:bodyPr wrap="none" anchor="ctr"/>
          <a:lstStyle/>
          <a:p>
            <a:pPr fontAlgn="base">
              <a:spcBef>
                <a:spcPct val="0"/>
              </a:spcBef>
              <a:spcAft>
                <a:spcPct val="0"/>
              </a:spcAft>
            </a:pPr>
            <a:endParaRPr lang="es-ES" sz="1400" b="1">
              <a:solidFill>
                <a:srgbClr val="000000"/>
              </a:solidFill>
              <a:latin typeface="Arial" charset="0"/>
            </a:endParaRPr>
          </a:p>
        </p:txBody>
      </p:sp>
      <p:sp>
        <p:nvSpPr>
          <p:cNvPr id="24" name="AutoShape 27"/>
          <p:cNvSpPr>
            <a:spLocks noChangeArrowheads="1"/>
          </p:cNvSpPr>
          <p:nvPr/>
        </p:nvSpPr>
        <p:spPr bwMode="auto">
          <a:xfrm rot="5400000">
            <a:off x="4862920" y="-238633"/>
            <a:ext cx="1940557" cy="7784429"/>
          </a:xfrm>
          <a:prstGeom prst="triangle">
            <a:avLst>
              <a:gd name="adj" fmla="val 50000"/>
            </a:avLst>
          </a:prstGeom>
          <a:solidFill>
            <a:srgbClr val="3366FF">
              <a:alpha val="25098"/>
            </a:srgbClr>
          </a:solidFill>
          <a:ln w="9525">
            <a:noFill/>
            <a:miter lim="800000"/>
            <a:headEnd/>
            <a:tailEnd/>
          </a:ln>
        </p:spPr>
        <p:txBody>
          <a:bodyPr wrap="none" anchor="ctr"/>
          <a:lstStyle/>
          <a:p>
            <a:pPr fontAlgn="base">
              <a:spcBef>
                <a:spcPct val="0"/>
              </a:spcBef>
              <a:spcAft>
                <a:spcPct val="0"/>
              </a:spcAft>
            </a:pPr>
            <a:endParaRPr lang="es-ES" sz="1400" b="1">
              <a:solidFill>
                <a:srgbClr val="000000"/>
              </a:solidFill>
              <a:latin typeface="Arial" charset="0"/>
            </a:endParaRPr>
          </a:p>
        </p:txBody>
      </p:sp>
      <p:sp>
        <p:nvSpPr>
          <p:cNvPr id="25" name="AutoShape 28"/>
          <p:cNvSpPr>
            <a:spLocks noChangeArrowheads="1"/>
          </p:cNvSpPr>
          <p:nvPr/>
        </p:nvSpPr>
        <p:spPr bwMode="auto">
          <a:xfrm rot="5400000">
            <a:off x="4862917" y="912302"/>
            <a:ext cx="1940561" cy="7784427"/>
          </a:xfrm>
          <a:prstGeom prst="triangle">
            <a:avLst>
              <a:gd name="adj" fmla="val 50000"/>
            </a:avLst>
          </a:prstGeom>
          <a:solidFill>
            <a:srgbClr val="00FF00">
              <a:alpha val="25098"/>
            </a:srgbClr>
          </a:solidFill>
          <a:ln w="9525">
            <a:noFill/>
            <a:miter lim="800000"/>
            <a:headEnd/>
            <a:tailEnd/>
          </a:ln>
        </p:spPr>
        <p:txBody>
          <a:bodyPr wrap="none" anchor="ctr"/>
          <a:lstStyle/>
          <a:p>
            <a:pPr fontAlgn="base">
              <a:spcBef>
                <a:spcPct val="0"/>
              </a:spcBef>
              <a:spcAft>
                <a:spcPct val="0"/>
              </a:spcAft>
            </a:pPr>
            <a:endParaRPr lang="es-ES" sz="1400" b="1">
              <a:solidFill>
                <a:srgbClr val="000000"/>
              </a:solidFill>
              <a:latin typeface="Arial" charset="0"/>
            </a:endParaRPr>
          </a:p>
        </p:txBody>
      </p:sp>
      <p:sp>
        <p:nvSpPr>
          <p:cNvPr id="26" name="AutoShape 29"/>
          <p:cNvSpPr>
            <a:spLocks noChangeArrowheads="1"/>
          </p:cNvSpPr>
          <p:nvPr/>
        </p:nvSpPr>
        <p:spPr bwMode="auto">
          <a:xfrm rot="5400000">
            <a:off x="4862917" y="1848927"/>
            <a:ext cx="1940561" cy="7784427"/>
          </a:xfrm>
          <a:prstGeom prst="triangle">
            <a:avLst>
              <a:gd name="adj" fmla="val 50000"/>
            </a:avLst>
          </a:prstGeom>
          <a:solidFill>
            <a:srgbClr val="FF0000">
              <a:alpha val="25098"/>
            </a:srgbClr>
          </a:solidFill>
          <a:ln w="9525">
            <a:noFill/>
            <a:miter lim="800000"/>
            <a:headEnd/>
            <a:tailEnd/>
          </a:ln>
        </p:spPr>
        <p:txBody>
          <a:bodyPr wrap="none" anchor="ctr"/>
          <a:lstStyle/>
          <a:p>
            <a:pPr fontAlgn="base">
              <a:spcBef>
                <a:spcPct val="0"/>
              </a:spcBef>
              <a:spcAft>
                <a:spcPct val="0"/>
              </a:spcAft>
            </a:pPr>
            <a:endParaRPr lang="es-ES" sz="1400" b="1">
              <a:solidFill>
                <a:srgbClr val="000000"/>
              </a:solidFill>
              <a:latin typeface="Arial" charset="0"/>
            </a:endParaRPr>
          </a:p>
        </p:txBody>
      </p:sp>
      <p:sp>
        <p:nvSpPr>
          <p:cNvPr id="27" name="Oval 30"/>
          <p:cNvSpPr>
            <a:spLocks noChangeArrowheads="1"/>
          </p:cNvSpPr>
          <p:nvPr/>
        </p:nvSpPr>
        <p:spPr bwMode="auto">
          <a:xfrm>
            <a:off x="7557560" y="1887705"/>
            <a:ext cx="2455960" cy="2626617"/>
          </a:xfrm>
          <a:prstGeom prst="ellipse">
            <a:avLst/>
          </a:prstGeom>
          <a:solidFill>
            <a:srgbClr val="00FF00">
              <a:alpha val="25098"/>
            </a:srgbClr>
          </a:solidFill>
          <a:ln w="19050">
            <a:noFill/>
            <a:prstDash val="dash"/>
            <a:round/>
            <a:headEnd/>
            <a:tailEnd/>
          </a:ln>
        </p:spPr>
        <p:txBody>
          <a:bodyPr wrap="none" anchor="ctr"/>
          <a:lstStyle/>
          <a:p>
            <a:pPr fontAlgn="base">
              <a:spcBef>
                <a:spcPct val="0"/>
              </a:spcBef>
              <a:spcAft>
                <a:spcPct val="0"/>
              </a:spcAft>
            </a:pPr>
            <a:endParaRPr lang="es-ES" sz="1400" b="1">
              <a:solidFill>
                <a:srgbClr val="000000"/>
              </a:solidFill>
              <a:latin typeface="Arial" charset="0"/>
            </a:endParaRPr>
          </a:p>
        </p:txBody>
      </p:sp>
      <p:sp>
        <p:nvSpPr>
          <p:cNvPr id="28" name="AutoShape 31"/>
          <p:cNvSpPr>
            <a:spLocks noChangeAspect="1" noChangeArrowheads="1"/>
          </p:cNvSpPr>
          <p:nvPr/>
        </p:nvSpPr>
        <p:spPr bwMode="auto">
          <a:xfrm rot="-5400000">
            <a:off x="8786740" y="5623356"/>
            <a:ext cx="71609" cy="453522"/>
          </a:xfrm>
          <a:prstGeom prst="can">
            <a:avLst>
              <a:gd name="adj" fmla="val 158332"/>
            </a:avLst>
          </a:prstGeom>
          <a:solidFill>
            <a:srgbClr val="333333"/>
          </a:solidFill>
          <a:ln w="952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29" name="AutoShape 32"/>
          <p:cNvSpPr>
            <a:spLocks noChangeAspect="1" noChangeArrowheads="1"/>
          </p:cNvSpPr>
          <p:nvPr/>
        </p:nvSpPr>
        <p:spPr bwMode="auto">
          <a:xfrm rot="-5400000">
            <a:off x="8793093" y="4681968"/>
            <a:ext cx="71608" cy="453523"/>
          </a:xfrm>
          <a:prstGeom prst="can">
            <a:avLst>
              <a:gd name="adj" fmla="val 158335"/>
            </a:avLst>
          </a:prstGeom>
          <a:solidFill>
            <a:srgbClr val="333333"/>
          </a:solidFill>
          <a:ln w="952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30" name="AutoShape 33"/>
          <p:cNvSpPr>
            <a:spLocks noChangeAspect="1" noChangeArrowheads="1"/>
          </p:cNvSpPr>
          <p:nvPr/>
        </p:nvSpPr>
        <p:spPr bwMode="auto">
          <a:xfrm rot="-5400000">
            <a:off x="8808965" y="3531031"/>
            <a:ext cx="71609" cy="453522"/>
          </a:xfrm>
          <a:prstGeom prst="can">
            <a:avLst>
              <a:gd name="adj" fmla="val 158332"/>
            </a:avLst>
          </a:prstGeom>
          <a:solidFill>
            <a:srgbClr val="333333"/>
          </a:solidFill>
          <a:ln w="952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31" name="AutoShape 34"/>
          <p:cNvSpPr>
            <a:spLocks noChangeAspect="1" noChangeArrowheads="1"/>
          </p:cNvSpPr>
          <p:nvPr/>
        </p:nvSpPr>
        <p:spPr bwMode="auto">
          <a:xfrm rot="-5400000">
            <a:off x="8785153" y="2522969"/>
            <a:ext cx="71608" cy="453520"/>
          </a:xfrm>
          <a:prstGeom prst="can">
            <a:avLst>
              <a:gd name="adj" fmla="val 158334"/>
            </a:avLst>
          </a:prstGeom>
          <a:solidFill>
            <a:srgbClr val="333333"/>
          </a:solidFill>
          <a:ln w="952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33" name="Rectángulo 32"/>
          <p:cNvSpPr/>
          <p:nvPr/>
        </p:nvSpPr>
        <p:spPr>
          <a:xfrm>
            <a:off x="2041461" y="128539"/>
            <a:ext cx="7972059" cy="584775"/>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3200" b="1" i="0" u="none" strike="noStrike" kern="0" cap="none" spc="0" normalizeH="0" baseline="0" noProof="0" dirty="0">
                <a:ln>
                  <a:noFill/>
                </a:ln>
                <a:solidFill>
                  <a:schemeClr val="accent1"/>
                </a:solidFill>
                <a:effectLst/>
                <a:uLnTx/>
                <a:uFillTx/>
                <a:latin typeface="Arial" charset="0"/>
              </a:rPr>
              <a:t>LAN inalámbrica en un almacén (caso 2)</a:t>
            </a:r>
            <a:endParaRPr kumimoji="0" lang="es-AR" sz="1800" b="0" i="0" u="none" strike="noStrike" kern="0" cap="none" spc="0" normalizeH="0" baseline="0" noProof="0" dirty="0">
              <a:ln>
                <a:noFill/>
              </a:ln>
              <a:solidFill>
                <a:schemeClr val="accent1"/>
              </a:solidFill>
              <a:effectLst/>
              <a:uLnTx/>
              <a:uFillTx/>
            </a:endParaRPr>
          </a:p>
        </p:txBody>
      </p:sp>
    </p:spTree>
    <p:extLst>
      <p:ext uri="{BB962C8B-B14F-4D97-AF65-F5344CB8AC3E}">
        <p14:creationId xmlns:p14="http://schemas.microsoft.com/office/powerpoint/2010/main" val="23627183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422730" y="0"/>
            <a:ext cx="5312673" cy="70788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4000" b="0" i="0" u="none" strike="noStrike" kern="0" cap="none" spc="0" normalizeH="0" baseline="0" noProof="0" dirty="0">
                <a:ln>
                  <a:noFill/>
                </a:ln>
                <a:solidFill>
                  <a:schemeClr val="accent1"/>
                </a:solidFill>
                <a:effectLst/>
                <a:uLnTx/>
                <a:uFillTx/>
                <a:latin typeface="Times New Roman"/>
                <a:ea typeface="+mj-ea"/>
                <a:cs typeface="+mj-cs"/>
              </a:rPr>
              <a:t>Rendimiento de WLANs</a:t>
            </a:r>
            <a:endParaRPr kumimoji="0" lang="es-AR" sz="1800" b="0" i="0" u="none" strike="noStrike" kern="0" cap="none" spc="0" normalizeH="0" baseline="0" noProof="0" dirty="0">
              <a:ln>
                <a:noFill/>
              </a:ln>
              <a:solidFill>
                <a:schemeClr val="accent1"/>
              </a:solidFill>
              <a:effectLst/>
              <a:uLnTx/>
              <a:uFillTx/>
            </a:endParaRPr>
          </a:p>
        </p:txBody>
      </p:sp>
      <p:sp>
        <p:nvSpPr>
          <p:cNvPr id="3" name="Rectángulo 2"/>
          <p:cNvSpPr/>
          <p:nvPr/>
        </p:nvSpPr>
        <p:spPr>
          <a:xfrm>
            <a:off x="914399" y="1385219"/>
            <a:ext cx="10938934" cy="4918269"/>
          </a:xfrm>
          <a:prstGeom prst="rect">
            <a:avLst/>
          </a:prstGeom>
        </p:spPr>
        <p:txBody>
          <a:bodyPr wrap="square">
            <a:spAutoFit/>
          </a:bodyPr>
          <a:lstStyle/>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El rendimiento real máximo suele ser alrededor del 50% de la velocidad nominal. Por ejemplo con 11 Mb/s se pueden obtener 6 Mb/s en el mejor de los casos.</a:t>
            </a:r>
          </a:p>
          <a:p>
            <a:pPr marL="342900" lvl="0" indent="-342900" fontAlgn="base">
              <a:lnSpc>
                <a:spcPct val="80000"/>
              </a:lnSpc>
              <a:spcBef>
                <a:spcPct val="20000"/>
              </a:spcBef>
              <a:spcAft>
                <a:spcPct val="0"/>
              </a:spcAft>
              <a:buFontTx/>
              <a:buChar char="•"/>
            </a:pPr>
            <a:endParaRPr lang="es-ES" sz="2800" kern="0" dirty="0">
              <a:solidFill>
                <a:srgbClr val="000000"/>
              </a:solidFill>
              <a:latin typeface="Times New Roman"/>
            </a:endParaRPr>
          </a:p>
          <a:p>
            <a:pPr marL="342900" lvl="0" indent="-342900" fontAlgn="base">
              <a:lnSpc>
                <a:spcPct val="80000"/>
              </a:lnSpc>
              <a:spcBef>
                <a:spcPct val="20000"/>
              </a:spcBef>
              <a:spcAft>
                <a:spcPct val="0"/>
              </a:spcAft>
              <a:buFontTx/>
              <a:buChar char="•"/>
            </a:pPr>
            <a:r>
              <a:rPr lang="es-ES" sz="2800" kern="0" dirty="0">
                <a:solidFill>
                  <a:srgbClr val="000000"/>
                </a:solidFill>
                <a:latin typeface="Times New Roman"/>
              </a:rPr>
              <a:t>El overhead se debe a:</a:t>
            </a:r>
          </a:p>
          <a:p>
            <a:pPr marL="742950" lvl="1" indent="-285750" fontAlgn="base">
              <a:lnSpc>
                <a:spcPct val="80000"/>
              </a:lnSpc>
              <a:spcBef>
                <a:spcPct val="20000"/>
              </a:spcBef>
              <a:spcAft>
                <a:spcPct val="0"/>
              </a:spcAft>
              <a:buFontTx/>
              <a:buChar char="–"/>
            </a:pPr>
            <a:r>
              <a:rPr lang="es-ES" sz="2800" kern="0" dirty="0">
                <a:solidFill>
                  <a:srgbClr val="000000"/>
                </a:solidFill>
                <a:latin typeface="Times New Roman"/>
              </a:rPr>
              <a:t>Medio compartido half-duplex</a:t>
            </a:r>
          </a:p>
          <a:p>
            <a:pPr marL="742950" lvl="1" indent="-285750" fontAlgn="base">
              <a:lnSpc>
                <a:spcPct val="80000"/>
              </a:lnSpc>
              <a:spcBef>
                <a:spcPct val="20000"/>
              </a:spcBef>
              <a:spcAft>
                <a:spcPct val="0"/>
              </a:spcAft>
              <a:buFontTx/>
              <a:buChar char="–"/>
            </a:pPr>
            <a:r>
              <a:rPr lang="es-ES" sz="2800" kern="0" dirty="0">
                <a:solidFill>
                  <a:srgbClr val="000000"/>
                </a:solidFill>
                <a:latin typeface="Times New Roman"/>
              </a:rPr>
              <a:t>Mensajes de ACK (uno por trama)</a:t>
            </a:r>
          </a:p>
          <a:p>
            <a:pPr marL="742950" lvl="1" indent="-285750" fontAlgn="base">
              <a:lnSpc>
                <a:spcPct val="80000"/>
              </a:lnSpc>
              <a:spcBef>
                <a:spcPct val="20000"/>
              </a:spcBef>
              <a:spcAft>
                <a:spcPct val="0"/>
              </a:spcAft>
              <a:buFontTx/>
              <a:buChar char="–"/>
            </a:pPr>
            <a:r>
              <a:rPr lang="es-ES" sz="2800" kern="0" dirty="0">
                <a:solidFill>
                  <a:srgbClr val="000000"/>
                </a:solidFill>
                <a:latin typeface="Times New Roman"/>
              </a:rPr>
              <a:t>Protocolo MAC (colisiones, esperas aleatorias, intervalos DIFS y SIFS entre tramas)</a:t>
            </a:r>
          </a:p>
          <a:p>
            <a:pPr marL="742950" lvl="1" indent="-285750" fontAlgn="base">
              <a:lnSpc>
                <a:spcPct val="80000"/>
              </a:lnSpc>
              <a:spcBef>
                <a:spcPct val="20000"/>
              </a:spcBef>
              <a:spcAft>
                <a:spcPct val="0"/>
              </a:spcAft>
              <a:buFontTx/>
              <a:buChar char="–"/>
            </a:pPr>
            <a:r>
              <a:rPr lang="es-ES" sz="2800" kern="0" dirty="0">
                <a:solidFill>
                  <a:srgbClr val="000000"/>
                </a:solidFill>
                <a:latin typeface="Times New Roman"/>
              </a:rPr>
              <a:t>Transmisión del Preámbulo PLCP</a:t>
            </a:r>
          </a:p>
          <a:p>
            <a:pPr marL="742950" lvl="1" indent="-285750" fontAlgn="base">
              <a:lnSpc>
                <a:spcPct val="80000"/>
              </a:lnSpc>
              <a:spcBef>
                <a:spcPct val="20000"/>
              </a:spcBef>
              <a:spcAft>
                <a:spcPct val="0"/>
              </a:spcAft>
              <a:buFontTx/>
              <a:buChar char="–"/>
            </a:pPr>
            <a:r>
              <a:rPr lang="es-ES" sz="2800" kern="0" dirty="0">
                <a:solidFill>
                  <a:srgbClr val="000000"/>
                </a:solidFill>
                <a:latin typeface="Times New Roman"/>
              </a:rPr>
              <a:t>Mensajes RTS/CTS (si se usan)</a:t>
            </a:r>
          </a:p>
          <a:p>
            <a:pPr marL="742950" lvl="1" indent="-285750" fontAlgn="base">
              <a:lnSpc>
                <a:spcPct val="80000"/>
              </a:lnSpc>
              <a:spcBef>
                <a:spcPct val="20000"/>
              </a:spcBef>
              <a:spcAft>
                <a:spcPct val="0"/>
              </a:spcAft>
              <a:buFontTx/>
              <a:buChar char="–"/>
            </a:pPr>
            <a:r>
              <a:rPr lang="es-ES" sz="2800" kern="0" dirty="0">
                <a:solidFill>
                  <a:srgbClr val="000000"/>
                </a:solidFill>
                <a:latin typeface="Times New Roman"/>
              </a:rPr>
              <a:t>Fragmentación (si se produce)</a:t>
            </a:r>
          </a:p>
        </p:txBody>
      </p:sp>
    </p:spTree>
    <p:extLst>
      <p:ext uri="{BB962C8B-B14F-4D97-AF65-F5344CB8AC3E}">
        <p14:creationId xmlns:p14="http://schemas.microsoft.com/office/powerpoint/2010/main" val="16688033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3"/>
          <a:stretch>
            <a:fillRect/>
          </a:stretch>
        </p:blipFill>
        <p:spPr>
          <a:xfrm>
            <a:off x="629920" y="513757"/>
            <a:ext cx="10771505" cy="5744803"/>
          </a:xfrm>
          <a:prstGeom prst="rect">
            <a:avLst/>
          </a:prstGeom>
        </p:spPr>
      </p:pic>
    </p:spTree>
    <p:extLst>
      <p:ext uri="{BB962C8B-B14F-4D97-AF65-F5344CB8AC3E}">
        <p14:creationId xmlns:p14="http://schemas.microsoft.com/office/powerpoint/2010/main" val="27904876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wifi-router-vs-access-poin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61724" y="200723"/>
            <a:ext cx="9891302" cy="6478859"/>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p:cNvSpPr txBox="1"/>
          <p:nvPr/>
        </p:nvSpPr>
        <p:spPr>
          <a:xfrm rot="16200000">
            <a:off x="-2430965" y="3142412"/>
            <a:ext cx="6345043" cy="461665"/>
          </a:xfrm>
          <a:prstGeom prst="rect">
            <a:avLst/>
          </a:prstGeom>
          <a:noFill/>
        </p:spPr>
        <p:txBody>
          <a:bodyPr wrap="square" rtlCol="0">
            <a:spAutoFit/>
          </a:bodyPr>
          <a:lstStyle/>
          <a:p>
            <a:r>
              <a:rPr lang="es-MX" sz="2400" b="1" dirty="0">
                <a:solidFill>
                  <a:schemeClr val="accent1"/>
                </a:solidFill>
              </a:rPr>
              <a:t>Diferencia entre Aps wireless y Routers Wireless</a:t>
            </a:r>
            <a:endParaRPr lang="es-AR" sz="2400" b="1" dirty="0">
              <a:solidFill>
                <a:schemeClr val="accent1"/>
              </a:solidFill>
            </a:endParaRPr>
          </a:p>
        </p:txBody>
      </p:sp>
    </p:spTree>
    <p:extLst>
      <p:ext uri="{BB962C8B-B14F-4D97-AF65-F5344CB8AC3E}">
        <p14:creationId xmlns:p14="http://schemas.microsoft.com/office/powerpoint/2010/main" val="18590260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Resultado de imagen para in wall ap unif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10992" y="33458"/>
            <a:ext cx="2951343" cy="202904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a 1"/>
          <p:cNvGraphicFramePr>
            <a:graphicFrameLocks noGrp="1"/>
          </p:cNvGraphicFramePr>
          <p:nvPr>
            <p:extLst>
              <p:ext uri="{D42A27DB-BD31-4B8C-83A1-F6EECF244321}">
                <p14:modId xmlns:p14="http://schemas.microsoft.com/office/powerpoint/2010/main" val="3041030863"/>
              </p:ext>
            </p:extLst>
          </p:nvPr>
        </p:nvGraphicFramePr>
        <p:xfrm>
          <a:off x="603885" y="4332764"/>
          <a:ext cx="10458450" cy="1737360"/>
        </p:xfrm>
        <a:graphic>
          <a:graphicData uri="http://schemas.openxmlformats.org/drawingml/2006/table">
            <a:tbl>
              <a:tblPr/>
              <a:tblGrid>
                <a:gridCol w="2091690">
                  <a:extLst>
                    <a:ext uri="{9D8B030D-6E8A-4147-A177-3AD203B41FA5}">
                      <a16:colId xmlns:a16="http://schemas.microsoft.com/office/drawing/2014/main" val="20000"/>
                    </a:ext>
                  </a:extLst>
                </a:gridCol>
                <a:gridCol w="2091690">
                  <a:extLst>
                    <a:ext uri="{9D8B030D-6E8A-4147-A177-3AD203B41FA5}">
                      <a16:colId xmlns:a16="http://schemas.microsoft.com/office/drawing/2014/main" val="20001"/>
                    </a:ext>
                  </a:extLst>
                </a:gridCol>
                <a:gridCol w="2091690">
                  <a:extLst>
                    <a:ext uri="{9D8B030D-6E8A-4147-A177-3AD203B41FA5}">
                      <a16:colId xmlns:a16="http://schemas.microsoft.com/office/drawing/2014/main" val="20002"/>
                    </a:ext>
                  </a:extLst>
                </a:gridCol>
                <a:gridCol w="2091690">
                  <a:extLst>
                    <a:ext uri="{9D8B030D-6E8A-4147-A177-3AD203B41FA5}">
                      <a16:colId xmlns:a16="http://schemas.microsoft.com/office/drawing/2014/main" val="20003"/>
                    </a:ext>
                  </a:extLst>
                </a:gridCol>
                <a:gridCol w="2091690">
                  <a:extLst>
                    <a:ext uri="{9D8B030D-6E8A-4147-A177-3AD203B41FA5}">
                      <a16:colId xmlns:a16="http://schemas.microsoft.com/office/drawing/2014/main" val="20004"/>
                    </a:ext>
                  </a:extLst>
                </a:gridCol>
              </a:tblGrid>
              <a:tr h="0">
                <a:tc>
                  <a:txBody>
                    <a:bodyPr/>
                    <a:lstStyle/>
                    <a:p>
                      <a:pPr fontAlgn="b"/>
                      <a:endParaRPr lang="es-AR" b="1" dirty="0">
                        <a:solidFill>
                          <a:srgbClr val="222222"/>
                        </a:solidFill>
                        <a:effectLst/>
                      </a:endParaRPr>
                    </a:p>
                  </a:txBody>
                  <a:tcPr anchor="b">
                    <a:lnL>
                      <a:noFill/>
                    </a:lnL>
                    <a:lnR>
                      <a:noFill/>
                    </a:lnR>
                    <a:lnT>
                      <a:noFill/>
                    </a:lnT>
                    <a:lnB w="12700" cap="flat" cmpd="sng" algn="ctr">
                      <a:solidFill>
                        <a:srgbClr val="ACACAC"/>
                      </a:solidFill>
                      <a:prstDash val="solid"/>
                      <a:round/>
                      <a:headEnd type="none" w="med" len="med"/>
                      <a:tailEnd type="none" w="med" len="med"/>
                    </a:lnB>
                  </a:tcPr>
                </a:tc>
                <a:tc>
                  <a:txBody>
                    <a:bodyPr/>
                    <a:lstStyle/>
                    <a:p>
                      <a:pPr fontAlgn="b"/>
                      <a:endParaRPr lang="es-AR">
                        <a:solidFill>
                          <a:srgbClr val="222222"/>
                        </a:solidFill>
                        <a:effectLst/>
                      </a:endParaRPr>
                    </a:p>
                    <a:p>
                      <a:pPr fontAlgn="b"/>
                      <a:r>
                        <a:rPr lang="es-AR">
                          <a:solidFill>
                            <a:srgbClr val="17191D"/>
                          </a:solidFill>
                          <a:effectLst/>
                        </a:rPr>
                        <a:t>UAP</a:t>
                      </a:r>
                    </a:p>
                  </a:txBody>
                  <a:tcPr anchor="b">
                    <a:lnL>
                      <a:noFill/>
                    </a:lnL>
                    <a:lnR>
                      <a:noFill/>
                    </a:lnR>
                    <a:lnT>
                      <a:noFill/>
                    </a:lnT>
                    <a:lnB w="12700" cap="flat" cmpd="sng" algn="ctr">
                      <a:solidFill>
                        <a:srgbClr val="ACACAC"/>
                      </a:solidFill>
                      <a:prstDash val="solid"/>
                      <a:round/>
                      <a:headEnd type="none" w="med" len="med"/>
                      <a:tailEnd type="none" w="med" len="med"/>
                    </a:lnB>
                  </a:tcPr>
                </a:tc>
                <a:tc>
                  <a:txBody>
                    <a:bodyPr/>
                    <a:lstStyle/>
                    <a:p>
                      <a:pPr fontAlgn="b"/>
                      <a:endParaRPr lang="es-AR">
                        <a:solidFill>
                          <a:srgbClr val="222222"/>
                        </a:solidFill>
                        <a:effectLst/>
                      </a:endParaRPr>
                    </a:p>
                    <a:p>
                      <a:pPr fontAlgn="b"/>
                      <a:r>
                        <a:rPr lang="es-AR">
                          <a:solidFill>
                            <a:srgbClr val="17191D"/>
                          </a:solidFill>
                          <a:effectLst/>
                        </a:rPr>
                        <a:t>UAP-LR</a:t>
                      </a:r>
                    </a:p>
                  </a:txBody>
                  <a:tcPr anchor="b">
                    <a:lnL>
                      <a:noFill/>
                    </a:lnL>
                    <a:lnR>
                      <a:noFill/>
                    </a:lnR>
                    <a:lnT>
                      <a:noFill/>
                    </a:lnT>
                    <a:lnB w="12700" cap="flat" cmpd="sng" algn="ctr">
                      <a:solidFill>
                        <a:srgbClr val="ACACAC"/>
                      </a:solidFill>
                      <a:prstDash val="solid"/>
                      <a:round/>
                      <a:headEnd type="none" w="med" len="med"/>
                      <a:tailEnd type="none" w="med" len="med"/>
                    </a:lnB>
                  </a:tcPr>
                </a:tc>
                <a:tc>
                  <a:txBody>
                    <a:bodyPr/>
                    <a:lstStyle/>
                    <a:p>
                      <a:pPr fontAlgn="b"/>
                      <a:endParaRPr lang="es-AR">
                        <a:solidFill>
                          <a:srgbClr val="222222"/>
                        </a:solidFill>
                        <a:effectLst/>
                      </a:endParaRPr>
                    </a:p>
                    <a:p>
                      <a:pPr fontAlgn="b"/>
                      <a:r>
                        <a:rPr lang="es-AR">
                          <a:solidFill>
                            <a:srgbClr val="17191D"/>
                          </a:solidFill>
                          <a:effectLst/>
                        </a:rPr>
                        <a:t>UAP-PRO</a:t>
                      </a:r>
                    </a:p>
                  </a:txBody>
                  <a:tcPr anchor="b">
                    <a:lnL>
                      <a:noFill/>
                    </a:lnL>
                    <a:lnR>
                      <a:noFill/>
                    </a:lnR>
                    <a:lnT>
                      <a:noFill/>
                    </a:lnT>
                    <a:lnB w="12700" cap="flat" cmpd="sng" algn="ctr">
                      <a:solidFill>
                        <a:srgbClr val="ACACAC"/>
                      </a:solidFill>
                      <a:prstDash val="solid"/>
                      <a:round/>
                      <a:headEnd type="none" w="med" len="med"/>
                      <a:tailEnd type="none" w="med" len="med"/>
                    </a:lnB>
                  </a:tcPr>
                </a:tc>
                <a:tc>
                  <a:txBody>
                    <a:bodyPr/>
                    <a:lstStyle/>
                    <a:p>
                      <a:pPr fontAlgn="b"/>
                      <a:endParaRPr lang="es-AR">
                        <a:solidFill>
                          <a:srgbClr val="222222"/>
                        </a:solidFill>
                        <a:effectLst/>
                      </a:endParaRPr>
                    </a:p>
                    <a:p>
                      <a:pPr fontAlgn="b"/>
                      <a:r>
                        <a:rPr lang="es-AR">
                          <a:solidFill>
                            <a:srgbClr val="17191D"/>
                          </a:solidFill>
                          <a:effectLst/>
                        </a:rPr>
                        <a:t>UAP-Outdoor5</a:t>
                      </a:r>
                    </a:p>
                  </a:txBody>
                  <a:tcPr anchor="b">
                    <a:lnL>
                      <a:noFill/>
                    </a:lnL>
                    <a:lnR>
                      <a:noFill/>
                    </a:lnR>
                    <a:lnT>
                      <a:noFill/>
                    </a:lnT>
                    <a:lnB w="12700" cap="flat" cmpd="sng" algn="ctr">
                      <a:solidFill>
                        <a:srgbClr val="ACACAC"/>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fontAlgn="ctr"/>
                      <a:r>
                        <a:rPr lang="es-AR" b="1">
                          <a:solidFill>
                            <a:srgbClr val="666666"/>
                          </a:solidFill>
                          <a:effectLst/>
                        </a:rPr>
                        <a:t>Frequency</a:t>
                      </a:r>
                    </a:p>
                  </a:txBody>
                  <a:tcPr anchor="ctr">
                    <a:lnL>
                      <a:noFill/>
                    </a:lnL>
                    <a:lnR>
                      <a:noFill/>
                    </a:lnR>
                    <a:lnT w="12700" cap="flat" cmpd="sng" algn="ctr">
                      <a:solidFill>
                        <a:srgbClr val="ACACAC"/>
                      </a:solidFill>
                      <a:prstDash val="solid"/>
                      <a:round/>
                      <a:headEnd type="none" w="med" len="med"/>
                      <a:tailEnd type="none" w="med" len="med"/>
                    </a:lnT>
                    <a:lnB w="9525" cap="flat" cmpd="sng" algn="ctr">
                      <a:solidFill>
                        <a:srgbClr val="78B941"/>
                      </a:solidFill>
                      <a:prstDash val="solid"/>
                      <a:round/>
                      <a:headEnd type="none" w="med" len="med"/>
                      <a:tailEnd type="none" w="med" len="med"/>
                    </a:lnB>
                  </a:tcPr>
                </a:tc>
                <a:tc>
                  <a:txBody>
                    <a:bodyPr/>
                    <a:lstStyle/>
                    <a:p>
                      <a:pPr fontAlgn="ctr"/>
                      <a:r>
                        <a:rPr lang="es-AR">
                          <a:solidFill>
                            <a:srgbClr val="666666"/>
                          </a:solidFill>
                          <a:effectLst/>
                        </a:rPr>
                        <a:t>2.4 GHz</a:t>
                      </a:r>
                    </a:p>
                  </a:txBody>
                  <a:tcPr anchor="ctr">
                    <a:lnL>
                      <a:noFill/>
                    </a:lnL>
                    <a:lnR>
                      <a:noFill/>
                    </a:lnR>
                    <a:lnT w="12700" cap="flat" cmpd="sng" algn="ctr">
                      <a:solidFill>
                        <a:srgbClr val="ACACAC"/>
                      </a:solidFill>
                      <a:prstDash val="solid"/>
                      <a:round/>
                      <a:headEnd type="none" w="med" len="med"/>
                      <a:tailEnd type="none" w="med" len="med"/>
                    </a:lnT>
                    <a:lnB w="9525" cap="flat" cmpd="sng" algn="ctr">
                      <a:solidFill>
                        <a:srgbClr val="58BB41"/>
                      </a:solidFill>
                      <a:prstDash val="solid"/>
                      <a:round/>
                      <a:headEnd type="none" w="med" len="med"/>
                      <a:tailEnd type="none" w="med" len="med"/>
                    </a:lnB>
                  </a:tcPr>
                </a:tc>
                <a:tc>
                  <a:txBody>
                    <a:bodyPr/>
                    <a:lstStyle/>
                    <a:p>
                      <a:pPr fontAlgn="ctr"/>
                      <a:r>
                        <a:rPr lang="es-AR">
                          <a:solidFill>
                            <a:srgbClr val="666666"/>
                          </a:solidFill>
                          <a:effectLst/>
                        </a:rPr>
                        <a:t>2.4 GHz</a:t>
                      </a:r>
                    </a:p>
                  </a:txBody>
                  <a:tcPr anchor="ctr">
                    <a:lnL>
                      <a:noFill/>
                    </a:lnL>
                    <a:lnR>
                      <a:noFill/>
                    </a:lnR>
                    <a:lnT w="12700" cap="flat" cmpd="sng" algn="ctr">
                      <a:solidFill>
                        <a:srgbClr val="ACACAC"/>
                      </a:solidFill>
                      <a:prstDash val="solid"/>
                      <a:round/>
                      <a:headEnd type="none" w="med" len="med"/>
                      <a:tailEnd type="none" w="med" len="med"/>
                    </a:lnT>
                    <a:lnB w="9525" cap="flat" cmpd="sng" algn="ctr">
                      <a:solidFill>
                        <a:srgbClr val="C8BA41"/>
                      </a:solidFill>
                      <a:prstDash val="solid"/>
                      <a:round/>
                      <a:headEnd type="none" w="med" len="med"/>
                      <a:tailEnd type="none" w="med" len="med"/>
                    </a:lnB>
                  </a:tcPr>
                </a:tc>
                <a:tc>
                  <a:txBody>
                    <a:bodyPr/>
                    <a:lstStyle/>
                    <a:p>
                      <a:pPr fontAlgn="ctr"/>
                      <a:r>
                        <a:rPr lang="es-AR">
                          <a:solidFill>
                            <a:srgbClr val="666666"/>
                          </a:solidFill>
                          <a:effectLst/>
                        </a:rPr>
                        <a:t>2.4 GHz, 5 GHz</a:t>
                      </a:r>
                    </a:p>
                  </a:txBody>
                  <a:tcPr anchor="ctr">
                    <a:lnL>
                      <a:noFill/>
                    </a:lnL>
                    <a:lnR>
                      <a:noFill/>
                    </a:lnR>
                    <a:lnT w="12700" cap="flat" cmpd="sng" algn="ctr">
                      <a:solidFill>
                        <a:srgbClr val="ACACAC"/>
                      </a:solidFill>
                      <a:prstDash val="solid"/>
                      <a:round/>
                      <a:headEnd type="none" w="med" len="med"/>
                      <a:tailEnd type="none" w="med" len="med"/>
                    </a:lnT>
                    <a:lnB w="9525" cap="flat" cmpd="sng" algn="ctr">
                      <a:solidFill>
                        <a:srgbClr val="A8B941"/>
                      </a:solidFill>
                      <a:prstDash val="solid"/>
                      <a:round/>
                      <a:headEnd type="none" w="med" len="med"/>
                      <a:tailEnd type="none" w="med" len="med"/>
                    </a:lnB>
                  </a:tcPr>
                </a:tc>
                <a:tc>
                  <a:txBody>
                    <a:bodyPr/>
                    <a:lstStyle/>
                    <a:p>
                      <a:pPr fontAlgn="ctr"/>
                      <a:r>
                        <a:rPr lang="es-AR">
                          <a:solidFill>
                            <a:srgbClr val="666666"/>
                          </a:solidFill>
                          <a:effectLst/>
                        </a:rPr>
                        <a:t>5 GHz</a:t>
                      </a:r>
                    </a:p>
                  </a:txBody>
                  <a:tcPr anchor="ctr">
                    <a:lnL>
                      <a:noFill/>
                    </a:lnL>
                    <a:lnR>
                      <a:noFill/>
                    </a:lnR>
                    <a:lnT w="12700" cap="flat" cmpd="sng" algn="ctr">
                      <a:solidFill>
                        <a:srgbClr val="ACACAC"/>
                      </a:solidFill>
                      <a:prstDash val="solid"/>
                      <a:round/>
                      <a:headEnd type="none" w="med" len="med"/>
                      <a:tailEnd type="none" w="med" len="med"/>
                    </a:lnT>
                    <a:lnB w="9525" cap="flat" cmpd="sng" algn="ctr">
                      <a:solidFill>
                        <a:srgbClr val="78B94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fontAlgn="ctr"/>
                      <a:r>
                        <a:rPr lang="es-AR" b="1">
                          <a:solidFill>
                            <a:srgbClr val="666666"/>
                          </a:solidFill>
                          <a:effectLst/>
                        </a:rPr>
                        <a:t>2.4 GHz Throughput</a:t>
                      </a:r>
                    </a:p>
                  </a:txBody>
                  <a:tcPr anchor="ctr">
                    <a:lnL>
                      <a:noFill/>
                    </a:lnL>
                    <a:lnR>
                      <a:noFill/>
                    </a:lnR>
                    <a:lnT w="9525" cap="flat" cmpd="sng" algn="ctr">
                      <a:solidFill>
                        <a:srgbClr val="78B941"/>
                      </a:solidFill>
                      <a:prstDash val="solid"/>
                      <a:round/>
                      <a:headEnd type="none" w="med" len="med"/>
                      <a:tailEnd type="none" w="med" len="med"/>
                    </a:lnT>
                    <a:lnB w="9525" cap="flat" cmpd="sng" algn="ctr">
                      <a:solidFill>
                        <a:srgbClr val="D8BC41"/>
                      </a:solidFill>
                      <a:prstDash val="solid"/>
                      <a:round/>
                      <a:headEnd type="none" w="med" len="med"/>
                      <a:tailEnd type="none" w="med" len="med"/>
                    </a:lnB>
                  </a:tcPr>
                </a:tc>
                <a:tc>
                  <a:txBody>
                    <a:bodyPr/>
                    <a:lstStyle/>
                    <a:p>
                      <a:pPr fontAlgn="ctr"/>
                      <a:r>
                        <a:rPr lang="es-AR">
                          <a:solidFill>
                            <a:srgbClr val="666666"/>
                          </a:solidFill>
                          <a:effectLst/>
                        </a:rPr>
                        <a:t>300 Mbps</a:t>
                      </a:r>
                    </a:p>
                  </a:txBody>
                  <a:tcPr anchor="ctr">
                    <a:lnL>
                      <a:noFill/>
                    </a:lnL>
                    <a:lnR>
                      <a:noFill/>
                    </a:lnR>
                    <a:lnT w="9525" cap="flat" cmpd="sng" algn="ctr">
                      <a:solidFill>
                        <a:srgbClr val="58BB41"/>
                      </a:solidFill>
                      <a:prstDash val="solid"/>
                      <a:round/>
                      <a:headEnd type="none" w="med" len="med"/>
                      <a:tailEnd type="none" w="med" len="med"/>
                    </a:lnT>
                    <a:lnB w="9525" cap="flat" cmpd="sng" algn="ctr">
                      <a:solidFill>
                        <a:srgbClr val="48B941"/>
                      </a:solidFill>
                      <a:prstDash val="solid"/>
                      <a:round/>
                      <a:headEnd type="none" w="med" len="med"/>
                      <a:tailEnd type="none" w="med" len="med"/>
                    </a:lnB>
                  </a:tcPr>
                </a:tc>
                <a:tc>
                  <a:txBody>
                    <a:bodyPr/>
                    <a:lstStyle/>
                    <a:p>
                      <a:pPr fontAlgn="ctr"/>
                      <a:r>
                        <a:rPr lang="es-AR">
                          <a:solidFill>
                            <a:srgbClr val="666666"/>
                          </a:solidFill>
                          <a:effectLst/>
                        </a:rPr>
                        <a:t>300 Mbps</a:t>
                      </a:r>
                    </a:p>
                  </a:txBody>
                  <a:tcPr anchor="ctr">
                    <a:lnL>
                      <a:noFill/>
                    </a:lnL>
                    <a:lnR>
                      <a:noFill/>
                    </a:lnR>
                    <a:lnT w="9525" cap="flat" cmpd="sng" algn="ctr">
                      <a:solidFill>
                        <a:srgbClr val="C8BA41"/>
                      </a:solidFill>
                      <a:prstDash val="solid"/>
                      <a:round/>
                      <a:headEnd type="none" w="med" len="med"/>
                      <a:tailEnd type="none" w="med" len="med"/>
                    </a:lnT>
                    <a:lnB w="9525" cap="flat" cmpd="sng" algn="ctr">
                      <a:solidFill>
                        <a:srgbClr val="48B941"/>
                      </a:solidFill>
                      <a:prstDash val="solid"/>
                      <a:round/>
                      <a:headEnd type="none" w="med" len="med"/>
                      <a:tailEnd type="none" w="med" len="med"/>
                    </a:lnB>
                  </a:tcPr>
                </a:tc>
                <a:tc>
                  <a:txBody>
                    <a:bodyPr/>
                    <a:lstStyle/>
                    <a:p>
                      <a:pPr fontAlgn="ctr"/>
                      <a:r>
                        <a:rPr lang="es-AR">
                          <a:solidFill>
                            <a:srgbClr val="666666"/>
                          </a:solidFill>
                          <a:effectLst/>
                        </a:rPr>
                        <a:t>450 Mbps</a:t>
                      </a:r>
                    </a:p>
                  </a:txBody>
                  <a:tcPr anchor="ctr">
                    <a:lnL>
                      <a:noFill/>
                    </a:lnL>
                    <a:lnR>
                      <a:noFill/>
                    </a:lnR>
                    <a:lnT w="9525" cap="flat" cmpd="sng" algn="ctr">
                      <a:solidFill>
                        <a:srgbClr val="A8B941"/>
                      </a:solidFill>
                      <a:prstDash val="solid"/>
                      <a:round/>
                      <a:headEnd type="none" w="med" len="med"/>
                      <a:tailEnd type="none" w="med" len="med"/>
                    </a:lnT>
                    <a:lnB w="9525" cap="flat" cmpd="sng" algn="ctr">
                      <a:solidFill>
                        <a:srgbClr val="38BD41"/>
                      </a:solidFill>
                      <a:prstDash val="solid"/>
                      <a:round/>
                      <a:headEnd type="none" w="med" len="med"/>
                      <a:tailEnd type="none" w="med" len="med"/>
                    </a:lnB>
                  </a:tcPr>
                </a:tc>
                <a:tc>
                  <a:txBody>
                    <a:bodyPr/>
                    <a:lstStyle/>
                    <a:p>
                      <a:pPr fontAlgn="ctr"/>
                      <a:r>
                        <a:rPr lang="es-AR">
                          <a:solidFill>
                            <a:srgbClr val="666666"/>
                          </a:solidFill>
                          <a:effectLst/>
                        </a:rPr>
                        <a:t>N/A</a:t>
                      </a:r>
                    </a:p>
                  </a:txBody>
                  <a:tcPr anchor="ctr">
                    <a:lnL>
                      <a:noFill/>
                    </a:lnL>
                    <a:lnR>
                      <a:noFill/>
                    </a:lnR>
                    <a:lnT w="9525" cap="flat" cmpd="sng" algn="ctr">
                      <a:solidFill>
                        <a:srgbClr val="78B941"/>
                      </a:solidFill>
                      <a:prstDash val="solid"/>
                      <a:round/>
                      <a:headEnd type="none" w="med" len="med"/>
                      <a:tailEnd type="none" w="med" len="med"/>
                    </a:lnT>
                    <a:lnB w="9525" cap="flat" cmpd="sng" algn="ctr">
                      <a:solidFill>
                        <a:srgbClr val="F8BD4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fontAlgn="ctr"/>
                      <a:r>
                        <a:rPr lang="es-AR" b="1">
                          <a:solidFill>
                            <a:srgbClr val="666666"/>
                          </a:solidFill>
                          <a:effectLst/>
                        </a:rPr>
                        <a:t>5 GHz Throughput</a:t>
                      </a:r>
                    </a:p>
                  </a:txBody>
                  <a:tcPr anchor="ctr">
                    <a:lnL>
                      <a:noFill/>
                    </a:lnL>
                    <a:lnR>
                      <a:noFill/>
                    </a:lnR>
                    <a:lnT w="9525" cap="flat" cmpd="sng" algn="ctr">
                      <a:solidFill>
                        <a:srgbClr val="D8BC41"/>
                      </a:solidFill>
                      <a:prstDash val="solid"/>
                      <a:round/>
                      <a:headEnd type="none" w="med" len="med"/>
                      <a:tailEnd type="none" w="med" len="med"/>
                    </a:lnT>
                    <a:lnB>
                      <a:noFill/>
                    </a:lnB>
                  </a:tcPr>
                </a:tc>
                <a:tc>
                  <a:txBody>
                    <a:bodyPr/>
                    <a:lstStyle/>
                    <a:p>
                      <a:pPr fontAlgn="ctr"/>
                      <a:r>
                        <a:rPr lang="es-AR">
                          <a:solidFill>
                            <a:srgbClr val="666666"/>
                          </a:solidFill>
                          <a:effectLst/>
                        </a:rPr>
                        <a:t>N/A</a:t>
                      </a:r>
                    </a:p>
                  </a:txBody>
                  <a:tcPr anchor="ctr">
                    <a:lnL>
                      <a:noFill/>
                    </a:lnL>
                    <a:lnR>
                      <a:noFill/>
                    </a:lnR>
                    <a:lnT w="9525" cap="flat" cmpd="sng" algn="ctr">
                      <a:solidFill>
                        <a:srgbClr val="48B941"/>
                      </a:solidFill>
                      <a:prstDash val="solid"/>
                      <a:round/>
                      <a:headEnd type="none" w="med" len="med"/>
                      <a:tailEnd type="none" w="med" len="med"/>
                    </a:lnT>
                    <a:lnB>
                      <a:noFill/>
                    </a:lnB>
                  </a:tcPr>
                </a:tc>
                <a:tc>
                  <a:txBody>
                    <a:bodyPr/>
                    <a:lstStyle/>
                    <a:p>
                      <a:pPr fontAlgn="ctr"/>
                      <a:r>
                        <a:rPr lang="es-AR">
                          <a:solidFill>
                            <a:srgbClr val="666666"/>
                          </a:solidFill>
                          <a:effectLst/>
                        </a:rPr>
                        <a:t>N/A</a:t>
                      </a:r>
                    </a:p>
                  </a:txBody>
                  <a:tcPr anchor="ctr">
                    <a:lnL>
                      <a:noFill/>
                    </a:lnL>
                    <a:lnR>
                      <a:noFill/>
                    </a:lnR>
                    <a:lnT w="9525" cap="flat" cmpd="sng" algn="ctr">
                      <a:solidFill>
                        <a:srgbClr val="48B941"/>
                      </a:solidFill>
                      <a:prstDash val="solid"/>
                      <a:round/>
                      <a:headEnd type="none" w="med" len="med"/>
                      <a:tailEnd type="none" w="med" len="med"/>
                    </a:lnT>
                    <a:lnB>
                      <a:noFill/>
                    </a:lnB>
                  </a:tcPr>
                </a:tc>
                <a:tc>
                  <a:txBody>
                    <a:bodyPr/>
                    <a:lstStyle/>
                    <a:p>
                      <a:pPr fontAlgn="ctr"/>
                      <a:r>
                        <a:rPr lang="es-AR">
                          <a:solidFill>
                            <a:srgbClr val="666666"/>
                          </a:solidFill>
                          <a:effectLst/>
                        </a:rPr>
                        <a:t>300 Mbps</a:t>
                      </a:r>
                    </a:p>
                  </a:txBody>
                  <a:tcPr anchor="ctr">
                    <a:lnL>
                      <a:noFill/>
                    </a:lnL>
                    <a:lnR>
                      <a:noFill/>
                    </a:lnR>
                    <a:lnT w="9525" cap="flat" cmpd="sng" algn="ctr">
                      <a:solidFill>
                        <a:srgbClr val="38BD41"/>
                      </a:solidFill>
                      <a:prstDash val="solid"/>
                      <a:round/>
                      <a:headEnd type="none" w="med" len="med"/>
                      <a:tailEnd type="none" w="med" len="med"/>
                    </a:lnT>
                    <a:lnB>
                      <a:noFill/>
                    </a:lnB>
                  </a:tcPr>
                </a:tc>
                <a:tc>
                  <a:txBody>
                    <a:bodyPr/>
                    <a:lstStyle/>
                    <a:p>
                      <a:pPr fontAlgn="ctr"/>
                      <a:r>
                        <a:rPr lang="es-AR" dirty="0">
                          <a:solidFill>
                            <a:srgbClr val="666666"/>
                          </a:solidFill>
                          <a:effectLst/>
                        </a:rPr>
                        <a:t>300 Mbps</a:t>
                      </a:r>
                    </a:p>
                  </a:txBody>
                  <a:tcPr anchor="ctr">
                    <a:lnL>
                      <a:noFill/>
                    </a:lnL>
                    <a:lnR>
                      <a:noFill/>
                    </a:lnR>
                    <a:lnT w="9525" cap="flat" cmpd="sng" algn="ctr">
                      <a:solidFill>
                        <a:srgbClr val="F8BD41"/>
                      </a:solidFill>
                      <a:prstDash val="solid"/>
                      <a:round/>
                      <a:headEnd type="none" w="med" len="med"/>
                      <a:tailEnd type="none" w="med" len="med"/>
                    </a:lnT>
                    <a:lnB>
                      <a:noFill/>
                    </a:lnB>
                  </a:tcPr>
                </a:tc>
                <a:extLst>
                  <a:ext uri="{0D108BD9-81ED-4DB2-BD59-A6C34878D82A}">
                    <a16:rowId xmlns:a16="http://schemas.microsoft.com/office/drawing/2014/main" val="10003"/>
                  </a:ext>
                </a:extLst>
              </a:tr>
            </a:tbl>
          </a:graphicData>
        </a:graphic>
      </p:graphicFrame>
      <p:pic>
        <p:nvPicPr>
          <p:cNvPr id="6148" name="Picture 4" descr="UA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3003736">
            <a:off x="2585721" y="3447226"/>
            <a:ext cx="923925" cy="1257300"/>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UAP-L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3003736">
            <a:off x="4796790" y="3412143"/>
            <a:ext cx="923925" cy="125730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UAP-PR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003736">
            <a:off x="7007859" y="3388489"/>
            <a:ext cx="923925" cy="1257300"/>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UAP-Outdoor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72865" y="3388490"/>
            <a:ext cx="447675" cy="1257300"/>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https://prd-www-cdn.ubnt.com/media/images/product-features/unifi-ap-features-design.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0153" y="1052506"/>
            <a:ext cx="5392957" cy="2265598"/>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p:cNvSpPr txBox="1"/>
          <p:nvPr/>
        </p:nvSpPr>
        <p:spPr>
          <a:xfrm>
            <a:off x="334374" y="37846"/>
            <a:ext cx="3869473" cy="830997"/>
          </a:xfrm>
          <a:prstGeom prst="rect">
            <a:avLst/>
          </a:prstGeom>
          <a:noFill/>
        </p:spPr>
        <p:txBody>
          <a:bodyPr wrap="square" rtlCol="0">
            <a:spAutoFit/>
          </a:bodyPr>
          <a:lstStyle/>
          <a:p>
            <a:r>
              <a:rPr lang="es-MX" sz="2400" b="1" dirty="0">
                <a:solidFill>
                  <a:schemeClr val="accent1"/>
                </a:solidFill>
              </a:rPr>
              <a:t>Unifi AP</a:t>
            </a:r>
          </a:p>
          <a:p>
            <a:r>
              <a:rPr lang="es-MX" sz="2400" b="1" dirty="0">
                <a:solidFill>
                  <a:schemeClr val="accent1"/>
                </a:solidFill>
              </a:rPr>
              <a:t>Indoor 802.11n Acess Point</a:t>
            </a:r>
            <a:endParaRPr lang="es-AR" sz="2400" b="1" dirty="0">
              <a:solidFill>
                <a:schemeClr val="accent1"/>
              </a:solidFill>
            </a:endParaRPr>
          </a:p>
        </p:txBody>
      </p:sp>
      <p:sp>
        <p:nvSpPr>
          <p:cNvPr id="5" name="CuadroTexto 4"/>
          <p:cNvSpPr txBox="1"/>
          <p:nvPr/>
        </p:nvSpPr>
        <p:spPr>
          <a:xfrm>
            <a:off x="8038372" y="2454688"/>
            <a:ext cx="3564335" cy="461665"/>
          </a:xfrm>
          <a:prstGeom prst="rect">
            <a:avLst/>
          </a:prstGeom>
          <a:noFill/>
        </p:spPr>
        <p:txBody>
          <a:bodyPr wrap="square" rtlCol="0">
            <a:spAutoFit/>
          </a:bodyPr>
          <a:lstStyle/>
          <a:p>
            <a:r>
              <a:rPr lang="es-MX" sz="2400" dirty="0"/>
              <a:t>Ubiquiti Unifi AP 150 Mbps</a:t>
            </a:r>
            <a:endParaRPr lang="es-AR" sz="2400" dirty="0"/>
          </a:p>
        </p:txBody>
      </p:sp>
    </p:spTree>
    <p:extLst>
      <p:ext uri="{BB962C8B-B14F-4D97-AF65-F5344CB8AC3E}">
        <p14:creationId xmlns:p14="http://schemas.microsoft.com/office/powerpoint/2010/main" val="19912315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70932" y="0"/>
            <a:ext cx="8348133" cy="76944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4400" b="0" i="0" u="none" strike="noStrike" kern="0" cap="none" spc="0" normalizeH="0" baseline="0" noProof="0" dirty="0">
                <a:ln>
                  <a:noFill/>
                </a:ln>
                <a:solidFill>
                  <a:schemeClr val="accent1"/>
                </a:solidFill>
                <a:effectLst/>
                <a:uLnTx/>
                <a:uFillTx/>
                <a:latin typeface="Times New Roman"/>
                <a:ea typeface="+mj-ea"/>
                <a:cs typeface="+mj-cs"/>
              </a:rPr>
              <a:t>Puentes inalámbricos entre LANs</a:t>
            </a:r>
            <a:endParaRPr kumimoji="0" lang="es-AR" sz="1800" b="0" i="0" u="none" strike="noStrike" kern="0" cap="none" spc="0" normalizeH="0" baseline="0" noProof="0" dirty="0">
              <a:ln>
                <a:noFill/>
              </a:ln>
              <a:solidFill>
                <a:schemeClr val="accent1"/>
              </a:solidFill>
              <a:effectLst/>
              <a:uLnTx/>
              <a:uFillTx/>
            </a:endParaRPr>
          </a:p>
        </p:txBody>
      </p:sp>
      <p:sp>
        <p:nvSpPr>
          <p:cNvPr id="3" name="Rectángulo 2"/>
          <p:cNvSpPr/>
          <p:nvPr/>
        </p:nvSpPr>
        <p:spPr>
          <a:xfrm>
            <a:off x="270932" y="769441"/>
            <a:ext cx="11582400" cy="5823133"/>
          </a:xfrm>
          <a:prstGeom prst="rect">
            <a:avLst/>
          </a:prstGeom>
        </p:spPr>
        <p:txBody>
          <a:bodyPr wrap="square">
            <a:spAutoFit/>
          </a:bodyPr>
          <a:lstStyle/>
          <a:p>
            <a:pPr marL="342900" lvl="0" indent="-342900" fontAlgn="base">
              <a:lnSpc>
                <a:spcPct val="90000"/>
              </a:lnSpc>
              <a:spcBef>
                <a:spcPct val="20000"/>
              </a:spcBef>
              <a:spcAft>
                <a:spcPct val="0"/>
              </a:spcAft>
              <a:buFontTx/>
              <a:buChar char="•"/>
            </a:pPr>
            <a:r>
              <a:rPr lang="es-ES" sz="2800" kern="0" dirty="0">
                <a:solidFill>
                  <a:srgbClr val="000000"/>
                </a:solidFill>
                <a:latin typeface="Times New Roman"/>
              </a:rPr>
              <a:t>Los sistemas de transmisión vía radio de las LANs inalámbricas pueden aprovecharse para unir LANs entre sí.</a:t>
            </a:r>
          </a:p>
          <a:p>
            <a:pPr marL="342900" lvl="0" indent="-342900" fontAlgn="base">
              <a:lnSpc>
                <a:spcPct val="90000"/>
              </a:lnSpc>
              <a:spcBef>
                <a:spcPct val="20000"/>
              </a:spcBef>
              <a:spcAft>
                <a:spcPct val="0"/>
              </a:spcAft>
              <a:buFontTx/>
              <a:buChar char="•"/>
            </a:pPr>
            <a:endParaRPr lang="es-ES" sz="2800" kern="0" dirty="0">
              <a:solidFill>
                <a:srgbClr val="000000"/>
              </a:solidFill>
              <a:latin typeface="Times New Roman"/>
            </a:endParaRPr>
          </a:p>
          <a:p>
            <a:pPr marL="342900" lvl="0" indent="-342900" fontAlgn="base">
              <a:lnSpc>
                <a:spcPct val="90000"/>
              </a:lnSpc>
              <a:spcBef>
                <a:spcPct val="20000"/>
              </a:spcBef>
              <a:spcAft>
                <a:spcPct val="0"/>
              </a:spcAft>
              <a:buFontTx/>
              <a:buChar char="•"/>
            </a:pPr>
            <a:r>
              <a:rPr lang="es-ES" sz="2800" kern="0" dirty="0">
                <a:solidFill>
                  <a:srgbClr val="000000"/>
                </a:solidFill>
                <a:latin typeface="Times New Roman"/>
              </a:rPr>
              <a:t>Esto permite en ocasiones un ahorro considerable de costos en alquiler de circuitos de fibra óptica o cobre de circuitos conmutados a los ISPs.</a:t>
            </a:r>
          </a:p>
          <a:p>
            <a:pPr marL="342900" lvl="0" indent="-342900" fontAlgn="base">
              <a:lnSpc>
                <a:spcPct val="90000"/>
              </a:lnSpc>
              <a:spcBef>
                <a:spcPct val="20000"/>
              </a:spcBef>
              <a:spcAft>
                <a:spcPct val="0"/>
              </a:spcAft>
              <a:buFontTx/>
              <a:buChar char="•"/>
            </a:pPr>
            <a:endParaRPr lang="es-ES" sz="2800" kern="0" dirty="0">
              <a:solidFill>
                <a:srgbClr val="000000"/>
              </a:solidFill>
              <a:latin typeface="Times New Roman"/>
            </a:endParaRPr>
          </a:p>
          <a:p>
            <a:pPr marL="342900" lvl="0" indent="-342900" fontAlgn="base">
              <a:lnSpc>
                <a:spcPct val="90000"/>
              </a:lnSpc>
              <a:spcBef>
                <a:spcPct val="20000"/>
              </a:spcBef>
              <a:spcAft>
                <a:spcPct val="0"/>
              </a:spcAft>
              <a:buFontTx/>
              <a:buChar char="•"/>
            </a:pPr>
            <a:r>
              <a:rPr lang="es-ES" sz="2800" kern="0" dirty="0">
                <a:solidFill>
                  <a:srgbClr val="000000"/>
                </a:solidFill>
                <a:latin typeface="Times New Roman"/>
              </a:rPr>
              <a:t>Los dispositivos que se utilizan son puentes inalámbricos, parecidos a los puntos de acceso.</a:t>
            </a:r>
          </a:p>
          <a:p>
            <a:pPr marL="342900" lvl="0" indent="-342900" fontAlgn="base">
              <a:lnSpc>
                <a:spcPct val="90000"/>
              </a:lnSpc>
              <a:spcBef>
                <a:spcPct val="20000"/>
              </a:spcBef>
              <a:spcAft>
                <a:spcPct val="0"/>
              </a:spcAft>
              <a:buFontTx/>
              <a:buChar char="•"/>
            </a:pPr>
            <a:endParaRPr lang="es-ES" sz="2800" kern="0" dirty="0">
              <a:solidFill>
                <a:srgbClr val="000000"/>
              </a:solidFill>
              <a:latin typeface="Times New Roman"/>
            </a:endParaRPr>
          </a:p>
          <a:p>
            <a:pPr marL="342900" lvl="0" indent="-342900" fontAlgn="base">
              <a:lnSpc>
                <a:spcPct val="90000"/>
              </a:lnSpc>
              <a:spcBef>
                <a:spcPct val="20000"/>
              </a:spcBef>
              <a:spcAft>
                <a:spcPct val="0"/>
              </a:spcAft>
              <a:buFontTx/>
              <a:buChar char="•"/>
            </a:pPr>
            <a:r>
              <a:rPr lang="es-ES" sz="2800" kern="0" dirty="0">
                <a:solidFill>
                  <a:srgbClr val="000000"/>
                </a:solidFill>
                <a:latin typeface="Times New Roman"/>
              </a:rPr>
              <a:t>Como en este caso los puntos a unir no son móviles se pueden usar antenas muy direccionales, con lo que el alcance puede ser considerable.</a:t>
            </a:r>
          </a:p>
          <a:p>
            <a:pPr marL="342900" lvl="0" indent="-342900" fontAlgn="base">
              <a:lnSpc>
                <a:spcPct val="90000"/>
              </a:lnSpc>
              <a:spcBef>
                <a:spcPct val="20000"/>
              </a:spcBef>
              <a:spcAft>
                <a:spcPct val="0"/>
              </a:spcAft>
              <a:buFontTx/>
              <a:buChar char="•"/>
            </a:pPr>
            <a:endParaRPr lang="es-ES" sz="2800" kern="0" dirty="0">
              <a:solidFill>
                <a:srgbClr val="000000"/>
              </a:solidFill>
              <a:latin typeface="Times New Roman"/>
            </a:endParaRPr>
          </a:p>
          <a:p>
            <a:pPr marL="342900" lvl="0" indent="-342900" fontAlgn="base">
              <a:lnSpc>
                <a:spcPct val="90000"/>
              </a:lnSpc>
              <a:spcBef>
                <a:spcPct val="20000"/>
              </a:spcBef>
              <a:spcAft>
                <a:spcPct val="0"/>
              </a:spcAft>
              <a:buFontTx/>
              <a:buChar char="•"/>
            </a:pPr>
            <a:r>
              <a:rPr lang="es-ES" sz="2800" kern="0" dirty="0">
                <a:solidFill>
                  <a:srgbClr val="000000"/>
                </a:solidFill>
                <a:latin typeface="Times New Roman"/>
              </a:rPr>
              <a:t>Un puente puede actuar al mismo tiempo de punto de acceso inalámbrico</a:t>
            </a:r>
          </a:p>
        </p:txBody>
      </p:sp>
    </p:spTree>
    <p:extLst>
      <p:ext uri="{BB962C8B-B14F-4D97-AF65-F5344CB8AC3E}">
        <p14:creationId xmlns:p14="http://schemas.microsoft.com/office/powerpoint/2010/main" val="41083517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69333" y="0"/>
            <a:ext cx="8348133" cy="707886"/>
          </a:xfrm>
          <a:prstGeom prst="rect">
            <a:avLst/>
          </a:prstGeom>
        </p:spPr>
        <p:txBody>
          <a:bodyPr wrap="square">
            <a:spAutoFit/>
          </a:bodyPr>
          <a:lstStyle/>
          <a:p>
            <a:pPr lvl="0" fontAlgn="base">
              <a:spcBef>
                <a:spcPct val="0"/>
              </a:spcBef>
              <a:spcAft>
                <a:spcPct val="0"/>
              </a:spcAft>
            </a:pPr>
            <a:r>
              <a:rPr lang="es-ES" sz="4000" b="1" dirty="0">
                <a:solidFill>
                  <a:schemeClr val="accent1"/>
                </a:solidFill>
                <a:latin typeface="Arial" charset="0"/>
              </a:rPr>
              <a:t>Configuración punto a punto</a:t>
            </a:r>
          </a:p>
        </p:txBody>
      </p:sp>
      <p:pic>
        <p:nvPicPr>
          <p:cNvPr id="76" name="Imagen 75"/>
          <p:cNvPicPr>
            <a:picLocks noChangeAspect="1"/>
          </p:cNvPicPr>
          <p:nvPr/>
        </p:nvPicPr>
        <p:blipFill>
          <a:blip r:embed="rId3"/>
          <a:stretch>
            <a:fillRect/>
          </a:stretch>
        </p:blipFill>
        <p:spPr>
          <a:xfrm>
            <a:off x="1586702" y="707885"/>
            <a:ext cx="9223656" cy="5049447"/>
          </a:xfrm>
          <a:prstGeom prst="rect">
            <a:avLst/>
          </a:prstGeom>
        </p:spPr>
      </p:pic>
      <p:sp>
        <p:nvSpPr>
          <p:cNvPr id="77" name="CuadroTexto 76"/>
          <p:cNvSpPr txBox="1"/>
          <p:nvPr/>
        </p:nvSpPr>
        <p:spPr>
          <a:xfrm>
            <a:off x="4250267" y="5604933"/>
            <a:ext cx="4267199" cy="1200329"/>
          </a:xfrm>
          <a:prstGeom prst="rect">
            <a:avLst/>
          </a:prstGeom>
          <a:noFill/>
        </p:spPr>
        <p:txBody>
          <a:bodyPr wrap="square" rtlCol="0">
            <a:spAutoFit/>
          </a:bodyPr>
          <a:lstStyle/>
          <a:p>
            <a:r>
              <a:rPr lang="es-MX" b="1" i="1" dirty="0"/>
              <a:t>Restricciones ETSI </a:t>
            </a:r>
          </a:p>
          <a:p>
            <a:r>
              <a:rPr lang="es-MX" dirty="0"/>
              <a:t>Ganancia máxima: 20 dbi</a:t>
            </a:r>
          </a:p>
          <a:p>
            <a:r>
              <a:rPr lang="es-MX" dirty="0"/>
              <a:t>Potencia máxima: 100 mW</a:t>
            </a:r>
          </a:p>
          <a:p>
            <a:r>
              <a:rPr lang="es-MX" dirty="0"/>
              <a:t>Ambas cosas a la vez no están permitidas</a:t>
            </a:r>
            <a:endParaRPr lang="es-AR" dirty="0"/>
          </a:p>
        </p:txBody>
      </p:sp>
    </p:spTree>
    <p:extLst>
      <p:ext uri="{BB962C8B-B14F-4D97-AF65-F5344CB8AC3E}">
        <p14:creationId xmlns:p14="http://schemas.microsoft.com/office/powerpoint/2010/main" val="3838379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52400" y="-74841"/>
            <a:ext cx="8940800" cy="707886"/>
          </a:xfrm>
          <a:prstGeom prst="rect">
            <a:avLst/>
          </a:prstGeom>
        </p:spPr>
        <p:txBody>
          <a:bodyPr wrap="square">
            <a:spAutoFit/>
          </a:bodyPr>
          <a:lstStyle/>
          <a:p>
            <a:pPr lvl="0" fontAlgn="base">
              <a:spcBef>
                <a:spcPct val="0"/>
              </a:spcBef>
              <a:spcAft>
                <a:spcPct val="0"/>
              </a:spcAft>
            </a:pPr>
            <a:r>
              <a:rPr lang="es-ES" sz="4000" dirty="0">
                <a:solidFill>
                  <a:schemeClr val="accent1"/>
                </a:solidFill>
                <a:latin typeface="Arial" charset="0"/>
              </a:rPr>
              <a:t>¿Qué se entiende por visión directa?</a:t>
            </a:r>
          </a:p>
        </p:txBody>
      </p:sp>
      <p:sp>
        <p:nvSpPr>
          <p:cNvPr id="3" name="Rectángulo 2"/>
          <p:cNvSpPr/>
          <p:nvPr/>
        </p:nvSpPr>
        <p:spPr>
          <a:xfrm>
            <a:off x="152400" y="463692"/>
            <a:ext cx="11904132" cy="1323439"/>
          </a:xfrm>
          <a:prstGeom prst="rect">
            <a:avLst/>
          </a:prstGeom>
        </p:spPr>
        <p:txBody>
          <a:bodyPr wrap="square">
            <a:spAutoFit/>
          </a:bodyPr>
          <a:lstStyle/>
          <a:p>
            <a:pPr lvl="0" fontAlgn="base">
              <a:spcBef>
                <a:spcPct val="0"/>
              </a:spcBef>
              <a:spcAft>
                <a:spcPct val="0"/>
              </a:spcAft>
              <a:buFontTx/>
              <a:buChar char="•"/>
            </a:pPr>
            <a:r>
              <a:rPr lang="es-ES" sz="2000" b="1" dirty="0">
                <a:solidFill>
                  <a:srgbClr val="000000"/>
                </a:solidFill>
                <a:latin typeface="Arial" charset="0"/>
              </a:rPr>
              <a:t>No basta con ver la otra antena, es preciso tener una visión ‘holgada’</a:t>
            </a:r>
          </a:p>
          <a:p>
            <a:pPr lvl="0" fontAlgn="base">
              <a:spcBef>
                <a:spcPct val="0"/>
              </a:spcBef>
              <a:spcAft>
                <a:spcPct val="0"/>
              </a:spcAft>
              <a:buFontTx/>
              <a:buChar char="•"/>
            </a:pPr>
            <a:r>
              <a:rPr lang="es-ES" sz="2000" b="1" dirty="0">
                <a:solidFill>
                  <a:srgbClr val="000000"/>
                </a:solidFill>
                <a:latin typeface="Arial" charset="0"/>
              </a:rPr>
              <a:t>Se requiere una elipse libre de obstáculos entre antenas. Esto se debe a la difracción de la señal de radio en los objetos próximos</a:t>
            </a:r>
          </a:p>
          <a:p>
            <a:pPr lvl="0" fontAlgn="base">
              <a:spcBef>
                <a:spcPct val="0"/>
              </a:spcBef>
              <a:spcAft>
                <a:spcPct val="0"/>
              </a:spcAft>
              <a:buFontTx/>
              <a:buChar char="•"/>
            </a:pPr>
            <a:r>
              <a:rPr lang="es-ES" sz="2000" b="1" dirty="0">
                <a:solidFill>
                  <a:srgbClr val="000000"/>
                </a:solidFill>
                <a:latin typeface="Arial" charset="0"/>
              </a:rPr>
              <a:t>La vegetación puede crecer y obstaculizar la visión en alguna época del año</a:t>
            </a:r>
          </a:p>
        </p:txBody>
      </p:sp>
      <p:pic>
        <p:nvPicPr>
          <p:cNvPr id="4" name="Imagen 3"/>
          <p:cNvPicPr>
            <a:picLocks noChangeAspect="1"/>
          </p:cNvPicPr>
          <p:nvPr/>
        </p:nvPicPr>
        <p:blipFill>
          <a:blip r:embed="rId3"/>
          <a:stretch>
            <a:fillRect/>
          </a:stretch>
        </p:blipFill>
        <p:spPr>
          <a:xfrm>
            <a:off x="1560607" y="1787131"/>
            <a:ext cx="9087717" cy="2810444"/>
          </a:xfrm>
          <a:prstGeom prst="rect">
            <a:avLst/>
          </a:prstGeom>
        </p:spPr>
      </p:pic>
      <p:sp>
        <p:nvSpPr>
          <p:cNvPr id="5" name="Rectángulo 4"/>
          <p:cNvSpPr/>
          <p:nvPr/>
        </p:nvSpPr>
        <p:spPr>
          <a:xfrm>
            <a:off x="584524" y="5515602"/>
            <a:ext cx="4650889" cy="461665"/>
          </a:xfrm>
          <a:prstGeom prst="rect">
            <a:avLst/>
          </a:prstGeom>
        </p:spPr>
        <p:txBody>
          <a:bodyPr wrap="none">
            <a:spAutoFit/>
          </a:bodyPr>
          <a:lstStyle/>
          <a:p>
            <a:r>
              <a:rPr lang="es-AR" sz="2400" b="1" i="1" dirty="0">
                <a:solidFill>
                  <a:schemeClr val="accent1"/>
                </a:solidFill>
              </a:rPr>
              <a:t>Anchura zona Fresnel para 2,4 GHz</a:t>
            </a:r>
            <a:r>
              <a:rPr lang="es-AR" dirty="0"/>
              <a:t>:</a:t>
            </a:r>
          </a:p>
        </p:txBody>
      </p:sp>
      <p:graphicFrame>
        <p:nvGraphicFramePr>
          <p:cNvPr id="7" name="Tabla 6"/>
          <p:cNvGraphicFramePr>
            <a:graphicFrameLocks noGrp="1"/>
          </p:cNvGraphicFramePr>
          <p:nvPr>
            <p:extLst>
              <p:ext uri="{D42A27DB-BD31-4B8C-83A1-F6EECF244321}">
                <p14:modId xmlns:p14="http://schemas.microsoft.com/office/powerpoint/2010/main" val="4186282839"/>
              </p:ext>
            </p:extLst>
          </p:nvPr>
        </p:nvGraphicFramePr>
        <p:xfrm>
          <a:off x="5816600" y="4890129"/>
          <a:ext cx="5884333" cy="1712613"/>
        </p:xfrm>
        <a:graphic>
          <a:graphicData uri="http://schemas.openxmlformats.org/drawingml/2006/table">
            <a:tbl>
              <a:tblPr/>
              <a:tblGrid>
                <a:gridCol w="2122948">
                  <a:extLst>
                    <a:ext uri="{9D8B030D-6E8A-4147-A177-3AD203B41FA5}">
                      <a16:colId xmlns:a16="http://schemas.microsoft.com/office/drawing/2014/main" val="20000"/>
                    </a:ext>
                  </a:extLst>
                </a:gridCol>
                <a:gridCol w="936250">
                  <a:extLst>
                    <a:ext uri="{9D8B030D-6E8A-4147-A177-3AD203B41FA5}">
                      <a16:colId xmlns:a16="http://schemas.microsoft.com/office/drawing/2014/main" val="20001"/>
                    </a:ext>
                  </a:extLst>
                </a:gridCol>
                <a:gridCol w="933909">
                  <a:extLst>
                    <a:ext uri="{9D8B030D-6E8A-4147-A177-3AD203B41FA5}">
                      <a16:colId xmlns:a16="http://schemas.microsoft.com/office/drawing/2014/main" val="20002"/>
                    </a:ext>
                  </a:extLst>
                </a:gridCol>
                <a:gridCol w="912844">
                  <a:extLst>
                    <a:ext uri="{9D8B030D-6E8A-4147-A177-3AD203B41FA5}">
                      <a16:colId xmlns:a16="http://schemas.microsoft.com/office/drawing/2014/main" val="20003"/>
                    </a:ext>
                  </a:extLst>
                </a:gridCol>
                <a:gridCol w="978382">
                  <a:extLst>
                    <a:ext uri="{9D8B030D-6E8A-4147-A177-3AD203B41FA5}">
                      <a16:colId xmlns:a16="http://schemas.microsoft.com/office/drawing/2014/main" val="20004"/>
                    </a:ext>
                  </a:extLst>
                </a:gridCol>
              </a:tblGrid>
              <a:tr h="75096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800" b="1" i="0" u="none" strike="noStrike" cap="none" normalizeH="0" baseline="0" dirty="0">
                          <a:ln>
                            <a:noFill/>
                          </a:ln>
                          <a:solidFill>
                            <a:schemeClr val="tx1"/>
                          </a:solidFill>
                          <a:effectLst/>
                          <a:latin typeface="Arial" charset="0"/>
                        </a:rPr>
                        <a:t>Distancia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800" b="1" i="0" u="none" strike="noStrike" cap="none" normalizeH="0" baseline="0" dirty="0">
                          <a:ln>
                            <a:noFill/>
                          </a:ln>
                          <a:solidFill>
                            <a:schemeClr val="tx1"/>
                          </a:solidFill>
                          <a:effectLst/>
                          <a:latin typeface="Arial" charset="0"/>
                        </a:rPr>
                        <a:t>100 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800" b="1" i="0" u="none" strike="noStrike" cap="none" normalizeH="0" baseline="0" dirty="0">
                          <a:ln>
                            <a:noFill/>
                          </a:ln>
                          <a:solidFill>
                            <a:schemeClr val="tx1"/>
                          </a:solidFill>
                          <a:effectLst/>
                          <a:latin typeface="Arial" charset="0"/>
                        </a:rPr>
                        <a:t>500 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800" b="1" i="0" u="none" strike="noStrike" cap="none" normalizeH="0" baseline="0" dirty="0">
                          <a:ln>
                            <a:noFill/>
                          </a:ln>
                          <a:solidFill>
                            <a:schemeClr val="tx1"/>
                          </a:solidFill>
                          <a:effectLst/>
                          <a:latin typeface="Arial" charset="0"/>
                        </a:rPr>
                        <a:t>2 Km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800" b="1" i="0" u="none" strike="noStrike" cap="none" normalizeH="0" baseline="0" dirty="0">
                          <a:ln>
                            <a:noFill/>
                          </a:ln>
                          <a:solidFill>
                            <a:schemeClr val="tx1"/>
                          </a:solidFill>
                          <a:effectLst/>
                          <a:latin typeface="Arial" charset="0"/>
                        </a:rPr>
                        <a:t>10 Km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082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800" b="0" i="0" u="none" strike="noStrike" cap="none" normalizeH="0" baseline="0" dirty="0">
                          <a:ln>
                            <a:noFill/>
                          </a:ln>
                          <a:solidFill>
                            <a:schemeClr val="tx1"/>
                          </a:solidFill>
                          <a:effectLst/>
                          <a:latin typeface="Arial" charset="0"/>
                        </a:rPr>
                        <a:t>1ª Zona Fresnel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800" b="0" i="0" u="none" strike="noStrike" cap="none" normalizeH="0" baseline="0" dirty="0">
                          <a:ln>
                            <a:noFill/>
                          </a:ln>
                          <a:solidFill>
                            <a:schemeClr val="tx1"/>
                          </a:solidFill>
                          <a:effectLst/>
                          <a:latin typeface="Arial" charset="0"/>
                        </a:rPr>
                        <a:t>3,5 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800" b="0" i="0" u="none" strike="noStrike" cap="none" normalizeH="0" baseline="0" dirty="0">
                          <a:ln>
                            <a:noFill/>
                          </a:ln>
                          <a:solidFill>
                            <a:schemeClr val="tx1"/>
                          </a:solidFill>
                          <a:effectLst/>
                          <a:latin typeface="Arial" charset="0"/>
                        </a:rPr>
                        <a:t>8 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800" b="0" i="0" u="none" strike="noStrike" cap="none" normalizeH="0" baseline="0" dirty="0">
                          <a:ln>
                            <a:noFill/>
                          </a:ln>
                          <a:solidFill>
                            <a:schemeClr val="tx1"/>
                          </a:solidFill>
                          <a:effectLst/>
                          <a:latin typeface="Arial" charset="0"/>
                        </a:rPr>
                        <a:t>16 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800" b="0" i="0" u="none" strike="noStrike" cap="none" normalizeH="0" baseline="0" dirty="0">
                          <a:ln>
                            <a:noFill/>
                          </a:ln>
                          <a:solidFill>
                            <a:schemeClr val="tx1"/>
                          </a:solidFill>
                          <a:effectLst/>
                          <a:latin typeface="Arial" charset="0"/>
                        </a:rPr>
                        <a:t>36 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082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800" b="0" i="0" u="none" strike="noStrike" cap="none" normalizeH="0" baseline="0" dirty="0">
                          <a:ln>
                            <a:noFill/>
                          </a:ln>
                          <a:solidFill>
                            <a:schemeClr val="tx1"/>
                          </a:solidFill>
                          <a:effectLst/>
                          <a:latin typeface="Arial" charset="0"/>
                        </a:rPr>
                        <a:t>2ª Zona Fresnel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800" b="0" i="0" u="none" strike="noStrike" cap="none" normalizeH="0" baseline="0">
                          <a:ln>
                            <a:noFill/>
                          </a:ln>
                          <a:solidFill>
                            <a:schemeClr val="tx1"/>
                          </a:solidFill>
                          <a:effectLst/>
                          <a:latin typeface="Arial" charset="0"/>
                        </a:rPr>
                        <a:t>5 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800" b="0" i="0" u="none" strike="noStrike" cap="none" normalizeH="0" baseline="0" dirty="0">
                          <a:ln>
                            <a:noFill/>
                          </a:ln>
                          <a:solidFill>
                            <a:schemeClr val="tx1"/>
                          </a:solidFill>
                          <a:effectLst/>
                          <a:latin typeface="Arial" charset="0"/>
                        </a:rPr>
                        <a:t>12 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800" b="0" i="0" u="none" strike="noStrike" cap="none" normalizeH="0" baseline="0" dirty="0">
                          <a:ln>
                            <a:noFill/>
                          </a:ln>
                          <a:solidFill>
                            <a:schemeClr val="tx1"/>
                          </a:solidFill>
                          <a:effectLst/>
                          <a:latin typeface="Arial" charset="0"/>
                        </a:rPr>
                        <a:t>22 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1800" b="0" i="0" u="none" strike="noStrike" cap="none" normalizeH="0" baseline="0" dirty="0">
                          <a:ln>
                            <a:noFill/>
                          </a:ln>
                          <a:solidFill>
                            <a:schemeClr val="tx1"/>
                          </a:solidFill>
                          <a:effectLst/>
                          <a:latin typeface="Arial" charset="0"/>
                        </a:rPr>
                        <a:t>50 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866237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12141200" cy="707886"/>
          </a:xfrm>
          <a:prstGeom prst="rect">
            <a:avLst/>
          </a:prstGeom>
        </p:spPr>
        <p:txBody>
          <a:bodyPr wrap="square">
            <a:spAutoFit/>
          </a:bodyPr>
          <a:lstStyle/>
          <a:p>
            <a:pPr lvl="0" fontAlgn="base">
              <a:spcBef>
                <a:spcPct val="0"/>
              </a:spcBef>
              <a:spcAft>
                <a:spcPct val="0"/>
              </a:spcAft>
            </a:pPr>
            <a:r>
              <a:rPr lang="es-ES" sz="4000" dirty="0">
                <a:solidFill>
                  <a:srgbClr val="000000"/>
                </a:solidFill>
                <a:latin typeface="Arial" charset="0"/>
              </a:rPr>
              <a:t>Ejemplo de puentes inalámbricos: </a:t>
            </a:r>
            <a:r>
              <a:rPr lang="es-ES" sz="4000" dirty="0">
                <a:solidFill>
                  <a:schemeClr val="accent1"/>
                </a:solidFill>
                <a:latin typeface="Arial" charset="0"/>
              </a:rPr>
              <a:t>Ubiquity Networks</a:t>
            </a:r>
          </a:p>
        </p:txBody>
      </p:sp>
      <p:pic>
        <p:nvPicPr>
          <p:cNvPr id="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785" y="845715"/>
            <a:ext cx="1652588" cy="179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ángulo 3"/>
          <p:cNvSpPr/>
          <p:nvPr/>
        </p:nvSpPr>
        <p:spPr>
          <a:xfrm>
            <a:off x="513958" y="2754567"/>
            <a:ext cx="2391537" cy="707886"/>
          </a:xfrm>
          <a:prstGeom prst="rect">
            <a:avLst/>
          </a:prstGeom>
        </p:spPr>
        <p:txBody>
          <a:bodyPr wrap="square">
            <a:spAutoFit/>
          </a:bodyPr>
          <a:lstStyle/>
          <a:p>
            <a:pPr lvl="0" fontAlgn="base">
              <a:spcBef>
                <a:spcPct val="0"/>
              </a:spcBef>
              <a:spcAft>
                <a:spcPct val="0"/>
              </a:spcAft>
            </a:pPr>
            <a:r>
              <a:rPr lang="es-ES" sz="2000" b="1" dirty="0">
                <a:solidFill>
                  <a:srgbClr val="000000"/>
                </a:solidFill>
                <a:latin typeface="Arial" charset="0"/>
              </a:rPr>
              <a:t>Ganancia 13 dBi. Hasta 15 Km</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4400" y="695040"/>
            <a:ext cx="8331201" cy="5884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073" y="3573433"/>
            <a:ext cx="1638300"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ángulo 6"/>
          <p:cNvSpPr/>
          <p:nvPr/>
        </p:nvSpPr>
        <p:spPr>
          <a:xfrm>
            <a:off x="513958" y="5932778"/>
            <a:ext cx="2544860" cy="646331"/>
          </a:xfrm>
          <a:prstGeom prst="rect">
            <a:avLst/>
          </a:prstGeom>
        </p:spPr>
        <p:txBody>
          <a:bodyPr wrap="square">
            <a:spAutoFit/>
          </a:bodyPr>
          <a:lstStyle/>
          <a:p>
            <a:pPr lvl="0" fontAlgn="base">
              <a:spcBef>
                <a:spcPct val="0"/>
              </a:spcBef>
              <a:spcAft>
                <a:spcPct val="0"/>
              </a:spcAft>
            </a:pPr>
            <a:r>
              <a:rPr lang="es-ES" b="1" dirty="0">
                <a:solidFill>
                  <a:srgbClr val="000000"/>
                </a:solidFill>
                <a:latin typeface="Arial" charset="0"/>
              </a:rPr>
              <a:t>Ganancia 22 ó 25 dBi. Hasta 30 Km</a:t>
            </a:r>
          </a:p>
        </p:txBody>
      </p:sp>
    </p:spTree>
    <p:extLst>
      <p:ext uri="{BB962C8B-B14F-4D97-AF65-F5344CB8AC3E}">
        <p14:creationId xmlns:p14="http://schemas.microsoft.com/office/powerpoint/2010/main" val="20805500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3"/>
          <a:stretch>
            <a:fillRect/>
          </a:stretch>
        </p:blipFill>
        <p:spPr>
          <a:xfrm>
            <a:off x="385232" y="3741063"/>
            <a:ext cx="3103034" cy="2915782"/>
          </a:xfrm>
          <a:prstGeom prst="rect">
            <a:avLst/>
          </a:prstGeom>
        </p:spPr>
      </p:pic>
      <p:pic>
        <p:nvPicPr>
          <p:cNvPr id="4" name="Imagen 3"/>
          <p:cNvPicPr>
            <a:picLocks noChangeAspect="1"/>
          </p:cNvPicPr>
          <p:nvPr/>
        </p:nvPicPr>
        <p:blipFill>
          <a:blip r:embed="rId4"/>
          <a:stretch>
            <a:fillRect/>
          </a:stretch>
        </p:blipFill>
        <p:spPr>
          <a:xfrm>
            <a:off x="199991" y="209114"/>
            <a:ext cx="5354142" cy="3228354"/>
          </a:xfrm>
          <a:prstGeom prst="rect">
            <a:avLst/>
          </a:prstGeom>
        </p:spPr>
      </p:pic>
      <p:pic>
        <p:nvPicPr>
          <p:cNvPr id="3076" name="Picture 4" descr="https://prd-www-cdn.ubnt.com/media/images/product-features/edgepoint-features-purpose-built-3-2x.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11249" y="100361"/>
            <a:ext cx="5554795" cy="662893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p:cNvSpPr txBox="1"/>
          <p:nvPr/>
        </p:nvSpPr>
        <p:spPr>
          <a:xfrm>
            <a:off x="3847171" y="3947532"/>
            <a:ext cx="2185639" cy="2954655"/>
          </a:xfrm>
          <a:prstGeom prst="rect">
            <a:avLst/>
          </a:prstGeom>
          <a:noFill/>
        </p:spPr>
        <p:txBody>
          <a:bodyPr wrap="square" rtlCol="0">
            <a:spAutoFit/>
          </a:bodyPr>
          <a:lstStyle/>
          <a:p>
            <a:r>
              <a:rPr lang="es-MX" sz="3200" dirty="0"/>
              <a:t>    </a:t>
            </a:r>
            <a:r>
              <a:rPr lang="es-MX" sz="3200" b="1" dirty="0">
                <a:solidFill>
                  <a:schemeClr val="accent1"/>
                </a:solidFill>
              </a:rPr>
              <a:t>UNIFI</a:t>
            </a:r>
          </a:p>
          <a:p>
            <a:r>
              <a:rPr lang="es-MX" sz="3200" b="1" dirty="0">
                <a:solidFill>
                  <a:schemeClr val="accent1"/>
                </a:solidFill>
              </a:rPr>
              <a:t>EDGE Point</a:t>
            </a:r>
          </a:p>
          <a:p>
            <a:endParaRPr lang="es-MX" sz="3200" dirty="0"/>
          </a:p>
          <a:p>
            <a:r>
              <a:rPr lang="es-AR" dirty="0"/>
              <a:t>Models:   EP‑R6                   	EP‑R8</a:t>
            </a:r>
          </a:p>
          <a:p>
            <a:r>
              <a:rPr lang="es-AR" dirty="0"/>
              <a:t>                 EP‑S16</a:t>
            </a:r>
            <a:endParaRPr lang="es-MX" dirty="0"/>
          </a:p>
          <a:p>
            <a:endParaRPr lang="es-MX" dirty="0"/>
          </a:p>
          <a:p>
            <a:endParaRPr lang="es-AR" dirty="0"/>
          </a:p>
        </p:txBody>
      </p:sp>
    </p:spTree>
    <p:extLst>
      <p:ext uri="{BB962C8B-B14F-4D97-AF65-F5344CB8AC3E}">
        <p14:creationId xmlns:p14="http://schemas.microsoft.com/office/powerpoint/2010/main" val="36816383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p:cNvGraphicFramePr>
            <a:graphicFrameLocks noGrp="1"/>
          </p:cNvGraphicFramePr>
          <p:nvPr/>
        </p:nvGraphicFramePr>
        <p:xfrm>
          <a:off x="866774" y="2035334"/>
          <a:ext cx="10458452" cy="3931920"/>
        </p:xfrm>
        <a:graphic>
          <a:graphicData uri="http://schemas.openxmlformats.org/drawingml/2006/table">
            <a:tbl>
              <a:tblPr/>
              <a:tblGrid>
                <a:gridCol w="2614613">
                  <a:extLst>
                    <a:ext uri="{9D8B030D-6E8A-4147-A177-3AD203B41FA5}">
                      <a16:colId xmlns:a16="http://schemas.microsoft.com/office/drawing/2014/main" val="20000"/>
                    </a:ext>
                  </a:extLst>
                </a:gridCol>
                <a:gridCol w="2614613">
                  <a:extLst>
                    <a:ext uri="{9D8B030D-6E8A-4147-A177-3AD203B41FA5}">
                      <a16:colId xmlns:a16="http://schemas.microsoft.com/office/drawing/2014/main" val="20001"/>
                    </a:ext>
                  </a:extLst>
                </a:gridCol>
                <a:gridCol w="2614613">
                  <a:extLst>
                    <a:ext uri="{9D8B030D-6E8A-4147-A177-3AD203B41FA5}">
                      <a16:colId xmlns:a16="http://schemas.microsoft.com/office/drawing/2014/main" val="20002"/>
                    </a:ext>
                  </a:extLst>
                </a:gridCol>
                <a:gridCol w="2614613">
                  <a:extLst>
                    <a:ext uri="{9D8B030D-6E8A-4147-A177-3AD203B41FA5}">
                      <a16:colId xmlns:a16="http://schemas.microsoft.com/office/drawing/2014/main" val="20003"/>
                    </a:ext>
                  </a:extLst>
                </a:gridCol>
              </a:tblGrid>
              <a:tr h="0">
                <a:tc>
                  <a:txBody>
                    <a:bodyPr/>
                    <a:lstStyle/>
                    <a:p>
                      <a:pPr fontAlgn="b"/>
                      <a:endParaRPr lang="es-AR" b="1">
                        <a:solidFill>
                          <a:srgbClr val="222222"/>
                        </a:solidFill>
                        <a:effectLst/>
                      </a:endParaRPr>
                    </a:p>
                  </a:txBody>
                  <a:tcPr anchor="b">
                    <a:lnL>
                      <a:noFill/>
                    </a:lnL>
                    <a:lnR>
                      <a:noFill/>
                    </a:lnR>
                    <a:lnT>
                      <a:noFill/>
                    </a:lnT>
                    <a:lnB w="12700" cap="flat" cmpd="sng" algn="ctr">
                      <a:solidFill>
                        <a:srgbClr val="ACACAC"/>
                      </a:solidFill>
                      <a:prstDash val="solid"/>
                      <a:round/>
                      <a:headEnd type="none" w="med" len="med"/>
                      <a:tailEnd type="none" w="med" len="med"/>
                    </a:lnB>
                  </a:tcPr>
                </a:tc>
                <a:tc>
                  <a:txBody>
                    <a:bodyPr/>
                    <a:lstStyle/>
                    <a:p>
                      <a:pPr fontAlgn="b"/>
                      <a:endParaRPr lang="es-AR">
                        <a:solidFill>
                          <a:srgbClr val="222222"/>
                        </a:solidFill>
                        <a:effectLst/>
                      </a:endParaRPr>
                    </a:p>
                    <a:p>
                      <a:pPr fontAlgn="b"/>
                      <a:r>
                        <a:rPr lang="es-AR">
                          <a:solidFill>
                            <a:srgbClr val="17191D"/>
                          </a:solidFill>
                          <a:effectLst/>
                        </a:rPr>
                        <a:t>EP-R6</a:t>
                      </a:r>
                    </a:p>
                  </a:txBody>
                  <a:tcPr anchor="b">
                    <a:lnL>
                      <a:noFill/>
                    </a:lnL>
                    <a:lnR>
                      <a:noFill/>
                    </a:lnR>
                    <a:lnT>
                      <a:noFill/>
                    </a:lnT>
                    <a:lnB w="12700" cap="flat" cmpd="sng" algn="ctr">
                      <a:solidFill>
                        <a:srgbClr val="ACACAC"/>
                      </a:solidFill>
                      <a:prstDash val="solid"/>
                      <a:round/>
                      <a:headEnd type="none" w="med" len="med"/>
                      <a:tailEnd type="none" w="med" len="med"/>
                    </a:lnB>
                  </a:tcPr>
                </a:tc>
                <a:tc>
                  <a:txBody>
                    <a:bodyPr/>
                    <a:lstStyle/>
                    <a:p>
                      <a:pPr fontAlgn="b"/>
                      <a:endParaRPr lang="es-AR">
                        <a:solidFill>
                          <a:srgbClr val="222222"/>
                        </a:solidFill>
                        <a:effectLst/>
                      </a:endParaRPr>
                    </a:p>
                    <a:p>
                      <a:pPr fontAlgn="b"/>
                      <a:r>
                        <a:rPr lang="es-AR">
                          <a:solidFill>
                            <a:srgbClr val="17191D"/>
                          </a:solidFill>
                          <a:effectLst/>
                        </a:rPr>
                        <a:t>EP-R8</a:t>
                      </a:r>
                    </a:p>
                  </a:txBody>
                  <a:tcPr anchor="b">
                    <a:lnL>
                      <a:noFill/>
                    </a:lnL>
                    <a:lnR>
                      <a:noFill/>
                    </a:lnR>
                    <a:lnT>
                      <a:noFill/>
                    </a:lnT>
                    <a:lnB w="12700" cap="flat" cmpd="sng" algn="ctr">
                      <a:solidFill>
                        <a:srgbClr val="ACACAC"/>
                      </a:solidFill>
                      <a:prstDash val="solid"/>
                      <a:round/>
                      <a:headEnd type="none" w="med" len="med"/>
                      <a:tailEnd type="none" w="med" len="med"/>
                    </a:lnB>
                  </a:tcPr>
                </a:tc>
                <a:tc>
                  <a:txBody>
                    <a:bodyPr/>
                    <a:lstStyle/>
                    <a:p>
                      <a:pPr fontAlgn="b"/>
                      <a:endParaRPr lang="es-AR">
                        <a:solidFill>
                          <a:srgbClr val="222222"/>
                        </a:solidFill>
                        <a:effectLst/>
                      </a:endParaRPr>
                    </a:p>
                    <a:p>
                      <a:pPr fontAlgn="b"/>
                      <a:r>
                        <a:rPr lang="es-AR">
                          <a:solidFill>
                            <a:srgbClr val="17191D"/>
                          </a:solidFill>
                          <a:effectLst/>
                        </a:rPr>
                        <a:t>EP-S16</a:t>
                      </a:r>
                    </a:p>
                  </a:txBody>
                  <a:tcPr anchor="b">
                    <a:lnL>
                      <a:noFill/>
                    </a:lnL>
                    <a:lnR>
                      <a:noFill/>
                    </a:lnR>
                    <a:lnT>
                      <a:noFill/>
                    </a:lnT>
                    <a:lnB w="12700" cap="flat" cmpd="sng" algn="ctr">
                      <a:solidFill>
                        <a:srgbClr val="ACACAC"/>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fontAlgn="ctr"/>
                      <a:r>
                        <a:rPr lang="es-AR" b="1">
                          <a:solidFill>
                            <a:srgbClr val="666666"/>
                          </a:solidFill>
                          <a:effectLst/>
                        </a:rPr>
                        <a:t>Function</a:t>
                      </a:r>
                    </a:p>
                  </a:txBody>
                  <a:tcPr anchor="ctr">
                    <a:lnL>
                      <a:noFill/>
                    </a:lnL>
                    <a:lnR>
                      <a:noFill/>
                    </a:lnR>
                    <a:lnT w="12700" cap="flat" cmpd="sng" algn="ctr">
                      <a:solidFill>
                        <a:srgbClr val="ACACAC"/>
                      </a:solidFill>
                      <a:prstDash val="solid"/>
                      <a:round/>
                      <a:headEnd type="none" w="med" len="med"/>
                      <a:tailEnd type="none" w="med" len="med"/>
                    </a:lnT>
                    <a:lnB w="9525" cap="flat" cmpd="sng" algn="ctr">
                      <a:solidFill>
                        <a:srgbClr val="48855A"/>
                      </a:solidFill>
                      <a:prstDash val="solid"/>
                      <a:round/>
                      <a:headEnd type="none" w="med" len="med"/>
                      <a:tailEnd type="none" w="med" len="med"/>
                    </a:lnB>
                  </a:tcPr>
                </a:tc>
                <a:tc>
                  <a:txBody>
                    <a:bodyPr/>
                    <a:lstStyle/>
                    <a:p>
                      <a:pPr fontAlgn="ctr"/>
                      <a:r>
                        <a:rPr lang="es-AR">
                          <a:solidFill>
                            <a:srgbClr val="666666"/>
                          </a:solidFill>
                          <a:effectLst/>
                        </a:rPr>
                        <a:t>Router</a:t>
                      </a:r>
                    </a:p>
                  </a:txBody>
                  <a:tcPr anchor="ctr">
                    <a:lnL>
                      <a:noFill/>
                    </a:lnL>
                    <a:lnR>
                      <a:noFill/>
                    </a:lnR>
                    <a:lnT w="12700" cap="flat" cmpd="sng" algn="ctr">
                      <a:solidFill>
                        <a:srgbClr val="ACACAC"/>
                      </a:solidFill>
                      <a:prstDash val="solid"/>
                      <a:round/>
                      <a:headEnd type="none" w="med" len="med"/>
                      <a:tailEnd type="none" w="med" len="med"/>
                    </a:lnT>
                    <a:lnB w="9525" cap="flat" cmpd="sng" algn="ctr">
                      <a:solidFill>
                        <a:srgbClr val="C8835A"/>
                      </a:solidFill>
                      <a:prstDash val="solid"/>
                      <a:round/>
                      <a:headEnd type="none" w="med" len="med"/>
                      <a:tailEnd type="none" w="med" len="med"/>
                    </a:lnB>
                  </a:tcPr>
                </a:tc>
                <a:tc>
                  <a:txBody>
                    <a:bodyPr/>
                    <a:lstStyle/>
                    <a:p>
                      <a:pPr fontAlgn="ctr"/>
                      <a:r>
                        <a:rPr lang="es-AR">
                          <a:solidFill>
                            <a:srgbClr val="666666"/>
                          </a:solidFill>
                          <a:effectLst/>
                        </a:rPr>
                        <a:t>Router</a:t>
                      </a:r>
                    </a:p>
                  </a:txBody>
                  <a:tcPr anchor="ctr">
                    <a:lnL>
                      <a:noFill/>
                    </a:lnL>
                    <a:lnR>
                      <a:noFill/>
                    </a:lnR>
                    <a:lnT w="12700" cap="flat" cmpd="sng" algn="ctr">
                      <a:solidFill>
                        <a:srgbClr val="ACACAC"/>
                      </a:solidFill>
                      <a:prstDash val="solid"/>
                      <a:round/>
                      <a:headEnd type="none" w="med" len="med"/>
                      <a:tailEnd type="none" w="med" len="med"/>
                    </a:lnT>
                    <a:lnB w="9525" cap="flat" cmpd="sng" algn="ctr">
                      <a:solidFill>
                        <a:srgbClr val="38865A"/>
                      </a:solidFill>
                      <a:prstDash val="solid"/>
                      <a:round/>
                      <a:headEnd type="none" w="med" len="med"/>
                      <a:tailEnd type="none" w="med" len="med"/>
                    </a:lnB>
                  </a:tcPr>
                </a:tc>
                <a:tc>
                  <a:txBody>
                    <a:bodyPr/>
                    <a:lstStyle/>
                    <a:p>
                      <a:pPr fontAlgn="ctr"/>
                      <a:r>
                        <a:rPr lang="es-AR">
                          <a:solidFill>
                            <a:srgbClr val="666666"/>
                          </a:solidFill>
                          <a:effectLst/>
                        </a:rPr>
                        <a:t>Switch</a:t>
                      </a:r>
                    </a:p>
                  </a:txBody>
                  <a:tcPr anchor="ctr">
                    <a:lnL>
                      <a:noFill/>
                    </a:lnL>
                    <a:lnR>
                      <a:noFill/>
                    </a:lnR>
                    <a:lnT w="12700" cap="flat" cmpd="sng" algn="ctr">
                      <a:solidFill>
                        <a:srgbClr val="ACACAC"/>
                      </a:solidFill>
                      <a:prstDash val="solid"/>
                      <a:round/>
                      <a:headEnd type="none" w="med" len="med"/>
                      <a:tailEnd type="none" w="med" len="med"/>
                    </a:lnT>
                    <a:lnB w="9525" cap="flat" cmpd="sng" algn="ctr">
                      <a:solidFill>
                        <a:srgbClr val="78825A"/>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fontAlgn="ctr"/>
                      <a:r>
                        <a:rPr lang="es-AR" b="1">
                          <a:solidFill>
                            <a:srgbClr val="666666"/>
                          </a:solidFill>
                          <a:effectLst/>
                        </a:rPr>
                        <a:t>Gigabit RJ45 Ports</a:t>
                      </a:r>
                    </a:p>
                  </a:txBody>
                  <a:tcPr anchor="ctr">
                    <a:lnL>
                      <a:noFill/>
                    </a:lnL>
                    <a:lnR>
                      <a:noFill/>
                    </a:lnR>
                    <a:lnT w="9525" cap="flat" cmpd="sng" algn="ctr">
                      <a:solidFill>
                        <a:srgbClr val="48855A"/>
                      </a:solidFill>
                      <a:prstDash val="solid"/>
                      <a:round/>
                      <a:headEnd type="none" w="med" len="med"/>
                      <a:tailEnd type="none" w="med" len="med"/>
                    </a:lnT>
                    <a:lnB w="9525" cap="flat" cmpd="sng" algn="ctr">
                      <a:solidFill>
                        <a:srgbClr val="D8855A"/>
                      </a:solidFill>
                      <a:prstDash val="solid"/>
                      <a:round/>
                      <a:headEnd type="none" w="med" len="med"/>
                      <a:tailEnd type="none" w="med" len="med"/>
                    </a:lnB>
                  </a:tcPr>
                </a:tc>
                <a:tc>
                  <a:txBody>
                    <a:bodyPr/>
                    <a:lstStyle/>
                    <a:p>
                      <a:pPr fontAlgn="ctr"/>
                      <a:r>
                        <a:rPr lang="es-AR">
                          <a:solidFill>
                            <a:srgbClr val="666666"/>
                          </a:solidFill>
                          <a:effectLst/>
                        </a:rPr>
                        <a:t>5</a:t>
                      </a:r>
                    </a:p>
                  </a:txBody>
                  <a:tcPr anchor="ctr">
                    <a:lnL>
                      <a:noFill/>
                    </a:lnL>
                    <a:lnR>
                      <a:noFill/>
                    </a:lnR>
                    <a:lnT w="9525" cap="flat" cmpd="sng" algn="ctr">
                      <a:solidFill>
                        <a:srgbClr val="C8835A"/>
                      </a:solidFill>
                      <a:prstDash val="solid"/>
                      <a:round/>
                      <a:headEnd type="none" w="med" len="med"/>
                      <a:tailEnd type="none" w="med" len="med"/>
                    </a:lnT>
                    <a:lnB w="9525" cap="flat" cmpd="sng" algn="ctr">
                      <a:solidFill>
                        <a:srgbClr val="C8865A"/>
                      </a:solidFill>
                      <a:prstDash val="solid"/>
                      <a:round/>
                      <a:headEnd type="none" w="med" len="med"/>
                      <a:tailEnd type="none" w="med" len="med"/>
                    </a:lnB>
                  </a:tcPr>
                </a:tc>
                <a:tc>
                  <a:txBody>
                    <a:bodyPr/>
                    <a:lstStyle/>
                    <a:p>
                      <a:pPr fontAlgn="ctr"/>
                      <a:r>
                        <a:rPr lang="es-AR">
                          <a:solidFill>
                            <a:srgbClr val="666666"/>
                          </a:solidFill>
                          <a:effectLst/>
                        </a:rPr>
                        <a:t>6+2*</a:t>
                      </a:r>
                    </a:p>
                  </a:txBody>
                  <a:tcPr anchor="ctr">
                    <a:lnL>
                      <a:noFill/>
                    </a:lnL>
                    <a:lnR>
                      <a:noFill/>
                    </a:lnR>
                    <a:lnT w="9525" cap="flat" cmpd="sng" algn="ctr">
                      <a:solidFill>
                        <a:srgbClr val="38865A"/>
                      </a:solidFill>
                      <a:prstDash val="solid"/>
                      <a:round/>
                      <a:headEnd type="none" w="med" len="med"/>
                      <a:tailEnd type="none" w="med" len="med"/>
                    </a:lnT>
                    <a:lnB w="9525" cap="flat" cmpd="sng" algn="ctr">
                      <a:solidFill>
                        <a:srgbClr val="68865A"/>
                      </a:solidFill>
                      <a:prstDash val="solid"/>
                      <a:round/>
                      <a:headEnd type="none" w="med" len="med"/>
                      <a:tailEnd type="none" w="med" len="med"/>
                    </a:lnB>
                  </a:tcPr>
                </a:tc>
                <a:tc>
                  <a:txBody>
                    <a:bodyPr/>
                    <a:lstStyle/>
                    <a:p>
                      <a:pPr fontAlgn="ctr"/>
                      <a:r>
                        <a:rPr lang="es-AR">
                          <a:solidFill>
                            <a:srgbClr val="666666"/>
                          </a:solidFill>
                          <a:effectLst/>
                        </a:rPr>
                        <a:t>16</a:t>
                      </a:r>
                    </a:p>
                  </a:txBody>
                  <a:tcPr anchor="ctr">
                    <a:lnL>
                      <a:noFill/>
                    </a:lnL>
                    <a:lnR>
                      <a:noFill/>
                    </a:lnR>
                    <a:lnT w="9525" cap="flat" cmpd="sng" algn="ctr">
                      <a:solidFill>
                        <a:srgbClr val="78825A"/>
                      </a:solidFill>
                      <a:prstDash val="solid"/>
                      <a:round/>
                      <a:headEnd type="none" w="med" len="med"/>
                      <a:tailEnd type="none" w="med" len="med"/>
                    </a:lnT>
                    <a:lnB w="9525" cap="flat" cmpd="sng" algn="ctr">
                      <a:solidFill>
                        <a:srgbClr val="C8865A"/>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fontAlgn="ctr"/>
                      <a:r>
                        <a:rPr lang="es-AR" b="1">
                          <a:solidFill>
                            <a:srgbClr val="666666"/>
                          </a:solidFill>
                          <a:effectLst/>
                        </a:rPr>
                        <a:t>SFP Ports</a:t>
                      </a:r>
                    </a:p>
                  </a:txBody>
                  <a:tcPr anchor="ctr">
                    <a:lnL>
                      <a:noFill/>
                    </a:lnL>
                    <a:lnR>
                      <a:noFill/>
                    </a:lnR>
                    <a:lnT w="9525" cap="flat" cmpd="sng" algn="ctr">
                      <a:solidFill>
                        <a:srgbClr val="D8855A"/>
                      </a:solidFill>
                      <a:prstDash val="solid"/>
                      <a:round/>
                      <a:headEnd type="none" w="med" len="med"/>
                      <a:tailEnd type="none" w="med" len="med"/>
                    </a:lnT>
                    <a:lnB w="9525" cap="flat" cmpd="sng" algn="ctr">
                      <a:solidFill>
                        <a:srgbClr val="38835A"/>
                      </a:solidFill>
                      <a:prstDash val="solid"/>
                      <a:round/>
                      <a:headEnd type="none" w="med" len="med"/>
                      <a:tailEnd type="none" w="med" len="med"/>
                    </a:lnB>
                  </a:tcPr>
                </a:tc>
                <a:tc>
                  <a:txBody>
                    <a:bodyPr/>
                    <a:lstStyle/>
                    <a:p>
                      <a:pPr fontAlgn="ctr"/>
                      <a:r>
                        <a:rPr lang="es-AR">
                          <a:solidFill>
                            <a:srgbClr val="666666"/>
                          </a:solidFill>
                          <a:effectLst/>
                        </a:rPr>
                        <a:t>1</a:t>
                      </a:r>
                    </a:p>
                  </a:txBody>
                  <a:tcPr anchor="ctr">
                    <a:lnL>
                      <a:noFill/>
                    </a:lnL>
                    <a:lnR>
                      <a:noFill/>
                    </a:lnR>
                    <a:lnT w="9525" cap="flat" cmpd="sng" algn="ctr">
                      <a:solidFill>
                        <a:srgbClr val="C8865A"/>
                      </a:solidFill>
                      <a:prstDash val="solid"/>
                      <a:round/>
                      <a:headEnd type="none" w="med" len="med"/>
                      <a:tailEnd type="none" w="med" len="med"/>
                    </a:lnT>
                    <a:lnB w="9525" cap="flat" cmpd="sng" algn="ctr">
                      <a:solidFill>
                        <a:srgbClr val="78825A"/>
                      </a:solidFill>
                      <a:prstDash val="solid"/>
                      <a:round/>
                      <a:headEnd type="none" w="med" len="med"/>
                      <a:tailEnd type="none" w="med" len="med"/>
                    </a:lnB>
                  </a:tcPr>
                </a:tc>
                <a:tc>
                  <a:txBody>
                    <a:bodyPr/>
                    <a:lstStyle/>
                    <a:p>
                      <a:pPr fontAlgn="ctr"/>
                      <a:r>
                        <a:rPr lang="es-AR">
                          <a:solidFill>
                            <a:srgbClr val="666666"/>
                          </a:solidFill>
                          <a:effectLst/>
                        </a:rPr>
                        <a:t>2*</a:t>
                      </a:r>
                    </a:p>
                  </a:txBody>
                  <a:tcPr anchor="ctr">
                    <a:lnL>
                      <a:noFill/>
                    </a:lnL>
                    <a:lnR>
                      <a:noFill/>
                    </a:lnR>
                    <a:lnT w="9525" cap="flat" cmpd="sng" algn="ctr">
                      <a:solidFill>
                        <a:srgbClr val="68865A"/>
                      </a:solidFill>
                      <a:prstDash val="solid"/>
                      <a:round/>
                      <a:headEnd type="none" w="med" len="med"/>
                      <a:tailEnd type="none" w="med" len="med"/>
                    </a:lnT>
                    <a:lnB w="9525" cap="flat" cmpd="sng" algn="ctr">
                      <a:solidFill>
                        <a:srgbClr val="68835A"/>
                      </a:solidFill>
                      <a:prstDash val="solid"/>
                      <a:round/>
                      <a:headEnd type="none" w="med" len="med"/>
                      <a:tailEnd type="none" w="med" len="med"/>
                    </a:lnB>
                  </a:tcPr>
                </a:tc>
                <a:tc>
                  <a:txBody>
                    <a:bodyPr/>
                    <a:lstStyle/>
                    <a:p>
                      <a:pPr fontAlgn="ctr"/>
                      <a:r>
                        <a:rPr lang="es-AR">
                          <a:solidFill>
                            <a:srgbClr val="666666"/>
                          </a:solidFill>
                          <a:effectLst/>
                        </a:rPr>
                        <a:t>N/A</a:t>
                      </a:r>
                    </a:p>
                  </a:txBody>
                  <a:tcPr anchor="ctr">
                    <a:lnL>
                      <a:noFill/>
                    </a:lnL>
                    <a:lnR>
                      <a:noFill/>
                    </a:lnR>
                    <a:lnT w="9525" cap="flat" cmpd="sng" algn="ctr">
                      <a:solidFill>
                        <a:srgbClr val="C8865A"/>
                      </a:solidFill>
                      <a:prstDash val="solid"/>
                      <a:round/>
                      <a:headEnd type="none" w="med" len="med"/>
                      <a:tailEnd type="none" w="med" len="med"/>
                    </a:lnT>
                    <a:lnB w="9525" cap="flat" cmpd="sng" algn="ctr">
                      <a:solidFill>
                        <a:srgbClr val="38865A"/>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fontAlgn="ctr"/>
                      <a:r>
                        <a:rPr lang="es-AR" b="1">
                          <a:solidFill>
                            <a:srgbClr val="666666"/>
                          </a:solidFill>
                          <a:effectLst/>
                        </a:rPr>
                        <a:t>SFP+ Ports</a:t>
                      </a:r>
                    </a:p>
                  </a:txBody>
                  <a:tcPr anchor="ctr">
                    <a:lnL>
                      <a:noFill/>
                    </a:lnL>
                    <a:lnR>
                      <a:noFill/>
                    </a:lnR>
                    <a:lnT w="9525" cap="flat" cmpd="sng" algn="ctr">
                      <a:solidFill>
                        <a:srgbClr val="38835A"/>
                      </a:solidFill>
                      <a:prstDash val="solid"/>
                      <a:round/>
                      <a:headEnd type="none" w="med" len="med"/>
                      <a:tailEnd type="none" w="med" len="med"/>
                    </a:lnT>
                    <a:lnB w="9525" cap="flat" cmpd="sng" algn="ctr">
                      <a:solidFill>
                        <a:srgbClr val="78825A"/>
                      </a:solidFill>
                      <a:prstDash val="solid"/>
                      <a:round/>
                      <a:headEnd type="none" w="med" len="med"/>
                      <a:tailEnd type="none" w="med" len="med"/>
                    </a:lnB>
                  </a:tcPr>
                </a:tc>
                <a:tc>
                  <a:txBody>
                    <a:bodyPr/>
                    <a:lstStyle/>
                    <a:p>
                      <a:pPr fontAlgn="ctr"/>
                      <a:r>
                        <a:rPr lang="es-AR">
                          <a:solidFill>
                            <a:srgbClr val="666666"/>
                          </a:solidFill>
                          <a:effectLst/>
                        </a:rPr>
                        <a:t>N/A</a:t>
                      </a:r>
                    </a:p>
                  </a:txBody>
                  <a:tcPr anchor="ctr">
                    <a:lnL>
                      <a:noFill/>
                    </a:lnL>
                    <a:lnR>
                      <a:noFill/>
                    </a:lnR>
                    <a:lnT w="9525" cap="flat" cmpd="sng" algn="ctr">
                      <a:solidFill>
                        <a:srgbClr val="78825A"/>
                      </a:solidFill>
                      <a:prstDash val="solid"/>
                      <a:round/>
                      <a:headEnd type="none" w="med" len="med"/>
                      <a:tailEnd type="none" w="med" len="med"/>
                    </a:lnT>
                    <a:lnB w="9525" cap="flat" cmpd="sng" algn="ctr">
                      <a:solidFill>
                        <a:srgbClr val="78825A"/>
                      </a:solidFill>
                      <a:prstDash val="solid"/>
                      <a:round/>
                      <a:headEnd type="none" w="med" len="med"/>
                      <a:tailEnd type="none" w="med" len="med"/>
                    </a:lnB>
                  </a:tcPr>
                </a:tc>
                <a:tc>
                  <a:txBody>
                    <a:bodyPr/>
                    <a:lstStyle/>
                    <a:p>
                      <a:pPr fontAlgn="ctr"/>
                      <a:r>
                        <a:rPr lang="es-AR">
                          <a:solidFill>
                            <a:srgbClr val="666666"/>
                          </a:solidFill>
                          <a:effectLst/>
                        </a:rPr>
                        <a:t>N/A</a:t>
                      </a:r>
                    </a:p>
                  </a:txBody>
                  <a:tcPr anchor="ctr">
                    <a:lnL>
                      <a:noFill/>
                    </a:lnL>
                    <a:lnR>
                      <a:noFill/>
                    </a:lnR>
                    <a:lnT w="9525" cap="flat" cmpd="sng" algn="ctr">
                      <a:solidFill>
                        <a:srgbClr val="68835A"/>
                      </a:solidFill>
                      <a:prstDash val="solid"/>
                      <a:round/>
                      <a:headEnd type="none" w="med" len="med"/>
                      <a:tailEnd type="none" w="med" len="med"/>
                    </a:lnT>
                    <a:lnB w="9525" cap="flat" cmpd="sng" algn="ctr">
                      <a:solidFill>
                        <a:srgbClr val="78825A"/>
                      </a:solidFill>
                      <a:prstDash val="solid"/>
                      <a:round/>
                      <a:headEnd type="none" w="med" len="med"/>
                      <a:tailEnd type="none" w="med" len="med"/>
                    </a:lnB>
                  </a:tcPr>
                </a:tc>
                <a:tc>
                  <a:txBody>
                    <a:bodyPr/>
                    <a:lstStyle/>
                    <a:p>
                      <a:pPr fontAlgn="ctr"/>
                      <a:r>
                        <a:rPr lang="es-AR">
                          <a:solidFill>
                            <a:srgbClr val="666666"/>
                          </a:solidFill>
                          <a:effectLst/>
                        </a:rPr>
                        <a:t>2</a:t>
                      </a:r>
                    </a:p>
                  </a:txBody>
                  <a:tcPr anchor="ctr">
                    <a:lnL>
                      <a:noFill/>
                    </a:lnL>
                    <a:lnR>
                      <a:noFill/>
                    </a:lnR>
                    <a:lnT w="9525" cap="flat" cmpd="sng" algn="ctr">
                      <a:solidFill>
                        <a:srgbClr val="38865A"/>
                      </a:solidFill>
                      <a:prstDash val="solid"/>
                      <a:round/>
                      <a:headEnd type="none" w="med" len="med"/>
                      <a:tailEnd type="none" w="med" len="med"/>
                    </a:lnT>
                    <a:lnB w="9525" cap="flat" cmpd="sng" algn="ctr">
                      <a:solidFill>
                        <a:srgbClr val="58845A"/>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fontAlgn="ctr"/>
                      <a:r>
                        <a:rPr lang="es-AR" b="1">
                          <a:solidFill>
                            <a:srgbClr val="666666"/>
                          </a:solidFill>
                          <a:effectLst/>
                        </a:rPr>
                        <a:t>Power Input</a:t>
                      </a:r>
                    </a:p>
                  </a:txBody>
                  <a:tcPr anchor="ctr">
                    <a:lnL>
                      <a:noFill/>
                    </a:lnL>
                    <a:lnR>
                      <a:noFill/>
                    </a:lnR>
                    <a:lnT w="9525" cap="flat" cmpd="sng" algn="ctr">
                      <a:solidFill>
                        <a:srgbClr val="78825A"/>
                      </a:solidFill>
                      <a:prstDash val="solid"/>
                      <a:round/>
                      <a:headEnd type="none" w="med" len="med"/>
                      <a:tailEnd type="none" w="med" len="med"/>
                    </a:lnT>
                    <a:lnB w="9525" cap="flat" cmpd="sng" algn="ctr">
                      <a:solidFill>
                        <a:srgbClr val="28815A"/>
                      </a:solidFill>
                      <a:prstDash val="solid"/>
                      <a:round/>
                      <a:headEnd type="none" w="med" len="med"/>
                      <a:tailEnd type="none" w="med" len="med"/>
                    </a:lnB>
                  </a:tcPr>
                </a:tc>
                <a:tc>
                  <a:txBody>
                    <a:bodyPr/>
                    <a:lstStyle/>
                    <a:p>
                      <a:pPr fontAlgn="ctr"/>
                      <a:r>
                        <a:rPr lang="es-AR">
                          <a:solidFill>
                            <a:srgbClr val="666666"/>
                          </a:solidFill>
                          <a:effectLst/>
                        </a:rPr>
                        <a:t>(1) DC Terminal Block</a:t>
                      </a:r>
                      <a:br>
                        <a:rPr lang="es-AR">
                          <a:solidFill>
                            <a:srgbClr val="666666"/>
                          </a:solidFill>
                          <a:effectLst/>
                        </a:rPr>
                      </a:br>
                      <a:r>
                        <a:rPr lang="es-AR">
                          <a:solidFill>
                            <a:srgbClr val="666666"/>
                          </a:solidFill>
                          <a:effectLst/>
                        </a:rPr>
                        <a:t>or</a:t>
                      </a:r>
                      <a:br>
                        <a:rPr lang="es-AR">
                          <a:solidFill>
                            <a:srgbClr val="666666"/>
                          </a:solidFill>
                          <a:effectLst/>
                        </a:rPr>
                      </a:br>
                      <a:r>
                        <a:rPr lang="es-AR">
                          <a:solidFill>
                            <a:srgbClr val="666666"/>
                          </a:solidFill>
                          <a:effectLst/>
                        </a:rPr>
                        <a:t>(1) 24V, 4-Pair</a:t>
                      </a:r>
                    </a:p>
                  </a:txBody>
                  <a:tcPr anchor="ctr">
                    <a:lnL>
                      <a:noFill/>
                    </a:lnL>
                    <a:lnR>
                      <a:noFill/>
                    </a:lnR>
                    <a:lnT w="9525" cap="flat" cmpd="sng" algn="ctr">
                      <a:solidFill>
                        <a:srgbClr val="78825A"/>
                      </a:solidFill>
                      <a:prstDash val="solid"/>
                      <a:round/>
                      <a:headEnd type="none" w="med" len="med"/>
                      <a:tailEnd type="none" w="med" len="med"/>
                    </a:lnT>
                    <a:lnB w="9525" cap="flat" cmpd="sng" algn="ctr">
                      <a:solidFill>
                        <a:srgbClr val="C8865A"/>
                      </a:solidFill>
                      <a:prstDash val="solid"/>
                      <a:round/>
                      <a:headEnd type="none" w="med" len="med"/>
                      <a:tailEnd type="none" w="med" len="med"/>
                    </a:lnB>
                  </a:tcPr>
                </a:tc>
                <a:tc>
                  <a:txBody>
                    <a:bodyPr/>
                    <a:lstStyle/>
                    <a:p>
                      <a:pPr fontAlgn="ctr"/>
                      <a:r>
                        <a:rPr lang="es-AR">
                          <a:solidFill>
                            <a:srgbClr val="666666"/>
                          </a:solidFill>
                          <a:effectLst/>
                        </a:rPr>
                        <a:t>(1) DC Terminal Block</a:t>
                      </a:r>
                      <a:br>
                        <a:rPr lang="es-AR">
                          <a:solidFill>
                            <a:srgbClr val="666666"/>
                          </a:solidFill>
                          <a:effectLst/>
                        </a:rPr>
                      </a:br>
                      <a:r>
                        <a:rPr lang="es-AR">
                          <a:solidFill>
                            <a:srgbClr val="666666"/>
                          </a:solidFill>
                          <a:effectLst/>
                        </a:rPr>
                        <a:t>or</a:t>
                      </a:r>
                      <a:br>
                        <a:rPr lang="es-AR">
                          <a:solidFill>
                            <a:srgbClr val="666666"/>
                          </a:solidFill>
                          <a:effectLst/>
                        </a:rPr>
                      </a:br>
                      <a:r>
                        <a:rPr lang="es-AR">
                          <a:solidFill>
                            <a:srgbClr val="666666"/>
                          </a:solidFill>
                          <a:effectLst/>
                        </a:rPr>
                        <a:t>(2) 54V, 4-Pair</a:t>
                      </a:r>
                    </a:p>
                  </a:txBody>
                  <a:tcPr anchor="ctr">
                    <a:lnL>
                      <a:noFill/>
                    </a:lnL>
                    <a:lnR>
                      <a:noFill/>
                    </a:lnR>
                    <a:lnT w="9525" cap="flat" cmpd="sng" algn="ctr">
                      <a:solidFill>
                        <a:srgbClr val="78825A"/>
                      </a:solidFill>
                      <a:prstDash val="solid"/>
                      <a:round/>
                      <a:headEnd type="none" w="med" len="med"/>
                      <a:tailEnd type="none" w="med" len="med"/>
                    </a:lnT>
                    <a:lnB w="9525" cap="flat" cmpd="sng" algn="ctr">
                      <a:solidFill>
                        <a:srgbClr val="68835A"/>
                      </a:solidFill>
                      <a:prstDash val="solid"/>
                      <a:round/>
                      <a:headEnd type="none" w="med" len="med"/>
                      <a:tailEnd type="none" w="med" len="med"/>
                    </a:lnB>
                  </a:tcPr>
                </a:tc>
                <a:tc>
                  <a:txBody>
                    <a:bodyPr/>
                    <a:lstStyle/>
                    <a:p>
                      <a:pPr fontAlgn="ctr"/>
                      <a:r>
                        <a:rPr lang="es-AR">
                          <a:solidFill>
                            <a:srgbClr val="666666"/>
                          </a:solidFill>
                          <a:effectLst/>
                        </a:rPr>
                        <a:t>(1) DC Terminal Block</a:t>
                      </a:r>
                      <a:br>
                        <a:rPr lang="es-AR">
                          <a:solidFill>
                            <a:srgbClr val="666666"/>
                          </a:solidFill>
                          <a:effectLst/>
                        </a:rPr>
                      </a:br>
                      <a:r>
                        <a:rPr lang="es-AR">
                          <a:solidFill>
                            <a:srgbClr val="666666"/>
                          </a:solidFill>
                          <a:effectLst/>
                        </a:rPr>
                        <a:t>or</a:t>
                      </a:r>
                      <a:br>
                        <a:rPr lang="es-AR">
                          <a:solidFill>
                            <a:srgbClr val="666666"/>
                          </a:solidFill>
                          <a:effectLst/>
                        </a:rPr>
                      </a:br>
                      <a:r>
                        <a:rPr lang="es-AR">
                          <a:solidFill>
                            <a:srgbClr val="666666"/>
                          </a:solidFill>
                          <a:effectLst/>
                        </a:rPr>
                        <a:t>(2) 54V, 4-Pair</a:t>
                      </a:r>
                    </a:p>
                  </a:txBody>
                  <a:tcPr anchor="ctr">
                    <a:lnL>
                      <a:noFill/>
                    </a:lnL>
                    <a:lnR>
                      <a:noFill/>
                    </a:lnR>
                    <a:lnT w="9525" cap="flat" cmpd="sng" algn="ctr">
                      <a:solidFill>
                        <a:srgbClr val="58845A"/>
                      </a:solidFill>
                      <a:prstDash val="solid"/>
                      <a:round/>
                      <a:headEnd type="none" w="med" len="med"/>
                      <a:tailEnd type="none" w="med" len="med"/>
                    </a:lnT>
                    <a:lnB w="9525" cap="flat" cmpd="sng" algn="ctr">
                      <a:solidFill>
                        <a:srgbClr val="88845A"/>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fontAlgn="ctr"/>
                      <a:r>
                        <a:rPr lang="es-AR" b="1">
                          <a:solidFill>
                            <a:srgbClr val="666666"/>
                          </a:solidFill>
                          <a:effectLst/>
                        </a:rPr>
                        <a:t>PoE Output</a:t>
                      </a:r>
                    </a:p>
                  </a:txBody>
                  <a:tcPr anchor="ctr">
                    <a:lnL>
                      <a:noFill/>
                    </a:lnL>
                    <a:lnR>
                      <a:noFill/>
                    </a:lnR>
                    <a:lnT w="9525" cap="flat" cmpd="sng" algn="ctr">
                      <a:solidFill>
                        <a:srgbClr val="28815A"/>
                      </a:solidFill>
                      <a:prstDash val="solid"/>
                      <a:round/>
                      <a:headEnd type="none" w="med" len="med"/>
                      <a:tailEnd type="none" w="med" len="med"/>
                    </a:lnT>
                    <a:lnB>
                      <a:noFill/>
                    </a:lnB>
                  </a:tcPr>
                </a:tc>
                <a:tc>
                  <a:txBody>
                    <a:bodyPr/>
                    <a:lstStyle/>
                    <a:p>
                      <a:pPr fontAlgn="ctr"/>
                      <a:r>
                        <a:rPr lang="es-AR">
                          <a:solidFill>
                            <a:srgbClr val="666666"/>
                          </a:solidFill>
                          <a:effectLst/>
                        </a:rPr>
                        <a:t>(5) 24V, 2-Pair</a:t>
                      </a:r>
                    </a:p>
                  </a:txBody>
                  <a:tcPr anchor="ctr">
                    <a:lnL>
                      <a:noFill/>
                    </a:lnL>
                    <a:lnR>
                      <a:noFill/>
                    </a:lnR>
                    <a:lnT w="9525" cap="flat" cmpd="sng" algn="ctr">
                      <a:solidFill>
                        <a:srgbClr val="C8865A"/>
                      </a:solidFill>
                      <a:prstDash val="solid"/>
                      <a:round/>
                      <a:headEnd type="none" w="med" len="med"/>
                      <a:tailEnd type="none" w="med" len="med"/>
                    </a:lnT>
                    <a:lnB>
                      <a:noFill/>
                    </a:lnB>
                  </a:tcPr>
                </a:tc>
                <a:tc>
                  <a:txBody>
                    <a:bodyPr/>
                    <a:lstStyle/>
                    <a:p>
                      <a:pPr fontAlgn="ctr"/>
                      <a:r>
                        <a:rPr lang="es-AR">
                          <a:solidFill>
                            <a:srgbClr val="666666"/>
                          </a:solidFill>
                          <a:effectLst/>
                        </a:rPr>
                        <a:t>(2) 54/24V, 4-Pair</a:t>
                      </a:r>
                      <a:br>
                        <a:rPr lang="es-AR">
                          <a:solidFill>
                            <a:srgbClr val="666666"/>
                          </a:solidFill>
                          <a:effectLst/>
                        </a:rPr>
                      </a:br>
                      <a:r>
                        <a:rPr lang="es-AR">
                          <a:solidFill>
                            <a:srgbClr val="666666"/>
                          </a:solidFill>
                          <a:effectLst/>
                        </a:rPr>
                        <a:t>(5) 24V, 2-Pair</a:t>
                      </a:r>
                    </a:p>
                  </a:txBody>
                  <a:tcPr anchor="ctr">
                    <a:lnL>
                      <a:noFill/>
                    </a:lnL>
                    <a:lnR>
                      <a:noFill/>
                    </a:lnR>
                    <a:lnT w="9525" cap="flat" cmpd="sng" algn="ctr">
                      <a:solidFill>
                        <a:srgbClr val="68835A"/>
                      </a:solidFill>
                      <a:prstDash val="solid"/>
                      <a:round/>
                      <a:headEnd type="none" w="med" len="med"/>
                      <a:tailEnd type="none" w="med" len="med"/>
                    </a:lnT>
                    <a:lnB>
                      <a:noFill/>
                    </a:lnB>
                  </a:tcPr>
                </a:tc>
                <a:tc>
                  <a:txBody>
                    <a:bodyPr/>
                    <a:lstStyle/>
                    <a:p>
                      <a:pPr fontAlgn="ctr"/>
                      <a:r>
                        <a:rPr lang="es-AR" dirty="0">
                          <a:solidFill>
                            <a:srgbClr val="666666"/>
                          </a:solidFill>
                          <a:effectLst/>
                        </a:rPr>
                        <a:t>(4) 54/24V, 4-Pair</a:t>
                      </a:r>
                      <a:br>
                        <a:rPr lang="es-AR" dirty="0">
                          <a:solidFill>
                            <a:srgbClr val="666666"/>
                          </a:solidFill>
                          <a:effectLst/>
                        </a:rPr>
                      </a:br>
                      <a:r>
                        <a:rPr lang="es-AR" dirty="0">
                          <a:solidFill>
                            <a:srgbClr val="666666"/>
                          </a:solidFill>
                          <a:effectLst/>
                        </a:rPr>
                        <a:t>(12) 802.3af/at or 24V, 2-Pair</a:t>
                      </a:r>
                    </a:p>
                  </a:txBody>
                  <a:tcPr anchor="ctr">
                    <a:lnL>
                      <a:noFill/>
                    </a:lnL>
                    <a:lnR>
                      <a:noFill/>
                    </a:lnR>
                    <a:lnT w="9525" cap="flat" cmpd="sng" algn="ctr">
                      <a:solidFill>
                        <a:srgbClr val="88845A"/>
                      </a:solidFill>
                      <a:prstDash val="solid"/>
                      <a:round/>
                      <a:headEnd type="none" w="med" len="med"/>
                      <a:tailEnd type="none" w="med" len="med"/>
                    </a:lnT>
                    <a:lnB>
                      <a:noFill/>
                    </a:lnB>
                  </a:tcPr>
                </a:tc>
                <a:extLst>
                  <a:ext uri="{0D108BD9-81ED-4DB2-BD59-A6C34878D82A}">
                    <a16:rowId xmlns:a16="http://schemas.microsoft.com/office/drawing/2014/main" val="10006"/>
                  </a:ext>
                </a:extLst>
              </a:tr>
            </a:tbl>
          </a:graphicData>
        </a:graphic>
      </p:graphicFrame>
      <p:pic>
        <p:nvPicPr>
          <p:cNvPr id="4098" name="Picture 2" descr="EP-R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3408" y="932476"/>
            <a:ext cx="1381125" cy="1266825"/>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EP-R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08840" y="1096444"/>
            <a:ext cx="1381125" cy="12668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EP-S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71124" y="1096443"/>
            <a:ext cx="1381125" cy="1266825"/>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p:cNvSpPr txBox="1"/>
          <p:nvPr/>
        </p:nvSpPr>
        <p:spPr>
          <a:xfrm>
            <a:off x="1851102" y="379141"/>
            <a:ext cx="5486400" cy="646331"/>
          </a:xfrm>
          <a:prstGeom prst="rect">
            <a:avLst/>
          </a:prstGeom>
          <a:noFill/>
        </p:spPr>
        <p:txBody>
          <a:bodyPr wrap="square" rtlCol="0">
            <a:spAutoFit/>
          </a:bodyPr>
          <a:lstStyle/>
          <a:p>
            <a:r>
              <a:rPr lang="es-MX" b="1" dirty="0">
                <a:solidFill>
                  <a:schemeClr val="accent1"/>
                </a:solidFill>
              </a:rPr>
              <a:t>EDGE Point</a:t>
            </a:r>
          </a:p>
          <a:p>
            <a:r>
              <a:rPr lang="es-MX" b="1" dirty="0">
                <a:solidFill>
                  <a:schemeClr val="accent1"/>
                </a:solidFill>
              </a:rPr>
              <a:t>MODELOS Y SUS CARACTERISTICAS</a:t>
            </a:r>
            <a:endParaRPr lang="es-AR" b="1" dirty="0">
              <a:solidFill>
                <a:schemeClr val="accent1"/>
              </a:solidFill>
            </a:endParaRPr>
          </a:p>
        </p:txBody>
      </p:sp>
      <p:sp>
        <p:nvSpPr>
          <p:cNvPr id="5" name="Rectángulo 4"/>
          <p:cNvSpPr/>
          <p:nvPr/>
        </p:nvSpPr>
        <p:spPr>
          <a:xfrm>
            <a:off x="978767" y="6165954"/>
            <a:ext cx="3811364" cy="369332"/>
          </a:xfrm>
          <a:prstGeom prst="rect">
            <a:avLst/>
          </a:prstGeom>
        </p:spPr>
        <p:txBody>
          <a:bodyPr wrap="none">
            <a:spAutoFit/>
          </a:bodyPr>
          <a:lstStyle/>
          <a:p>
            <a:r>
              <a:rPr lang="es-AR" dirty="0">
                <a:hlinkClick r:id="rId6"/>
              </a:rPr>
              <a:t>https://www.ui.com/airfiber/airfiberx/</a:t>
            </a:r>
            <a:endParaRPr lang="es-AR" dirty="0"/>
          </a:p>
        </p:txBody>
      </p:sp>
    </p:spTree>
    <p:extLst>
      <p:ext uri="{BB962C8B-B14F-4D97-AF65-F5344CB8AC3E}">
        <p14:creationId xmlns:p14="http://schemas.microsoft.com/office/powerpoint/2010/main" val="9985212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0750" y="230257"/>
            <a:ext cx="5860900" cy="707886"/>
          </a:xfrm>
          <a:prstGeom prst="rect">
            <a:avLst/>
          </a:prstGeom>
        </p:spPr>
        <p:txBody>
          <a:bodyPr wrap="none">
            <a:spAutoFit/>
          </a:bodyPr>
          <a:lstStyle/>
          <a:p>
            <a:pPr lvl="0" fontAlgn="base">
              <a:spcBef>
                <a:spcPct val="0"/>
              </a:spcBef>
              <a:spcAft>
                <a:spcPct val="0"/>
              </a:spcAft>
            </a:pPr>
            <a:r>
              <a:rPr lang="es-ES" sz="4000" dirty="0">
                <a:solidFill>
                  <a:schemeClr val="accent1"/>
                </a:solidFill>
                <a:latin typeface="Arial" charset="0"/>
              </a:rPr>
              <a:t>Configuración multipunto</a:t>
            </a:r>
          </a:p>
        </p:txBody>
      </p:sp>
      <p:pic>
        <p:nvPicPr>
          <p:cNvPr id="3" name="Picture 2"/>
          <p:cNvPicPr>
            <a:picLocks noChangeArrowheads="1"/>
          </p:cNvPicPr>
          <p:nvPr/>
        </p:nvPicPr>
        <p:blipFill>
          <a:blip r:embed="rId3" cstate="print"/>
          <a:srcRect/>
          <a:stretch>
            <a:fillRect/>
          </a:stretch>
        </p:blipFill>
        <p:spPr bwMode="auto">
          <a:xfrm>
            <a:off x="5265209" y="2258943"/>
            <a:ext cx="1296988" cy="1635125"/>
          </a:xfrm>
          <a:prstGeom prst="rect">
            <a:avLst/>
          </a:prstGeom>
          <a:noFill/>
          <a:ln w="9525">
            <a:noFill/>
            <a:miter lim="800000"/>
            <a:headEnd/>
            <a:tailEnd/>
          </a:ln>
        </p:spPr>
      </p:pic>
      <p:pic>
        <p:nvPicPr>
          <p:cNvPr id="4" name="Picture 4"/>
          <p:cNvPicPr>
            <a:picLocks noChangeArrowheads="1"/>
          </p:cNvPicPr>
          <p:nvPr/>
        </p:nvPicPr>
        <p:blipFill>
          <a:blip r:embed="rId3" cstate="print"/>
          <a:srcRect/>
          <a:stretch>
            <a:fillRect/>
          </a:stretch>
        </p:blipFill>
        <p:spPr bwMode="auto">
          <a:xfrm>
            <a:off x="1818747" y="2487543"/>
            <a:ext cx="1296987" cy="1635125"/>
          </a:xfrm>
          <a:prstGeom prst="rect">
            <a:avLst/>
          </a:prstGeom>
          <a:noFill/>
          <a:ln w="9525">
            <a:noFill/>
            <a:miter lim="800000"/>
            <a:headEnd/>
            <a:tailEnd/>
          </a:ln>
        </p:spPr>
      </p:pic>
      <p:pic>
        <p:nvPicPr>
          <p:cNvPr id="5" name="Picture 5"/>
          <p:cNvPicPr>
            <a:picLocks noChangeArrowheads="1"/>
          </p:cNvPicPr>
          <p:nvPr/>
        </p:nvPicPr>
        <p:blipFill>
          <a:blip r:embed="rId3" cstate="print"/>
          <a:srcRect/>
          <a:stretch>
            <a:fillRect/>
          </a:stretch>
        </p:blipFill>
        <p:spPr bwMode="auto">
          <a:xfrm>
            <a:off x="2241022" y="4621143"/>
            <a:ext cx="1296987" cy="1635125"/>
          </a:xfrm>
          <a:prstGeom prst="rect">
            <a:avLst/>
          </a:prstGeom>
          <a:noFill/>
          <a:ln w="9525">
            <a:noFill/>
            <a:miter lim="800000"/>
            <a:headEnd/>
            <a:tailEnd/>
          </a:ln>
        </p:spPr>
      </p:pic>
      <p:pic>
        <p:nvPicPr>
          <p:cNvPr id="6" name="Picture 6"/>
          <p:cNvPicPr>
            <a:picLocks noChangeArrowheads="1"/>
          </p:cNvPicPr>
          <p:nvPr/>
        </p:nvPicPr>
        <p:blipFill>
          <a:blip r:embed="rId3" cstate="print"/>
          <a:srcRect/>
          <a:stretch>
            <a:fillRect/>
          </a:stretch>
        </p:blipFill>
        <p:spPr bwMode="auto">
          <a:xfrm>
            <a:off x="8187797" y="4154418"/>
            <a:ext cx="1296987" cy="1635125"/>
          </a:xfrm>
          <a:prstGeom prst="rect">
            <a:avLst/>
          </a:prstGeom>
          <a:noFill/>
          <a:ln w="9525">
            <a:noFill/>
            <a:miter lim="800000"/>
            <a:headEnd/>
            <a:tailEnd/>
          </a:ln>
        </p:spPr>
      </p:pic>
      <p:pic>
        <p:nvPicPr>
          <p:cNvPr id="7" name="Picture 7"/>
          <p:cNvPicPr>
            <a:picLocks noChangeArrowheads="1"/>
          </p:cNvPicPr>
          <p:nvPr/>
        </p:nvPicPr>
        <p:blipFill>
          <a:blip r:embed="rId3" cstate="print"/>
          <a:srcRect/>
          <a:stretch>
            <a:fillRect/>
          </a:stretch>
        </p:blipFill>
        <p:spPr bwMode="auto">
          <a:xfrm>
            <a:off x="8681509" y="1344543"/>
            <a:ext cx="1295400" cy="1635125"/>
          </a:xfrm>
          <a:prstGeom prst="rect">
            <a:avLst/>
          </a:prstGeom>
          <a:noFill/>
          <a:ln w="9525">
            <a:noFill/>
            <a:miter lim="800000"/>
            <a:headEnd/>
            <a:tailEnd/>
          </a:ln>
        </p:spPr>
      </p:pic>
      <p:grpSp>
        <p:nvGrpSpPr>
          <p:cNvPr id="8" name="Group 8"/>
          <p:cNvGrpSpPr>
            <a:grpSpLocks/>
          </p:cNvGrpSpPr>
          <p:nvPr/>
        </p:nvGrpSpPr>
        <p:grpSpPr bwMode="auto">
          <a:xfrm rot="-600000">
            <a:off x="3014134" y="1912868"/>
            <a:ext cx="2601913" cy="381000"/>
            <a:chOff x="1944" y="1872"/>
            <a:chExt cx="1776" cy="343"/>
          </a:xfrm>
        </p:grpSpPr>
        <p:grpSp>
          <p:nvGrpSpPr>
            <p:cNvPr id="9" name="Group 9"/>
            <p:cNvGrpSpPr>
              <a:grpSpLocks/>
            </p:cNvGrpSpPr>
            <p:nvPr/>
          </p:nvGrpSpPr>
          <p:grpSpPr bwMode="auto">
            <a:xfrm>
              <a:off x="1944" y="1872"/>
              <a:ext cx="504" cy="343"/>
              <a:chOff x="1933" y="1898"/>
              <a:chExt cx="504" cy="343"/>
            </a:xfrm>
          </p:grpSpPr>
          <p:sp>
            <p:nvSpPr>
              <p:cNvPr id="31" name="Arc 10"/>
              <p:cNvSpPr>
                <a:spLocks/>
              </p:cNvSpPr>
              <p:nvPr/>
            </p:nvSpPr>
            <p:spPr bwMode="auto">
              <a:xfrm>
                <a:off x="1933"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32" name="Arc 11"/>
              <p:cNvSpPr>
                <a:spLocks/>
              </p:cNvSpPr>
              <p:nvPr/>
            </p:nvSpPr>
            <p:spPr bwMode="auto">
              <a:xfrm>
                <a:off x="2004"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33" name="Arc 12"/>
              <p:cNvSpPr>
                <a:spLocks/>
              </p:cNvSpPr>
              <p:nvPr/>
            </p:nvSpPr>
            <p:spPr bwMode="auto">
              <a:xfrm>
                <a:off x="2070" y="1899"/>
                <a:ext cx="161" cy="341"/>
              </a:xfrm>
              <a:custGeom>
                <a:avLst/>
                <a:gdLst>
                  <a:gd name="T0" fmla="*/ 81 w 21600"/>
                  <a:gd name="T1" fmla="*/ 341 h 38108"/>
                  <a:gd name="T2" fmla="*/ 90 w 21600"/>
                  <a:gd name="T3" fmla="*/ 0 h 38108"/>
                  <a:gd name="T4" fmla="*/ 161 w 21600"/>
                  <a:gd name="T5" fmla="*/ 174 h 38108"/>
                  <a:gd name="T6" fmla="*/ 0 60000 65536"/>
                  <a:gd name="T7" fmla="*/ 0 60000 65536"/>
                  <a:gd name="T8" fmla="*/ 0 60000 65536"/>
                  <a:gd name="T9" fmla="*/ 0 w 21600"/>
                  <a:gd name="T10" fmla="*/ 0 h 38108"/>
                  <a:gd name="T11" fmla="*/ 21600 w 21600"/>
                  <a:gd name="T12" fmla="*/ 38108 h 38108"/>
                </a:gdLst>
                <a:ahLst/>
                <a:cxnLst>
                  <a:cxn ang="T6">
                    <a:pos x="T0" y="T1"/>
                  </a:cxn>
                  <a:cxn ang="T7">
                    <a:pos x="T2" y="T3"/>
                  </a:cxn>
                  <a:cxn ang="T8">
                    <a:pos x="T4" y="T5"/>
                  </a:cxn>
                </a:cxnLst>
                <a:rect l="T9" t="T10" r="T11" b="T12"/>
                <a:pathLst>
                  <a:path w="21600" h="38108" fill="none" extrusionOk="0">
                    <a:moveTo>
                      <a:pt x="10804" y="38107"/>
                    </a:moveTo>
                    <a:cubicBezTo>
                      <a:pt x="4118" y="34249"/>
                      <a:pt x="0" y="27117"/>
                      <a:pt x="0" y="19399"/>
                    </a:cubicBezTo>
                    <a:cubicBezTo>
                      <a:pt x="-1" y="11153"/>
                      <a:pt x="4694" y="3626"/>
                      <a:pt x="12100" y="0"/>
                    </a:cubicBezTo>
                  </a:path>
                  <a:path w="21600" h="38108" stroke="0" extrusionOk="0">
                    <a:moveTo>
                      <a:pt x="10804" y="38107"/>
                    </a:moveTo>
                    <a:cubicBezTo>
                      <a:pt x="4118" y="34249"/>
                      <a:pt x="0" y="27117"/>
                      <a:pt x="0" y="19399"/>
                    </a:cubicBezTo>
                    <a:cubicBezTo>
                      <a:pt x="-1" y="11153"/>
                      <a:pt x="4694" y="3626"/>
                      <a:pt x="12100" y="0"/>
                    </a:cubicBezTo>
                    <a:lnTo>
                      <a:pt x="21600" y="1939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34" name="Arc 13"/>
              <p:cNvSpPr>
                <a:spLocks/>
              </p:cNvSpPr>
              <p:nvPr/>
            </p:nvSpPr>
            <p:spPr bwMode="auto">
              <a:xfrm>
                <a:off x="2140" y="1898"/>
                <a:ext cx="156" cy="343"/>
              </a:xfrm>
              <a:custGeom>
                <a:avLst/>
                <a:gdLst>
                  <a:gd name="T0" fmla="*/ 79 w 21600"/>
                  <a:gd name="T1" fmla="*/ 343 h 38308"/>
                  <a:gd name="T2" fmla="*/ 89 w 21600"/>
                  <a:gd name="T3" fmla="*/ 0 h 38308"/>
                  <a:gd name="T4" fmla="*/ 156 w 21600"/>
                  <a:gd name="T5" fmla="*/ 175 h 38308"/>
                  <a:gd name="T6" fmla="*/ 0 60000 65536"/>
                  <a:gd name="T7" fmla="*/ 0 60000 65536"/>
                  <a:gd name="T8" fmla="*/ 0 60000 65536"/>
                  <a:gd name="T9" fmla="*/ 0 w 21600"/>
                  <a:gd name="T10" fmla="*/ 0 h 38308"/>
                  <a:gd name="T11" fmla="*/ 21600 w 21600"/>
                  <a:gd name="T12" fmla="*/ 38308 h 38308"/>
                </a:gdLst>
                <a:ahLst/>
                <a:cxnLst>
                  <a:cxn ang="T6">
                    <a:pos x="T0" y="T1"/>
                  </a:cxn>
                  <a:cxn ang="T7">
                    <a:pos x="T2" y="T3"/>
                  </a:cxn>
                  <a:cxn ang="T8">
                    <a:pos x="T4" y="T5"/>
                  </a:cxn>
                </a:cxnLst>
                <a:rect l="T9" t="T10" r="T11" b="T12"/>
                <a:pathLst>
                  <a:path w="21600" h="38308" fill="none" extrusionOk="0">
                    <a:moveTo>
                      <a:pt x="10955" y="38307"/>
                    </a:moveTo>
                    <a:cubicBezTo>
                      <a:pt x="4184" y="34473"/>
                      <a:pt x="0" y="27293"/>
                      <a:pt x="0" y="19513"/>
                    </a:cubicBezTo>
                    <a:cubicBezTo>
                      <a:pt x="-1" y="11171"/>
                      <a:pt x="4802" y="3576"/>
                      <a:pt x="12337" y="-1"/>
                    </a:cubicBezTo>
                  </a:path>
                  <a:path w="21600" h="38308" stroke="0" extrusionOk="0">
                    <a:moveTo>
                      <a:pt x="10955" y="38307"/>
                    </a:moveTo>
                    <a:cubicBezTo>
                      <a:pt x="4184" y="34473"/>
                      <a:pt x="0" y="27293"/>
                      <a:pt x="0" y="19513"/>
                    </a:cubicBezTo>
                    <a:cubicBezTo>
                      <a:pt x="-1" y="11171"/>
                      <a:pt x="4802" y="3576"/>
                      <a:pt x="12337" y="-1"/>
                    </a:cubicBezTo>
                    <a:lnTo>
                      <a:pt x="21600" y="19513"/>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35" name="Arc 14"/>
              <p:cNvSpPr>
                <a:spLocks/>
              </p:cNvSpPr>
              <p:nvPr/>
            </p:nvSpPr>
            <p:spPr bwMode="auto">
              <a:xfrm>
                <a:off x="2211"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36" name="Arc 15"/>
              <p:cNvSpPr>
                <a:spLocks/>
              </p:cNvSpPr>
              <p:nvPr/>
            </p:nvSpPr>
            <p:spPr bwMode="auto">
              <a:xfrm>
                <a:off x="2276"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10" name="Group 16"/>
            <p:cNvGrpSpPr>
              <a:grpSpLocks/>
            </p:cNvGrpSpPr>
            <p:nvPr/>
          </p:nvGrpSpPr>
          <p:grpSpPr bwMode="auto">
            <a:xfrm>
              <a:off x="2376" y="1872"/>
              <a:ext cx="504" cy="343"/>
              <a:chOff x="1933" y="1898"/>
              <a:chExt cx="504" cy="343"/>
            </a:xfrm>
          </p:grpSpPr>
          <p:sp>
            <p:nvSpPr>
              <p:cNvPr id="25" name="Arc 17"/>
              <p:cNvSpPr>
                <a:spLocks/>
              </p:cNvSpPr>
              <p:nvPr/>
            </p:nvSpPr>
            <p:spPr bwMode="auto">
              <a:xfrm>
                <a:off x="1933"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6" name="Arc 18"/>
              <p:cNvSpPr>
                <a:spLocks/>
              </p:cNvSpPr>
              <p:nvPr/>
            </p:nvSpPr>
            <p:spPr bwMode="auto">
              <a:xfrm>
                <a:off x="2004"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7" name="Arc 19"/>
              <p:cNvSpPr>
                <a:spLocks/>
              </p:cNvSpPr>
              <p:nvPr/>
            </p:nvSpPr>
            <p:spPr bwMode="auto">
              <a:xfrm>
                <a:off x="2070" y="1899"/>
                <a:ext cx="161" cy="341"/>
              </a:xfrm>
              <a:custGeom>
                <a:avLst/>
                <a:gdLst>
                  <a:gd name="T0" fmla="*/ 81 w 21600"/>
                  <a:gd name="T1" fmla="*/ 341 h 38108"/>
                  <a:gd name="T2" fmla="*/ 90 w 21600"/>
                  <a:gd name="T3" fmla="*/ 0 h 38108"/>
                  <a:gd name="T4" fmla="*/ 161 w 21600"/>
                  <a:gd name="T5" fmla="*/ 174 h 38108"/>
                  <a:gd name="T6" fmla="*/ 0 60000 65536"/>
                  <a:gd name="T7" fmla="*/ 0 60000 65536"/>
                  <a:gd name="T8" fmla="*/ 0 60000 65536"/>
                  <a:gd name="T9" fmla="*/ 0 w 21600"/>
                  <a:gd name="T10" fmla="*/ 0 h 38108"/>
                  <a:gd name="T11" fmla="*/ 21600 w 21600"/>
                  <a:gd name="T12" fmla="*/ 38108 h 38108"/>
                </a:gdLst>
                <a:ahLst/>
                <a:cxnLst>
                  <a:cxn ang="T6">
                    <a:pos x="T0" y="T1"/>
                  </a:cxn>
                  <a:cxn ang="T7">
                    <a:pos x="T2" y="T3"/>
                  </a:cxn>
                  <a:cxn ang="T8">
                    <a:pos x="T4" y="T5"/>
                  </a:cxn>
                </a:cxnLst>
                <a:rect l="T9" t="T10" r="T11" b="T12"/>
                <a:pathLst>
                  <a:path w="21600" h="38108" fill="none" extrusionOk="0">
                    <a:moveTo>
                      <a:pt x="10804" y="38107"/>
                    </a:moveTo>
                    <a:cubicBezTo>
                      <a:pt x="4118" y="34249"/>
                      <a:pt x="0" y="27117"/>
                      <a:pt x="0" y="19399"/>
                    </a:cubicBezTo>
                    <a:cubicBezTo>
                      <a:pt x="-1" y="11153"/>
                      <a:pt x="4694" y="3626"/>
                      <a:pt x="12100" y="0"/>
                    </a:cubicBezTo>
                  </a:path>
                  <a:path w="21600" h="38108" stroke="0" extrusionOk="0">
                    <a:moveTo>
                      <a:pt x="10804" y="38107"/>
                    </a:moveTo>
                    <a:cubicBezTo>
                      <a:pt x="4118" y="34249"/>
                      <a:pt x="0" y="27117"/>
                      <a:pt x="0" y="19399"/>
                    </a:cubicBezTo>
                    <a:cubicBezTo>
                      <a:pt x="-1" y="11153"/>
                      <a:pt x="4694" y="3626"/>
                      <a:pt x="12100" y="0"/>
                    </a:cubicBezTo>
                    <a:lnTo>
                      <a:pt x="21600" y="1939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8" name="Arc 20"/>
              <p:cNvSpPr>
                <a:spLocks/>
              </p:cNvSpPr>
              <p:nvPr/>
            </p:nvSpPr>
            <p:spPr bwMode="auto">
              <a:xfrm>
                <a:off x="2140" y="1898"/>
                <a:ext cx="156" cy="343"/>
              </a:xfrm>
              <a:custGeom>
                <a:avLst/>
                <a:gdLst>
                  <a:gd name="T0" fmla="*/ 79 w 21600"/>
                  <a:gd name="T1" fmla="*/ 343 h 38308"/>
                  <a:gd name="T2" fmla="*/ 89 w 21600"/>
                  <a:gd name="T3" fmla="*/ 0 h 38308"/>
                  <a:gd name="T4" fmla="*/ 156 w 21600"/>
                  <a:gd name="T5" fmla="*/ 175 h 38308"/>
                  <a:gd name="T6" fmla="*/ 0 60000 65536"/>
                  <a:gd name="T7" fmla="*/ 0 60000 65536"/>
                  <a:gd name="T8" fmla="*/ 0 60000 65536"/>
                  <a:gd name="T9" fmla="*/ 0 w 21600"/>
                  <a:gd name="T10" fmla="*/ 0 h 38308"/>
                  <a:gd name="T11" fmla="*/ 21600 w 21600"/>
                  <a:gd name="T12" fmla="*/ 38308 h 38308"/>
                </a:gdLst>
                <a:ahLst/>
                <a:cxnLst>
                  <a:cxn ang="T6">
                    <a:pos x="T0" y="T1"/>
                  </a:cxn>
                  <a:cxn ang="T7">
                    <a:pos x="T2" y="T3"/>
                  </a:cxn>
                  <a:cxn ang="T8">
                    <a:pos x="T4" y="T5"/>
                  </a:cxn>
                </a:cxnLst>
                <a:rect l="T9" t="T10" r="T11" b="T12"/>
                <a:pathLst>
                  <a:path w="21600" h="38308" fill="none" extrusionOk="0">
                    <a:moveTo>
                      <a:pt x="10955" y="38307"/>
                    </a:moveTo>
                    <a:cubicBezTo>
                      <a:pt x="4184" y="34473"/>
                      <a:pt x="0" y="27293"/>
                      <a:pt x="0" y="19513"/>
                    </a:cubicBezTo>
                    <a:cubicBezTo>
                      <a:pt x="-1" y="11171"/>
                      <a:pt x="4802" y="3576"/>
                      <a:pt x="12337" y="-1"/>
                    </a:cubicBezTo>
                  </a:path>
                  <a:path w="21600" h="38308" stroke="0" extrusionOk="0">
                    <a:moveTo>
                      <a:pt x="10955" y="38307"/>
                    </a:moveTo>
                    <a:cubicBezTo>
                      <a:pt x="4184" y="34473"/>
                      <a:pt x="0" y="27293"/>
                      <a:pt x="0" y="19513"/>
                    </a:cubicBezTo>
                    <a:cubicBezTo>
                      <a:pt x="-1" y="11171"/>
                      <a:pt x="4802" y="3576"/>
                      <a:pt x="12337" y="-1"/>
                    </a:cubicBezTo>
                    <a:lnTo>
                      <a:pt x="21600" y="19513"/>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9" name="Arc 21"/>
              <p:cNvSpPr>
                <a:spLocks/>
              </p:cNvSpPr>
              <p:nvPr/>
            </p:nvSpPr>
            <p:spPr bwMode="auto">
              <a:xfrm>
                <a:off x="2211"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30" name="Arc 22"/>
              <p:cNvSpPr>
                <a:spLocks/>
              </p:cNvSpPr>
              <p:nvPr/>
            </p:nvSpPr>
            <p:spPr bwMode="auto">
              <a:xfrm>
                <a:off x="2276"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11" name="Group 23"/>
            <p:cNvGrpSpPr>
              <a:grpSpLocks/>
            </p:cNvGrpSpPr>
            <p:nvPr/>
          </p:nvGrpSpPr>
          <p:grpSpPr bwMode="auto">
            <a:xfrm>
              <a:off x="2784" y="1872"/>
              <a:ext cx="504" cy="343"/>
              <a:chOff x="1933" y="1898"/>
              <a:chExt cx="504" cy="343"/>
            </a:xfrm>
          </p:grpSpPr>
          <p:sp>
            <p:nvSpPr>
              <p:cNvPr id="19" name="Arc 24"/>
              <p:cNvSpPr>
                <a:spLocks/>
              </p:cNvSpPr>
              <p:nvPr/>
            </p:nvSpPr>
            <p:spPr bwMode="auto">
              <a:xfrm>
                <a:off x="1933"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0" name="Arc 25"/>
              <p:cNvSpPr>
                <a:spLocks/>
              </p:cNvSpPr>
              <p:nvPr/>
            </p:nvSpPr>
            <p:spPr bwMode="auto">
              <a:xfrm>
                <a:off x="2004"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1" name="Arc 26"/>
              <p:cNvSpPr>
                <a:spLocks/>
              </p:cNvSpPr>
              <p:nvPr/>
            </p:nvSpPr>
            <p:spPr bwMode="auto">
              <a:xfrm>
                <a:off x="2070" y="1899"/>
                <a:ext cx="161" cy="341"/>
              </a:xfrm>
              <a:custGeom>
                <a:avLst/>
                <a:gdLst>
                  <a:gd name="T0" fmla="*/ 81 w 21600"/>
                  <a:gd name="T1" fmla="*/ 341 h 38108"/>
                  <a:gd name="T2" fmla="*/ 90 w 21600"/>
                  <a:gd name="T3" fmla="*/ 0 h 38108"/>
                  <a:gd name="T4" fmla="*/ 161 w 21600"/>
                  <a:gd name="T5" fmla="*/ 174 h 38108"/>
                  <a:gd name="T6" fmla="*/ 0 60000 65536"/>
                  <a:gd name="T7" fmla="*/ 0 60000 65536"/>
                  <a:gd name="T8" fmla="*/ 0 60000 65536"/>
                  <a:gd name="T9" fmla="*/ 0 w 21600"/>
                  <a:gd name="T10" fmla="*/ 0 h 38108"/>
                  <a:gd name="T11" fmla="*/ 21600 w 21600"/>
                  <a:gd name="T12" fmla="*/ 38108 h 38108"/>
                </a:gdLst>
                <a:ahLst/>
                <a:cxnLst>
                  <a:cxn ang="T6">
                    <a:pos x="T0" y="T1"/>
                  </a:cxn>
                  <a:cxn ang="T7">
                    <a:pos x="T2" y="T3"/>
                  </a:cxn>
                  <a:cxn ang="T8">
                    <a:pos x="T4" y="T5"/>
                  </a:cxn>
                </a:cxnLst>
                <a:rect l="T9" t="T10" r="T11" b="T12"/>
                <a:pathLst>
                  <a:path w="21600" h="38108" fill="none" extrusionOk="0">
                    <a:moveTo>
                      <a:pt x="10804" y="38107"/>
                    </a:moveTo>
                    <a:cubicBezTo>
                      <a:pt x="4118" y="34249"/>
                      <a:pt x="0" y="27117"/>
                      <a:pt x="0" y="19399"/>
                    </a:cubicBezTo>
                    <a:cubicBezTo>
                      <a:pt x="-1" y="11153"/>
                      <a:pt x="4694" y="3626"/>
                      <a:pt x="12100" y="0"/>
                    </a:cubicBezTo>
                  </a:path>
                  <a:path w="21600" h="38108" stroke="0" extrusionOk="0">
                    <a:moveTo>
                      <a:pt x="10804" y="38107"/>
                    </a:moveTo>
                    <a:cubicBezTo>
                      <a:pt x="4118" y="34249"/>
                      <a:pt x="0" y="27117"/>
                      <a:pt x="0" y="19399"/>
                    </a:cubicBezTo>
                    <a:cubicBezTo>
                      <a:pt x="-1" y="11153"/>
                      <a:pt x="4694" y="3626"/>
                      <a:pt x="12100" y="0"/>
                    </a:cubicBezTo>
                    <a:lnTo>
                      <a:pt x="21600" y="1939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2" name="Arc 27"/>
              <p:cNvSpPr>
                <a:spLocks/>
              </p:cNvSpPr>
              <p:nvPr/>
            </p:nvSpPr>
            <p:spPr bwMode="auto">
              <a:xfrm>
                <a:off x="2140" y="1898"/>
                <a:ext cx="156" cy="343"/>
              </a:xfrm>
              <a:custGeom>
                <a:avLst/>
                <a:gdLst>
                  <a:gd name="T0" fmla="*/ 79 w 21600"/>
                  <a:gd name="T1" fmla="*/ 343 h 38308"/>
                  <a:gd name="T2" fmla="*/ 89 w 21600"/>
                  <a:gd name="T3" fmla="*/ 0 h 38308"/>
                  <a:gd name="T4" fmla="*/ 156 w 21600"/>
                  <a:gd name="T5" fmla="*/ 175 h 38308"/>
                  <a:gd name="T6" fmla="*/ 0 60000 65536"/>
                  <a:gd name="T7" fmla="*/ 0 60000 65536"/>
                  <a:gd name="T8" fmla="*/ 0 60000 65536"/>
                  <a:gd name="T9" fmla="*/ 0 w 21600"/>
                  <a:gd name="T10" fmla="*/ 0 h 38308"/>
                  <a:gd name="T11" fmla="*/ 21600 w 21600"/>
                  <a:gd name="T12" fmla="*/ 38308 h 38308"/>
                </a:gdLst>
                <a:ahLst/>
                <a:cxnLst>
                  <a:cxn ang="T6">
                    <a:pos x="T0" y="T1"/>
                  </a:cxn>
                  <a:cxn ang="T7">
                    <a:pos x="T2" y="T3"/>
                  </a:cxn>
                  <a:cxn ang="T8">
                    <a:pos x="T4" y="T5"/>
                  </a:cxn>
                </a:cxnLst>
                <a:rect l="T9" t="T10" r="T11" b="T12"/>
                <a:pathLst>
                  <a:path w="21600" h="38308" fill="none" extrusionOk="0">
                    <a:moveTo>
                      <a:pt x="10955" y="38307"/>
                    </a:moveTo>
                    <a:cubicBezTo>
                      <a:pt x="4184" y="34473"/>
                      <a:pt x="0" y="27293"/>
                      <a:pt x="0" y="19513"/>
                    </a:cubicBezTo>
                    <a:cubicBezTo>
                      <a:pt x="-1" y="11171"/>
                      <a:pt x="4802" y="3576"/>
                      <a:pt x="12337" y="-1"/>
                    </a:cubicBezTo>
                  </a:path>
                  <a:path w="21600" h="38308" stroke="0" extrusionOk="0">
                    <a:moveTo>
                      <a:pt x="10955" y="38307"/>
                    </a:moveTo>
                    <a:cubicBezTo>
                      <a:pt x="4184" y="34473"/>
                      <a:pt x="0" y="27293"/>
                      <a:pt x="0" y="19513"/>
                    </a:cubicBezTo>
                    <a:cubicBezTo>
                      <a:pt x="-1" y="11171"/>
                      <a:pt x="4802" y="3576"/>
                      <a:pt x="12337" y="-1"/>
                    </a:cubicBezTo>
                    <a:lnTo>
                      <a:pt x="21600" y="19513"/>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3" name="Arc 28"/>
              <p:cNvSpPr>
                <a:spLocks/>
              </p:cNvSpPr>
              <p:nvPr/>
            </p:nvSpPr>
            <p:spPr bwMode="auto">
              <a:xfrm>
                <a:off x="2211"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4" name="Arc 29"/>
              <p:cNvSpPr>
                <a:spLocks/>
              </p:cNvSpPr>
              <p:nvPr/>
            </p:nvSpPr>
            <p:spPr bwMode="auto">
              <a:xfrm>
                <a:off x="2276"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12" name="Group 30"/>
            <p:cNvGrpSpPr>
              <a:grpSpLocks/>
            </p:cNvGrpSpPr>
            <p:nvPr/>
          </p:nvGrpSpPr>
          <p:grpSpPr bwMode="auto">
            <a:xfrm>
              <a:off x="3216" y="1872"/>
              <a:ext cx="504" cy="343"/>
              <a:chOff x="1933" y="1898"/>
              <a:chExt cx="504" cy="343"/>
            </a:xfrm>
          </p:grpSpPr>
          <p:sp>
            <p:nvSpPr>
              <p:cNvPr id="13" name="Arc 31"/>
              <p:cNvSpPr>
                <a:spLocks/>
              </p:cNvSpPr>
              <p:nvPr/>
            </p:nvSpPr>
            <p:spPr bwMode="auto">
              <a:xfrm>
                <a:off x="1933"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4" name="Arc 32"/>
              <p:cNvSpPr>
                <a:spLocks/>
              </p:cNvSpPr>
              <p:nvPr/>
            </p:nvSpPr>
            <p:spPr bwMode="auto">
              <a:xfrm>
                <a:off x="2004"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5" name="Arc 33"/>
              <p:cNvSpPr>
                <a:spLocks/>
              </p:cNvSpPr>
              <p:nvPr/>
            </p:nvSpPr>
            <p:spPr bwMode="auto">
              <a:xfrm>
                <a:off x="2070" y="1899"/>
                <a:ext cx="161" cy="341"/>
              </a:xfrm>
              <a:custGeom>
                <a:avLst/>
                <a:gdLst>
                  <a:gd name="T0" fmla="*/ 81 w 21600"/>
                  <a:gd name="T1" fmla="*/ 341 h 38108"/>
                  <a:gd name="T2" fmla="*/ 90 w 21600"/>
                  <a:gd name="T3" fmla="*/ 0 h 38108"/>
                  <a:gd name="T4" fmla="*/ 161 w 21600"/>
                  <a:gd name="T5" fmla="*/ 174 h 38108"/>
                  <a:gd name="T6" fmla="*/ 0 60000 65536"/>
                  <a:gd name="T7" fmla="*/ 0 60000 65536"/>
                  <a:gd name="T8" fmla="*/ 0 60000 65536"/>
                  <a:gd name="T9" fmla="*/ 0 w 21600"/>
                  <a:gd name="T10" fmla="*/ 0 h 38108"/>
                  <a:gd name="T11" fmla="*/ 21600 w 21600"/>
                  <a:gd name="T12" fmla="*/ 38108 h 38108"/>
                </a:gdLst>
                <a:ahLst/>
                <a:cxnLst>
                  <a:cxn ang="T6">
                    <a:pos x="T0" y="T1"/>
                  </a:cxn>
                  <a:cxn ang="T7">
                    <a:pos x="T2" y="T3"/>
                  </a:cxn>
                  <a:cxn ang="T8">
                    <a:pos x="T4" y="T5"/>
                  </a:cxn>
                </a:cxnLst>
                <a:rect l="T9" t="T10" r="T11" b="T12"/>
                <a:pathLst>
                  <a:path w="21600" h="38108" fill="none" extrusionOk="0">
                    <a:moveTo>
                      <a:pt x="10804" y="38107"/>
                    </a:moveTo>
                    <a:cubicBezTo>
                      <a:pt x="4118" y="34249"/>
                      <a:pt x="0" y="27117"/>
                      <a:pt x="0" y="19399"/>
                    </a:cubicBezTo>
                    <a:cubicBezTo>
                      <a:pt x="-1" y="11153"/>
                      <a:pt x="4694" y="3626"/>
                      <a:pt x="12100" y="0"/>
                    </a:cubicBezTo>
                  </a:path>
                  <a:path w="21600" h="38108" stroke="0" extrusionOk="0">
                    <a:moveTo>
                      <a:pt x="10804" y="38107"/>
                    </a:moveTo>
                    <a:cubicBezTo>
                      <a:pt x="4118" y="34249"/>
                      <a:pt x="0" y="27117"/>
                      <a:pt x="0" y="19399"/>
                    </a:cubicBezTo>
                    <a:cubicBezTo>
                      <a:pt x="-1" y="11153"/>
                      <a:pt x="4694" y="3626"/>
                      <a:pt x="12100" y="0"/>
                    </a:cubicBezTo>
                    <a:lnTo>
                      <a:pt x="21600" y="1939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6" name="Arc 34"/>
              <p:cNvSpPr>
                <a:spLocks/>
              </p:cNvSpPr>
              <p:nvPr/>
            </p:nvSpPr>
            <p:spPr bwMode="auto">
              <a:xfrm>
                <a:off x="2140" y="1898"/>
                <a:ext cx="156" cy="343"/>
              </a:xfrm>
              <a:custGeom>
                <a:avLst/>
                <a:gdLst>
                  <a:gd name="T0" fmla="*/ 79 w 21600"/>
                  <a:gd name="T1" fmla="*/ 343 h 38308"/>
                  <a:gd name="T2" fmla="*/ 89 w 21600"/>
                  <a:gd name="T3" fmla="*/ 0 h 38308"/>
                  <a:gd name="T4" fmla="*/ 156 w 21600"/>
                  <a:gd name="T5" fmla="*/ 175 h 38308"/>
                  <a:gd name="T6" fmla="*/ 0 60000 65536"/>
                  <a:gd name="T7" fmla="*/ 0 60000 65536"/>
                  <a:gd name="T8" fmla="*/ 0 60000 65536"/>
                  <a:gd name="T9" fmla="*/ 0 w 21600"/>
                  <a:gd name="T10" fmla="*/ 0 h 38308"/>
                  <a:gd name="T11" fmla="*/ 21600 w 21600"/>
                  <a:gd name="T12" fmla="*/ 38308 h 38308"/>
                </a:gdLst>
                <a:ahLst/>
                <a:cxnLst>
                  <a:cxn ang="T6">
                    <a:pos x="T0" y="T1"/>
                  </a:cxn>
                  <a:cxn ang="T7">
                    <a:pos x="T2" y="T3"/>
                  </a:cxn>
                  <a:cxn ang="T8">
                    <a:pos x="T4" y="T5"/>
                  </a:cxn>
                </a:cxnLst>
                <a:rect l="T9" t="T10" r="T11" b="T12"/>
                <a:pathLst>
                  <a:path w="21600" h="38308" fill="none" extrusionOk="0">
                    <a:moveTo>
                      <a:pt x="10955" y="38307"/>
                    </a:moveTo>
                    <a:cubicBezTo>
                      <a:pt x="4184" y="34473"/>
                      <a:pt x="0" y="27293"/>
                      <a:pt x="0" y="19513"/>
                    </a:cubicBezTo>
                    <a:cubicBezTo>
                      <a:pt x="-1" y="11171"/>
                      <a:pt x="4802" y="3576"/>
                      <a:pt x="12337" y="-1"/>
                    </a:cubicBezTo>
                  </a:path>
                  <a:path w="21600" h="38308" stroke="0" extrusionOk="0">
                    <a:moveTo>
                      <a:pt x="10955" y="38307"/>
                    </a:moveTo>
                    <a:cubicBezTo>
                      <a:pt x="4184" y="34473"/>
                      <a:pt x="0" y="27293"/>
                      <a:pt x="0" y="19513"/>
                    </a:cubicBezTo>
                    <a:cubicBezTo>
                      <a:pt x="-1" y="11171"/>
                      <a:pt x="4802" y="3576"/>
                      <a:pt x="12337" y="-1"/>
                    </a:cubicBezTo>
                    <a:lnTo>
                      <a:pt x="21600" y="19513"/>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7" name="Arc 35"/>
              <p:cNvSpPr>
                <a:spLocks/>
              </p:cNvSpPr>
              <p:nvPr/>
            </p:nvSpPr>
            <p:spPr bwMode="auto">
              <a:xfrm>
                <a:off x="2211"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8" name="Arc 36"/>
              <p:cNvSpPr>
                <a:spLocks/>
              </p:cNvSpPr>
              <p:nvPr/>
            </p:nvSpPr>
            <p:spPr bwMode="auto">
              <a:xfrm>
                <a:off x="2276"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grpSp>
        <p:nvGrpSpPr>
          <p:cNvPr id="37" name="Group 37"/>
          <p:cNvGrpSpPr>
            <a:grpSpLocks/>
          </p:cNvGrpSpPr>
          <p:nvPr/>
        </p:nvGrpSpPr>
        <p:grpSpPr bwMode="auto">
          <a:xfrm rot="-2400000">
            <a:off x="2872847" y="3284468"/>
            <a:ext cx="2603500" cy="381000"/>
            <a:chOff x="1944" y="1872"/>
            <a:chExt cx="1776" cy="343"/>
          </a:xfrm>
        </p:grpSpPr>
        <p:grpSp>
          <p:nvGrpSpPr>
            <p:cNvPr id="38" name="Group 38"/>
            <p:cNvGrpSpPr>
              <a:grpSpLocks/>
            </p:cNvGrpSpPr>
            <p:nvPr/>
          </p:nvGrpSpPr>
          <p:grpSpPr bwMode="auto">
            <a:xfrm>
              <a:off x="1944" y="1872"/>
              <a:ext cx="504" cy="343"/>
              <a:chOff x="1933" y="1898"/>
              <a:chExt cx="504" cy="343"/>
            </a:xfrm>
          </p:grpSpPr>
          <p:sp>
            <p:nvSpPr>
              <p:cNvPr id="60" name="Arc 39"/>
              <p:cNvSpPr>
                <a:spLocks/>
              </p:cNvSpPr>
              <p:nvPr/>
            </p:nvSpPr>
            <p:spPr bwMode="auto">
              <a:xfrm>
                <a:off x="1933"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61" name="Arc 40"/>
              <p:cNvSpPr>
                <a:spLocks/>
              </p:cNvSpPr>
              <p:nvPr/>
            </p:nvSpPr>
            <p:spPr bwMode="auto">
              <a:xfrm>
                <a:off x="2004"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62" name="Arc 41"/>
              <p:cNvSpPr>
                <a:spLocks/>
              </p:cNvSpPr>
              <p:nvPr/>
            </p:nvSpPr>
            <p:spPr bwMode="auto">
              <a:xfrm>
                <a:off x="2070" y="1899"/>
                <a:ext cx="161" cy="341"/>
              </a:xfrm>
              <a:custGeom>
                <a:avLst/>
                <a:gdLst>
                  <a:gd name="T0" fmla="*/ 81 w 21600"/>
                  <a:gd name="T1" fmla="*/ 341 h 38108"/>
                  <a:gd name="T2" fmla="*/ 90 w 21600"/>
                  <a:gd name="T3" fmla="*/ 0 h 38108"/>
                  <a:gd name="T4" fmla="*/ 161 w 21600"/>
                  <a:gd name="T5" fmla="*/ 174 h 38108"/>
                  <a:gd name="T6" fmla="*/ 0 60000 65536"/>
                  <a:gd name="T7" fmla="*/ 0 60000 65536"/>
                  <a:gd name="T8" fmla="*/ 0 60000 65536"/>
                  <a:gd name="T9" fmla="*/ 0 w 21600"/>
                  <a:gd name="T10" fmla="*/ 0 h 38108"/>
                  <a:gd name="T11" fmla="*/ 21600 w 21600"/>
                  <a:gd name="T12" fmla="*/ 38108 h 38108"/>
                </a:gdLst>
                <a:ahLst/>
                <a:cxnLst>
                  <a:cxn ang="T6">
                    <a:pos x="T0" y="T1"/>
                  </a:cxn>
                  <a:cxn ang="T7">
                    <a:pos x="T2" y="T3"/>
                  </a:cxn>
                  <a:cxn ang="T8">
                    <a:pos x="T4" y="T5"/>
                  </a:cxn>
                </a:cxnLst>
                <a:rect l="T9" t="T10" r="T11" b="T12"/>
                <a:pathLst>
                  <a:path w="21600" h="38108" fill="none" extrusionOk="0">
                    <a:moveTo>
                      <a:pt x="10804" y="38107"/>
                    </a:moveTo>
                    <a:cubicBezTo>
                      <a:pt x="4118" y="34249"/>
                      <a:pt x="0" y="27117"/>
                      <a:pt x="0" y="19399"/>
                    </a:cubicBezTo>
                    <a:cubicBezTo>
                      <a:pt x="-1" y="11153"/>
                      <a:pt x="4694" y="3626"/>
                      <a:pt x="12100" y="0"/>
                    </a:cubicBezTo>
                  </a:path>
                  <a:path w="21600" h="38108" stroke="0" extrusionOk="0">
                    <a:moveTo>
                      <a:pt x="10804" y="38107"/>
                    </a:moveTo>
                    <a:cubicBezTo>
                      <a:pt x="4118" y="34249"/>
                      <a:pt x="0" y="27117"/>
                      <a:pt x="0" y="19399"/>
                    </a:cubicBezTo>
                    <a:cubicBezTo>
                      <a:pt x="-1" y="11153"/>
                      <a:pt x="4694" y="3626"/>
                      <a:pt x="12100" y="0"/>
                    </a:cubicBezTo>
                    <a:lnTo>
                      <a:pt x="21600" y="1939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63" name="Arc 42"/>
              <p:cNvSpPr>
                <a:spLocks/>
              </p:cNvSpPr>
              <p:nvPr/>
            </p:nvSpPr>
            <p:spPr bwMode="auto">
              <a:xfrm>
                <a:off x="2140" y="1898"/>
                <a:ext cx="156" cy="343"/>
              </a:xfrm>
              <a:custGeom>
                <a:avLst/>
                <a:gdLst>
                  <a:gd name="T0" fmla="*/ 79 w 21600"/>
                  <a:gd name="T1" fmla="*/ 343 h 38308"/>
                  <a:gd name="T2" fmla="*/ 89 w 21600"/>
                  <a:gd name="T3" fmla="*/ 0 h 38308"/>
                  <a:gd name="T4" fmla="*/ 156 w 21600"/>
                  <a:gd name="T5" fmla="*/ 175 h 38308"/>
                  <a:gd name="T6" fmla="*/ 0 60000 65536"/>
                  <a:gd name="T7" fmla="*/ 0 60000 65536"/>
                  <a:gd name="T8" fmla="*/ 0 60000 65536"/>
                  <a:gd name="T9" fmla="*/ 0 w 21600"/>
                  <a:gd name="T10" fmla="*/ 0 h 38308"/>
                  <a:gd name="T11" fmla="*/ 21600 w 21600"/>
                  <a:gd name="T12" fmla="*/ 38308 h 38308"/>
                </a:gdLst>
                <a:ahLst/>
                <a:cxnLst>
                  <a:cxn ang="T6">
                    <a:pos x="T0" y="T1"/>
                  </a:cxn>
                  <a:cxn ang="T7">
                    <a:pos x="T2" y="T3"/>
                  </a:cxn>
                  <a:cxn ang="T8">
                    <a:pos x="T4" y="T5"/>
                  </a:cxn>
                </a:cxnLst>
                <a:rect l="T9" t="T10" r="T11" b="T12"/>
                <a:pathLst>
                  <a:path w="21600" h="38308" fill="none" extrusionOk="0">
                    <a:moveTo>
                      <a:pt x="10955" y="38307"/>
                    </a:moveTo>
                    <a:cubicBezTo>
                      <a:pt x="4184" y="34473"/>
                      <a:pt x="0" y="27293"/>
                      <a:pt x="0" y="19513"/>
                    </a:cubicBezTo>
                    <a:cubicBezTo>
                      <a:pt x="-1" y="11171"/>
                      <a:pt x="4802" y="3576"/>
                      <a:pt x="12337" y="-1"/>
                    </a:cubicBezTo>
                  </a:path>
                  <a:path w="21600" h="38308" stroke="0" extrusionOk="0">
                    <a:moveTo>
                      <a:pt x="10955" y="38307"/>
                    </a:moveTo>
                    <a:cubicBezTo>
                      <a:pt x="4184" y="34473"/>
                      <a:pt x="0" y="27293"/>
                      <a:pt x="0" y="19513"/>
                    </a:cubicBezTo>
                    <a:cubicBezTo>
                      <a:pt x="-1" y="11171"/>
                      <a:pt x="4802" y="3576"/>
                      <a:pt x="12337" y="-1"/>
                    </a:cubicBezTo>
                    <a:lnTo>
                      <a:pt x="21600" y="19513"/>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64" name="Arc 43"/>
              <p:cNvSpPr>
                <a:spLocks/>
              </p:cNvSpPr>
              <p:nvPr/>
            </p:nvSpPr>
            <p:spPr bwMode="auto">
              <a:xfrm>
                <a:off x="2211"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65" name="Arc 44"/>
              <p:cNvSpPr>
                <a:spLocks/>
              </p:cNvSpPr>
              <p:nvPr/>
            </p:nvSpPr>
            <p:spPr bwMode="auto">
              <a:xfrm>
                <a:off x="2276"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39" name="Group 45"/>
            <p:cNvGrpSpPr>
              <a:grpSpLocks/>
            </p:cNvGrpSpPr>
            <p:nvPr/>
          </p:nvGrpSpPr>
          <p:grpSpPr bwMode="auto">
            <a:xfrm>
              <a:off x="2376" y="1872"/>
              <a:ext cx="504" cy="343"/>
              <a:chOff x="1933" y="1898"/>
              <a:chExt cx="504" cy="343"/>
            </a:xfrm>
          </p:grpSpPr>
          <p:sp>
            <p:nvSpPr>
              <p:cNvPr id="54" name="Arc 46"/>
              <p:cNvSpPr>
                <a:spLocks/>
              </p:cNvSpPr>
              <p:nvPr/>
            </p:nvSpPr>
            <p:spPr bwMode="auto">
              <a:xfrm>
                <a:off x="1933"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55" name="Arc 47"/>
              <p:cNvSpPr>
                <a:spLocks/>
              </p:cNvSpPr>
              <p:nvPr/>
            </p:nvSpPr>
            <p:spPr bwMode="auto">
              <a:xfrm>
                <a:off x="2004"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56" name="Arc 48"/>
              <p:cNvSpPr>
                <a:spLocks/>
              </p:cNvSpPr>
              <p:nvPr/>
            </p:nvSpPr>
            <p:spPr bwMode="auto">
              <a:xfrm>
                <a:off x="2070" y="1899"/>
                <a:ext cx="161" cy="341"/>
              </a:xfrm>
              <a:custGeom>
                <a:avLst/>
                <a:gdLst>
                  <a:gd name="T0" fmla="*/ 81 w 21600"/>
                  <a:gd name="T1" fmla="*/ 341 h 38108"/>
                  <a:gd name="T2" fmla="*/ 90 w 21600"/>
                  <a:gd name="T3" fmla="*/ 0 h 38108"/>
                  <a:gd name="T4" fmla="*/ 161 w 21600"/>
                  <a:gd name="T5" fmla="*/ 174 h 38108"/>
                  <a:gd name="T6" fmla="*/ 0 60000 65536"/>
                  <a:gd name="T7" fmla="*/ 0 60000 65536"/>
                  <a:gd name="T8" fmla="*/ 0 60000 65536"/>
                  <a:gd name="T9" fmla="*/ 0 w 21600"/>
                  <a:gd name="T10" fmla="*/ 0 h 38108"/>
                  <a:gd name="T11" fmla="*/ 21600 w 21600"/>
                  <a:gd name="T12" fmla="*/ 38108 h 38108"/>
                </a:gdLst>
                <a:ahLst/>
                <a:cxnLst>
                  <a:cxn ang="T6">
                    <a:pos x="T0" y="T1"/>
                  </a:cxn>
                  <a:cxn ang="T7">
                    <a:pos x="T2" y="T3"/>
                  </a:cxn>
                  <a:cxn ang="T8">
                    <a:pos x="T4" y="T5"/>
                  </a:cxn>
                </a:cxnLst>
                <a:rect l="T9" t="T10" r="T11" b="T12"/>
                <a:pathLst>
                  <a:path w="21600" h="38108" fill="none" extrusionOk="0">
                    <a:moveTo>
                      <a:pt x="10804" y="38107"/>
                    </a:moveTo>
                    <a:cubicBezTo>
                      <a:pt x="4118" y="34249"/>
                      <a:pt x="0" y="27117"/>
                      <a:pt x="0" y="19399"/>
                    </a:cubicBezTo>
                    <a:cubicBezTo>
                      <a:pt x="-1" y="11153"/>
                      <a:pt x="4694" y="3626"/>
                      <a:pt x="12100" y="0"/>
                    </a:cubicBezTo>
                  </a:path>
                  <a:path w="21600" h="38108" stroke="0" extrusionOk="0">
                    <a:moveTo>
                      <a:pt x="10804" y="38107"/>
                    </a:moveTo>
                    <a:cubicBezTo>
                      <a:pt x="4118" y="34249"/>
                      <a:pt x="0" y="27117"/>
                      <a:pt x="0" y="19399"/>
                    </a:cubicBezTo>
                    <a:cubicBezTo>
                      <a:pt x="-1" y="11153"/>
                      <a:pt x="4694" y="3626"/>
                      <a:pt x="12100" y="0"/>
                    </a:cubicBezTo>
                    <a:lnTo>
                      <a:pt x="21600" y="1939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57" name="Arc 49"/>
              <p:cNvSpPr>
                <a:spLocks/>
              </p:cNvSpPr>
              <p:nvPr/>
            </p:nvSpPr>
            <p:spPr bwMode="auto">
              <a:xfrm>
                <a:off x="2140" y="1898"/>
                <a:ext cx="156" cy="343"/>
              </a:xfrm>
              <a:custGeom>
                <a:avLst/>
                <a:gdLst>
                  <a:gd name="T0" fmla="*/ 79 w 21600"/>
                  <a:gd name="T1" fmla="*/ 343 h 38308"/>
                  <a:gd name="T2" fmla="*/ 89 w 21600"/>
                  <a:gd name="T3" fmla="*/ 0 h 38308"/>
                  <a:gd name="T4" fmla="*/ 156 w 21600"/>
                  <a:gd name="T5" fmla="*/ 175 h 38308"/>
                  <a:gd name="T6" fmla="*/ 0 60000 65536"/>
                  <a:gd name="T7" fmla="*/ 0 60000 65536"/>
                  <a:gd name="T8" fmla="*/ 0 60000 65536"/>
                  <a:gd name="T9" fmla="*/ 0 w 21600"/>
                  <a:gd name="T10" fmla="*/ 0 h 38308"/>
                  <a:gd name="T11" fmla="*/ 21600 w 21600"/>
                  <a:gd name="T12" fmla="*/ 38308 h 38308"/>
                </a:gdLst>
                <a:ahLst/>
                <a:cxnLst>
                  <a:cxn ang="T6">
                    <a:pos x="T0" y="T1"/>
                  </a:cxn>
                  <a:cxn ang="T7">
                    <a:pos x="T2" y="T3"/>
                  </a:cxn>
                  <a:cxn ang="T8">
                    <a:pos x="T4" y="T5"/>
                  </a:cxn>
                </a:cxnLst>
                <a:rect l="T9" t="T10" r="T11" b="T12"/>
                <a:pathLst>
                  <a:path w="21600" h="38308" fill="none" extrusionOk="0">
                    <a:moveTo>
                      <a:pt x="10955" y="38307"/>
                    </a:moveTo>
                    <a:cubicBezTo>
                      <a:pt x="4184" y="34473"/>
                      <a:pt x="0" y="27293"/>
                      <a:pt x="0" y="19513"/>
                    </a:cubicBezTo>
                    <a:cubicBezTo>
                      <a:pt x="-1" y="11171"/>
                      <a:pt x="4802" y="3576"/>
                      <a:pt x="12337" y="-1"/>
                    </a:cubicBezTo>
                  </a:path>
                  <a:path w="21600" h="38308" stroke="0" extrusionOk="0">
                    <a:moveTo>
                      <a:pt x="10955" y="38307"/>
                    </a:moveTo>
                    <a:cubicBezTo>
                      <a:pt x="4184" y="34473"/>
                      <a:pt x="0" y="27293"/>
                      <a:pt x="0" y="19513"/>
                    </a:cubicBezTo>
                    <a:cubicBezTo>
                      <a:pt x="-1" y="11171"/>
                      <a:pt x="4802" y="3576"/>
                      <a:pt x="12337" y="-1"/>
                    </a:cubicBezTo>
                    <a:lnTo>
                      <a:pt x="21600" y="19513"/>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58" name="Arc 50"/>
              <p:cNvSpPr>
                <a:spLocks/>
              </p:cNvSpPr>
              <p:nvPr/>
            </p:nvSpPr>
            <p:spPr bwMode="auto">
              <a:xfrm>
                <a:off x="2211"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59" name="Arc 51"/>
              <p:cNvSpPr>
                <a:spLocks/>
              </p:cNvSpPr>
              <p:nvPr/>
            </p:nvSpPr>
            <p:spPr bwMode="auto">
              <a:xfrm>
                <a:off x="2276"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40" name="Group 52"/>
            <p:cNvGrpSpPr>
              <a:grpSpLocks/>
            </p:cNvGrpSpPr>
            <p:nvPr/>
          </p:nvGrpSpPr>
          <p:grpSpPr bwMode="auto">
            <a:xfrm>
              <a:off x="2784" y="1872"/>
              <a:ext cx="504" cy="343"/>
              <a:chOff x="1933" y="1898"/>
              <a:chExt cx="504" cy="343"/>
            </a:xfrm>
          </p:grpSpPr>
          <p:sp>
            <p:nvSpPr>
              <p:cNvPr id="48" name="Arc 53"/>
              <p:cNvSpPr>
                <a:spLocks/>
              </p:cNvSpPr>
              <p:nvPr/>
            </p:nvSpPr>
            <p:spPr bwMode="auto">
              <a:xfrm>
                <a:off x="1933"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49" name="Arc 54"/>
              <p:cNvSpPr>
                <a:spLocks/>
              </p:cNvSpPr>
              <p:nvPr/>
            </p:nvSpPr>
            <p:spPr bwMode="auto">
              <a:xfrm>
                <a:off x="2004"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50" name="Arc 55"/>
              <p:cNvSpPr>
                <a:spLocks/>
              </p:cNvSpPr>
              <p:nvPr/>
            </p:nvSpPr>
            <p:spPr bwMode="auto">
              <a:xfrm>
                <a:off x="2070" y="1899"/>
                <a:ext cx="161" cy="341"/>
              </a:xfrm>
              <a:custGeom>
                <a:avLst/>
                <a:gdLst>
                  <a:gd name="T0" fmla="*/ 81 w 21600"/>
                  <a:gd name="T1" fmla="*/ 341 h 38108"/>
                  <a:gd name="T2" fmla="*/ 90 w 21600"/>
                  <a:gd name="T3" fmla="*/ 0 h 38108"/>
                  <a:gd name="T4" fmla="*/ 161 w 21600"/>
                  <a:gd name="T5" fmla="*/ 174 h 38108"/>
                  <a:gd name="T6" fmla="*/ 0 60000 65536"/>
                  <a:gd name="T7" fmla="*/ 0 60000 65536"/>
                  <a:gd name="T8" fmla="*/ 0 60000 65536"/>
                  <a:gd name="T9" fmla="*/ 0 w 21600"/>
                  <a:gd name="T10" fmla="*/ 0 h 38108"/>
                  <a:gd name="T11" fmla="*/ 21600 w 21600"/>
                  <a:gd name="T12" fmla="*/ 38108 h 38108"/>
                </a:gdLst>
                <a:ahLst/>
                <a:cxnLst>
                  <a:cxn ang="T6">
                    <a:pos x="T0" y="T1"/>
                  </a:cxn>
                  <a:cxn ang="T7">
                    <a:pos x="T2" y="T3"/>
                  </a:cxn>
                  <a:cxn ang="T8">
                    <a:pos x="T4" y="T5"/>
                  </a:cxn>
                </a:cxnLst>
                <a:rect l="T9" t="T10" r="T11" b="T12"/>
                <a:pathLst>
                  <a:path w="21600" h="38108" fill="none" extrusionOk="0">
                    <a:moveTo>
                      <a:pt x="10804" y="38107"/>
                    </a:moveTo>
                    <a:cubicBezTo>
                      <a:pt x="4118" y="34249"/>
                      <a:pt x="0" y="27117"/>
                      <a:pt x="0" y="19399"/>
                    </a:cubicBezTo>
                    <a:cubicBezTo>
                      <a:pt x="-1" y="11153"/>
                      <a:pt x="4694" y="3626"/>
                      <a:pt x="12100" y="0"/>
                    </a:cubicBezTo>
                  </a:path>
                  <a:path w="21600" h="38108" stroke="0" extrusionOk="0">
                    <a:moveTo>
                      <a:pt x="10804" y="38107"/>
                    </a:moveTo>
                    <a:cubicBezTo>
                      <a:pt x="4118" y="34249"/>
                      <a:pt x="0" y="27117"/>
                      <a:pt x="0" y="19399"/>
                    </a:cubicBezTo>
                    <a:cubicBezTo>
                      <a:pt x="-1" y="11153"/>
                      <a:pt x="4694" y="3626"/>
                      <a:pt x="12100" y="0"/>
                    </a:cubicBezTo>
                    <a:lnTo>
                      <a:pt x="21600" y="1939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51" name="Arc 56"/>
              <p:cNvSpPr>
                <a:spLocks/>
              </p:cNvSpPr>
              <p:nvPr/>
            </p:nvSpPr>
            <p:spPr bwMode="auto">
              <a:xfrm>
                <a:off x="2140" y="1898"/>
                <a:ext cx="156" cy="343"/>
              </a:xfrm>
              <a:custGeom>
                <a:avLst/>
                <a:gdLst>
                  <a:gd name="T0" fmla="*/ 79 w 21600"/>
                  <a:gd name="T1" fmla="*/ 343 h 38308"/>
                  <a:gd name="T2" fmla="*/ 89 w 21600"/>
                  <a:gd name="T3" fmla="*/ 0 h 38308"/>
                  <a:gd name="T4" fmla="*/ 156 w 21600"/>
                  <a:gd name="T5" fmla="*/ 175 h 38308"/>
                  <a:gd name="T6" fmla="*/ 0 60000 65536"/>
                  <a:gd name="T7" fmla="*/ 0 60000 65536"/>
                  <a:gd name="T8" fmla="*/ 0 60000 65536"/>
                  <a:gd name="T9" fmla="*/ 0 w 21600"/>
                  <a:gd name="T10" fmla="*/ 0 h 38308"/>
                  <a:gd name="T11" fmla="*/ 21600 w 21600"/>
                  <a:gd name="T12" fmla="*/ 38308 h 38308"/>
                </a:gdLst>
                <a:ahLst/>
                <a:cxnLst>
                  <a:cxn ang="T6">
                    <a:pos x="T0" y="T1"/>
                  </a:cxn>
                  <a:cxn ang="T7">
                    <a:pos x="T2" y="T3"/>
                  </a:cxn>
                  <a:cxn ang="T8">
                    <a:pos x="T4" y="T5"/>
                  </a:cxn>
                </a:cxnLst>
                <a:rect l="T9" t="T10" r="T11" b="T12"/>
                <a:pathLst>
                  <a:path w="21600" h="38308" fill="none" extrusionOk="0">
                    <a:moveTo>
                      <a:pt x="10955" y="38307"/>
                    </a:moveTo>
                    <a:cubicBezTo>
                      <a:pt x="4184" y="34473"/>
                      <a:pt x="0" y="27293"/>
                      <a:pt x="0" y="19513"/>
                    </a:cubicBezTo>
                    <a:cubicBezTo>
                      <a:pt x="-1" y="11171"/>
                      <a:pt x="4802" y="3576"/>
                      <a:pt x="12337" y="-1"/>
                    </a:cubicBezTo>
                  </a:path>
                  <a:path w="21600" h="38308" stroke="0" extrusionOk="0">
                    <a:moveTo>
                      <a:pt x="10955" y="38307"/>
                    </a:moveTo>
                    <a:cubicBezTo>
                      <a:pt x="4184" y="34473"/>
                      <a:pt x="0" y="27293"/>
                      <a:pt x="0" y="19513"/>
                    </a:cubicBezTo>
                    <a:cubicBezTo>
                      <a:pt x="-1" y="11171"/>
                      <a:pt x="4802" y="3576"/>
                      <a:pt x="12337" y="-1"/>
                    </a:cubicBezTo>
                    <a:lnTo>
                      <a:pt x="21600" y="19513"/>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52" name="Arc 57"/>
              <p:cNvSpPr>
                <a:spLocks/>
              </p:cNvSpPr>
              <p:nvPr/>
            </p:nvSpPr>
            <p:spPr bwMode="auto">
              <a:xfrm>
                <a:off x="2211"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53" name="Arc 58"/>
              <p:cNvSpPr>
                <a:spLocks/>
              </p:cNvSpPr>
              <p:nvPr/>
            </p:nvSpPr>
            <p:spPr bwMode="auto">
              <a:xfrm>
                <a:off x="2276"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41" name="Group 59"/>
            <p:cNvGrpSpPr>
              <a:grpSpLocks/>
            </p:cNvGrpSpPr>
            <p:nvPr/>
          </p:nvGrpSpPr>
          <p:grpSpPr bwMode="auto">
            <a:xfrm>
              <a:off x="3216" y="1872"/>
              <a:ext cx="504" cy="343"/>
              <a:chOff x="1933" y="1898"/>
              <a:chExt cx="504" cy="343"/>
            </a:xfrm>
          </p:grpSpPr>
          <p:sp>
            <p:nvSpPr>
              <p:cNvPr id="42" name="Arc 60"/>
              <p:cNvSpPr>
                <a:spLocks/>
              </p:cNvSpPr>
              <p:nvPr/>
            </p:nvSpPr>
            <p:spPr bwMode="auto">
              <a:xfrm>
                <a:off x="1933"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43" name="Arc 61"/>
              <p:cNvSpPr>
                <a:spLocks/>
              </p:cNvSpPr>
              <p:nvPr/>
            </p:nvSpPr>
            <p:spPr bwMode="auto">
              <a:xfrm>
                <a:off x="2004"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44" name="Arc 62"/>
              <p:cNvSpPr>
                <a:spLocks/>
              </p:cNvSpPr>
              <p:nvPr/>
            </p:nvSpPr>
            <p:spPr bwMode="auto">
              <a:xfrm>
                <a:off x="2070" y="1899"/>
                <a:ext cx="161" cy="341"/>
              </a:xfrm>
              <a:custGeom>
                <a:avLst/>
                <a:gdLst>
                  <a:gd name="T0" fmla="*/ 81 w 21600"/>
                  <a:gd name="T1" fmla="*/ 341 h 38108"/>
                  <a:gd name="T2" fmla="*/ 90 w 21600"/>
                  <a:gd name="T3" fmla="*/ 0 h 38108"/>
                  <a:gd name="T4" fmla="*/ 161 w 21600"/>
                  <a:gd name="T5" fmla="*/ 174 h 38108"/>
                  <a:gd name="T6" fmla="*/ 0 60000 65536"/>
                  <a:gd name="T7" fmla="*/ 0 60000 65536"/>
                  <a:gd name="T8" fmla="*/ 0 60000 65536"/>
                  <a:gd name="T9" fmla="*/ 0 w 21600"/>
                  <a:gd name="T10" fmla="*/ 0 h 38108"/>
                  <a:gd name="T11" fmla="*/ 21600 w 21600"/>
                  <a:gd name="T12" fmla="*/ 38108 h 38108"/>
                </a:gdLst>
                <a:ahLst/>
                <a:cxnLst>
                  <a:cxn ang="T6">
                    <a:pos x="T0" y="T1"/>
                  </a:cxn>
                  <a:cxn ang="T7">
                    <a:pos x="T2" y="T3"/>
                  </a:cxn>
                  <a:cxn ang="T8">
                    <a:pos x="T4" y="T5"/>
                  </a:cxn>
                </a:cxnLst>
                <a:rect l="T9" t="T10" r="T11" b="T12"/>
                <a:pathLst>
                  <a:path w="21600" h="38108" fill="none" extrusionOk="0">
                    <a:moveTo>
                      <a:pt x="10804" y="38107"/>
                    </a:moveTo>
                    <a:cubicBezTo>
                      <a:pt x="4118" y="34249"/>
                      <a:pt x="0" y="27117"/>
                      <a:pt x="0" y="19399"/>
                    </a:cubicBezTo>
                    <a:cubicBezTo>
                      <a:pt x="-1" y="11153"/>
                      <a:pt x="4694" y="3626"/>
                      <a:pt x="12100" y="0"/>
                    </a:cubicBezTo>
                  </a:path>
                  <a:path w="21600" h="38108" stroke="0" extrusionOk="0">
                    <a:moveTo>
                      <a:pt x="10804" y="38107"/>
                    </a:moveTo>
                    <a:cubicBezTo>
                      <a:pt x="4118" y="34249"/>
                      <a:pt x="0" y="27117"/>
                      <a:pt x="0" y="19399"/>
                    </a:cubicBezTo>
                    <a:cubicBezTo>
                      <a:pt x="-1" y="11153"/>
                      <a:pt x="4694" y="3626"/>
                      <a:pt x="12100" y="0"/>
                    </a:cubicBezTo>
                    <a:lnTo>
                      <a:pt x="21600" y="1939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45" name="Arc 63"/>
              <p:cNvSpPr>
                <a:spLocks/>
              </p:cNvSpPr>
              <p:nvPr/>
            </p:nvSpPr>
            <p:spPr bwMode="auto">
              <a:xfrm>
                <a:off x="2140" y="1898"/>
                <a:ext cx="156" cy="343"/>
              </a:xfrm>
              <a:custGeom>
                <a:avLst/>
                <a:gdLst>
                  <a:gd name="T0" fmla="*/ 79 w 21600"/>
                  <a:gd name="T1" fmla="*/ 343 h 38308"/>
                  <a:gd name="T2" fmla="*/ 89 w 21600"/>
                  <a:gd name="T3" fmla="*/ 0 h 38308"/>
                  <a:gd name="T4" fmla="*/ 156 w 21600"/>
                  <a:gd name="T5" fmla="*/ 175 h 38308"/>
                  <a:gd name="T6" fmla="*/ 0 60000 65536"/>
                  <a:gd name="T7" fmla="*/ 0 60000 65536"/>
                  <a:gd name="T8" fmla="*/ 0 60000 65536"/>
                  <a:gd name="T9" fmla="*/ 0 w 21600"/>
                  <a:gd name="T10" fmla="*/ 0 h 38308"/>
                  <a:gd name="T11" fmla="*/ 21600 w 21600"/>
                  <a:gd name="T12" fmla="*/ 38308 h 38308"/>
                </a:gdLst>
                <a:ahLst/>
                <a:cxnLst>
                  <a:cxn ang="T6">
                    <a:pos x="T0" y="T1"/>
                  </a:cxn>
                  <a:cxn ang="T7">
                    <a:pos x="T2" y="T3"/>
                  </a:cxn>
                  <a:cxn ang="T8">
                    <a:pos x="T4" y="T5"/>
                  </a:cxn>
                </a:cxnLst>
                <a:rect l="T9" t="T10" r="T11" b="T12"/>
                <a:pathLst>
                  <a:path w="21600" h="38308" fill="none" extrusionOk="0">
                    <a:moveTo>
                      <a:pt x="10955" y="38307"/>
                    </a:moveTo>
                    <a:cubicBezTo>
                      <a:pt x="4184" y="34473"/>
                      <a:pt x="0" y="27293"/>
                      <a:pt x="0" y="19513"/>
                    </a:cubicBezTo>
                    <a:cubicBezTo>
                      <a:pt x="-1" y="11171"/>
                      <a:pt x="4802" y="3576"/>
                      <a:pt x="12337" y="-1"/>
                    </a:cubicBezTo>
                  </a:path>
                  <a:path w="21600" h="38308" stroke="0" extrusionOk="0">
                    <a:moveTo>
                      <a:pt x="10955" y="38307"/>
                    </a:moveTo>
                    <a:cubicBezTo>
                      <a:pt x="4184" y="34473"/>
                      <a:pt x="0" y="27293"/>
                      <a:pt x="0" y="19513"/>
                    </a:cubicBezTo>
                    <a:cubicBezTo>
                      <a:pt x="-1" y="11171"/>
                      <a:pt x="4802" y="3576"/>
                      <a:pt x="12337" y="-1"/>
                    </a:cubicBezTo>
                    <a:lnTo>
                      <a:pt x="21600" y="19513"/>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46" name="Arc 64"/>
              <p:cNvSpPr>
                <a:spLocks/>
              </p:cNvSpPr>
              <p:nvPr/>
            </p:nvSpPr>
            <p:spPr bwMode="auto">
              <a:xfrm>
                <a:off x="2211"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47" name="Arc 65"/>
              <p:cNvSpPr>
                <a:spLocks/>
              </p:cNvSpPr>
              <p:nvPr/>
            </p:nvSpPr>
            <p:spPr bwMode="auto">
              <a:xfrm>
                <a:off x="2276"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grpSp>
        <p:nvGrpSpPr>
          <p:cNvPr id="66" name="Group 66"/>
          <p:cNvGrpSpPr>
            <a:grpSpLocks/>
          </p:cNvGrpSpPr>
          <p:nvPr/>
        </p:nvGrpSpPr>
        <p:grpSpPr bwMode="auto">
          <a:xfrm rot="10800000">
            <a:off x="6109759" y="1573143"/>
            <a:ext cx="2601913" cy="381000"/>
            <a:chOff x="1944" y="1872"/>
            <a:chExt cx="1776" cy="343"/>
          </a:xfrm>
        </p:grpSpPr>
        <p:grpSp>
          <p:nvGrpSpPr>
            <p:cNvPr id="67" name="Group 67"/>
            <p:cNvGrpSpPr>
              <a:grpSpLocks/>
            </p:cNvGrpSpPr>
            <p:nvPr/>
          </p:nvGrpSpPr>
          <p:grpSpPr bwMode="auto">
            <a:xfrm>
              <a:off x="1944" y="1872"/>
              <a:ext cx="504" cy="343"/>
              <a:chOff x="1933" y="1898"/>
              <a:chExt cx="504" cy="343"/>
            </a:xfrm>
          </p:grpSpPr>
          <p:sp>
            <p:nvSpPr>
              <p:cNvPr id="89" name="Arc 68"/>
              <p:cNvSpPr>
                <a:spLocks/>
              </p:cNvSpPr>
              <p:nvPr/>
            </p:nvSpPr>
            <p:spPr bwMode="auto">
              <a:xfrm>
                <a:off x="1933"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90" name="Arc 69"/>
              <p:cNvSpPr>
                <a:spLocks/>
              </p:cNvSpPr>
              <p:nvPr/>
            </p:nvSpPr>
            <p:spPr bwMode="auto">
              <a:xfrm>
                <a:off x="2004"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91" name="Arc 70"/>
              <p:cNvSpPr>
                <a:spLocks/>
              </p:cNvSpPr>
              <p:nvPr/>
            </p:nvSpPr>
            <p:spPr bwMode="auto">
              <a:xfrm>
                <a:off x="2070" y="1899"/>
                <a:ext cx="161" cy="341"/>
              </a:xfrm>
              <a:custGeom>
                <a:avLst/>
                <a:gdLst>
                  <a:gd name="T0" fmla="*/ 81 w 21600"/>
                  <a:gd name="T1" fmla="*/ 341 h 38108"/>
                  <a:gd name="T2" fmla="*/ 90 w 21600"/>
                  <a:gd name="T3" fmla="*/ 0 h 38108"/>
                  <a:gd name="T4" fmla="*/ 161 w 21600"/>
                  <a:gd name="T5" fmla="*/ 174 h 38108"/>
                  <a:gd name="T6" fmla="*/ 0 60000 65536"/>
                  <a:gd name="T7" fmla="*/ 0 60000 65536"/>
                  <a:gd name="T8" fmla="*/ 0 60000 65536"/>
                  <a:gd name="T9" fmla="*/ 0 w 21600"/>
                  <a:gd name="T10" fmla="*/ 0 h 38108"/>
                  <a:gd name="T11" fmla="*/ 21600 w 21600"/>
                  <a:gd name="T12" fmla="*/ 38108 h 38108"/>
                </a:gdLst>
                <a:ahLst/>
                <a:cxnLst>
                  <a:cxn ang="T6">
                    <a:pos x="T0" y="T1"/>
                  </a:cxn>
                  <a:cxn ang="T7">
                    <a:pos x="T2" y="T3"/>
                  </a:cxn>
                  <a:cxn ang="T8">
                    <a:pos x="T4" y="T5"/>
                  </a:cxn>
                </a:cxnLst>
                <a:rect l="T9" t="T10" r="T11" b="T12"/>
                <a:pathLst>
                  <a:path w="21600" h="38108" fill="none" extrusionOk="0">
                    <a:moveTo>
                      <a:pt x="10804" y="38107"/>
                    </a:moveTo>
                    <a:cubicBezTo>
                      <a:pt x="4118" y="34249"/>
                      <a:pt x="0" y="27117"/>
                      <a:pt x="0" y="19399"/>
                    </a:cubicBezTo>
                    <a:cubicBezTo>
                      <a:pt x="-1" y="11153"/>
                      <a:pt x="4694" y="3626"/>
                      <a:pt x="12100" y="0"/>
                    </a:cubicBezTo>
                  </a:path>
                  <a:path w="21600" h="38108" stroke="0" extrusionOk="0">
                    <a:moveTo>
                      <a:pt x="10804" y="38107"/>
                    </a:moveTo>
                    <a:cubicBezTo>
                      <a:pt x="4118" y="34249"/>
                      <a:pt x="0" y="27117"/>
                      <a:pt x="0" y="19399"/>
                    </a:cubicBezTo>
                    <a:cubicBezTo>
                      <a:pt x="-1" y="11153"/>
                      <a:pt x="4694" y="3626"/>
                      <a:pt x="12100" y="0"/>
                    </a:cubicBezTo>
                    <a:lnTo>
                      <a:pt x="21600" y="1939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92" name="Arc 71"/>
              <p:cNvSpPr>
                <a:spLocks/>
              </p:cNvSpPr>
              <p:nvPr/>
            </p:nvSpPr>
            <p:spPr bwMode="auto">
              <a:xfrm>
                <a:off x="2140" y="1898"/>
                <a:ext cx="156" cy="343"/>
              </a:xfrm>
              <a:custGeom>
                <a:avLst/>
                <a:gdLst>
                  <a:gd name="T0" fmla="*/ 79 w 21600"/>
                  <a:gd name="T1" fmla="*/ 343 h 38308"/>
                  <a:gd name="T2" fmla="*/ 89 w 21600"/>
                  <a:gd name="T3" fmla="*/ 0 h 38308"/>
                  <a:gd name="T4" fmla="*/ 156 w 21600"/>
                  <a:gd name="T5" fmla="*/ 175 h 38308"/>
                  <a:gd name="T6" fmla="*/ 0 60000 65536"/>
                  <a:gd name="T7" fmla="*/ 0 60000 65536"/>
                  <a:gd name="T8" fmla="*/ 0 60000 65536"/>
                  <a:gd name="T9" fmla="*/ 0 w 21600"/>
                  <a:gd name="T10" fmla="*/ 0 h 38308"/>
                  <a:gd name="T11" fmla="*/ 21600 w 21600"/>
                  <a:gd name="T12" fmla="*/ 38308 h 38308"/>
                </a:gdLst>
                <a:ahLst/>
                <a:cxnLst>
                  <a:cxn ang="T6">
                    <a:pos x="T0" y="T1"/>
                  </a:cxn>
                  <a:cxn ang="T7">
                    <a:pos x="T2" y="T3"/>
                  </a:cxn>
                  <a:cxn ang="T8">
                    <a:pos x="T4" y="T5"/>
                  </a:cxn>
                </a:cxnLst>
                <a:rect l="T9" t="T10" r="T11" b="T12"/>
                <a:pathLst>
                  <a:path w="21600" h="38308" fill="none" extrusionOk="0">
                    <a:moveTo>
                      <a:pt x="10955" y="38307"/>
                    </a:moveTo>
                    <a:cubicBezTo>
                      <a:pt x="4184" y="34473"/>
                      <a:pt x="0" y="27293"/>
                      <a:pt x="0" y="19513"/>
                    </a:cubicBezTo>
                    <a:cubicBezTo>
                      <a:pt x="-1" y="11171"/>
                      <a:pt x="4802" y="3576"/>
                      <a:pt x="12337" y="-1"/>
                    </a:cubicBezTo>
                  </a:path>
                  <a:path w="21600" h="38308" stroke="0" extrusionOk="0">
                    <a:moveTo>
                      <a:pt x="10955" y="38307"/>
                    </a:moveTo>
                    <a:cubicBezTo>
                      <a:pt x="4184" y="34473"/>
                      <a:pt x="0" y="27293"/>
                      <a:pt x="0" y="19513"/>
                    </a:cubicBezTo>
                    <a:cubicBezTo>
                      <a:pt x="-1" y="11171"/>
                      <a:pt x="4802" y="3576"/>
                      <a:pt x="12337" y="-1"/>
                    </a:cubicBezTo>
                    <a:lnTo>
                      <a:pt x="21600" y="19513"/>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93" name="Arc 72"/>
              <p:cNvSpPr>
                <a:spLocks/>
              </p:cNvSpPr>
              <p:nvPr/>
            </p:nvSpPr>
            <p:spPr bwMode="auto">
              <a:xfrm>
                <a:off x="2211"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94" name="Arc 73"/>
              <p:cNvSpPr>
                <a:spLocks/>
              </p:cNvSpPr>
              <p:nvPr/>
            </p:nvSpPr>
            <p:spPr bwMode="auto">
              <a:xfrm>
                <a:off x="2276"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68" name="Group 74"/>
            <p:cNvGrpSpPr>
              <a:grpSpLocks/>
            </p:cNvGrpSpPr>
            <p:nvPr/>
          </p:nvGrpSpPr>
          <p:grpSpPr bwMode="auto">
            <a:xfrm>
              <a:off x="2376" y="1872"/>
              <a:ext cx="504" cy="343"/>
              <a:chOff x="1933" y="1898"/>
              <a:chExt cx="504" cy="343"/>
            </a:xfrm>
          </p:grpSpPr>
          <p:sp>
            <p:nvSpPr>
              <p:cNvPr id="83" name="Arc 75"/>
              <p:cNvSpPr>
                <a:spLocks/>
              </p:cNvSpPr>
              <p:nvPr/>
            </p:nvSpPr>
            <p:spPr bwMode="auto">
              <a:xfrm>
                <a:off x="1933"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84" name="Arc 76"/>
              <p:cNvSpPr>
                <a:spLocks/>
              </p:cNvSpPr>
              <p:nvPr/>
            </p:nvSpPr>
            <p:spPr bwMode="auto">
              <a:xfrm>
                <a:off x="2004"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85" name="Arc 77"/>
              <p:cNvSpPr>
                <a:spLocks/>
              </p:cNvSpPr>
              <p:nvPr/>
            </p:nvSpPr>
            <p:spPr bwMode="auto">
              <a:xfrm>
                <a:off x="2070" y="1899"/>
                <a:ext cx="161" cy="341"/>
              </a:xfrm>
              <a:custGeom>
                <a:avLst/>
                <a:gdLst>
                  <a:gd name="T0" fmla="*/ 81 w 21600"/>
                  <a:gd name="T1" fmla="*/ 341 h 38108"/>
                  <a:gd name="T2" fmla="*/ 90 w 21600"/>
                  <a:gd name="T3" fmla="*/ 0 h 38108"/>
                  <a:gd name="T4" fmla="*/ 161 w 21600"/>
                  <a:gd name="T5" fmla="*/ 174 h 38108"/>
                  <a:gd name="T6" fmla="*/ 0 60000 65536"/>
                  <a:gd name="T7" fmla="*/ 0 60000 65536"/>
                  <a:gd name="T8" fmla="*/ 0 60000 65536"/>
                  <a:gd name="T9" fmla="*/ 0 w 21600"/>
                  <a:gd name="T10" fmla="*/ 0 h 38108"/>
                  <a:gd name="T11" fmla="*/ 21600 w 21600"/>
                  <a:gd name="T12" fmla="*/ 38108 h 38108"/>
                </a:gdLst>
                <a:ahLst/>
                <a:cxnLst>
                  <a:cxn ang="T6">
                    <a:pos x="T0" y="T1"/>
                  </a:cxn>
                  <a:cxn ang="T7">
                    <a:pos x="T2" y="T3"/>
                  </a:cxn>
                  <a:cxn ang="T8">
                    <a:pos x="T4" y="T5"/>
                  </a:cxn>
                </a:cxnLst>
                <a:rect l="T9" t="T10" r="T11" b="T12"/>
                <a:pathLst>
                  <a:path w="21600" h="38108" fill="none" extrusionOk="0">
                    <a:moveTo>
                      <a:pt x="10804" y="38107"/>
                    </a:moveTo>
                    <a:cubicBezTo>
                      <a:pt x="4118" y="34249"/>
                      <a:pt x="0" y="27117"/>
                      <a:pt x="0" y="19399"/>
                    </a:cubicBezTo>
                    <a:cubicBezTo>
                      <a:pt x="-1" y="11153"/>
                      <a:pt x="4694" y="3626"/>
                      <a:pt x="12100" y="0"/>
                    </a:cubicBezTo>
                  </a:path>
                  <a:path w="21600" h="38108" stroke="0" extrusionOk="0">
                    <a:moveTo>
                      <a:pt x="10804" y="38107"/>
                    </a:moveTo>
                    <a:cubicBezTo>
                      <a:pt x="4118" y="34249"/>
                      <a:pt x="0" y="27117"/>
                      <a:pt x="0" y="19399"/>
                    </a:cubicBezTo>
                    <a:cubicBezTo>
                      <a:pt x="-1" y="11153"/>
                      <a:pt x="4694" y="3626"/>
                      <a:pt x="12100" y="0"/>
                    </a:cubicBezTo>
                    <a:lnTo>
                      <a:pt x="21600" y="1939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86" name="Arc 78"/>
              <p:cNvSpPr>
                <a:spLocks/>
              </p:cNvSpPr>
              <p:nvPr/>
            </p:nvSpPr>
            <p:spPr bwMode="auto">
              <a:xfrm>
                <a:off x="2140" y="1898"/>
                <a:ext cx="156" cy="343"/>
              </a:xfrm>
              <a:custGeom>
                <a:avLst/>
                <a:gdLst>
                  <a:gd name="T0" fmla="*/ 79 w 21600"/>
                  <a:gd name="T1" fmla="*/ 343 h 38308"/>
                  <a:gd name="T2" fmla="*/ 89 w 21600"/>
                  <a:gd name="T3" fmla="*/ 0 h 38308"/>
                  <a:gd name="T4" fmla="*/ 156 w 21600"/>
                  <a:gd name="T5" fmla="*/ 175 h 38308"/>
                  <a:gd name="T6" fmla="*/ 0 60000 65536"/>
                  <a:gd name="T7" fmla="*/ 0 60000 65536"/>
                  <a:gd name="T8" fmla="*/ 0 60000 65536"/>
                  <a:gd name="T9" fmla="*/ 0 w 21600"/>
                  <a:gd name="T10" fmla="*/ 0 h 38308"/>
                  <a:gd name="T11" fmla="*/ 21600 w 21600"/>
                  <a:gd name="T12" fmla="*/ 38308 h 38308"/>
                </a:gdLst>
                <a:ahLst/>
                <a:cxnLst>
                  <a:cxn ang="T6">
                    <a:pos x="T0" y="T1"/>
                  </a:cxn>
                  <a:cxn ang="T7">
                    <a:pos x="T2" y="T3"/>
                  </a:cxn>
                  <a:cxn ang="T8">
                    <a:pos x="T4" y="T5"/>
                  </a:cxn>
                </a:cxnLst>
                <a:rect l="T9" t="T10" r="T11" b="T12"/>
                <a:pathLst>
                  <a:path w="21600" h="38308" fill="none" extrusionOk="0">
                    <a:moveTo>
                      <a:pt x="10955" y="38307"/>
                    </a:moveTo>
                    <a:cubicBezTo>
                      <a:pt x="4184" y="34473"/>
                      <a:pt x="0" y="27293"/>
                      <a:pt x="0" y="19513"/>
                    </a:cubicBezTo>
                    <a:cubicBezTo>
                      <a:pt x="-1" y="11171"/>
                      <a:pt x="4802" y="3576"/>
                      <a:pt x="12337" y="-1"/>
                    </a:cubicBezTo>
                  </a:path>
                  <a:path w="21600" h="38308" stroke="0" extrusionOk="0">
                    <a:moveTo>
                      <a:pt x="10955" y="38307"/>
                    </a:moveTo>
                    <a:cubicBezTo>
                      <a:pt x="4184" y="34473"/>
                      <a:pt x="0" y="27293"/>
                      <a:pt x="0" y="19513"/>
                    </a:cubicBezTo>
                    <a:cubicBezTo>
                      <a:pt x="-1" y="11171"/>
                      <a:pt x="4802" y="3576"/>
                      <a:pt x="12337" y="-1"/>
                    </a:cubicBezTo>
                    <a:lnTo>
                      <a:pt x="21600" y="19513"/>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87" name="Arc 79"/>
              <p:cNvSpPr>
                <a:spLocks/>
              </p:cNvSpPr>
              <p:nvPr/>
            </p:nvSpPr>
            <p:spPr bwMode="auto">
              <a:xfrm>
                <a:off x="2211"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88" name="Arc 80"/>
              <p:cNvSpPr>
                <a:spLocks/>
              </p:cNvSpPr>
              <p:nvPr/>
            </p:nvSpPr>
            <p:spPr bwMode="auto">
              <a:xfrm>
                <a:off x="2276"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69" name="Group 81"/>
            <p:cNvGrpSpPr>
              <a:grpSpLocks/>
            </p:cNvGrpSpPr>
            <p:nvPr/>
          </p:nvGrpSpPr>
          <p:grpSpPr bwMode="auto">
            <a:xfrm>
              <a:off x="2784" y="1872"/>
              <a:ext cx="504" cy="343"/>
              <a:chOff x="1933" y="1898"/>
              <a:chExt cx="504" cy="343"/>
            </a:xfrm>
          </p:grpSpPr>
          <p:sp>
            <p:nvSpPr>
              <p:cNvPr id="77" name="Arc 82"/>
              <p:cNvSpPr>
                <a:spLocks/>
              </p:cNvSpPr>
              <p:nvPr/>
            </p:nvSpPr>
            <p:spPr bwMode="auto">
              <a:xfrm>
                <a:off x="1933"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78" name="Arc 83"/>
              <p:cNvSpPr>
                <a:spLocks/>
              </p:cNvSpPr>
              <p:nvPr/>
            </p:nvSpPr>
            <p:spPr bwMode="auto">
              <a:xfrm>
                <a:off x="2004"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79" name="Arc 84"/>
              <p:cNvSpPr>
                <a:spLocks/>
              </p:cNvSpPr>
              <p:nvPr/>
            </p:nvSpPr>
            <p:spPr bwMode="auto">
              <a:xfrm>
                <a:off x="2070" y="1899"/>
                <a:ext cx="161" cy="341"/>
              </a:xfrm>
              <a:custGeom>
                <a:avLst/>
                <a:gdLst>
                  <a:gd name="T0" fmla="*/ 81 w 21600"/>
                  <a:gd name="T1" fmla="*/ 341 h 38108"/>
                  <a:gd name="T2" fmla="*/ 90 w 21600"/>
                  <a:gd name="T3" fmla="*/ 0 h 38108"/>
                  <a:gd name="T4" fmla="*/ 161 w 21600"/>
                  <a:gd name="T5" fmla="*/ 174 h 38108"/>
                  <a:gd name="T6" fmla="*/ 0 60000 65536"/>
                  <a:gd name="T7" fmla="*/ 0 60000 65536"/>
                  <a:gd name="T8" fmla="*/ 0 60000 65536"/>
                  <a:gd name="T9" fmla="*/ 0 w 21600"/>
                  <a:gd name="T10" fmla="*/ 0 h 38108"/>
                  <a:gd name="T11" fmla="*/ 21600 w 21600"/>
                  <a:gd name="T12" fmla="*/ 38108 h 38108"/>
                </a:gdLst>
                <a:ahLst/>
                <a:cxnLst>
                  <a:cxn ang="T6">
                    <a:pos x="T0" y="T1"/>
                  </a:cxn>
                  <a:cxn ang="T7">
                    <a:pos x="T2" y="T3"/>
                  </a:cxn>
                  <a:cxn ang="T8">
                    <a:pos x="T4" y="T5"/>
                  </a:cxn>
                </a:cxnLst>
                <a:rect l="T9" t="T10" r="T11" b="T12"/>
                <a:pathLst>
                  <a:path w="21600" h="38108" fill="none" extrusionOk="0">
                    <a:moveTo>
                      <a:pt x="10804" y="38107"/>
                    </a:moveTo>
                    <a:cubicBezTo>
                      <a:pt x="4118" y="34249"/>
                      <a:pt x="0" y="27117"/>
                      <a:pt x="0" y="19399"/>
                    </a:cubicBezTo>
                    <a:cubicBezTo>
                      <a:pt x="-1" y="11153"/>
                      <a:pt x="4694" y="3626"/>
                      <a:pt x="12100" y="0"/>
                    </a:cubicBezTo>
                  </a:path>
                  <a:path w="21600" h="38108" stroke="0" extrusionOk="0">
                    <a:moveTo>
                      <a:pt x="10804" y="38107"/>
                    </a:moveTo>
                    <a:cubicBezTo>
                      <a:pt x="4118" y="34249"/>
                      <a:pt x="0" y="27117"/>
                      <a:pt x="0" y="19399"/>
                    </a:cubicBezTo>
                    <a:cubicBezTo>
                      <a:pt x="-1" y="11153"/>
                      <a:pt x="4694" y="3626"/>
                      <a:pt x="12100" y="0"/>
                    </a:cubicBezTo>
                    <a:lnTo>
                      <a:pt x="21600" y="1939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80" name="Arc 85"/>
              <p:cNvSpPr>
                <a:spLocks/>
              </p:cNvSpPr>
              <p:nvPr/>
            </p:nvSpPr>
            <p:spPr bwMode="auto">
              <a:xfrm>
                <a:off x="2140" y="1898"/>
                <a:ext cx="156" cy="343"/>
              </a:xfrm>
              <a:custGeom>
                <a:avLst/>
                <a:gdLst>
                  <a:gd name="T0" fmla="*/ 79 w 21600"/>
                  <a:gd name="T1" fmla="*/ 343 h 38308"/>
                  <a:gd name="T2" fmla="*/ 89 w 21600"/>
                  <a:gd name="T3" fmla="*/ 0 h 38308"/>
                  <a:gd name="T4" fmla="*/ 156 w 21600"/>
                  <a:gd name="T5" fmla="*/ 175 h 38308"/>
                  <a:gd name="T6" fmla="*/ 0 60000 65536"/>
                  <a:gd name="T7" fmla="*/ 0 60000 65536"/>
                  <a:gd name="T8" fmla="*/ 0 60000 65536"/>
                  <a:gd name="T9" fmla="*/ 0 w 21600"/>
                  <a:gd name="T10" fmla="*/ 0 h 38308"/>
                  <a:gd name="T11" fmla="*/ 21600 w 21600"/>
                  <a:gd name="T12" fmla="*/ 38308 h 38308"/>
                </a:gdLst>
                <a:ahLst/>
                <a:cxnLst>
                  <a:cxn ang="T6">
                    <a:pos x="T0" y="T1"/>
                  </a:cxn>
                  <a:cxn ang="T7">
                    <a:pos x="T2" y="T3"/>
                  </a:cxn>
                  <a:cxn ang="T8">
                    <a:pos x="T4" y="T5"/>
                  </a:cxn>
                </a:cxnLst>
                <a:rect l="T9" t="T10" r="T11" b="T12"/>
                <a:pathLst>
                  <a:path w="21600" h="38308" fill="none" extrusionOk="0">
                    <a:moveTo>
                      <a:pt x="10955" y="38307"/>
                    </a:moveTo>
                    <a:cubicBezTo>
                      <a:pt x="4184" y="34473"/>
                      <a:pt x="0" y="27293"/>
                      <a:pt x="0" y="19513"/>
                    </a:cubicBezTo>
                    <a:cubicBezTo>
                      <a:pt x="-1" y="11171"/>
                      <a:pt x="4802" y="3576"/>
                      <a:pt x="12337" y="-1"/>
                    </a:cubicBezTo>
                  </a:path>
                  <a:path w="21600" h="38308" stroke="0" extrusionOk="0">
                    <a:moveTo>
                      <a:pt x="10955" y="38307"/>
                    </a:moveTo>
                    <a:cubicBezTo>
                      <a:pt x="4184" y="34473"/>
                      <a:pt x="0" y="27293"/>
                      <a:pt x="0" y="19513"/>
                    </a:cubicBezTo>
                    <a:cubicBezTo>
                      <a:pt x="-1" y="11171"/>
                      <a:pt x="4802" y="3576"/>
                      <a:pt x="12337" y="-1"/>
                    </a:cubicBezTo>
                    <a:lnTo>
                      <a:pt x="21600" y="19513"/>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81" name="Arc 86"/>
              <p:cNvSpPr>
                <a:spLocks/>
              </p:cNvSpPr>
              <p:nvPr/>
            </p:nvSpPr>
            <p:spPr bwMode="auto">
              <a:xfrm>
                <a:off x="2211"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82" name="Arc 87"/>
              <p:cNvSpPr>
                <a:spLocks/>
              </p:cNvSpPr>
              <p:nvPr/>
            </p:nvSpPr>
            <p:spPr bwMode="auto">
              <a:xfrm>
                <a:off x="2276"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70" name="Group 88"/>
            <p:cNvGrpSpPr>
              <a:grpSpLocks/>
            </p:cNvGrpSpPr>
            <p:nvPr/>
          </p:nvGrpSpPr>
          <p:grpSpPr bwMode="auto">
            <a:xfrm>
              <a:off x="3216" y="1872"/>
              <a:ext cx="504" cy="343"/>
              <a:chOff x="1933" y="1898"/>
              <a:chExt cx="504" cy="343"/>
            </a:xfrm>
          </p:grpSpPr>
          <p:sp>
            <p:nvSpPr>
              <p:cNvPr id="71" name="Arc 89"/>
              <p:cNvSpPr>
                <a:spLocks/>
              </p:cNvSpPr>
              <p:nvPr/>
            </p:nvSpPr>
            <p:spPr bwMode="auto">
              <a:xfrm>
                <a:off x="1933"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72" name="Arc 90"/>
              <p:cNvSpPr>
                <a:spLocks/>
              </p:cNvSpPr>
              <p:nvPr/>
            </p:nvSpPr>
            <p:spPr bwMode="auto">
              <a:xfrm>
                <a:off x="2004"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73" name="Arc 91"/>
              <p:cNvSpPr>
                <a:spLocks/>
              </p:cNvSpPr>
              <p:nvPr/>
            </p:nvSpPr>
            <p:spPr bwMode="auto">
              <a:xfrm>
                <a:off x="2070" y="1899"/>
                <a:ext cx="161" cy="341"/>
              </a:xfrm>
              <a:custGeom>
                <a:avLst/>
                <a:gdLst>
                  <a:gd name="T0" fmla="*/ 81 w 21600"/>
                  <a:gd name="T1" fmla="*/ 341 h 38108"/>
                  <a:gd name="T2" fmla="*/ 90 w 21600"/>
                  <a:gd name="T3" fmla="*/ 0 h 38108"/>
                  <a:gd name="T4" fmla="*/ 161 w 21600"/>
                  <a:gd name="T5" fmla="*/ 174 h 38108"/>
                  <a:gd name="T6" fmla="*/ 0 60000 65536"/>
                  <a:gd name="T7" fmla="*/ 0 60000 65536"/>
                  <a:gd name="T8" fmla="*/ 0 60000 65536"/>
                  <a:gd name="T9" fmla="*/ 0 w 21600"/>
                  <a:gd name="T10" fmla="*/ 0 h 38108"/>
                  <a:gd name="T11" fmla="*/ 21600 w 21600"/>
                  <a:gd name="T12" fmla="*/ 38108 h 38108"/>
                </a:gdLst>
                <a:ahLst/>
                <a:cxnLst>
                  <a:cxn ang="T6">
                    <a:pos x="T0" y="T1"/>
                  </a:cxn>
                  <a:cxn ang="T7">
                    <a:pos x="T2" y="T3"/>
                  </a:cxn>
                  <a:cxn ang="T8">
                    <a:pos x="T4" y="T5"/>
                  </a:cxn>
                </a:cxnLst>
                <a:rect l="T9" t="T10" r="T11" b="T12"/>
                <a:pathLst>
                  <a:path w="21600" h="38108" fill="none" extrusionOk="0">
                    <a:moveTo>
                      <a:pt x="10804" y="38107"/>
                    </a:moveTo>
                    <a:cubicBezTo>
                      <a:pt x="4118" y="34249"/>
                      <a:pt x="0" y="27117"/>
                      <a:pt x="0" y="19399"/>
                    </a:cubicBezTo>
                    <a:cubicBezTo>
                      <a:pt x="-1" y="11153"/>
                      <a:pt x="4694" y="3626"/>
                      <a:pt x="12100" y="0"/>
                    </a:cubicBezTo>
                  </a:path>
                  <a:path w="21600" h="38108" stroke="0" extrusionOk="0">
                    <a:moveTo>
                      <a:pt x="10804" y="38107"/>
                    </a:moveTo>
                    <a:cubicBezTo>
                      <a:pt x="4118" y="34249"/>
                      <a:pt x="0" y="27117"/>
                      <a:pt x="0" y="19399"/>
                    </a:cubicBezTo>
                    <a:cubicBezTo>
                      <a:pt x="-1" y="11153"/>
                      <a:pt x="4694" y="3626"/>
                      <a:pt x="12100" y="0"/>
                    </a:cubicBezTo>
                    <a:lnTo>
                      <a:pt x="21600" y="1939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74" name="Arc 92"/>
              <p:cNvSpPr>
                <a:spLocks/>
              </p:cNvSpPr>
              <p:nvPr/>
            </p:nvSpPr>
            <p:spPr bwMode="auto">
              <a:xfrm>
                <a:off x="2140" y="1898"/>
                <a:ext cx="156" cy="343"/>
              </a:xfrm>
              <a:custGeom>
                <a:avLst/>
                <a:gdLst>
                  <a:gd name="T0" fmla="*/ 79 w 21600"/>
                  <a:gd name="T1" fmla="*/ 343 h 38308"/>
                  <a:gd name="T2" fmla="*/ 89 w 21600"/>
                  <a:gd name="T3" fmla="*/ 0 h 38308"/>
                  <a:gd name="T4" fmla="*/ 156 w 21600"/>
                  <a:gd name="T5" fmla="*/ 175 h 38308"/>
                  <a:gd name="T6" fmla="*/ 0 60000 65536"/>
                  <a:gd name="T7" fmla="*/ 0 60000 65536"/>
                  <a:gd name="T8" fmla="*/ 0 60000 65536"/>
                  <a:gd name="T9" fmla="*/ 0 w 21600"/>
                  <a:gd name="T10" fmla="*/ 0 h 38308"/>
                  <a:gd name="T11" fmla="*/ 21600 w 21600"/>
                  <a:gd name="T12" fmla="*/ 38308 h 38308"/>
                </a:gdLst>
                <a:ahLst/>
                <a:cxnLst>
                  <a:cxn ang="T6">
                    <a:pos x="T0" y="T1"/>
                  </a:cxn>
                  <a:cxn ang="T7">
                    <a:pos x="T2" y="T3"/>
                  </a:cxn>
                  <a:cxn ang="T8">
                    <a:pos x="T4" y="T5"/>
                  </a:cxn>
                </a:cxnLst>
                <a:rect l="T9" t="T10" r="T11" b="T12"/>
                <a:pathLst>
                  <a:path w="21600" h="38308" fill="none" extrusionOk="0">
                    <a:moveTo>
                      <a:pt x="10955" y="38307"/>
                    </a:moveTo>
                    <a:cubicBezTo>
                      <a:pt x="4184" y="34473"/>
                      <a:pt x="0" y="27293"/>
                      <a:pt x="0" y="19513"/>
                    </a:cubicBezTo>
                    <a:cubicBezTo>
                      <a:pt x="-1" y="11171"/>
                      <a:pt x="4802" y="3576"/>
                      <a:pt x="12337" y="-1"/>
                    </a:cubicBezTo>
                  </a:path>
                  <a:path w="21600" h="38308" stroke="0" extrusionOk="0">
                    <a:moveTo>
                      <a:pt x="10955" y="38307"/>
                    </a:moveTo>
                    <a:cubicBezTo>
                      <a:pt x="4184" y="34473"/>
                      <a:pt x="0" y="27293"/>
                      <a:pt x="0" y="19513"/>
                    </a:cubicBezTo>
                    <a:cubicBezTo>
                      <a:pt x="-1" y="11171"/>
                      <a:pt x="4802" y="3576"/>
                      <a:pt x="12337" y="-1"/>
                    </a:cubicBezTo>
                    <a:lnTo>
                      <a:pt x="21600" y="19513"/>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75" name="Arc 93"/>
              <p:cNvSpPr>
                <a:spLocks/>
              </p:cNvSpPr>
              <p:nvPr/>
            </p:nvSpPr>
            <p:spPr bwMode="auto">
              <a:xfrm>
                <a:off x="2211"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76" name="Arc 94"/>
              <p:cNvSpPr>
                <a:spLocks/>
              </p:cNvSpPr>
              <p:nvPr/>
            </p:nvSpPr>
            <p:spPr bwMode="auto">
              <a:xfrm>
                <a:off x="2276"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grpSp>
        <p:nvGrpSpPr>
          <p:cNvPr id="95" name="Group 95"/>
          <p:cNvGrpSpPr>
            <a:grpSpLocks/>
          </p:cNvGrpSpPr>
          <p:nvPr/>
        </p:nvGrpSpPr>
        <p:grpSpPr bwMode="auto">
          <a:xfrm rot="-8400000">
            <a:off x="6390747" y="2903468"/>
            <a:ext cx="2601912" cy="381000"/>
            <a:chOff x="1944" y="1872"/>
            <a:chExt cx="1776" cy="343"/>
          </a:xfrm>
        </p:grpSpPr>
        <p:grpSp>
          <p:nvGrpSpPr>
            <p:cNvPr id="96" name="Group 96"/>
            <p:cNvGrpSpPr>
              <a:grpSpLocks/>
            </p:cNvGrpSpPr>
            <p:nvPr/>
          </p:nvGrpSpPr>
          <p:grpSpPr bwMode="auto">
            <a:xfrm>
              <a:off x="1944" y="1872"/>
              <a:ext cx="504" cy="343"/>
              <a:chOff x="1933" y="1898"/>
              <a:chExt cx="504" cy="343"/>
            </a:xfrm>
          </p:grpSpPr>
          <p:sp>
            <p:nvSpPr>
              <p:cNvPr id="118" name="Arc 97"/>
              <p:cNvSpPr>
                <a:spLocks/>
              </p:cNvSpPr>
              <p:nvPr/>
            </p:nvSpPr>
            <p:spPr bwMode="auto">
              <a:xfrm>
                <a:off x="1933"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19" name="Arc 98"/>
              <p:cNvSpPr>
                <a:spLocks/>
              </p:cNvSpPr>
              <p:nvPr/>
            </p:nvSpPr>
            <p:spPr bwMode="auto">
              <a:xfrm>
                <a:off x="2004"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20" name="Arc 99"/>
              <p:cNvSpPr>
                <a:spLocks/>
              </p:cNvSpPr>
              <p:nvPr/>
            </p:nvSpPr>
            <p:spPr bwMode="auto">
              <a:xfrm>
                <a:off x="2070" y="1899"/>
                <a:ext cx="161" cy="341"/>
              </a:xfrm>
              <a:custGeom>
                <a:avLst/>
                <a:gdLst>
                  <a:gd name="T0" fmla="*/ 81 w 21600"/>
                  <a:gd name="T1" fmla="*/ 341 h 38108"/>
                  <a:gd name="T2" fmla="*/ 90 w 21600"/>
                  <a:gd name="T3" fmla="*/ 0 h 38108"/>
                  <a:gd name="T4" fmla="*/ 161 w 21600"/>
                  <a:gd name="T5" fmla="*/ 174 h 38108"/>
                  <a:gd name="T6" fmla="*/ 0 60000 65536"/>
                  <a:gd name="T7" fmla="*/ 0 60000 65536"/>
                  <a:gd name="T8" fmla="*/ 0 60000 65536"/>
                  <a:gd name="T9" fmla="*/ 0 w 21600"/>
                  <a:gd name="T10" fmla="*/ 0 h 38108"/>
                  <a:gd name="T11" fmla="*/ 21600 w 21600"/>
                  <a:gd name="T12" fmla="*/ 38108 h 38108"/>
                </a:gdLst>
                <a:ahLst/>
                <a:cxnLst>
                  <a:cxn ang="T6">
                    <a:pos x="T0" y="T1"/>
                  </a:cxn>
                  <a:cxn ang="T7">
                    <a:pos x="T2" y="T3"/>
                  </a:cxn>
                  <a:cxn ang="T8">
                    <a:pos x="T4" y="T5"/>
                  </a:cxn>
                </a:cxnLst>
                <a:rect l="T9" t="T10" r="T11" b="T12"/>
                <a:pathLst>
                  <a:path w="21600" h="38108" fill="none" extrusionOk="0">
                    <a:moveTo>
                      <a:pt x="10804" y="38107"/>
                    </a:moveTo>
                    <a:cubicBezTo>
                      <a:pt x="4118" y="34249"/>
                      <a:pt x="0" y="27117"/>
                      <a:pt x="0" y="19399"/>
                    </a:cubicBezTo>
                    <a:cubicBezTo>
                      <a:pt x="-1" y="11153"/>
                      <a:pt x="4694" y="3626"/>
                      <a:pt x="12100" y="0"/>
                    </a:cubicBezTo>
                  </a:path>
                  <a:path w="21600" h="38108" stroke="0" extrusionOk="0">
                    <a:moveTo>
                      <a:pt x="10804" y="38107"/>
                    </a:moveTo>
                    <a:cubicBezTo>
                      <a:pt x="4118" y="34249"/>
                      <a:pt x="0" y="27117"/>
                      <a:pt x="0" y="19399"/>
                    </a:cubicBezTo>
                    <a:cubicBezTo>
                      <a:pt x="-1" y="11153"/>
                      <a:pt x="4694" y="3626"/>
                      <a:pt x="12100" y="0"/>
                    </a:cubicBezTo>
                    <a:lnTo>
                      <a:pt x="21600" y="1939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21" name="Arc 100"/>
              <p:cNvSpPr>
                <a:spLocks/>
              </p:cNvSpPr>
              <p:nvPr/>
            </p:nvSpPr>
            <p:spPr bwMode="auto">
              <a:xfrm>
                <a:off x="2140" y="1898"/>
                <a:ext cx="156" cy="343"/>
              </a:xfrm>
              <a:custGeom>
                <a:avLst/>
                <a:gdLst>
                  <a:gd name="T0" fmla="*/ 79 w 21600"/>
                  <a:gd name="T1" fmla="*/ 343 h 38308"/>
                  <a:gd name="T2" fmla="*/ 89 w 21600"/>
                  <a:gd name="T3" fmla="*/ 0 h 38308"/>
                  <a:gd name="T4" fmla="*/ 156 w 21600"/>
                  <a:gd name="T5" fmla="*/ 175 h 38308"/>
                  <a:gd name="T6" fmla="*/ 0 60000 65536"/>
                  <a:gd name="T7" fmla="*/ 0 60000 65536"/>
                  <a:gd name="T8" fmla="*/ 0 60000 65536"/>
                  <a:gd name="T9" fmla="*/ 0 w 21600"/>
                  <a:gd name="T10" fmla="*/ 0 h 38308"/>
                  <a:gd name="T11" fmla="*/ 21600 w 21600"/>
                  <a:gd name="T12" fmla="*/ 38308 h 38308"/>
                </a:gdLst>
                <a:ahLst/>
                <a:cxnLst>
                  <a:cxn ang="T6">
                    <a:pos x="T0" y="T1"/>
                  </a:cxn>
                  <a:cxn ang="T7">
                    <a:pos x="T2" y="T3"/>
                  </a:cxn>
                  <a:cxn ang="T8">
                    <a:pos x="T4" y="T5"/>
                  </a:cxn>
                </a:cxnLst>
                <a:rect l="T9" t="T10" r="T11" b="T12"/>
                <a:pathLst>
                  <a:path w="21600" h="38308" fill="none" extrusionOk="0">
                    <a:moveTo>
                      <a:pt x="10955" y="38307"/>
                    </a:moveTo>
                    <a:cubicBezTo>
                      <a:pt x="4184" y="34473"/>
                      <a:pt x="0" y="27293"/>
                      <a:pt x="0" y="19513"/>
                    </a:cubicBezTo>
                    <a:cubicBezTo>
                      <a:pt x="-1" y="11171"/>
                      <a:pt x="4802" y="3576"/>
                      <a:pt x="12337" y="-1"/>
                    </a:cubicBezTo>
                  </a:path>
                  <a:path w="21600" h="38308" stroke="0" extrusionOk="0">
                    <a:moveTo>
                      <a:pt x="10955" y="38307"/>
                    </a:moveTo>
                    <a:cubicBezTo>
                      <a:pt x="4184" y="34473"/>
                      <a:pt x="0" y="27293"/>
                      <a:pt x="0" y="19513"/>
                    </a:cubicBezTo>
                    <a:cubicBezTo>
                      <a:pt x="-1" y="11171"/>
                      <a:pt x="4802" y="3576"/>
                      <a:pt x="12337" y="-1"/>
                    </a:cubicBezTo>
                    <a:lnTo>
                      <a:pt x="21600" y="19513"/>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22" name="Arc 101"/>
              <p:cNvSpPr>
                <a:spLocks/>
              </p:cNvSpPr>
              <p:nvPr/>
            </p:nvSpPr>
            <p:spPr bwMode="auto">
              <a:xfrm>
                <a:off x="2211"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23" name="Arc 102"/>
              <p:cNvSpPr>
                <a:spLocks/>
              </p:cNvSpPr>
              <p:nvPr/>
            </p:nvSpPr>
            <p:spPr bwMode="auto">
              <a:xfrm>
                <a:off x="2276"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97" name="Group 103"/>
            <p:cNvGrpSpPr>
              <a:grpSpLocks/>
            </p:cNvGrpSpPr>
            <p:nvPr/>
          </p:nvGrpSpPr>
          <p:grpSpPr bwMode="auto">
            <a:xfrm>
              <a:off x="2376" y="1872"/>
              <a:ext cx="504" cy="343"/>
              <a:chOff x="1933" y="1898"/>
              <a:chExt cx="504" cy="343"/>
            </a:xfrm>
          </p:grpSpPr>
          <p:sp>
            <p:nvSpPr>
              <p:cNvPr id="112" name="Arc 104"/>
              <p:cNvSpPr>
                <a:spLocks/>
              </p:cNvSpPr>
              <p:nvPr/>
            </p:nvSpPr>
            <p:spPr bwMode="auto">
              <a:xfrm>
                <a:off x="1933"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13" name="Arc 105"/>
              <p:cNvSpPr>
                <a:spLocks/>
              </p:cNvSpPr>
              <p:nvPr/>
            </p:nvSpPr>
            <p:spPr bwMode="auto">
              <a:xfrm>
                <a:off x="2004"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14" name="Arc 106"/>
              <p:cNvSpPr>
                <a:spLocks/>
              </p:cNvSpPr>
              <p:nvPr/>
            </p:nvSpPr>
            <p:spPr bwMode="auto">
              <a:xfrm>
                <a:off x="2070" y="1899"/>
                <a:ext cx="161" cy="341"/>
              </a:xfrm>
              <a:custGeom>
                <a:avLst/>
                <a:gdLst>
                  <a:gd name="T0" fmla="*/ 81 w 21600"/>
                  <a:gd name="T1" fmla="*/ 341 h 38108"/>
                  <a:gd name="T2" fmla="*/ 90 w 21600"/>
                  <a:gd name="T3" fmla="*/ 0 h 38108"/>
                  <a:gd name="T4" fmla="*/ 161 w 21600"/>
                  <a:gd name="T5" fmla="*/ 174 h 38108"/>
                  <a:gd name="T6" fmla="*/ 0 60000 65536"/>
                  <a:gd name="T7" fmla="*/ 0 60000 65536"/>
                  <a:gd name="T8" fmla="*/ 0 60000 65536"/>
                  <a:gd name="T9" fmla="*/ 0 w 21600"/>
                  <a:gd name="T10" fmla="*/ 0 h 38108"/>
                  <a:gd name="T11" fmla="*/ 21600 w 21600"/>
                  <a:gd name="T12" fmla="*/ 38108 h 38108"/>
                </a:gdLst>
                <a:ahLst/>
                <a:cxnLst>
                  <a:cxn ang="T6">
                    <a:pos x="T0" y="T1"/>
                  </a:cxn>
                  <a:cxn ang="T7">
                    <a:pos x="T2" y="T3"/>
                  </a:cxn>
                  <a:cxn ang="T8">
                    <a:pos x="T4" y="T5"/>
                  </a:cxn>
                </a:cxnLst>
                <a:rect l="T9" t="T10" r="T11" b="T12"/>
                <a:pathLst>
                  <a:path w="21600" h="38108" fill="none" extrusionOk="0">
                    <a:moveTo>
                      <a:pt x="10804" y="38107"/>
                    </a:moveTo>
                    <a:cubicBezTo>
                      <a:pt x="4118" y="34249"/>
                      <a:pt x="0" y="27117"/>
                      <a:pt x="0" y="19399"/>
                    </a:cubicBezTo>
                    <a:cubicBezTo>
                      <a:pt x="-1" y="11153"/>
                      <a:pt x="4694" y="3626"/>
                      <a:pt x="12100" y="0"/>
                    </a:cubicBezTo>
                  </a:path>
                  <a:path w="21600" h="38108" stroke="0" extrusionOk="0">
                    <a:moveTo>
                      <a:pt x="10804" y="38107"/>
                    </a:moveTo>
                    <a:cubicBezTo>
                      <a:pt x="4118" y="34249"/>
                      <a:pt x="0" y="27117"/>
                      <a:pt x="0" y="19399"/>
                    </a:cubicBezTo>
                    <a:cubicBezTo>
                      <a:pt x="-1" y="11153"/>
                      <a:pt x="4694" y="3626"/>
                      <a:pt x="12100" y="0"/>
                    </a:cubicBezTo>
                    <a:lnTo>
                      <a:pt x="21600" y="1939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15" name="Arc 107"/>
              <p:cNvSpPr>
                <a:spLocks/>
              </p:cNvSpPr>
              <p:nvPr/>
            </p:nvSpPr>
            <p:spPr bwMode="auto">
              <a:xfrm>
                <a:off x="2140" y="1898"/>
                <a:ext cx="156" cy="343"/>
              </a:xfrm>
              <a:custGeom>
                <a:avLst/>
                <a:gdLst>
                  <a:gd name="T0" fmla="*/ 79 w 21600"/>
                  <a:gd name="T1" fmla="*/ 343 h 38308"/>
                  <a:gd name="T2" fmla="*/ 89 w 21600"/>
                  <a:gd name="T3" fmla="*/ 0 h 38308"/>
                  <a:gd name="T4" fmla="*/ 156 w 21600"/>
                  <a:gd name="T5" fmla="*/ 175 h 38308"/>
                  <a:gd name="T6" fmla="*/ 0 60000 65536"/>
                  <a:gd name="T7" fmla="*/ 0 60000 65536"/>
                  <a:gd name="T8" fmla="*/ 0 60000 65536"/>
                  <a:gd name="T9" fmla="*/ 0 w 21600"/>
                  <a:gd name="T10" fmla="*/ 0 h 38308"/>
                  <a:gd name="T11" fmla="*/ 21600 w 21600"/>
                  <a:gd name="T12" fmla="*/ 38308 h 38308"/>
                </a:gdLst>
                <a:ahLst/>
                <a:cxnLst>
                  <a:cxn ang="T6">
                    <a:pos x="T0" y="T1"/>
                  </a:cxn>
                  <a:cxn ang="T7">
                    <a:pos x="T2" y="T3"/>
                  </a:cxn>
                  <a:cxn ang="T8">
                    <a:pos x="T4" y="T5"/>
                  </a:cxn>
                </a:cxnLst>
                <a:rect l="T9" t="T10" r="T11" b="T12"/>
                <a:pathLst>
                  <a:path w="21600" h="38308" fill="none" extrusionOk="0">
                    <a:moveTo>
                      <a:pt x="10955" y="38307"/>
                    </a:moveTo>
                    <a:cubicBezTo>
                      <a:pt x="4184" y="34473"/>
                      <a:pt x="0" y="27293"/>
                      <a:pt x="0" y="19513"/>
                    </a:cubicBezTo>
                    <a:cubicBezTo>
                      <a:pt x="-1" y="11171"/>
                      <a:pt x="4802" y="3576"/>
                      <a:pt x="12337" y="-1"/>
                    </a:cubicBezTo>
                  </a:path>
                  <a:path w="21600" h="38308" stroke="0" extrusionOk="0">
                    <a:moveTo>
                      <a:pt x="10955" y="38307"/>
                    </a:moveTo>
                    <a:cubicBezTo>
                      <a:pt x="4184" y="34473"/>
                      <a:pt x="0" y="27293"/>
                      <a:pt x="0" y="19513"/>
                    </a:cubicBezTo>
                    <a:cubicBezTo>
                      <a:pt x="-1" y="11171"/>
                      <a:pt x="4802" y="3576"/>
                      <a:pt x="12337" y="-1"/>
                    </a:cubicBezTo>
                    <a:lnTo>
                      <a:pt x="21600" y="19513"/>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16" name="Arc 108"/>
              <p:cNvSpPr>
                <a:spLocks/>
              </p:cNvSpPr>
              <p:nvPr/>
            </p:nvSpPr>
            <p:spPr bwMode="auto">
              <a:xfrm>
                <a:off x="2211"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17" name="Arc 109"/>
              <p:cNvSpPr>
                <a:spLocks/>
              </p:cNvSpPr>
              <p:nvPr/>
            </p:nvSpPr>
            <p:spPr bwMode="auto">
              <a:xfrm>
                <a:off x="2276"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98" name="Group 110"/>
            <p:cNvGrpSpPr>
              <a:grpSpLocks/>
            </p:cNvGrpSpPr>
            <p:nvPr/>
          </p:nvGrpSpPr>
          <p:grpSpPr bwMode="auto">
            <a:xfrm>
              <a:off x="2784" y="1872"/>
              <a:ext cx="504" cy="343"/>
              <a:chOff x="1933" y="1898"/>
              <a:chExt cx="504" cy="343"/>
            </a:xfrm>
          </p:grpSpPr>
          <p:sp>
            <p:nvSpPr>
              <p:cNvPr id="106" name="Arc 111"/>
              <p:cNvSpPr>
                <a:spLocks/>
              </p:cNvSpPr>
              <p:nvPr/>
            </p:nvSpPr>
            <p:spPr bwMode="auto">
              <a:xfrm>
                <a:off x="1933"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07" name="Arc 112"/>
              <p:cNvSpPr>
                <a:spLocks/>
              </p:cNvSpPr>
              <p:nvPr/>
            </p:nvSpPr>
            <p:spPr bwMode="auto">
              <a:xfrm>
                <a:off x="2004"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08" name="Arc 113"/>
              <p:cNvSpPr>
                <a:spLocks/>
              </p:cNvSpPr>
              <p:nvPr/>
            </p:nvSpPr>
            <p:spPr bwMode="auto">
              <a:xfrm>
                <a:off x="2070" y="1899"/>
                <a:ext cx="161" cy="341"/>
              </a:xfrm>
              <a:custGeom>
                <a:avLst/>
                <a:gdLst>
                  <a:gd name="T0" fmla="*/ 81 w 21600"/>
                  <a:gd name="T1" fmla="*/ 341 h 38108"/>
                  <a:gd name="T2" fmla="*/ 90 w 21600"/>
                  <a:gd name="T3" fmla="*/ 0 h 38108"/>
                  <a:gd name="T4" fmla="*/ 161 w 21600"/>
                  <a:gd name="T5" fmla="*/ 174 h 38108"/>
                  <a:gd name="T6" fmla="*/ 0 60000 65536"/>
                  <a:gd name="T7" fmla="*/ 0 60000 65536"/>
                  <a:gd name="T8" fmla="*/ 0 60000 65536"/>
                  <a:gd name="T9" fmla="*/ 0 w 21600"/>
                  <a:gd name="T10" fmla="*/ 0 h 38108"/>
                  <a:gd name="T11" fmla="*/ 21600 w 21600"/>
                  <a:gd name="T12" fmla="*/ 38108 h 38108"/>
                </a:gdLst>
                <a:ahLst/>
                <a:cxnLst>
                  <a:cxn ang="T6">
                    <a:pos x="T0" y="T1"/>
                  </a:cxn>
                  <a:cxn ang="T7">
                    <a:pos x="T2" y="T3"/>
                  </a:cxn>
                  <a:cxn ang="T8">
                    <a:pos x="T4" y="T5"/>
                  </a:cxn>
                </a:cxnLst>
                <a:rect l="T9" t="T10" r="T11" b="T12"/>
                <a:pathLst>
                  <a:path w="21600" h="38108" fill="none" extrusionOk="0">
                    <a:moveTo>
                      <a:pt x="10804" y="38107"/>
                    </a:moveTo>
                    <a:cubicBezTo>
                      <a:pt x="4118" y="34249"/>
                      <a:pt x="0" y="27117"/>
                      <a:pt x="0" y="19399"/>
                    </a:cubicBezTo>
                    <a:cubicBezTo>
                      <a:pt x="-1" y="11153"/>
                      <a:pt x="4694" y="3626"/>
                      <a:pt x="12100" y="0"/>
                    </a:cubicBezTo>
                  </a:path>
                  <a:path w="21600" h="38108" stroke="0" extrusionOk="0">
                    <a:moveTo>
                      <a:pt x="10804" y="38107"/>
                    </a:moveTo>
                    <a:cubicBezTo>
                      <a:pt x="4118" y="34249"/>
                      <a:pt x="0" y="27117"/>
                      <a:pt x="0" y="19399"/>
                    </a:cubicBezTo>
                    <a:cubicBezTo>
                      <a:pt x="-1" y="11153"/>
                      <a:pt x="4694" y="3626"/>
                      <a:pt x="12100" y="0"/>
                    </a:cubicBezTo>
                    <a:lnTo>
                      <a:pt x="21600" y="1939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09" name="Arc 114"/>
              <p:cNvSpPr>
                <a:spLocks/>
              </p:cNvSpPr>
              <p:nvPr/>
            </p:nvSpPr>
            <p:spPr bwMode="auto">
              <a:xfrm>
                <a:off x="2140" y="1898"/>
                <a:ext cx="156" cy="343"/>
              </a:xfrm>
              <a:custGeom>
                <a:avLst/>
                <a:gdLst>
                  <a:gd name="T0" fmla="*/ 79 w 21600"/>
                  <a:gd name="T1" fmla="*/ 343 h 38308"/>
                  <a:gd name="T2" fmla="*/ 89 w 21600"/>
                  <a:gd name="T3" fmla="*/ 0 h 38308"/>
                  <a:gd name="T4" fmla="*/ 156 w 21600"/>
                  <a:gd name="T5" fmla="*/ 175 h 38308"/>
                  <a:gd name="T6" fmla="*/ 0 60000 65536"/>
                  <a:gd name="T7" fmla="*/ 0 60000 65536"/>
                  <a:gd name="T8" fmla="*/ 0 60000 65536"/>
                  <a:gd name="T9" fmla="*/ 0 w 21600"/>
                  <a:gd name="T10" fmla="*/ 0 h 38308"/>
                  <a:gd name="T11" fmla="*/ 21600 w 21600"/>
                  <a:gd name="T12" fmla="*/ 38308 h 38308"/>
                </a:gdLst>
                <a:ahLst/>
                <a:cxnLst>
                  <a:cxn ang="T6">
                    <a:pos x="T0" y="T1"/>
                  </a:cxn>
                  <a:cxn ang="T7">
                    <a:pos x="T2" y="T3"/>
                  </a:cxn>
                  <a:cxn ang="T8">
                    <a:pos x="T4" y="T5"/>
                  </a:cxn>
                </a:cxnLst>
                <a:rect l="T9" t="T10" r="T11" b="T12"/>
                <a:pathLst>
                  <a:path w="21600" h="38308" fill="none" extrusionOk="0">
                    <a:moveTo>
                      <a:pt x="10955" y="38307"/>
                    </a:moveTo>
                    <a:cubicBezTo>
                      <a:pt x="4184" y="34473"/>
                      <a:pt x="0" y="27293"/>
                      <a:pt x="0" y="19513"/>
                    </a:cubicBezTo>
                    <a:cubicBezTo>
                      <a:pt x="-1" y="11171"/>
                      <a:pt x="4802" y="3576"/>
                      <a:pt x="12337" y="-1"/>
                    </a:cubicBezTo>
                  </a:path>
                  <a:path w="21600" h="38308" stroke="0" extrusionOk="0">
                    <a:moveTo>
                      <a:pt x="10955" y="38307"/>
                    </a:moveTo>
                    <a:cubicBezTo>
                      <a:pt x="4184" y="34473"/>
                      <a:pt x="0" y="27293"/>
                      <a:pt x="0" y="19513"/>
                    </a:cubicBezTo>
                    <a:cubicBezTo>
                      <a:pt x="-1" y="11171"/>
                      <a:pt x="4802" y="3576"/>
                      <a:pt x="12337" y="-1"/>
                    </a:cubicBezTo>
                    <a:lnTo>
                      <a:pt x="21600" y="19513"/>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10" name="Arc 115"/>
              <p:cNvSpPr>
                <a:spLocks/>
              </p:cNvSpPr>
              <p:nvPr/>
            </p:nvSpPr>
            <p:spPr bwMode="auto">
              <a:xfrm>
                <a:off x="2211"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11" name="Arc 116"/>
              <p:cNvSpPr>
                <a:spLocks/>
              </p:cNvSpPr>
              <p:nvPr/>
            </p:nvSpPr>
            <p:spPr bwMode="auto">
              <a:xfrm>
                <a:off x="2276"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99" name="Group 117"/>
            <p:cNvGrpSpPr>
              <a:grpSpLocks/>
            </p:cNvGrpSpPr>
            <p:nvPr/>
          </p:nvGrpSpPr>
          <p:grpSpPr bwMode="auto">
            <a:xfrm>
              <a:off x="3216" y="1872"/>
              <a:ext cx="504" cy="343"/>
              <a:chOff x="1933" y="1898"/>
              <a:chExt cx="504" cy="343"/>
            </a:xfrm>
          </p:grpSpPr>
          <p:sp>
            <p:nvSpPr>
              <p:cNvPr id="100" name="Arc 118"/>
              <p:cNvSpPr>
                <a:spLocks/>
              </p:cNvSpPr>
              <p:nvPr/>
            </p:nvSpPr>
            <p:spPr bwMode="auto">
              <a:xfrm>
                <a:off x="1933"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01" name="Arc 119"/>
              <p:cNvSpPr>
                <a:spLocks/>
              </p:cNvSpPr>
              <p:nvPr/>
            </p:nvSpPr>
            <p:spPr bwMode="auto">
              <a:xfrm>
                <a:off x="2004"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02" name="Arc 120"/>
              <p:cNvSpPr>
                <a:spLocks/>
              </p:cNvSpPr>
              <p:nvPr/>
            </p:nvSpPr>
            <p:spPr bwMode="auto">
              <a:xfrm>
                <a:off x="2070" y="1899"/>
                <a:ext cx="161" cy="341"/>
              </a:xfrm>
              <a:custGeom>
                <a:avLst/>
                <a:gdLst>
                  <a:gd name="T0" fmla="*/ 81 w 21600"/>
                  <a:gd name="T1" fmla="*/ 341 h 38108"/>
                  <a:gd name="T2" fmla="*/ 90 w 21600"/>
                  <a:gd name="T3" fmla="*/ 0 h 38108"/>
                  <a:gd name="T4" fmla="*/ 161 w 21600"/>
                  <a:gd name="T5" fmla="*/ 174 h 38108"/>
                  <a:gd name="T6" fmla="*/ 0 60000 65536"/>
                  <a:gd name="T7" fmla="*/ 0 60000 65536"/>
                  <a:gd name="T8" fmla="*/ 0 60000 65536"/>
                  <a:gd name="T9" fmla="*/ 0 w 21600"/>
                  <a:gd name="T10" fmla="*/ 0 h 38108"/>
                  <a:gd name="T11" fmla="*/ 21600 w 21600"/>
                  <a:gd name="T12" fmla="*/ 38108 h 38108"/>
                </a:gdLst>
                <a:ahLst/>
                <a:cxnLst>
                  <a:cxn ang="T6">
                    <a:pos x="T0" y="T1"/>
                  </a:cxn>
                  <a:cxn ang="T7">
                    <a:pos x="T2" y="T3"/>
                  </a:cxn>
                  <a:cxn ang="T8">
                    <a:pos x="T4" y="T5"/>
                  </a:cxn>
                </a:cxnLst>
                <a:rect l="T9" t="T10" r="T11" b="T12"/>
                <a:pathLst>
                  <a:path w="21600" h="38108" fill="none" extrusionOk="0">
                    <a:moveTo>
                      <a:pt x="10804" y="38107"/>
                    </a:moveTo>
                    <a:cubicBezTo>
                      <a:pt x="4118" y="34249"/>
                      <a:pt x="0" y="27117"/>
                      <a:pt x="0" y="19399"/>
                    </a:cubicBezTo>
                    <a:cubicBezTo>
                      <a:pt x="-1" y="11153"/>
                      <a:pt x="4694" y="3626"/>
                      <a:pt x="12100" y="0"/>
                    </a:cubicBezTo>
                  </a:path>
                  <a:path w="21600" h="38108" stroke="0" extrusionOk="0">
                    <a:moveTo>
                      <a:pt x="10804" y="38107"/>
                    </a:moveTo>
                    <a:cubicBezTo>
                      <a:pt x="4118" y="34249"/>
                      <a:pt x="0" y="27117"/>
                      <a:pt x="0" y="19399"/>
                    </a:cubicBezTo>
                    <a:cubicBezTo>
                      <a:pt x="-1" y="11153"/>
                      <a:pt x="4694" y="3626"/>
                      <a:pt x="12100" y="0"/>
                    </a:cubicBezTo>
                    <a:lnTo>
                      <a:pt x="21600" y="1939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03" name="Arc 121"/>
              <p:cNvSpPr>
                <a:spLocks/>
              </p:cNvSpPr>
              <p:nvPr/>
            </p:nvSpPr>
            <p:spPr bwMode="auto">
              <a:xfrm>
                <a:off x="2140" y="1898"/>
                <a:ext cx="156" cy="343"/>
              </a:xfrm>
              <a:custGeom>
                <a:avLst/>
                <a:gdLst>
                  <a:gd name="T0" fmla="*/ 79 w 21600"/>
                  <a:gd name="T1" fmla="*/ 343 h 38308"/>
                  <a:gd name="T2" fmla="*/ 89 w 21600"/>
                  <a:gd name="T3" fmla="*/ 0 h 38308"/>
                  <a:gd name="T4" fmla="*/ 156 w 21600"/>
                  <a:gd name="T5" fmla="*/ 175 h 38308"/>
                  <a:gd name="T6" fmla="*/ 0 60000 65536"/>
                  <a:gd name="T7" fmla="*/ 0 60000 65536"/>
                  <a:gd name="T8" fmla="*/ 0 60000 65536"/>
                  <a:gd name="T9" fmla="*/ 0 w 21600"/>
                  <a:gd name="T10" fmla="*/ 0 h 38308"/>
                  <a:gd name="T11" fmla="*/ 21600 w 21600"/>
                  <a:gd name="T12" fmla="*/ 38308 h 38308"/>
                </a:gdLst>
                <a:ahLst/>
                <a:cxnLst>
                  <a:cxn ang="T6">
                    <a:pos x="T0" y="T1"/>
                  </a:cxn>
                  <a:cxn ang="T7">
                    <a:pos x="T2" y="T3"/>
                  </a:cxn>
                  <a:cxn ang="T8">
                    <a:pos x="T4" y="T5"/>
                  </a:cxn>
                </a:cxnLst>
                <a:rect l="T9" t="T10" r="T11" b="T12"/>
                <a:pathLst>
                  <a:path w="21600" h="38308" fill="none" extrusionOk="0">
                    <a:moveTo>
                      <a:pt x="10955" y="38307"/>
                    </a:moveTo>
                    <a:cubicBezTo>
                      <a:pt x="4184" y="34473"/>
                      <a:pt x="0" y="27293"/>
                      <a:pt x="0" y="19513"/>
                    </a:cubicBezTo>
                    <a:cubicBezTo>
                      <a:pt x="-1" y="11171"/>
                      <a:pt x="4802" y="3576"/>
                      <a:pt x="12337" y="-1"/>
                    </a:cubicBezTo>
                  </a:path>
                  <a:path w="21600" h="38308" stroke="0" extrusionOk="0">
                    <a:moveTo>
                      <a:pt x="10955" y="38307"/>
                    </a:moveTo>
                    <a:cubicBezTo>
                      <a:pt x="4184" y="34473"/>
                      <a:pt x="0" y="27293"/>
                      <a:pt x="0" y="19513"/>
                    </a:cubicBezTo>
                    <a:cubicBezTo>
                      <a:pt x="-1" y="11171"/>
                      <a:pt x="4802" y="3576"/>
                      <a:pt x="12337" y="-1"/>
                    </a:cubicBezTo>
                    <a:lnTo>
                      <a:pt x="21600" y="19513"/>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04" name="Arc 122"/>
              <p:cNvSpPr>
                <a:spLocks/>
              </p:cNvSpPr>
              <p:nvPr/>
            </p:nvSpPr>
            <p:spPr bwMode="auto">
              <a:xfrm>
                <a:off x="2211" y="1898"/>
                <a:ext cx="156" cy="343"/>
              </a:xfrm>
              <a:custGeom>
                <a:avLst/>
                <a:gdLst>
                  <a:gd name="T0" fmla="*/ 79 w 21600"/>
                  <a:gd name="T1" fmla="*/ 343 h 38289"/>
                  <a:gd name="T2" fmla="*/ 89 w 21600"/>
                  <a:gd name="T3" fmla="*/ 0 h 38289"/>
                  <a:gd name="T4" fmla="*/ 156 w 21600"/>
                  <a:gd name="T5" fmla="*/ 175 h 38289"/>
                  <a:gd name="T6" fmla="*/ 0 60000 65536"/>
                  <a:gd name="T7" fmla="*/ 0 60000 65536"/>
                  <a:gd name="T8" fmla="*/ 0 60000 65536"/>
                  <a:gd name="T9" fmla="*/ 0 w 21600"/>
                  <a:gd name="T10" fmla="*/ 0 h 38289"/>
                  <a:gd name="T11" fmla="*/ 21600 w 21600"/>
                  <a:gd name="T12" fmla="*/ 38289 h 38289"/>
                </a:gdLst>
                <a:ahLst/>
                <a:cxnLst>
                  <a:cxn ang="T6">
                    <a:pos x="T0" y="T1"/>
                  </a:cxn>
                  <a:cxn ang="T7">
                    <a:pos x="T2" y="T3"/>
                  </a:cxn>
                  <a:cxn ang="T8">
                    <a:pos x="T4" y="T5"/>
                  </a:cxn>
                </a:cxnLst>
                <a:rect l="T9" t="T10" r="T11" b="T12"/>
                <a:pathLst>
                  <a:path w="21600" h="38289" fill="none" extrusionOk="0">
                    <a:moveTo>
                      <a:pt x="10955" y="38288"/>
                    </a:moveTo>
                    <a:cubicBezTo>
                      <a:pt x="4184" y="34454"/>
                      <a:pt x="0" y="27274"/>
                      <a:pt x="0" y="19494"/>
                    </a:cubicBezTo>
                    <a:cubicBezTo>
                      <a:pt x="-1" y="11169"/>
                      <a:pt x="4783" y="3585"/>
                      <a:pt x="12297" y="0"/>
                    </a:cubicBezTo>
                  </a:path>
                  <a:path w="21600" h="38289" stroke="0" extrusionOk="0">
                    <a:moveTo>
                      <a:pt x="10955" y="38288"/>
                    </a:moveTo>
                    <a:cubicBezTo>
                      <a:pt x="4184" y="34454"/>
                      <a:pt x="0" y="27274"/>
                      <a:pt x="0" y="19494"/>
                    </a:cubicBezTo>
                    <a:cubicBezTo>
                      <a:pt x="-1" y="11169"/>
                      <a:pt x="4783" y="3585"/>
                      <a:pt x="12297" y="0"/>
                    </a:cubicBezTo>
                    <a:lnTo>
                      <a:pt x="21600" y="19494"/>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05" name="Arc 123"/>
              <p:cNvSpPr>
                <a:spLocks/>
              </p:cNvSpPr>
              <p:nvPr/>
            </p:nvSpPr>
            <p:spPr bwMode="auto">
              <a:xfrm>
                <a:off x="2276" y="1899"/>
                <a:ext cx="161" cy="342"/>
              </a:xfrm>
              <a:custGeom>
                <a:avLst/>
                <a:gdLst>
                  <a:gd name="T0" fmla="*/ 81 w 21600"/>
                  <a:gd name="T1" fmla="*/ 342 h 38173"/>
                  <a:gd name="T2" fmla="*/ 91 w 21600"/>
                  <a:gd name="T3" fmla="*/ 0 h 38173"/>
                  <a:gd name="T4" fmla="*/ 161 w 21600"/>
                  <a:gd name="T5" fmla="*/ 174 h 38173"/>
                  <a:gd name="T6" fmla="*/ 0 60000 65536"/>
                  <a:gd name="T7" fmla="*/ 0 60000 65536"/>
                  <a:gd name="T8" fmla="*/ 0 60000 65536"/>
                  <a:gd name="T9" fmla="*/ 0 w 21600"/>
                  <a:gd name="T10" fmla="*/ 0 h 38173"/>
                  <a:gd name="T11" fmla="*/ 21600 w 21600"/>
                  <a:gd name="T12" fmla="*/ 38173 h 38173"/>
                </a:gdLst>
                <a:ahLst/>
                <a:cxnLst>
                  <a:cxn ang="T6">
                    <a:pos x="T0" y="T1"/>
                  </a:cxn>
                  <a:cxn ang="T7">
                    <a:pos x="T2" y="T3"/>
                  </a:cxn>
                  <a:cxn ang="T8">
                    <a:pos x="T4" y="T5"/>
                  </a:cxn>
                </a:cxnLst>
                <a:rect l="T9" t="T10" r="T11" b="T12"/>
                <a:pathLst>
                  <a:path w="21600" h="38173" fill="none" extrusionOk="0">
                    <a:moveTo>
                      <a:pt x="10865" y="38173"/>
                    </a:moveTo>
                    <a:cubicBezTo>
                      <a:pt x="4145" y="34324"/>
                      <a:pt x="0" y="27173"/>
                      <a:pt x="0" y="19429"/>
                    </a:cubicBezTo>
                    <a:cubicBezTo>
                      <a:pt x="-1" y="11158"/>
                      <a:pt x="4723" y="3613"/>
                      <a:pt x="12162" y="-1"/>
                    </a:cubicBezTo>
                  </a:path>
                  <a:path w="21600" h="38173" stroke="0" extrusionOk="0">
                    <a:moveTo>
                      <a:pt x="10865" y="38173"/>
                    </a:moveTo>
                    <a:cubicBezTo>
                      <a:pt x="4145" y="34324"/>
                      <a:pt x="0" y="27173"/>
                      <a:pt x="0" y="19429"/>
                    </a:cubicBezTo>
                    <a:cubicBezTo>
                      <a:pt x="-1" y="11158"/>
                      <a:pt x="4723" y="3613"/>
                      <a:pt x="12162" y="-1"/>
                    </a:cubicBezTo>
                    <a:lnTo>
                      <a:pt x="21600" y="19429"/>
                    </a:lnTo>
                    <a:close/>
                  </a:path>
                </a:pathLst>
              </a:custGeom>
              <a:noFill/>
              <a:ln w="25400">
                <a:solidFill>
                  <a:srgbClr val="00B4FF"/>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sp>
        <p:nvSpPr>
          <p:cNvPr id="124" name="Line 124"/>
          <p:cNvSpPr>
            <a:spLocks noChangeShapeType="1"/>
          </p:cNvSpPr>
          <p:nvPr/>
        </p:nvSpPr>
        <p:spPr bwMode="auto">
          <a:xfrm flipH="1" flipV="1">
            <a:off x="2872847" y="4656068"/>
            <a:ext cx="4762" cy="714375"/>
          </a:xfrm>
          <a:prstGeom prst="line">
            <a:avLst/>
          </a:prstGeom>
          <a:noFill/>
          <a:ln w="19050">
            <a:solidFill>
              <a:srgbClr val="FF0000"/>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25" name="Line 125"/>
          <p:cNvSpPr>
            <a:spLocks noChangeShapeType="1"/>
          </p:cNvSpPr>
          <p:nvPr/>
        </p:nvSpPr>
        <p:spPr bwMode="auto">
          <a:xfrm flipH="1" flipV="1">
            <a:off x="2587097" y="2446268"/>
            <a:ext cx="4762" cy="714375"/>
          </a:xfrm>
          <a:prstGeom prst="line">
            <a:avLst/>
          </a:prstGeom>
          <a:noFill/>
          <a:ln w="19050">
            <a:solidFill>
              <a:srgbClr val="FF0000"/>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26" name="Line 126"/>
          <p:cNvSpPr>
            <a:spLocks noChangeShapeType="1"/>
          </p:cNvSpPr>
          <p:nvPr/>
        </p:nvSpPr>
        <p:spPr bwMode="auto">
          <a:xfrm flipH="1" flipV="1">
            <a:off x="8987897" y="4275068"/>
            <a:ext cx="4762" cy="714375"/>
          </a:xfrm>
          <a:prstGeom prst="line">
            <a:avLst/>
          </a:prstGeom>
          <a:noFill/>
          <a:ln w="19050">
            <a:solidFill>
              <a:srgbClr val="FF0000"/>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27" name="Line 127"/>
          <p:cNvSpPr>
            <a:spLocks noChangeShapeType="1"/>
          </p:cNvSpPr>
          <p:nvPr/>
        </p:nvSpPr>
        <p:spPr bwMode="auto">
          <a:xfrm flipH="1" flipV="1">
            <a:off x="9062509" y="1760468"/>
            <a:ext cx="4763" cy="714375"/>
          </a:xfrm>
          <a:prstGeom prst="line">
            <a:avLst/>
          </a:prstGeom>
          <a:noFill/>
          <a:ln w="19050">
            <a:solidFill>
              <a:srgbClr val="FF0000"/>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28" name="Line 128"/>
          <p:cNvSpPr>
            <a:spLocks noChangeShapeType="1"/>
          </p:cNvSpPr>
          <p:nvPr/>
        </p:nvSpPr>
        <p:spPr bwMode="auto">
          <a:xfrm flipH="1" flipV="1">
            <a:off x="5963709" y="2293868"/>
            <a:ext cx="4763" cy="714375"/>
          </a:xfrm>
          <a:prstGeom prst="line">
            <a:avLst/>
          </a:prstGeom>
          <a:noFill/>
          <a:ln w="19050">
            <a:solidFill>
              <a:srgbClr val="FF0000"/>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pic>
        <p:nvPicPr>
          <p:cNvPr id="129" name="Picture 129"/>
          <p:cNvPicPr>
            <a:picLocks noChangeAspect="1" noChangeArrowheads="1"/>
          </p:cNvPicPr>
          <p:nvPr/>
        </p:nvPicPr>
        <p:blipFill>
          <a:blip r:embed="rId4" cstate="print"/>
          <a:srcRect/>
          <a:stretch>
            <a:fillRect/>
          </a:stretch>
        </p:blipFill>
        <p:spPr bwMode="auto">
          <a:xfrm>
            <a:off x="5625572" y="2903468"/>
            <a:ext cx="554037" cy="395287"/>
          </a:xfrm>
          <a:prstGeom prst="rect">
            <a:avLst/>
          </a:prstGeom>
          <a:noFill/>
          <a:ln w="9525">
            <a:noFill/>
            <a:miter lim="800000"/>
            <a:headEnd/>
            <a:tailEnd/>
          </a:ln>
        </p:spPr>
      </p:pic>
      <p:pic>
        <p:nvPicPr>
          <p:cNvPr id="130" name="Picture 130"/>
          <p:cNvPicPr>
            <a:picLocks noChangeAspect="1" noChangeArrowheads="1"/>
          </p:cNvPicPr>
          <p:nvPr/>
        </p:nvPicPr>
        <p:blipFill>
          <a:blip r:embed="rId4" cstate="print"/>
          <a:srcRect/>
          <a:stretch>
            <a:fillRect/>
          </a:stretch>
        </p:blipFill>
        <p:spPr bwMode="auto">
          <a:xfrm>
            <a:off x="8649759" y="4784655"/>
            <a:ext cx="554038" cy="395288"/>
          </a:xfrm>
          <a:prstGeom prst="rect">
            <a:avLst/>
          </a:prstGeom>
          <a:noFill/>
          <a:ln w="9525">
            <a:noFill/>
            <a:miter lim="800000"/>
            <a:headEnd/>
            <a:tailEnd/>
          </a:ln>
        </p:spPr>
      </p:pic>
      <p:pic>
        <p:nvPicPr>
          <p:cNvPr id="131" name="Picture 131"/>
          <p:cNvPicPr>
            <a:picLocks noChangeAspect="1" noChangeArrowheads="1"/>
          </p:cNvPicPr>
          <p:nvPr/>
        </p:nvPicPr>
        <p:blipFill>
          <a:blip r:embed="rId4" cstate="print"/>
          <a:srcRect/>
          <a:stretch>
            <a:fillRect/>
          </a:stretch>
        </p:blipFill>
        <p:spPr bwMode="auto">
          <a:xfrm>
            <a:off x="8719609" y="2355780"/>
            <a:ext cx="554038" cy="395288"/>
          </a:xfrm>
          <a:prstGeom prst="rect">
            <a:avLst/>
          </a:prstGeom>
          <a:noFill/>
          <a:ln w="9525">
            <a:noFill/>
            <a:miter lim="800000"/>
            <a:headEnd/>
            <a:tailEnd/>
          </a:ln>
        </p:spPr>
      </p:pic>
      <p:pic>
        <p:nvPicPr>
          <p:cNvPr id="132" name="Picture 132"/>
          <p:cNvPicPr>
            <a:picLocks noChangeAspect="1" noChangeArrowheads="1"/>
          </p:cNvPicPr>
          <p:nvPr/>
        </p:nvPicPr>
        <p:blipFill>
          <a:blip r:embed="rId4" cstate="print"/>
          <a:srcRect/>
          <a:stretch>
            <a:fillRect/>
          </a:stretch>
        </p:blipFill>
        <p:spPr bwMode="auto">
          <a:xfrm>
            <a:off x="2591859" y="5265668"/>
            <a:ext cx="554038" cy="395287"/>
          </a:xfrm>
          <a:prstGeom prst="rect">
            <a:avLst/>
          </a:prstGeom>
          <a:noFill/>
          <a:ln w="9525">
            <a:noFill/>
            <a:miter lim="800000"/>
            <a:headEnd/>
            <a:tailEnd/>
          </a:ln>
        </p:spPr>
      </p:pic>
      <p:pic>
        <p:nvPicPr>
          <p:cNvPr id="133" name="Picture 133"/>
          <p:cNvPicPr>
            <a:picLocks noChangeAspect="1" noChangeArrowheads="1"/>
          </p:cNvPicPr>
          <p:nvPr/>
        </p:nvPicPr>
        <p:blipFill>
          <a:blip r:embed="rId4" cstate="print"/>
          <a:srcRect/>
          <a:stretch>
            <a:fillRect/>
          </a:stretch>
        </p:blipFill>
        <p:spPr bwMode="auto">
          <a:xfrm>
            <a:off x="2248959" y="3132068"/>
            <a:ext cx="554038" cy="395287"/>
          </a:xfrm>
          <a:prstGeom prst="rect">
            <a:avLst/>
          </a:prstGeom>
          <a:noFill/>
          <a:ln w="9525">
            <a:noFill/>
            <a:miter lim="800000"/>
            <a:headEnd/>
            <a:tailEnd/>
          </a:ln>
        </p:spPr>
      </p:pic>
      <p:grpSp>
        <p:nvGrpSpPr>
          <p:cNvPr id="134" name="Group 134"/>
          <p:cNvGrpSpPr>
            <a:grpSpLocks/>
          </p:cNvGrpSpPr>
          <p:nvPr/>
        </p:nvGrpSpPr>
        <p:grpSpPr bwMode="auto">
          <a:xfrm rot="4800000">
            <a:off x="2434697" y="2241480"/>
            <a:ext cx="666750" cy="352425"/>
            <a:chOff x="3411" y="291"/>
            <a:chExt cx="605" cy="396"/>
          </a:xfrm>
        </p:grpSpPr>
        <p:grpSp>
          <p:nvGrpSpPr>
            <p:cNvPr id="135" name="Group 135"/>
            <p:cNvGrpSpPr>
              <a:grpSpLocks/>
            </p:cNvGrpSpPr>
            <p:nvPr/>
          </p:nvGrpSpPr>
          <p:grpSpPr bwMode="auto">
            <a:xfrm>
              <a:off x="3663" y="615"/>
              <a:ext cx="103" cy="72"/>
              <a:chOff x="3663" y="615"/>
              <a:chExt cx="103" cy="72"/>
            </a:xfrm>
          </p:grpSpPr>
          <p:sp>
            <p:nvSpPr>
              <p:cNvPr id="152" name="Oval 136"/>
              <p:cNvSpPr>
                <a:spLocks noChangeArrowheads="1"/>
              </p:cNvSpPr>
              <p:nvPr/>
            </p:nvSpPr>
            <p:spPr bwMode="auto">
              <a:xfrm>
                <a:off x="3664" y="655"/>
                <a:ext cx="102" cy="32"/>
              </a:xfrm>
              <a:prstGeom prst="ellipse">
                <a:avLst/>
              </a:prstGeom>
              <a:solidFill>
                <a:srgbClr val="93936C"/>
              </a:solid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53" name="Rectangle 137"/>
              <p:cNvSpPr>
                <a:spLocks noChangeArrowheads="1"/>
              </p:cNvSpPr>
              <p:nvPr/>
            </p:nvSpPr>
            <p:spPr bwMode="auto">
              <a:xfrm>
                <a:off x="3663" y="615"/>
                <a:ext cx="102" cy="55"/>
              </a:xfrm>
              <a:prstGeom prst="rect">
                <a:avLst/>
              </a:prstGeom>
              <a:solidFill>
                <a:srgbClr val="93936C"/>
              </a:solidFill>
              <a:ln w="9525">
                <a:noFill/>
                <a:miter lim="800000"/>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54" name="Rectangle 138"/>
              <p:cNvSpPr>
                <a:spLocks noChangeArrowheads="1"/>
              </p:cNvSpPr>
              <p:nvPr/>
            </p:nvSpPr>
            <p:spPr bwMode="auto">
              <a:xfrm>
                <a:off x="3663" y="615"/>
                <a:ext cx="102" cy="55"/>
              </a:xfrm>
              <a:prstGeom prst="rect">
                <a:avLst/>
              </a:prstGeom>
              <a:solidFill>
                <a:srgbClr val="93936C"/>
              </a:solidFill>
              <a:ln w="9525">
                <a:noFill/>
                <a:miter lim="800000"/>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55" name="Line 139"/>
              <p:cNvSpPr>
                <a:spLocks noChangeShapeType="1"/>
              </p:cNvSpPr>
              <p:nvPr/>
            </p:nvSpPr>
            <p:spPr bwMode="auto">
              <a:xfrm flipV="1">
                <a:off x="3663" y="630"/>
                <a:ext cx="1" cy="40"/>
              </a:xfrm>
              <a:prstGeom prst="line">
                <a:avLst/>
              </a:pr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56" name="Line 140"/>
              <p:cNvSpPr>
                <a:spLocks noChangeShapeType="1"/>
              </p:cNvSpPr>
              <p:nvPr/>
            </p:nvSpPr>
            <p:spPr bwMode="auto">
              <a:xfrm flipV="1">
                <a:off x="3765" y="628"/>
                <a:ext cx="1" cy="42"/>
              </a:xfrm>
              <a:prstGeom prst="line">
                <a:avLst/>
              </a:pr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136" name="Group 141"/>
            <p:cNvGrpSpPr>
              <a:grpSpLocks/>
            </p:cNvGrpSpPr>
            <p:nvPr/>
          </p:nvGrpSpPr>
          <p:grpSpPr bwMode="auto">
            <a:xfrm>
              <a:off x="3637" y="562"/>
              <a:ext cx="156" cy="83"/>
              <a:chOff x="3637" y="562"/>
              <a:chExt cx="156" cy="83"/>
            </a:xfrm>
          </p:grpSpPr>
          <p:sp>
            <p:nvSpPr>
              <p:cNvPr id="147" name="Oval 142"/>
              <p:cNvSpPr>
                <a:spLocks noChangeArrowheads="1"/>
              </p:cNvSpPr>
              <p:nvPr/>
            </p:nvSpPr>
            <p:spPr bwMode="auto">
              <a:xfrm>
                <a:off x="3638" y="592"/>
                <a:ext cx="155" cy="53"/>
              </a:xfrm>
              <a:prstGeom prst="ellipse">
                <a:avLst/>
              </a:prstGeom>
              <a:solidFill>
                <a:srgbClr val="A5A585"/>
              </a:solid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48" name="Rectangle 143"/>
              <p:cNvSpPr>
                <a:spLocks noChangeArrowheads="1"/>
              </p:cNvSpPr>
              <p:nvPr/>
            </p:nvSpPr>
            <p:spPr bwMode="auto">
              <a:xfrm>
                <a:off x="3637" y="562"/>
                <a:ext cx="154" cy="55"/>
              </a:xfrm>
              <a:prstGeom prst="rect">
                <a:avLst/>
              </a:prstGeom>
              <a:solidFill>
                <a:srgbClr val="A5A585"/>
              </a:solidFill>
              <a:ln w="9525">
                <a:noFill/>
                <a:miter lim="800000"/>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49" name="Rectangle 144"/>
              <p:cNvSpPr>
                <a:spLocks noChangeArrowheads="1"/>
              </p:cNvSpPr>
              <p:nvPr/>
            </p:nvSpPr>
            <p:spPr bwMode="auto">
              <a:xfrm>
                <a:off x="3637" y="562"/>
                <a:ext cx="154" cy="55"/>
              </a:xfrm>
              <a:prstGeom prst="rect">
                <a:avLst/>
              </a:prstGeom>
              <a:solidFill>
                <a:srgbClr val="A5A585"/>
              </a:solidFill>
              <a:ln w="9525">
                <a:noFill/>
                <a:miter lim="800000"/>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50" name="Line 145"/>
              <p:cNvSpPr>
                <a:spLocks noChangeShapeType="1"/>
              </p:cNvSpPr>
              <p:nvPr/>
            </p:nvSpPr>
            <p:spPr bwMode="auto">
              <a:xfrm flipV="1">
                <a:off x="3637" y="588"/>
                <a:ext cx="1" cy="29"/>
              </a:xfrm>
              <a:prstGeom prst="line">
                <a:avLst/>
              </a:pr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51" name="Line 146"/>
              <p:cNvSpPr>
                <a:spLocks noChangeShapeType="1"/>
              </p:cNvSpPr>
              <p:nvPr/>
            </p:nvSpPr>
            <p:spPr bwMode="auto">
              <a:xfrm flipV="1">
                <a:off x="3791" y="588"/>
                <a:ext cx="1" cy="29"/>
              </a:xfrm>
              <a:prstGeom prst="line">
                <a:avLst/>
              </a:pr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sp>
          <p:nvSpPr>
            <p:cNvPr id="137" name="Arc 147"/>
            <p:cNvSpPr>
              <a:spLocks/>
            </p:cNvSpPr>
            <p:nvPr/>
          </p:nvSpPr>
          <p:spPr bwMode="auto">
            <a:xfrm>
              <a:off x="3411" y="454"/>
              <a:ext cx="604" cy="156"/>
            </a:xfrm>
            <a:custGeom>
              <a:avLst/>
              <a:gdLst>
                <a:gd name="T0" fmla="*/ 604 w 43200"/>
                <a:gd name="T1" fmla="*/ 3 h 23250"/>
                <a:gd name="T2" fmla="*/ 1 w 43200"/>
                <a:gd name="T3" fmla="*/ 0 h 23250"/>
                <a:gd name="T4" fmla="*/ 302 w 43200"/>
                <a:gd name="T5" fmla="*/ 11 h 23250"/>
                <a:gd name="T6" fmla="*/ 0 60000 65536"/>
                <a:gd name="T7" fmla="*/ 0 60000 65536"/>
                <a:gd name="T8" fmla="*/ 0 60000 65536"/>
                <a:gd name="T9" fmla="*/ 0 w 43200"/>
                <a:gd name="T10" fmla="*/ 0 h 23250"/>
                <a:gd name="T11" fmla="*/ 43200 w 43200"/>
                <a:gd name="T12" fmla="*/ 23250 h 23250"/>
              </a:gdLst>
              <a:ahLst/>
              <a:cxnLst>
                <a:cxn ang="T6">
                  <a:pos x="T0" y="T1"/>
                </a:cxn>
                <a:cxn ang="T7">
                  <a:pos x="T2" y="T3"/>
                </a:cxn>
                <a:cxn ang="T8">
                  <a:pos x="T4" y="T5"/>
                </a:cxn>
              </a:cxnLst>
              <a:rect l="T9" t="T10" r="T11" b="T12"/>
              <a:pathLst>
                <a:path w="43200" h="23250" fill="none" extrusionOk="0">
                  <a:moveTo>
                    <a:pt x="43165" y="432"/>
                  </a:moveTo>
                  <a:cubicBezTo>
                    <a:pt x="43188" y="837"/>
                    <a:pt x="43200" y="1243"/>
                    <a:pt x="43200" y="1650"/>
                  </a:cubicBezTo>
                  <a:cubicBezTo>
                    <a:pt x="43200" y="13579"/>
                    <a:pt x="33529" y="23250"/>
                    <a:pt x="21600" y="23250"/>
                  </a:cubicBezTo>
                  <a:cubicBezTo>
                    <a:pt x="9670" y="23250"/>
                    <a:pt x="0" y="13579"/>
                    <a:pt x="0" y="1650"/>
                  </a:cubicBezTo>
                  <a:cubicBezTo>
                    <a:pt x="-1" y="1099"/>
                    <a:pt x="21" y="549"/>
                    <a:pt x="63" y="0"/>
                  </a:cubicBezTo>
                </a:path>
                <a:path w="43200" h="23250" stroke="0" extrusionOk="0">
                  <a:moveTo>
                    <a:pt x="43165" y="432"/>
                  </a:moveTo>
                  <a:cubicBezTo>
                    <a:pt x="43188" y="837"/>
                    <a:pt x="43200" y="1243"/>
                    <a:pt x="43200" y="1650"/>
                  </a:cubicBezTo>
                  <a:cubicBezTo>
                    <a:pt x="43200" y="13579"/>
                    <a:pt x="33529" y="23250"/>
                    <a:pt x="21600" y="23250"/>
                  </a:cubicBezTo>
                  <a:cubicBezTo>
                    <a:pt x="9670" y="23250"/>
                    <a:pt x="0" y="13579"/>
                    <a:pt x="0" y="1650"/>
                  </a:cubicBezTo>
                  <a:cubicBezTo>
                    <a:pt x="-1" y="1099"/>
                    <a:pt x="21" y="549"/>
                    <a:pt x="63" y="0"/>
                  </a:cubicBezTo>
                  <a:lnTo>
                    <a:pt x="21600" y="1650"/>
                  </a:lnTo>
                  <a:close/>
                </a:path>
              </a:pathLst>
            </a:custGeom>
            <a:solidFill>
              <a:srgbClr val="A5A585"/>
            </a:solidFill>
            <a:ln w="9525">
              <a:no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38" name="Arc 148"/>
            <p:cNvSpPr>
              <a:spLocks/>
            </p:cNvSpPr>
            <p:nvPr/>
          </p:nvSpPr>
          <p:spPr bwMode="auto">
            <a:xfrm>
              <a:off x="3412" y="454"/>
              <a:ext cx="602" cy="155"/>
            </a:xfrm>
            <a:custGeom>
              <a:avLst/>
              <a:gdLst>
                <a:gd name="T0" fmla="*/ 602 w 43200"/>
                <a:gd name="T1" fmla="*/ 3 h 23256"/>
                <a:gd name="T2" fmla="*/ 1 w 43200"/>
                <a:gd name="T3" fmla="*/ 0 h 23256"/>
                <a:gd name="T4" fmla="*/ 301 w 43200"/>
                <a:gd name="T5" fmla="*/ 11 h 23256"/>
                <a:gd name="T6" fmla="*/ 0 60000 65536"/>
                <a:gd name="T7" fmla="*/ 0 60000 65536"/>
                <a:gd name="T8" fmla="*/ 0 60000 65536"/>
                <a:gd name="T9" fmla="*/ 0 w 43200"/>
                <a:gd name="T10" fmla="*/ 0 h 23256"/>
                <a:gd name="T11" fmla="*/ 43200 w 43200"/>
                <a:gd name="T12" fmla="*/ 23256 h 23256"/>
              </a:gdLst>
              <a:ahLst/>
              <a:cxnLst>
                <a:cxn ang="T6">
                  <a:pos x="T0" y="T1"/>
                </a:cxn>
                <a:cxn ang="T7">
                  <a:pos x="T2" y="T3"/>
                </a:cxn>
                <a:cxn ang="T8">
                  <a:pos x="T4" y="T5"/>
                </a:cxn>
              </a:cxnLst>
              <a:rect l="T9" t="T10" r="T11" b="T12"/>
              <a:pathLst>
                <a:path w="43200" h="23256" fill="none" extrusionOk="0">
                  <a:moveTo>
                    <a:pt x="43165" y="432"/>
                  </a:moveTo>
                  <a:cubicBezTo>
                    <a:pt x="43188" y="840"/>
                    <a:pt x="43200" y="1248"/>
                    <a:pt x="43200" y="1656"/>
                  </a:cubicBezTo>
                  <a:cubicBezTo>
                    <a:pt x="43200" y="13585"/>
                    <a:pt x="33529" y="23256"/>
                    <a:pt x="21600" y="23256"/>
                  </a:cubicBezTo>
                  <a:cubicBezTo>
                    <a:pt x="9670" y="23256"/>
                    <a:pt x="0" y="13585"/>
                    <a:pt x="0" y="1656"/>
                  </a:cubicBezTo>
                  <a:cubicBezTo>
                    <a:pt x="-1" y="1103"/>
                    <a:pt x="21" y="550"/>
                    <a:pt x="63" y="-1"/>
                  </a:cubicBezTo>
                </a:path>
                <a:path w="43200" h="23256" stroke="0" extrusionOk="0">
                  <a:moveTo>
                    <a:pt x="43165" y="432"/>
                  </a:moveTo>
                  <a:cubicBezTo>
                    <a:pt x="43188" y="840"/>
                    <a:pt x="43200" y="1248"/>
                    <a:pt x="43200" y="1656"/>
                  </a:cubicBezTo>
                  <a:cubicBezTo>
                    <a:pt x="43200" y="13585"/>
                    <a:pt x="33529" y="23256"/>
                    <a:pt x="21600" y="23256"/>
                  </a:cubicBezTo>
                  <a:cubicBezTo>
                    <a:pt x="9670" y="23256"/>
                    <a:pt x="0" y="13585"/>
                    <a:pt x="0" y="1656"/>
                  </a:cubicBezTo>
                  <a:cubicBezTo>
                    <a:pt x="-1" y="1103"/>
                    <a:pt x="21" y="550"/>
                    <a:pt x="63" y="-1"/>
                  </a:cubicBezTo>
                  <a:lnTo>
                    <a:pt x="21600" y="1656"/>
                  </a:lnTo>
                  <a:close/>
                </a:path>
              </a:pathLst>
            </a:cu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39" name="Oval 149"/>
            <p:cNvSpPr>
              <a:spLocks noChangeArrowheads="1"/>
            </p:cNvSpPr>
            <p:nvPr/>
          </p:nvSpPr>
          <p:spPr bwMode="auto">
            <a:xfrm>
              <a:off x="3412" y="400"/>
              <a:ext cx="604" cy="111"/>
            </a:xfrm>
            <a:prstGeom prst="ellipse">
              <a:avLst/>
            </a:prstGeom>
            <a:solidFill>
              <a:srgbClr val="C9C9B6"/>
            </a:solid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40" name="Line 150"/>
            <p:cNvSpPr>
              <a:spLocks noChangeShapeType="1"/>
            </p:cNvSpPr>
            <p:nvPr/>
          </p:nvSpPr>
          <p:spPr bwMode="auto">
            <a:xfrm>
              <a:off x="3711" y="323"/>
              <a:ext cx="301" cy="131"/>
            </a:xfrm>
            <a:prstGeom prst="line">
              <a:avLst/>
            </a:prstGeom>
            <a:noFill/>
            <a:ln w="12700">
              <a:solidFill>
                <a:srgbClr val="93936C"/>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41" name="Freeform 151"/>
            <p:cNvSpPr>
              <a:spLocks/>
            </p:cNvSpPr>
            <p:nvPr/>
          </p:nvSpPr>
          <p:spPr bwMode="auto">
            <a:xfrm>
              <a:off x="3701" y="291"/>
              <a:ext cx="21" cy="218"/>
            </a:xfrm>
            <a:custGeom>
              <a:avLst/>
              <a:gdLst>
                <a:gd name="T0" fmla="*/ 10 w 21"/>
                <a:gd name="T1" fmla="*/ 0 h 218"/>
                <a:gd name="T2" fmla="*/ 0 w 21"/>
                <a:gd name="T3" fmla="*/ 218 h 218"/>
                <a:gd name="T4" fmla="*/ 21 w 21"/>
                <a:gd name="T5" fmla="*/ 218 h 218"/>
                <a:gd name="T6" fmla="*/ 10 w 21"/>
                <a:gd name="T7" fmla="*/ 0 h 218"/>
                <a:gd name="T8" fmla="*/ 0 60000 65536"/>
                <a:gd name="T9" fmla="*/ 0 60000 65536"/>
                <a:gd name="T10" fmla="*/ 0 60000 65536"/>
                <a:gd name="T11" fmla="*/ 0 60000 65536"/>
                <a:gd name="T12" fmla="*/ 0 w 21"/>
                <a:gd name="T13" fmla="*/ 0 h 218"/>
                <a:gd name="T14" fmla="*/ 21 w 21"/>
                <a:gd name="T15" fmla="*/ 218 h 218"/>
              </a:gdLst>
              <a:ahLst/>
              <a:cxnLst>
                <a:cxn ang="T8">
                  <a:pos x="T0" y="T1"/>
                </a:cxn>
                <a:cxn ang="T9">
                  <a:pos x="T2" y="T3"/>
                </a:cxn>
                <a:cxn ang="T10">
                  <a:pos x="T4" y="T5"/>
                </a:cxn>
                <a:cxn ang="T11">
                  <a:pos x="T6" y="T7"/>
                </a:cxn>
              </a:cxnLst>
              <a:rect l="T12" t="T13" r="T14" b="T15"/>
              <a:pathLst>
                <a:path w="21" h="218">
                  <a:moveTo>
                    <a:pt x="10" y="0"/>
                  </a:moveTo>
                  <a:lnTo>
                    <a:pt x="0" y="218"/>
                  </a:lnTo>
                  <a:lnTo>
                    <a:pt x="21" y="218"/>
                  </a:lnTo>
                  <a:lnTo>
                    <a:pt x="10" y="0"/>
                  </a:lnTo>
                  <a:close/>
                </a:path>
              </a:pathLst>
            </a:custGeom>
            <a:solidFill>
              <a:srgbClr val="B7B79D"/>
            </a:solidFill>
            <a:ln w="9525">
              <a:no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42" name="Freeform 152"/>
            <p:cNvSpPr>
              <a:spLocks/>
            </p:cNvSpPr>
            <p:nvPr/>
          </p:nvSpPr>
          <p:spPr bwMode="auto">
            <a:xfrm>
              <a:off x="3701" y="291"/>
              <a:ext cx="21" cy="218"/>
            </a:xfrm>
            <a:custGeom>
              <a:avLst/>
              <a:gdLst>
                <a:gd name="T0" fmla="*/ 10 w 21"/>
                <a:gd name="T1" fmla="*/ 0 h 218"/>
                <a:gd name="T2" fmla="*/ 0 w 21"/>
                <a:gd name="T3" fmla="*/ 218 h 218"/>
                <a:gd name="T4" fmla="*/ 21 w 21"/>
                <a:gd name="T5" fmla="*/ 218 h 218"/>
                <a:gd name="T6" fmla="*/ 10 w 21"/>
                <a:gd name="T7" fmla="*/ 0 h 218"/>
                <a:gd name="T8" fmla="*/ 0 60000 65536"/>
                <a:gd name="T9" fmla="*/ 0 60000 65536"/>
                <a:gd name="T10" fmla="*/ 0 60000 65536"/>
                <a:gd name="T11" fmla="*/ 0 60000 65536"/>
                <a:gd name="T12" fmla="*/ 0 w 21"/>
                <a:gd name="T13" fmla="*/ 0 h 218"/>
                <a:gd name="T14" fmla="*/ 21 w 21"/>
                <a:gd name="T15" fmla="*/ 218 h 218"/>
              </a:gdLst>
              <a:ahLst/>
              <a:cxnLst>
                <a:cxn ang="T8">
                  <a:pos x="T0" y="T1"/>
                </a:cxn>
                <a:cxn ang="T9">
                  <a:pos x="T2" y="T3"/>
                </a:cxn>
                <a:cxn ang="T10">
                  <a:pos x="T4" y="T5"/>
                </a:cxn>
                <a:cxn ang="T11">
                  <a:pos x="T6" y="T7"/>
                </a:cxn>
              </a:cxnLst>
              <a:rect l="T12" t="T13" r="T14" b="T15"/>
              <a:pathLst>
                <a:path w="21" h="218">
                  <a:moveTo>
                    <a:pt x="10" y="0"/>
                  </a:moveTo>
                  <a:lnTo>
                    <a:pt x="0" y="218"/>
                  </a:lnTo>
                  <a:lnTo>
                    <a:pt x="21" y="218"/>
                  </a:lnTo>
                  <a:lnTo>
                    <a:pt x="10" y="0"/>
                  </a:lnTo>
                  <a:close/>
                </a:path>
              </a:pathLst>
            </a:custGeom>
            <a:solidFill>
              <a:srgbClr val="B7B79D"/>
            </a:solidFill>
            <a:ln w="4763">
              <a:solidFill>
                <a:srgbClr val="626248"/>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43" name="Oval 153"/>
            <p:cNvSpPr>
              <a:spLocks noChangeArrowheads="1"/>
            </p:cNvSpPr>
            <p:nvPr/>
          </p:nvSpPr>
          <p:spPr bwMode="auto">
            <a:xfrm>
              <a:off x="3694" y="342"/>
              <a:ext cx="40" cy="19"/>
            </a:xfrm>
            <a:prstGeom prst="ellipse">
              <a:avLst/>
            </a:prstGeom>
            <a:solidFill>
              <a:srgbClr val="B7B79D"/>
            </a:solid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44" name="Freeform 154"/>
            <p:cNvSpPr>
              <a:spLocks/>
            </p:cNvSpPr>
            <p:nvPr/>
          </p:nvSpPr>
          <p:spPr bwMode="auto">
            <a:xfrm>
              <a:off x="3512" y="407"/>
              <a:ext cx="106" cy="97"/>
            </a:xfrm>
            <a:custGeom>
              <a:avLst/>
              <a:gdLst>
                <a:gd name="T0" fmla="*/ 61 w 106"/>
                <a:gd name="T1" fmla="*/ 94 h 97"/>
                <a:gd name="T2" fmla="*/ 0 w 106"/>
                <a:gd name="T3" fmla="*/ 7 h 97"/>
                <a:gd name="T4" fmla="*/ 24 w 106"/>
                <a:gd name="T5" fmla="*/ 5 h 97"/>
                <a:gd name="T6" fmla="*/ 40 w 106"/>
                <a:gd name="T7" fmla="*/ 2 h 97"/>
                <a:gd name="T8" fmla="*/ 56 w 106"/>
                <a:gd name="T9" fmla="*/ 2 h 97"/>
                <a:gd name="T10" fmla="*/ 74 w 106"/>
                <a:gd name="T11" fmla="*/ 0 h 97"/>
                <a:gd name="T12" fmla="*/ 106 w 106"/>
                <a:gd name="T13" fmla="*/ 97 h 97"/>
                <a:gd name="T14" fmla="*/ 82 w 106"/>
                <a:gd name="T15" fmla="*/ 97 h 97"/>
                <a:gd name="T16" fmla="*/ 61 w 106"/>
                <a:gd name="T17" fmla="*/ 94 h 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6"/>
                <a:gd name="T28" fmla="*/ 0 h 97"/>
                <a:gd name="T29" fmla="*/ 106 w 106"/>
                <a:gd name="T30" fmla="*/ 97 h 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6" h="97">
                  <a:moveTo>
                    <a:pt x="61" y="94"/>
                  </a:moveTo>
                  <a:lnTo>
                    <a:pt x="0" y="7"/>
                  </a:lnTo>
                  <a:lnTo>
                    <a:pt x="24" y="5"/>
                  </a:lnTo>
                  <a:lnTo>
                    <a:pt x="40" y="2"/>
                  </a:lnTo>
                  <a:lnTo>
                    <a:pt x="56" y="2"/>
                  </a:lnTo>
                  <a:lnTo>
                    <a:pt x="74" y="0"/>
                  </a:lnTo>
                  <a:lnTo>
                    <a:pt x="106" y="97"/>
                  </a:lnTo>
                  <a:lnTo>
                    <a:pt x="82" y="97"/>
                  </a:lnTo>
                  <a:lnTo>
                    <a:pt x="61" y="94"/>
                  </a:lnTo>
                  <a:close/>
                </a:path>
              </a:pathLst>
            </a:custGeom>
            <a:solidFill>
              <a:srgbClr val="B7B79D"/>
            </a:solidFill>
            <a:ln w="9525">
              <a:no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45" name="Freeform 155"/>
            <p:cNvSpPr>
              <a:spLocks/>
            </p:cNvSpPr>
            <p:nvPr/>
          </p:nvSpPr>
          <p:spPr bwMode="auto">
            <a:xfrm>
              <a:off x="3512" y="407"/>
              <a:ext cx="106" cy="97"/>
            </a:xfrm>
            <a:custGeom>
              <a:avLst/>
              <a:gdLst>
                <a:gd name="T0" fmla="*/ 61 w 106"/>
                <a:gd name="T1" fmla="*/ 94 h 97"/>
                <a:gd name="T2" fmla="*/ 0 w 106"/>
                <a:gd name="T3" fmla="*/ 7 h 97"/>
                <a:gd name="T4" fmla="*/ 24 w 106"/>
                <a:gd name="T5" fmla="*/ 5 h 97"/>
                <a:gd name="T6" fmla="*/ 40 w 106"/>
                <a:gd name="T7" fmla="*/ 2 h 97"/>
                <a:gd name="T8" fmla="*/ 56 w 106"/>
                <a:gd name="T9" fmla="*/ 2 h 97"/>
                <a:gd name="T10" fmla="*/ 74 w 106"/>
                <a:gd name="T11" fmla="*/ 0 h 97"/>
                <a:gd name="T12" fmla="*/ 106 w 106"/>
                <a:gd name="T13" fmla="*/ 97 h 97"/>
                <a:gd name="T14" fmla="*/ 82 w 106"/>
                <a:gd name="T15" fmla="*/ 97 h 97"/>
                <a:gd name="T16" fmla="*/ 61 w 106"/>
                <a:gd name="T17" fmla="*/ 94 h 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6"/>
                <a:gd name="T28" fmla="*/ 0 h 97"/>
                <a:gd name="T29" fmla="*/ 106 w 106"/>
                <a:gd name="T30" fmla="*/ 97 h 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6" h="97">
                  <a:moveTo>
                    <a:pt x="61" y="94"/>
                  </a:moveTo>
                  <a:lnTo>
                    <a:pt x="0" y="7"/>
                  </a:lnTo>
                  <a:lnTo>
                    <a:pt x="24" y="5"/>
                  </a:lnTo>
                  <a:lnTo>
                    <a:pt x="40" y="2"/>
                  </a:lnTo>
                  <a:lnTo>
                    <a:pt x="56" y="2"/>
                  </a:lnTo>
                  <a:lnTo>
                    <a:pt x="74" y="0"/>
                  </a:lnTo>
                  <a:lnTo>
                    <a:pt x="106" y="97"/>
                  </a:lnTo>
                  <a:lnTo>
                    <a:pt x="82" y="97"/>
                  </a:lnTo>
                  <a:lnTo>
                    <a:pt x="61" y="94"/>
                  </a:lnTo>
                  <a:close/>
                </a:path>
              </a:pathLst>
            </a:custGeom>
            <a:solidFill>
              <a:srgbClr val="B7B79D"/>
            </a:solidFill>
            <a:ln w="9525">
              <a:no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46" name="Line 156"/>
            <p:cNvSpPr>
              <a:spLocks noChangeShapeType="1"/>
            </p:cNvSpPr>
            <p:nvPr/>
          </p:nvSpPr>
          <p:spPr bwMode="auto">
            <a:xfrm flipH="1">
              <a:off x="3413" y="323"/>
              <a:ext cx="301" cy="131"/>
            </a:xfrm>
            <a:prstGeom prst="line">
              <a:avLst/>
            </a:prstGeom>
            <a:noFill/>
            <a:ln w="12700">
              <a:solidFill>
                <a:srgbClr val="93936C"/>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157" name="Group 157"/>
          <p:cNvGrpSpPr>
            <a:grpSpLocks/>
          </p:cNvGrpSpPr>
          <p:nvPr/>
        </p:nvGrpSpPr>
        <p:grpSpPr bwMode="auto">
          <a:xfrm rot="-2400000">
            <a:off x="8579909" y="3970268"/>
            <a:ext cx="615950" cy="381000"/>
            <a:chOff x="3411" y="291"/>
            <a:chExt cx="605" cy="396"/>
          </a:xfrm>
        </p:grpSpPr>
        <p:grpSp>
          <p:nvGrpSpPr>
            <p:cNvPr id="158" name="Group 158"/>
            <p:cNvGrpSpPr>
              <a:grpSpLocks/>
            </p:cNvGrpSpPr>
            <p:nvPr/>
          </p:nvGrpSpPr>
          <p:grpSpPr bwMode="auto">
            <a:xfrm>
              <a:off x="3663" y="615"/>
              <a:ext cx="103" cy="72"/>
              <a:chOff x="3663" y="615"/>
              <a:chExt cx="103" cy="72"/>
            </a:xfrm>
          </p:grpSpPr>
          <p:sp>
            <p:nvSpPr>
              <p:cNvPr id="175" name="Oval 159"/>
              <p:cNvSpPr>
                <a:spLocks noChangeArrowheads="1"/>
              </p:cNvSpPr>
              <p:nvPr/>
            </p:nvSpPr>
            <p:spPr bwMode="auto">
              <a:xfrm>
                <a:off x="3664" y="655"/>
                <a:ext cx="102" cy="32"/>
              </a:xfrm>
              <a:prstGeom prst="ellipse">
                <a:avLst/>
              </a:prstGeom>
              <a:solidFill>
                <a:srgbClr val="93936C"/>
              </a:solid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76" name="Rectangle 160"/>
              <p:cNvSpPr>
                <a:spLocks noChangeArrowheads="1"/>
              </p:cNvSpPr>
              <p:nvPr/>
            </p:nvSpPr>
            <p:spPr bwMode="auto">
              <a:xfrm>
                <a:off x="3663" y="615"/>
                <a:ext cx="102" cy="55"/>
              </a:xfrm>
              <a:prstGeom prst="rect">
                <a:avLst/>
              </a:prstGeom>
              <a:solidFill>
                <a:srgbClr val="93936C"/>
              </a:solidFill>
              <a:ln w="9525">
                <a:noFill/>
                <a:miter lim="800000"/>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77" name="Rectangle 161"/>
              <p:cNvSpPr>
                <a:spLocks noChangeArrowheads="1"/>
              </p:cNvSpPr>
              <p:nvPr/>
            </p:nvSpPr>
            <p:spPr bwMode="auto">
              <a:xfrm>
                <a:off x="3663" y="615"/>
                <a:ext cx="102" cy="55"/>
              </a:xfrm>
              <a:prstGeom prst="rect">
                <a:avLst/>
              </a:prstGeom>
              <a:solidFill>
                <a:srgbClr val="93936C"/>
              </a:solidFill>
              <a:ln w="9525">
                <a:noFill/>
                <a:miter lim="800000"/>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78" name="Line 162"/>
              <p:cNvSpPr>
                <a:spLocks noChangeShapeType="1"/>
              </p:cNvSpPr>
              <p:nvPr/>
            </p:nvSpPr>
            <p:spPr bwMode="auto">
              <a:xfrm flipV="1">
                <a:off x="3663" y="630"/>
                <a:ext cx="1" cy="40"/>
              </a:xfrm>
              <a:prstGeom prst="line">
                <a:avLst/>
              </a:pr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79" name="Line 163"/>
              <p:cNvSpPr>
                <a:spLocks noChangeShapeType="1"/>
              </p:cNvSpPr>
              <p:nvPr/>
            </p:nvSpPr>
            <p:spPr bwMode="auto">
              <a:xfrm flipV="1">
                <a:off x="3765" y="628"/>
                <a:ext cx="1" cy="42"/>
              </a:xfrm>
              <a:prstGeom prst="line">
                <a:avLst/>
              </a:pr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159" name="Group 164"/>
            <p:cNvGrpSpPr>
              <a:grpSpLocks/>
            </p:cNvGrpSpPr>
            <p:nvPr/>
          </p:nvGrpSpPr>
          <p:grpSpPr bwMode="auto">
            <a:xfrm>
              <a:off x="3637" y="562"/>
              <a:ext cx="156" cy="83"/>
              <a:chOff x="3637" y="562"/>
              <a:chExt cx="156" cy="83"/>
            </a:xfrm>
          </p:grpSpPr>
          <p:sp>
            <p:nvSpPr>
              <p:cNvPr id="170" name="Oval 165"/>
              <p:cNvSpPr>
                <a:spLocks noChangeArrowheads="1"/>
              </p:cNvSpPr>
              <p:nvPr/>
            </p:nvSpPr>
            <p:spPr bwMode="auto">
              <a:xfrm>
                <a:off x="3638" y="592"/>
                <a:ext cx="155" cy="53"/>
              </a:xfrm>
              <a:prstGeom prst="ellipse">
                <a:avLst/>
              </a:prstGeom>
              <a:solidFill>
                <a:srgbClr val="A5A585"/>
              </a:solid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71" name="Rectangle 166"/>
              <p:cNvSpPr>
                <a:spLocks noChangeArrowheads="1"/>
              </p:cNvSpPr>
              <p:nvPr/>
            </p:nvSpPr>
            <p:spPr bwMode="auto">
              <a:xfrm>
                <a:off x="3637" y="562"/>
                <a:ext cx="154" cy="55"/>
              </a:xfrm>
              <a:prstGeom prst="rect">
                <a:avLst/>
              </a:prstGeom>
              <a:solidFill>
                <a:srgbClr val="A5A585"/>
              </a:solidFill>
              <a:ln w="9525">
                <a:noFill/>
                <a:miter lim="800000"/>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72" name="Rectangle 167"/>
              <p:cNvSpPr>
                <a:spLocks noChangeArrowheads="1"/>
              </p:cNvSpPr>
              <p:nvPr/>
            </p:nvSpPr>
            <p:spPr bwMode="auto">
              <a:xfrm>
                <a:off x="3637" y="562"/>
                <a:ext cx="154" cy="55"/>
              </a:xfrm>
              <a:prstGeom prst="rect">
                <a:avLst/>
              </a:prstGeom>
              <a:solidFill>
                <a:srgbClr val="A5A585"/>
              </a:solidFill>
              <a:ln w="9525">
                <a:noFill/>
                <a:miter lim="800000"/>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73" name="Line 168"/>
              <p:cNvSpPr>
                <a:spLocks noChangeShapeType="1"/>
              </p:cNvSpPr>
              <p:nvPr/>
            </p:nvSpPr>
            <p:spPr bwMode="auto">
              <a:xfrm flipV="1">
                <a:off x="3637" y="588"/>
                <a:ext cx="1" cy="29"/>
              </a:xfrm>
              <a:prstGeom prst="line">
                <a:avLst/>
              </a:pr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74" name="Line 169"/>
              <p:cNvSpPr>
                <a:spLocks noChangeShapeType="1"/>
              </p:cNvSpPr>
              <p:nvPr/>
            </p:nvSpPr>
            <p:spPr bwMode="auto">
              <a:xfrm flipV="1">
                <a:off x="3791" y="588"/>
                <a:ext cx="1" cy="29"/>
              </a:xfrm>
              <a:prstGeom prst="line">
                <a:avLst/>
              </a:pr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sp>
          <p:nvSpPr>
            <p:cNvPr id="160" name="Arc 170"/>
            <p:cNvSpPr>
              <a:spLocks/>
            </p:cNvSpPr>
            <p:nvPr/>
          </p:nvSpPr>
          <p:spPr bwMode="auto">
            <a:xfrm>
              <a:off x="3411" y="454"/>
              <a:ext cx="604" cy="156"/>
            </a:xfrm>
            <a:custGeom>
              <a:avLst/>
              <a:gdLst>
                <a:gd name="T0" fmla="*/ 604 w 43200"/>
                <a:gd name="T1" fmla="*/ 3 h 23250"/>
                <a:gd name="T2" fmla="*/ 1 w 43200"/>
                <a:gd name="T3" fmla="*/ 0 h 23250"/>
                <a:gd name="T4" fmla="*/ 302 w 43200"/>
                <a:gd name="T5" fmla="*/ 11 h 23250"/>
                <a:gd name="T6" fmla="*/ 0 60000 65536"/>
                <a:gd name="T7" fmla="*/ 0 60000 65536"/>
                <a:gd name="T8" fmla="*/ 0 60000 65536"/>
                <a:gd name="T9" fmla="*/ 0 w 43200"/>
                <a:gd name="T10" fmla="*/ 0 h 23250"/>
                <a:gd name="T11" fmla="*/ 43200 w 43200"/>
                <a:gd name="T12" fmla="*/ 23250 h 23250"/>
              </a:gdLst>
              <a:ahLst/>
              <a:cxnLst>
                <a:cxn ang="T6">
                  <a:pos x="T0" y="T1"/>
                </a:cxn>
                <a:cxn ang="T7">
                  <a:pos x="T2" y="T3"/>
                </a:cxn>
                <a:cxn ang="T8">
                  <a:pos x="T4" y="T5"/>
                </a:cxn>
              </a:cxnLst>
              <a:rect l="T9" t="T10" r="T11" b="T12"/>
              <a:pathLst>
                <a:path w="43200" h="23250" fill="none" extrusionOk="0">
                  <a:moveTo>
                    <a:pt x="43165" y="432"/>
                  </a:moveTo>
                  <a:cubicBezTo>
                    <a:pt x="43188" y="837"/>
                    <a:pt x="43200" y="1243"/>
                    <a:pt x="43200" y="1650"/>
                  </a:cubicBezTo>
                  <a:cubicBezTo>
                    <a:pt x="43200" y="13579"/>
                    <a:pt x="33529" y="23250"/>
                    <a:pt x="21600" y="23250"/>
                  </a:cubicBezTo>
                  <a:cubicBezTo>
                    <a:pt x="9670" y="23250"/>
                    <a:pt x="0" y="13579"/>
                    <a:pt x="0" y="1650"/>
                  </a:cubicBezTo>
                  <a:cubicBezTo>
                    <a:pt x="-1" y="1099"/>
                    <a:pt x="21" y="549"/>
                    <a:pt x="63" y="0"/>
                  </a:cubicBezTo>
                </a:path>
                <a:path w="43200" h="23250" stroke="0" extrusionOk="0">
                  <a:moveTo>
                    <a:pt x="43165" y="432"/>
                  </a:moveTo>
                  <a:cubicBezTo>
                    <a:pt x="43188" y="837"/>
                    <a:pt x="43200" y="1243"/>
                    <a:pt x="43200" y="1650"/>
                  </a:cubicBezTo>
                  <a:cubicBezTo>
                    <a:pt x="43200" y="13579"/>
                    <a:pt x="33529" y="23250"/>
                    <a:pt x="21600" y="23250"/>
                  </a:cubicBezTo>
                  <a:cubicBezTo>
                    <a:pt x="9670" y="23250"/>
                    <a:pt x="0" y="13579"/>
                    <a:pt x="0" y="1650"/>
                  </a:cubicBezTo>
                  <a:cubicBezTo>
                    <a:pt x="-1" y="1099"/>
                    <a:pt x="21" y="549"/>
                    <a:pt x="63" y="0"/>
                  </a:cubicBezTo>
                  <a:lnTo>
                    <a:pt x="21600" y="1650"/>
                  </a:lnTo>
                  <a:close/>
                </a:path>
              </a:pathLst>
            </a:custGeom>
            <a:solidFill>
              <a:srgbClr val="A5A585"/>
            </a:solidFill>
            <a:ln w="9525">
              <a:no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61" name="Arc 171"/>
            <p:cNvSpPr>
              <a:spLocks/>
            </p:cNvSpPr>
            <p:nvPr/>
          </p:nvSpPr>
          <p:spPr bwMode="auto">
            <a:xfrm>
              <a:off x="3412" y="454"/>
              <a:ext cx="602" cy="155"/>
            </a:xfrm>
            <a:custGeom>
              <a:avLst/>
              <a:gdLst>
                <a:gd name="T0" fmla="*/ 602 w 43200"/>
                <a:gd name="T1" fmla="*/ 3 h 23256"/>
                <a:gd name="T2" fmla="*/ 1 w 43200"/>
                <a:gd name="T3" fmla="*/ 0 h 23256"/>
                <a:gd name="T4" fmla="*/ 301 w 43200"/>
                <a:gd name="T5" fmla="*/ 11 h 23256"/>
                <a:gd name="T6" fmla="*/ 0 60000 65536"/>
                <a:gd name="T7" fmla="*/ 0 60000 65536"/>
                <a:gd name="T8" fmla="*/ 0 60000 65536"/>
                <a:gd name="T9" fmla="*/ 0 w 43200"/>
                <a:gd name="T10" fmla="*/ 0 h 23256"/>
                <a:gd name="T11" fmla="*/ 43200 w 43200"/>
                <a:gd name="T12" fmla="*/ 23256 h 23256"/>
              </a:gdLst>
              <a:ahLst/>
              <a:cxnLst>
                <a:cxn ang="T6">
                  <a:pos x="T0" y="T1"/>
                </a:cxn>
                <a:cxn ang="T7">
                  <a:pos x="T2" y="T3"/>
                </a:cxn>
                <a:cxn ang="T8">
                  <a:pos x="T4" y="T5"/>
                </a:cxn>
              </a:cxnLst>
              <a:rect l="T9" t="T10" r="T11" b="T12"/>
              <a:pathLst>
                <a:path w="43200" h="23256" fill="none" extrusionOk="0">
                  <a:moveTo>
                    <a:pt x="43165" y="432"/>
                  </a:moveTo>
                  <a:cubicBezTo>
                    <a:pt x="43188" y="840"/>
                    <a:pt x="43200" y="1248"/>
                    <a:pt x="43200" y="1656"/>
                  </a:cubicBezTo>
                  <a:cubicBezTo>
                    <a:pt x="43200" y="13585"/>
                    <a:pt x="33529" y="23256"/>
                    <a:pt x="21600" y="23256"/>
                  </a:cubicBezTo>
                  <a:cubicBezTo>
                    <a:pt x="9670" y="23256"/>
                    <a:pt x="0" y="13585"/>
                    <a:pt x="0" y="1656"/>
                  </a:cubicBezTo>
                  <a:cubicBezTo>
                    <a:pt x="-1" y="1103"/>
                    <a:pt x="21" y="550"/>
                    <a:pt x="63" y="-1"/>
                  </a:cubicBezTo>
                </a:path>
                <a:path w="43200" h="23256" stroke="0" extrusionOk="0">
                  <a:moveTo>
                    <a:pt x="43165" y="432"/>
                  </a:moveTo>
                  <a:cubicBezTo>
                    <a:pt x="43188" y="840"/>
                    <a:pt x="43200" y="1248"/>
                    <a:pt x="43200" y="1656"/>
                  </a:cubicBezTo>
                  <a:cubicBezTo>
                    <a:pt x="43200" y="13585"/>
                    <a:pt x="33529" y="23256"/>
                    <a:pt x="21600" y="23256"/>
                  </a:cubicBezTo>
                  <a:cubicBezTo>
                    <a:pt x="9670" y="23256"/>
                    <a:pt x="0" y="13585"/>
                    <a:pt x="0" y="1656"/>
                  </a:cubicBezTo>
                  <a:cubicBezTo>
                    <a:pt x="-1" y="1103"/>
                    <a:pt x="21" y="550"/>
                    <a:pt x="63" y="-1"/>
                  </a:cubicBezTo>
                  <a:lnTo>
                    <a:pt x="21600" y="1656"/>
                  </a:lnTo>
                  <a:close/>
                </a:path>
              </a:pathLst>
            </a:cu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62" name="Oval 172"/>
            <p:cNvSpPr>
              <a:spLocks noChangeArrowheads="1"/>
            </p:cNvSpPr>
            <p:nvPr/>
          </p:nvSpPr>
          <p:spPr bwMode="auto">
            <a:xfrm>
              <a:off x="3412" y="400"/>
              <a:ext cx="604" cy="111"/>
            </a:xfrm>
            <a:prstGeom prst="ellipse">
              <a:avLst/>
            </a:prstGeom>
            <a:solidFill>
              <a:srgbClr val="C9C9B6"/>
            </a:solid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63" name="Line 173"/>
            <p:cNvSpPr>
              <a:spLocks noChangeShapeType="1"/>
            </p:cNvSpPr>
            <p:nvPr/>
          </p:nvSpPr>
          <p:spPr bwMode="auto">
            <a:xfrm>
              <a:off x="3711" y="323"/>
              <a:ext cx="301" cy="131"/>
            </a:xfrm>
            <a:prstGeom prst="line">
              <a:avLst/>
            </a:prstGeom>
            <a:noFill/>
            <a:ln w="12700">
              <a:solidFill>
                <a:srgbClr val="93936C"/>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64" name="Freeform 174"/>
            <p:cNvSpPr>
              <a:spLocks/>
            </p:cNvSpPr>
            <p:nvPr/>
          </p:nvSpPr>
          <p:spPr bwMode="auto">
            <a:xfrm>
              <a:off x="3701" y="291"/>
              <a:ext cx="21" cy="218"/>
            </a:xfrm>
            <a:custGeom>
              <a:avLst/>
              <a:gdLst>
                <a:gd name="T0" fmla="*/ 10 w 21"/>
                <a:gd name="T1" fmla="*/ 0 h 218"/>
                <a:gd name="T2" fmla="*/ 0 w 21"/>
                <a:gd name="T3" fmla="*/ 218 h 218"/>
                <a:gd name="T4" fmla="*/ 21 w 21"/>
                <a:gd name="T5" fmla="*/ 218 h 218"/>
                <a:gd name="T6" fmla="*/ 10 w 21"/>
                <a:gd name="T7" fmla="*/ 0 h 218"/>
                <a:gd name="T8" fmla="*/ 0 60000 65536"/>
                <a:gd name="T9" fmla="*/ 0 60000 65536"/>
                <a:gd name="T10" fmla="*/ 0 60000 65536"/>
                <a:gd name="T11" fmla="*/ 0 60000 65536"/>
                <a:gd name="T12" fmla="*/ 0 w 21"/>
                <a:gd name="T13" fmla="*/ 0 h 218"/>
                <a:gd name="T14" fmla="*/ 21 w 21"/>
                <a:gd name="T15" fmla="*/ 218 h 218"/>
              </a:gdLst>
              <a:ahLst/>
              <a:cxnLst>
                <a:cxn ang="T8">
                  <a:pos x="T0" y="T1"/>
                </a:cxn>
                <a:cxn ang="T9">
                  <a:pos x="T2" y="T3"/>
                </a:cxn>
                <a:cxn ang="T10">
                  <a:pos x="T4" y="T5"/>
                </a:cxn>
                <a:cxn ang="T11">
                  <a:pos x="T6" y="T7"/>
                </a:cxn>
              </a:cxnLst>
              <a:rect l="T12" t="T13" r="T14" b="T15"/>
              <a:pathLst>
                <a:path w="21" h="218">
                  <a:moveTo>
                    <a:pt x="10" y="0"/>
                  </a:moveTo>
                  <a:lnTo>
                    <a:pt x="0" y="218"/>
                  </a:lnTo>
                  <a:lnTo>
                    <a:pt x="21" y="218"/>
                  </a:lnTo>
                  <a:lnTo>
                    <a:pt x="10" y="0"/>
                  </a:lnTo>
                  <a:close/>
                </a:path>
              </a:pathLst>
            </a:custGeom>
            <a:solidFill>
              <a:srgbClr val="B7B79D"/>
            </a:solidFill>
            <a:ln w="9525">
              <a:no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65" name="Freeform 175"/>
            <p:cNvSpPr>
              <a:spLocks/>
            </p:cNvSpPr>
            <p:nvPr/>
          </p:nvSpPr>
          <p:spPr bwMode="auto">
            <a:xfrm>
              <a:off x="3701" y="291"/>
              <a:ext cx="21" cy="218"/>
            </a:xfrm>
            <a:custGeom>
              <a:avLst/>
              <a:gdLst>
                <a:gd name="T0" fmla="*/ 10 w 21"/>
                <a:gd name="T1" fmla="*/ 0 h 218"/>
                <a:gd name="T2" fmla="*/ 0 w 21"/>
                <a:gd name="T3" fmla="*/ 218 h 218"/>
                <a:gd name="T4" fmla="*/ 21 w 21"/>
                <a:gd name="T5" fmla="*/ 218 h 218"/>
                <a:gd name="T6" fmla="*/ 10 w 21"/>
                <a:gd name="T7" fmla="*/ 0 h 218"/>
                <a:gd name="T8" fmla="*/ 0 60000 65536"/>
                <a:gd name="T9" fmla="*/ 0 60000 65536"/>
                <a:gd name="T10" fmla="*/ 0 60000 65536"/>
                <a:gd name="T11" fmla="*/ 0 60000 65536"/>
                <a:gd name="T12" fmla="*/ 0 w 21"/>
                <a:gd name="T13" fmla="*/ 0 h 218"/>
                <a:gd name="T14" fmla="*/ 21 w 21"/>
                <a:gd name="T15" fmla="*/ 218 h 218"/>
              </a:gdLst>
              <a:ahLst/>
              <a:cxnLst>
                <a:cxn ang="T8">
                  <a:pos x="T0" y="T1"/>
                </a:cxn>
                <a:cxn ang="T9">
                  <a:pos x="T2" y="T3"/>
                </a:cxn>
                <a:cxn ang="T10">
                  <a:pos x="T4" y="T5"/>
                </a:cxn>
                <a:cxn ang="T11">
                  <a:pos x="T6" y="T7"/>
                </a:cxn>
              </a:cxnLst>
              <a:rect l="T12" t="T13" r="T14" b="T15"/>
              <a:pathLst>
                <a:path w="21" h="218">
                  <a:moveTo>
                    <a:pt x="10" y="0"/>
                  </a:moveTo>
                  <a:lnTo>
                    <a:pt x="0" y="218"/>
                  </a:lnTo>
                  <a:lnTo>
                    <a:pt x="21" y="218"/>
                  </a:lnTo>
                  <a:lnTo>
                    <a:pt x="10" y="0"/>
                  </a:lnTo>
                  <a:close/>
                </a:path>
              </a:pathLst>
            </a:custGeom>
            <a:solidFill>
              <a:srgbClr val="B7B79D"/>
            </a:solidFill>
            <a:ln w="4763">
              <a:solidFill>
                <a:srgbClr val="626248"/>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66" name="Oval 176"/>
            <p:cNvSpPr>
              <a:spLocks noChangeArrowheads="1"/>
            </p:cNvSpPr>
            <p:nvPr/>
          </p:nvSpPr>
          <p:spPr bwMode="auto">
            <a:xfrm>
              <a:off x="3694" y="342"/>
              <a:ext cx="40" cy="19"/>
            </a:xfrm>
            <a:prstGeom prst="ellipse">
              <a:avLst/>
            </a:prstGeom>
            <a:solidFill>
              <a:srgbClr val="B7B79D"/>
            </a:solid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67" name="Freeform 177"/>
            <p:cNvSpPr>
              <a:spLocks/>
            </p:cNvSpPr>
            <p:nvPr/>
          </p:nvSpPr>
          <p:spPr bwMode="auto">
            <a:xfrm>
              <a:off x="3512" y="407"/>
              <a:ext cx="106" cy="97"/>
            </a:xfrm>
            <a:custGeom>
              <a:avLst/>
              <a:gdLst>
                <a:gd name="T0" fmla="*/ 61 w 106"/>
                <a:gd name="T1" fmla="*/ 94 h 97"/>
                <a:gd name="T2" fmla="*/ 0 w 106"/>
                <a:gd name="T3" fmla="*/ 7 h 97"/>
                <a:gd name="T4" fmla="*/ 24 w 106"/>
                <a:gd name="T5" fmla="*/ 5 h 97"/>
                <a:gd name="T6" fmla="*/ 40 w 106"/>
                <a:gd name="T7" fmla="*/ 2 h 97"/>
                <a:gd name="T8" fmla="*/ 56 w 106"/>
                <a:gd name="T9" fmla="*/ 2 h 97"/>
                <a:gd name="T10" fmla="*/ 74 w 106"/>
                <a:gd name="T11" fmla="*/ 0 h 97"/>
                <a:gd name="T12" fmla="*/ 106 w 106"/>
                <a:gd name="T13" fmla="*/ 97 h 97"/>
                <a:gd name="T14" fmla="*/ 82 w 106"/>
                <a:gd name="T15" fmla="*/ 97 h 97"/>
                <a:gd name="T16" fmla="*/ 61 w 106"/>
                <a:gd name="T17" fmla="*/ 94 h 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6"/>
                <a:gd name="T28" fmla="*/ 0 h 97"/>
                <a:gd name="T29" fmla="*/ 106 w 106"/>
                <a:gd name="T30" fmla="*/ 97 h 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6" h="97">
                  <a:moveTo>
                    <a:pt x="61" y="94"/>
                  </a:moveTo>
                  <a:lnTo>
                    <a:pt x="0" y="7"/>
                  </a:lnTo>
                  <a:lnTo>
                    <a:pt x="24" y="5"/>
                  </a:lnTo>
                  <a:lnTo>
                    <a:pt x="40" y="2"/>
                  </a:lnTo>
                  <a:lnTo>
                    <a:pt x="56" y="2"/>
                  </a:lnTo>
                  <a:lnTo>
                    <a:pt x="74" y="0"/>
                  </a:lnTo>
                  <a:lnTo>
                    <a:pt x="106" y="97"/>
                  </a:lnTo>
                  <a:lnTo>
                    <a:pt x="82" y="97"/>
                  </a:lnTo>
                  <a:lnTo>
                    <a:pt x="61" y="94"/>
                  </a:lnTo>
                  <a:close/>
                </a:path>
              </a:pathLst>
            </a:custGeom>
            <a:solidFill>
              <a:srgbClr val="B7B79D"/>
            </a:solidFill>
            <a:ln w="9525">
              <a:no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68" name="Freeform 178"/>
            <p:cNvSpPr>
              <a:spLocks/>
            </p:cNvSpPr>
            <p:nvPr/>
          </p:nvSpPr>
          <p:spPr bwMode="auto">
            <a:xfrm>
              <a:off x="3512" y="407"/>
              <a:ext cx="106" cy="97"/>
            </a:xfrm>
            <a:custGeom>
              <a:avLst/>
              <a:gdLst>
                <a:gd name="T0" fmla="*/ 61 w 106"/>
                <a:gd name="T1" fmla="*/ 94 h 97"/>
                <a:gd name="T2" fmla="*/ 0 w 106"/>
                <a:gd name="T3" fmla="*/ 7 h 97"/>
                <a:gd name="T4" fmla="*/ 24 w 106"/>
                <a:gd name="T5" fmla="*/ 5 h 97"/>
                <a:gd name="T6" fmla="*/ 40 w 106"/>
                <a:gd name="T7" fmla="*/ 2 h 97"/>
                <a:gd name="T8" fmla="*/ 56 w 106"/>
                <a:gd name="T9" fmla="*/ 2 h 97"/>
                <a:gd name="T10" fmla="*/ 74 w 106"/>
                <a:gd name="T11" fmla="*/ 0 h 97"/>
                <a:gd name="T12" fmla="*/ 106 w 106"/>
                <a:gd name="T13" fmla="*/ 97 h 97"/>
                <a:gd name="T14" fmla="*/ 82 w 106"/>
                <a:gd name="T15" fmla="*/ 97 h 97"/>
                <a:gd name="T16" fmla="*/ 61 w 106"/>
                <a:gd name="T17" fmla="*/ 94 h 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6"/>
                <a:gd name="T28" fmla="*/ 0 h 97"/>
                <a:gd name="T29" fmla="*/ 106 w 106"/>
                <a:gd name="T30" fmla="*/ 97 h 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6" h="97">
                  <a:moveTo>
                    <a:pt x="61" y="94"/>
                  </a:moveTo>
                  <a:lnTo>
                    <a:pt x="0" y="7"/>
                  </a:lnTo>
                  <a:lnTo>
                    <a:pt x="24" y="5"/>
                  </a:lnTo>
                  <a:lnTo>
                    <a:pt x="40" y="2"/>
                  </a:lnTo>
                  <a:lnTo>
                    <a:pt x="56" y="2"/>
                  </a:lnTo>
                  <a:lnTo>
                    <a:pt x="74" y="0"/>
                  </a:lnTo>
                  <a:lnTo>
                    <a:pt x="106" y="97"/>
                  </a:lnTo>
                  <a:lnTo>
                    <a:pt x="82" y="97"/>
                  </a:lnTo>
                  <a:lnTo>
                    <a:pt x="61" y="94"/>
                  </a:lnTo>
                  <a:close/>
                </a:path>
              </a:pathLst>
            </a:custGeom>
            <a:solidFill>
              <a:srgbClr val="B7B79D"/>
            </a:solidFill>
            <a:ln w="9525">
              <a:no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69" name="Line 179"/>
            <p:cNvSpPr>
              <a:spLocks noChangeShapeType="1"/>
            </p:cNvSpPr>
            <p:nvPr/>
          </p:nvSpPr>
          <p:spPr bwMode="auto">
            <a:xfrm flipH="1">
              <a:off x="3413" y="323"/>
              <a:ext cx="301" cy="131"/>
            </a:xfrm>
            <a:prstGeom prst="line">
              <a:avLst/>
            </a:prstGeom>
            <a:noFill/>
            <a:ln w="12700">
              <a:solidFill>
                <a:srgbClr val="93936C"/>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180" name="Group 180"/>
          <p:cNvGrpSpPr>
            <a:grpSpLocks/>
          </p:cNvGrpSpPr>
          <p:nvPr/>
        </p:nvGrpSpPr>
        <p:grpSpPr bwMode="auto">
          <a:xfrm rot="3000000">
            <a:off x="2645835" y="4375080"/>
            <a:ext cx="666750" cy="352425"/>
            <a:chOff x="3411" y="291"/>
            <a:chExt cx="605" cy="396"/>
          </a:xfrm>
        </p:grpSpPr>
        <p:grpSp>
          <p:nvGrpSpPr>
            <p:cNvPr id="181" name="Group 181"/>
            <p:cNvGrpSpPr>
              <a:grpSpLocks/>
            </p:cNvGrpSpPr>
            <p:nvPr/>
          </p:nvGrpSpPr>
          <p:grpSpPr bwMode="auto">
            <a:xfrm>
              <a:off x="3663" y="615"/>
              <a:ext cx="103" cy="72"/>
              <a:chOff x="3663" y="615"/>
              <a:chExt cx="103" cy="72"/>
            </a:xfrm>
          </p:grpSpPr>
          <p:sp>
            <p:nvSpPr>
              <p:cNvPr id="198" name="Oval 182"/>
              <p:cNvSpPr>
                <a:spLocks noChangeArrowheads="1"/>
              </p:cNvSpPr>
              <p:nvPr/>
            </p:nvSpPr>
            <p:spPr bwMode="auto">
              <a:xfrm>
                <a:off x="3664" y="655"/>
                <a:ext cx="102" cy="32"/>
              </a:xfrm>
              <a:prstGeom prst="ellipse">
                <a:avLst/>
              </a:prstGeom>
              <a:solidFill>
                <a:srgbClr val="93936C"/>
              </a:solid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99" name="Rectangle 183"/>
              <p:cNvSpPr>
                <a:spLocks noChangeArrowheads="1"/>
              </p:cNvSpPr>
              <p:nvPr/>
            </p:nvSpPr>
            <p:spPr bwMode="auto">
              <a:xfrm>
                <a:off x="3663" y="615"/>
                <a:ext cx="102" cy="55"/>
              </a:xfrm>
              <a:prstGeom prst="rect">
                <a:avLst/>
              </a:prstGeom>
              <a:solidFill>
                <a:srgbClr val="93936C"/>
              </a:solidFill>
              <a:ln w="9525">
                <a:noFill/>
                <a:miter lim="800000"/>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00" name="Rectangle 184"/>
              <p:cNvSpPr>
                <a:spLocks noChangeArrowheads="1"/>
              </p:cNvSpPr>
              <p:nvPr/>
            </p:nvSpPr>
            <p:spPr bwMode="auto">
              <a:xfrm>
                <a:off x="3663" y="615"/>
                <a:ext cx="102" cy="55"/>
              </a:xfrm>
              <a:prstGeom prst="rect">
                <a:avLst/>
              </a:prstGeom>
              <a:solidFill>
                <a:srgbClr val="93936C"/>
              </a:solidFill>
              <a:ln w="9525">
                <a:noFill/>
                <a:miter lim="800000"/>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01" name="Line 185"/>
              <p:cNvSpPr>
                <a:spLocks noChangeShapeType="1"/>
              </p:cNvSpPr>
              <p:nvPr/>
            </p:nvSpPr>
            <p:spPr bwMode="auto">
              <a:xfrm flipV="1">
                <a:off x="3663" y="630"/>
                <a:ext cx="1" cy="40"/>
              </a:xfrm>
              <a:prstGeom prst="line">
                <a:avLst/>
              </a:pr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02" name="Line 186"/>
              <p:cNvSpPr>
                <a:spLocks noChangeShapeType="1"/>
              </p:cNvSpPr>
              <p:nvPr/>
            </p:nvSpPr>
            <p:spPr bwMode="auto">
              <a:xfrm flipV="1">
                <a:off x="3765" y="628"/>
                <a:ext cx="1" cy="42"/>
              </a:xfrm>
              <a:prstGeom prst="line">
                <a:avLst/>
              </a:pr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182" name="Group 187"/>
            <p:cNvGrpSpPr>
              <a:grpSpLocks/>
            </p:cNvGrpSpPr>
            <p:nvPr/>
          </p:nvGrpSpPr>
          <p:grpSpPr bwMode="auto">
            <a:xfrm>
              <a:off x="3637" y="562"/>
              <a:ext cx="156" cy="83"/>
              <a:chOff x="3637" y="562"/>
              <a:chExt cx="156" cy="83"/>
            </a:xfrm>
          </p:grpSpPr>
          <p:sp>
            <p:nvSpPr>
              <p:cNvPr id="193" name="Oval 188"/>
              <p:cNvSpPr>
                <a:spLocks noChangeArrowheads="1"/>
              </p:cNvSpPr>
              <p:nvPr/>
            </p:nvSpPr>
            <p:spPr bwMode="auto">
              <a:xfrm>
                <a:off x="3638" y="592"/>
                <a:ext cx="155" cy="53"/>
              </a:xfrm>
              <a:prstGeom prst="ellipse">
                <a:avLst/>
              </a:prstGeom>
              <a:solidFill>
                <a:srgbClr val="A5A585"/>
              </a:solid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94" name="Rectangle 189"/>
              <p:cNvSpPr>
                <a:spLocks noChangeArrowheads="1"/>
              </p:cNvSpPr>
              <p:nvPr/>
            </p:nvSpPr>
            <p:spPr bwMode="auto">
              <a:xfrm>
                <a:off x="3637" y="562"/>
                <a:ext cx="154" cy="55"/>
              </a:xfrm>
              <a:prstGeom prst="rect">
                <a:avLst/>
              </a:prstGeom>
              <a:solidFill>
                <a:srgbClr val="A5A585"/>
              </a:solidFill>
              <a:ln w="9525">
                <a:noFill/>
                <a:miter lim="800000"/>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95" name="Rectangle 190"/>
              <p:cNvSpPr>
                <a:spLocks noChangeArrowheads="1"/>
              </p:cNvSpPr>
              <p:nvPr/>
            </p:nvSpPr>
            <p:spPr bwMode="auto">
              <a:xfrm>
                <a:off x="3637" y="562"/>
                <a:ext cx="154" cy="55"/>
              </a:xfrm>
              <a:prstGeom prst="rect">
                <a:avLst/>
              </a:prstGeom>
              <a:solidFill>
                <a:srgbClr val="A5A585"/>
              </a:solidFill>
              <a:ln w="9525">
                <a:noFill/>
                <a:miter lim="800000"/>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96" name="Line 191"/>
              <p:cNvSpPr>
                <a:spLocks noChangeShapeType="1"/>
              </p:cNvSpPr>
              <p:nvPr/>
            </p:nvSpPr>
            <p:spPr bwMode="auto">
              <a:xfrm flipV="1">
                <a:off x="3637" y="588"/>
                <a:ext cx="1" cy="29"/>
              </a:xfrm>
              <a:prstGeom prst="line">
                <a:avLst/>
              </a:pr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97" name="Line 192"/>
              <p:cNvSpPr>
                <a:spLocks noChangeShapeType="1"/>
              </p:cNvSpPr>
              <p:nvPr/>
            </p:nvSpPr>
            <p:spPr bwMode="auto">
              <a:xfrm flipV="1">
                <a:off x="3791" y="588"/>
                <a:ext cx="1" cy="29"/>
              </a:xfrm>
              <a:prstGeom prst="line">
                <a:avLst/>
              </a:pr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sp>
          <p:nvSpPr>
            <p:cNvPr id="183" name="Arc 193"/>
            <p:cNvSpPr>
              <a:spLocks/>
            </p:cNvSpPr>
            <p:nvPr/>
          </p:nvSpPr>
          <p:spPr bwMode="auto">
            <a:xfrm>
              <a:off x="3411" y="454"/>
              <a:ext cx="604" cy="156"/>
            </a:xfrm>
            <a:custGeom>
              <a:avLst/>
              <a:gdLst>
                <a:gd name="T0" fmla="*/ 604 w 43200"/>
                <a:gd name="T1" fmla="*/ 3 h 23250"/>
                <a:gd name="T2" fmla="*/ 1 w 43200"/>
                <a:gd name="T3" fmla="*/ 0 h 23250"/>
                <a:gd name="T4" fmla="*/ 302 w 43200"/>
                <a:gd name="T5" fmla="*/ 11 h 23250"/>
                <a:gd name="T6" fmla="*/ 0 60000 65536"/>
                <a:gd name="T7" fmla="*/ 0 60000 65536"/>
                <a:gd name="T8" fmla="*/ 0 60000 65536"/>
                <a:gd name="T9" fmla="*/ 0 w 43200"/>
                <a:gd name="T10" fmla="*/ 0 h 23250"/>
                <a:gd name="T11" fmla="*/ 43200 w 43200"/>
                <a:gd name="T12" fmla="*/ 23250 h 23250"/>
              </a:gdLst>
              <a:ahLst/>
              <a:cxnLst>
                <a:cxn ang="T6">
                  <a:pos x="T0" y="T1"/>
                </a:cxn>
                <a:cxn ang="T7">
                  <a:pos x="T2" y="T3"/>
                </a:cxn>
                <a:cxn ang="T8">
                  <a:pos x="T4" y="T5"/>
                </a:cxn>
              </a:cxnLst>
              <a:rect l="T9" t="T10" r="T11" b="T12"/>
              <a:pathLst>
                <a:path w="43200" h="23250" fill="none" extrusionOk="0">
                  <a:moveTo>
                    <a:pt x="43165" y="432"/>
                  </a:moveTo>
                  <a:cubicBezTo>
                    <a:pt x="43188" y="837"/>
                    <a:pt x="43200" y="1243"/>
                    <a:pt x="43200" y="1650"/>
                  </a:cubicBezTo>
                  <a:cubicBezTo>
                    <a:pt x="43200" y="13579"/>
                    <a:pt x="33529" y="23250"/>
                    <a:pt x="21600" y="23250"/>
                  </a:cubicBezTo>
                  <a:cubicBezTo>
                    <a:pt x="9670" y="23250"/>
                    <a:pt x="0" y="13579"/>
                    <a:pt x="0" y="1650"/>
                  </a:cubicBezTo>
                  <a:cubicBezTo>
                    <a:pt x="-1" y="1099"/>
                    <a:pt x="21" y="549"/>
                    <a:pt x="63" y="0"/>
                  </a:cubicBezTo>
                </a:path>
                <a:path w="43200" h="23250" stroke="0" extrusionOk="0">
                  <a:moveTo>
                    <a:pt x="43165" y="432"/>
                  </a:moveTo>
                  <a:cubicBezTo>
                    <a:pt x="43188" y="837"/>
                    <a:pt x="43200" y="1243"/>
                    <a:pt x="43200" y="1650"/>
                  </a:cubicBezTo>
                  <a:cubicBezTo>
                    <a:pt x="43200" y="13579"/>
                    <a:pt x="33529" y="23250"/>
                    <a:pt x="21600" y="23250"/>
                  </a:cubicBezTo>
                  <a:cubicBezTo>
                    <a:pt x="9670" y="23250"/>
                    <a:pt x="0" y="13579"/>
                    <a:pt x="0" y="1650"/>
                  </a:cubicBezTo>
                  <a:cubicBezTo>
                    <a:pt x="-1" y="1099"/>
                    <a:pt x="21" y="549"/>
                    <a:pt x="63" y="0"/>
                  </a:cubicBezTo>
                  <a:lnTo>
                    <a:pt x="21600" y="1650"/>
                  </a:lnTo>
                  <a:close/>
                </a:path>
              </a:pathLst>
            </a:custGeom>
            <a:solidFill>
              <a:srgbClr val="A5A585"/>
            </a:solidFill>
            <a:ln w="9525">
              <a:no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84" name="Arc 194"/>
            <p:cNvSpPr>
              <a:spLocks/>
            </p:cNvSpPr>
            <p:nvPr/>
          </p:nvSpPr>
          <p:spPr bwMode="auto">
            <a:xfrm>
              <a:off x="3412" y="454"/>
              <a:ext cx="602" cy="155"/>
            </a:xfrm>
            <a:custGeom>
              <a:avLst/>
              <a:gdLst>
                <a:gd name="T0" fmla="*/ 602 w 43200"/>
                <a:gd name="T1" fmla="*/ 3 h 23256"/>
                <a:gd name="T2" fmla="*/ 1 w 43200"/>
                <a:gd name="T3" fmla="*/ 0 h 23256"/>
                <a:gd name="T4" fmla="*/ 301 w 43200"/>
                <a:gd name="T5" fmla="*/ 11 h 23256"/>
                <a:gd name="T6" fmla="*/ 0 60000 65536"/>
                <a:gd name="T7" fmla="*/ 0 60000 65536"/>
                <a:gd name="T8" fmla="*/ 0 60000 65536"/>
                <a:gd name="T9" fmla="*/ 0 w 43200"/>
                <a:gd name="T10" fmla="*/ 0 h 23256"/>
                <a:gd name="T11" fmla="*/ 43200 w 43200"/>
                <a:gd name="T12" fmla="*/ 23256 h 23256"/>
              </a:gdLst>
              <a:ahLst/>
              <a:cxnLst>
                <a:cxn ang="T6">
                  <a:pos x="T0" y="T1"/>
                </a:cxn>
                <a:cxn ang="T7">
                  <a:pos x="T2" y="T3"/>
                </a:cxn>
                <a:cxn ang="T8">
                  <a:pos x="T4" y="T5"/>
                </a:cxn>
              </a:cxnLst>
              <a:rect l="T9" t="T10" r="T11" b="T12"/>
              <a:pathLst>
                <a:path w="43200" h="23256" fill="none" extrusionOk="0">
                  <a:moveTo>
                    <a:pt x="43165" y="432"/>
                  </a:moveTo>
                  <a:cubicBezTo>
                    <a:pt x="43188" y="840"/>
                    <a:pt x="43200" y="1248"/>
                    <a:pt x="43200" y="1656"/>
                  </a:cubicBezTo>
                  <a:cubicBezTo>
                    <a:pt x="43200" y="13585"/>
                    <a:pt x="33529" y="23256"/>
                    <a:pt x="21600" y="23256"/>
                  </a:cubicBezTo>
                  <a:cubicBezTo>
                    <a:pt x="9670" y="23256"/>
                    <a:pt x="0" y="13585"/>
                    <a:pt x="0" y="1656"/>
                  </a:cubicBezTo>
                  <a:cubicBezTo>
                    <a:pt x="-1" y="1103"/>
                    <a:pt x="21" y="550"/>
                    <a:pt x="63" y="-1"/>
                  </a:cubicBezTo>
                </a:path>
                <a:path w="43200" h="23256" stroke="0" extrusionOk="0">
                  <a:moveTo>
                    <a:pt x="43165" y="432"/>
                  </a:moveTo>
                  <a:cubicBezTo>
                    <a:pt x="43188" y="840"/>
                    <a:pt x="43200" y="1248"/>
                    <a:pt x="43200" y="1656"/>
                  </a:cubicBezTo>
                  <a:cubicBezTo>
                    <a:pt x="43200" y="13585"/>
                    <a:pt x="33529" y="23256"/>
                    <a:pt x="21600" y="23256"/>
                  </a:cubicBezTo>
                  <a:cubicBezTo>
                    <a:pt x="9670" y="23256"/>
                    <a:pt x="0" y="13585"/>
                    <a:pt x="0" y="1656"/>
                  </a:cubicBezTo>
                  <a:cubicBezTo>
                    <a:pt x="-1" y="1103"/>
                    <a:pt x="21" y="550"/>
                    <a:pt x="63" y="-1"/>
                  </a:cubicBezTo>
                  <a:lnTo>
                    <a:pt x="21600" y="1656"/>
                  </a:lnTo>
                  <a:close/>
                </a:path>
              </a:pathLst>
            </a:cu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85" name="Oval 195"/>
            <p:cNvSpPr>
              <a:spLocks noChangeArrowheads="1"/>
            </p:cNvSpPr>
            <p:nvPr/>
          </p:nvSpPr>
          <p:spPr bwMode="auto">
            <a:xfrm>
              <a:off x="3412" y="400"/>
              <a:ext cx="604" cy="111"/>
            </a:xfrm>
            <a:prstGeom prst="ellipse">
              <a:avLst/>
            </a:prstGeom>
            <a:solidFill>
              <a:srgbClr val="C9C9B6"/>
            </a:solid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86" name="Line 196"/>
            <p:cNvSpPr>
              <a:spLocks noChangeShapeType="1"/>
            </p:cNvSpPr>
            <p:nvPr/>
          </p:nvSpPr>
          <p:spPr bwMode="auto">
            <a:xfrm>
              <a:off x="3711" y="323"/>
              <a:ext cx="301" cy="131"/>
            </a:xfrm>
            <a:prstGeom prst="line">
              <a:avLst/>
            </a:prstGeom>
            <a:noFill/>
            <a:ln w="12700">
              <a:solidFill>
                <a:srgbClr val="93936C"/>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87" name="Freeform 197"/>
            <p:cNvSpPr>
              <a:spLocks/>
            </p:cNvSpPr>
            <p:nvPr/>
          </p:nvSpPr>
          <p:spPr bwMode="auto">
            <a:xfrm>
              <a:off x="3701" y="291"/>
              <a:ext cx="21" cy="218"/>
            </a:xfrm>
            <a:custGeom>
              <a:avLst/>
              <a:gdLst>
                <a:gd name="T0" fmla="*/ 10 w 21"/>
                <a:gd name="T1" fmla="*/ 0 h 218"/>
                <a:gd name="T2" fmla="*/ 0 w 21"/>
                <a:gd name="T3" fmla="*/ 218 h 218"/>
                <a:gd name="T4" fmla="*/ 21 w 21"/>
                <a:gd name="T5" fmla="*/ 218 h 218"/>
                <a:gd name="T6" fmla="*/ 10 w 21"/>
                <a:gd name="T7" fmla="*/ 0 h 218"/>
                <a:gd name="T8" fmla="*/ 0 60000 65536"/>
                <a:gd name="T9" fmla="*/ 0 60000 65536"/>
                <a:gd name="T10" fmla="*/ 0 60000 65536"/>
                <a:gd name="T11" fmla="*/ 0 60000 65536"/>
                <a:gd name="T12" fmla="*/ 0 w 21"/>
                <a:gd name="T13" fmla="*/ 0 h 218"/>
                <a:gd name="T14" fmla="*/ 21 w 21"/>
                <a:gd name="T15" fmla="*/ 218 h 218"/>
              </a:gdLst>
              <a:ahLst/>
              <a:cxnLst>
                <a:cxn ang="T8">
                  <a:pos x="T0" y="T1"/>
                </a:cxn>
                <a:cxn ang="T9">
                  <a:pos x="T2" y="T3"/>
                </a:cxn>
                <a:cxn ang="T10">
                  <a:pos x="T4" y="T5"/>
                </a:cxn>
                <a:cxn ang="T11">
                  <a:pos x="T6" y="T7"/>
                </a:cxn>
              </a:cxnLst>
              <a:rect l="T12" t="T13" r="T14" b="T15"/>
              <a:pathLst>
                <a:path w="21" h="218">
                  <a:moveTo>
                    <a:pt x="10" y="0"/>
                  </a:moveTo>
                  <a:lnTo>
                    <a:pt x="0" y="218"/>
                  </a:lnTo>
                  <a:lnTo>
                    <a:pt x="21" y="218"/>
                  </a:lnTo>
                  <a:lnTo>
                    <a:pt x="10" y="0"/>
                  </a:lnTo>
                  <a:close/>
                </a:path>
              </a:pathLst>
            </a:custGeom>
            <a:solidFill>
              <a:srgbClr val="B7B79D"/>
            </a:solidFill>
            <a:ln w="9525">
              <a:no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88" name="Freeform 198"/>
            <p:cNvSpPr>
              <a:spLocks/>
            </p:cNvSpPr>
            <p:nvPr/>
          </p:nvSpPr>
          <p:spPr bwMode="auto">
            <a:xfrm>
              <a:off x="3701" y="291"/>
              <a:ext cx="21" cy="218"/>
            </a:xfrm>
            <a:custGeom>
              <a:avLst/>
              <a:gdLst>
                <a:gd name="T0" fmla="*/ 10 w 21"/>
                <a:gd name="T1" fmla="*/ 0 h 218"/>
                <a:gd name="T2" fmla="*/ 0 w 21"/>
                <a:gd name="T3" fmla="*/ 218 h 218"/>
                <a:gd name="T4" fmla="*/ 21 w 21"/>
                <a:gd name="T5" fmla="*/ 218 h 218"/>
                <a:gd name="T6" fmla="*/ 10 w 21"/>
                <a:gd name="T7" fmla="*/ 0 h 218"/>
                <a:gd name="T8" fmla="*/ 0 60000 65536"/>
                <a:gd name="T9" fmla="*/ 0 60000 65536"/>
                <a:gd name="T10" fmla="*/ 0 60000 65536"/>
                <a:gd name="T11" fmla="*/ 0 60000 65536"/>
                <a:gd name="T12" fmla="*/ 0 w 21"/>
                <a:gd name="T13" fmla="*/ 0 h 218"/>
                <a:gd name="T14" fmla="*/ 21 w 21"/>
                <a:gd name="T15" fmla="*/ 218 h 218"/>
              </a:gdLst>
              <a:ahLst/>
              <a:cxnLst>
                <a:cxn ang="T8">
                  <a:pos x="T0" y="T1"/>
                </a:cxn>
                <a:cxn ang="T9">
                  <a:pos x="T2" y="T3"/>
                </a:cxn>
                <a:cxn ang="T10">
                  <a:pos x="T4" y="T5"/>
                </a:cxn>
                <a:cxn ang="T11">
                  <a:pos x="T6" y="T7"/>
                </a:cxn>
              </a:cxnLst>
              <a:rect l="T12" t="T13" r="T14" b="T15"/>
              <a:pathLst>
                <a:path w="21" h="218">
                  <a:moveTo>
                    <a:pt x="10" y="0"/>
                  </a:moveTo>
                  <a:lnTo>
                    <a:pt x="0" y="218"/>
                  </a:lnTo>
                  <a:lnTo>
                    <a:pt x="21" y="218"/>
                  </a:lnTo>
                  <a:lnTo>
                    <a:pt x="10" y="0"/>
                  </a:lnTo>
                  <a:close/>
                </a:path>
              </a:pathLst>
            </a:custGeom>
            <a:solidFill>
              <a:srgbClr val="B7B79D"/>
            </a:solidFill>
            <a:ln w="4763">
              <a:solidFill>
                <a:srgbClr val="626248"/>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89" name="Oval 199"/>
            <p:cNvSpPr>
              <a:spLocks noChangeArrowheads="1"/>
            </p:cNvSpPr>
            <p:nvPr/>
          </p:nvSpPr>
          <p:spPr bwMode="auto">
            <a:xfrm>
              <a:off x="3694" y="342"/>
              <a:ext cx="40" cy="19"/>
            </a:xfrm>
            <a:prstGeom prst="ellipse">
              <a:avLst/>
            </a:prstGeom>
            <a:solidFill>
              <a:srgbClr val="B7B79D"/>
            </a:solid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90" name="Freeform 200"/>
            <p:cNvSpPr>
              <a:spLocks/>
            </p:cNvSpPr>
            <p:nvPr/>
          </p:nvSpPr>
          <p:spPr bwMode="auto">
            <a:xfrm>
              <a:off x="3512" y="407"/>
              <a:ext cx="106" cy="97"/>
            </a:xfrm>
            <a:custGeom>
              <a:avLst/>
              <a:gdLst>
                <a:gd name="T0" fmla="*/ 61 w 106"/>
                <a:gd name="T1" fmla="*/ 94 h 97"/>
                <a:gd name="T2" fmla="*/ 0 w 106"/>
                <a:gd name="T3" fmla="*/ 7 h 97"/>
                <a:gd name="T4" fmla="*/ 24 w 106"/>
                <a:gd name="T5" fmla="*/ 5 h 97"/>
                <a:gd name="T6" fmla="*/ 40 w 106"/>
                <a:gd name="T7" fmla="*/ 2 h 97"/>
                <a:gd name="T8" fmla="*/ 56 w 106"/>
                <a:gd name="T9" fmla="*/ 2 h 97"/>
                <a:gd name="T10" fmla="*/ 74 w 106"/>
                <a:gd name="T11" fmla="*/ 0 h 97"/>
                <a:gd name="T12" fmla="*/ 106 w 106"/>
                <a:gd name="T13" fmla="*/ 97 h 97"/>
                <a:gd name="T14" fmla="*/ 82 w 106"/>
                <a:gd name="T15" fmla="*/ 97 h 97"/>
                <a:gd name="T16" fmla="*/ 61 w 106"/>
                <a:gd name="T17" fmla="*/ 94 h 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6"/>
                <a:gd name="T28" fmla="*/ 0 h 97"/>
                <a:gd name="T29" fmla="*/ 106 w 106"/>
                <a:gd name="T30" fmla="*/ 97 h 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6" h="97">
                  <a:moveTo>
                    <a:pt x="61" y="94"/>
                  </a:moveTo>
                  <a:lnTo>
                    <a:pt x="0" y="7"/>
                  </a:lnTo>
                  <a:lnTo>
                    <a:pt x="24" y="5"/>
                  </a:lnTo>
                  <a:lnTo>
                    <a:pt x="40" y="2"/>
                  </a:lnTo>
                  <a:lnTo>
                    <a:pt x="56" y="2"/>
                  </a:lnTo>
                  <a:lnTo>
                    <a:pt x="74" y="0"/>
                  </a:lnTo>
                  <a:lnTo>
                    <a:pt x="106" y="97"/>
                  </a:lnTo>
                  <a:lnTo>
                    <a:pt x="82" y="97"/>
                  </a:lnTo>
                  <a:lnTo>
                    <a:pt x="61" y="94"/>
                  </a:lnTo>
                  <a:close/>
                </a:path>
              </a:pathLst>
            </a:custGeom>
            <a:solidFill>
              <a:srgbClr val="B7B79D"/>
            </a:solidFill>
            <a:ln w="9525">
              <a:no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91" name="Freeform 201"/>
            <p:cNvSpPr>
              <a:spLocks/>
            </p:cNvSpPr>
            <p:nvPr/>
          </p:nvSpPr>
          <p:spPr bwMode="auto">
            <a:xfrm>
              <a:off x="3512" y="407"/>
              <a:ext cx="106" cy="97"/>
            </a:xfrm>
            <a:custGeom>
              <a:avLst/>
              <a:gdLst>
                <a:gd name="T0" fmla="*/ 61 w 106"/>
                <a:gd name="T1" fmla="*/ 94 h 97"/>
                <a:gd name="T2" fmla="*/ 0 w 106"/>
                <a:gd name="T3" fmla="*/ 7 h 97"/>
                <a:gd name="T4" fmla="*/ 24 w 106"/>
                <a:gd name="T5" fmla="*/ 5 h 97"/>
                <a:gd name="T6" fmla="*/ 40 w 106"/>
                <a:gd name="T7" fmla="*/ 2 h 97"/>
                <a:gd name="T8" fmla="*/ 56 w 106"/>
                <a:gd name="T9" fmla="*/ 2 h 97"/>
                <a:gd name="T10" fmla="*/ 74 w 106"/>
                <a:gd name="T11" fmla="*/ 0 h 97"/>
                <a:gd name="T12" fmla="*/ 106 w 106"/>
                <a:gd name="T13" fmla="*/ 97 h 97"/>
                <a:gd name="T14" fmla="*/ 82 w 106"/>
                <a:gd name="T15" fmla="*/ 97 h 97"/>
                <a:gd name="T16" fmla="*/ 61 w 106"/>
                <a:gd name="T17" fmla="*/ 94 h 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6"/>
                <a:gd name="T28" fmla="*/ 0 h 97"/>
                <a:gd name="T29" fmla="*/ 106 w 106"/>
                <a:gd name="T30" fmla="*/ 97 h 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6" h="97">
                  <a:moveTo>
                    <a:pt x="61" y="94"/>
                  </a:moveTo>
                  <a:lnTo>
                    <a:pt x="0" y="7"/>
                  </a:lnTo>
                  <a:lnTo>
                    <a:pt x="24" y="5"/>
                  </a:lnTo>
                  <a:lnTo>
                    <a:pt x="40" y="2"/>
                  </a:lnTo>
                  <a:lnTo>
                    <a:pt x="56" y="2"/>
                  </a:lnTo>
                  <a:lnTo>
                    <a:pt x="74" y="0"/>
                  </a:lnTo>
                  <a:lnTo>
                    <a:pt x="106" y="97"/>
                  </a:lnTo>
                  <a:lnTo>
                    <a:pt x="82" y="97"/>
                  </a:lnTo>
                  <a:lnTo>
                    <a:pt x="61" y="94"/>
                  </a:lnTo>
                  <a:close/>
                </a:path>
              </a:pathLst>
            </a:custGeom>
            <a:solidFill>
              <a:srgbClr val="B7B79D"/>
            </a:solidFill>
            <a:ln w="9525">
              <a:no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192" name="Line 202"/>
            <p:cNvSpPr>
              <a:spLocks noChangeShapeType="1"/>
            </p:cNvSpPr>
            <p:nvPr/>
          </p:nvSpPr>
          <p:spPr bwMode="auto">
            <a:xfrm flipH="1">
              <a:off x="3413" y="323"/>
              <a:ext cx="301" cy="131"/>
            </a:xfrm>
            <a:prstGeom prst="line">
              <a:avLst/>
            </a:prstGeom>
            <a:noFill/>
            <a:ln w="12700">
              <a:solidFill>
                <a:srgbClr val="93936C"/>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203" name="Group 203"/>
          <p:cNvGrpSpPr>
            <a:grpSpLocks/>
          </p:cNvGrpSpPr>
          <p:nvPr/>
        </p:nvGrpSpPr>
        <p:grpSpPr bwMode="auto">
          <a:xfrm rot="-5400000">
            <a:off x="8553716" y="1578699"/>
            <a:ext cx="666750" cy="350837"/>
            <a:chOff x="3411" y="291"/>
            <a:chExt cx="605" cy="396"/>
          </a:xfrm>
        </p:grpSpPr>
        <p:grpSp>
          <p:nvGrpSpPr>
            <p:cNvPr id="204" name="Group 204"/>
            <p:cNvGrpSpPr>
              <a:grpSpLocks/>
            </p:cNvGrpSpPr>
            <p:nvPr/>
          </p:nvGrpSpPr>
          <p:grpSpPr bwMode="auto">
            <a:xfrm>
              <a:off x="3663" y="615"/>
              <a:ext cx="103" cy="72"/>
              <a:chOff x="3663" y="615"/>
              <a:chExt cx="103" cy="72"/>
            </a:xfrm>
          </p:grpSpPr>
          <p:sp>
            <p:nvSpPr>
              <p:cNvPr id="221" name="Oval 205"/>
              <p:cNvSpPr>
                <a:spLocks noChangeArrowheads="1"/>
              </p:cNvSpPr>
              <p:nvPr/>
            </p:nvSpPr>
            <p:spPr bwMode="auto">
              <a:xfrm>
                <a:off x="3664" y="655"/>
                <a:ext cx="102" cy="32"/>
              </a:xfrm>
              <a:prstGeom prst="ellipse">
                <a:avLst/>
              </a:prstGeom>
              <a:solidFill>
                <a:srgbClr val="93936C"/>
              </a:solid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22" name="Rectangle 206"/>
              <p:cNvSpPr>
                <a:spLocks noChangeArrowheads="1"/>
              </p:cNvSpPr>
              <p:nvPr/>
            </p:nvSpPr>
            <p:spPr bwMode="auto">
              <a:xfrm>
                <a:off x="3663" y="615"/>
                <a:ext cx="102" cy="55"/>
              </a:xfrm>
              <a:prstGeom prst="rect">
                <a:avLst/>
              </a:prstGeom>
              <a:solidFill>
                <a:srgbClr val="93936C"/>
              </a:solidFill>
              <a:ln w="9525">
                <a:noFill/>
                <a:miter lim="800000"/>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23" name="Rectangle 207"/>
              <p:cNvSpPr>
                <a:spLocks noChangeArrowheads="1"/>
              </p:cNvSpPr>
              <p:nvPr/>
            </p:nvSpPr>
            <p:spPr bwMode="auto">
              <a:xfrm>
                <a:off x="3663" y="615"/>
                <a:ext cx="102" cy="55"/>
              </a:xfrm>
              <a:prstGeom prst="rect">
                <a:avLst/>
              </a:prstGeom>
              <a:solidFill>
                <a:srgbClr val="93936C"/>
              </a:solidFill>
              <a:ln w="9525">
                <a:noFill/>
                <a:miter lim="800000"/>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24" name="Line 208"/>
              <p:cNvSpPr>
                <a:spLocks noChangeShapeType="1"/>
              </p:cNvSpPr>
              <p:nvPr/>
            </p:nvSpPr>
            <p:spPr bwMode="auto">
              <a:xfrm flipV="1">
                <a:off x="3663" y="630"/>
                <a:ext cx="1" cy="40"/>
              </a:xfrm>
              <a:prstGeom prst="line">
                <a:avLst/>
              </a:pr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25" name="Line 209"/>
              <p:cNvSpPr>
                <a:spLocks noChangeShapeType="1"/>
              </p:cNvSpPr>
              <p:nvPr/>
            </p:nvSpPr>
            <p:spPr bwMode="auto">
              <a:xfrm flipV="1">
                <a:off x="3765" y="628"/>
                <a:ext cx="1" cy="42"/>
              </a:xfrm>
              <a:prstGeom prst="line">
                <a:avLst/>
              </a:pr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grpSp>
          <p:nvGrpSpPr>
            <p:cNvPr id="205" name="Group 210"/>
            <p:cNvGrpSpPr>
              <a:grpSpLocks/>
            </p:cNvGrpSpPr>
            <p:nvPr/>
          </p:nvGrpSpPr>
          <p:grpSpPr bwMode="auto">
            <a:xfrm>
              <a:off x="3637" y="562"/>
              <a:ext cx="156" cy="83"/>
              <a:chOff x="3637" y="562"/>
              <a:chExt cx="156" cy="83"/>
            </a:xfrm>
          </p:grpSpPr>
          <p:sp>
            <p:nvSpPr>
              <p:cNvPr id="216" name="Oval 211"/>
              <p:cNvSpPr>
                <a:spLocks noChangeArrowheads="1"/>
              </p:cNvSpPr>
              <p:nvPr/>
            </p:nvSpPr>
            <p:spPr bwMode="auto">
              <a:xfrm>
                <a:off x="3638" y="592"/>
                <a:ext cx="155" cy="53"/>
              </a:xfrm>
              <a:prstGeom prst="ellipse">
                <a:avLst/>
              </a:prstGeom>
              <a:solidFill>
                <a:srgbClr val="A5A585"/>
              </a:solid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17" name="Rectangle 212"/>
              <p:cNvSpPr>
                <a:spLocks noChangeArrowheads="1"/>
              </p:cNvSpPr>
              <p:nvPr/>
            </p:nvSpPr>
            <p:spPr bwMode="auto">
              <a:xfrm>
                <a:off x="3637" y="562"/>
                <a:ext cx="154" cy="55"/>
              </a:xfrm>
              <a:prstGeom prst="rect">
                <a:avLst/>
              </a:prstGeom>
              <a:solidFill>
                <a:srgbClr val="A5A585"/>
              </a:solidFill>
              <a:ln w="9525">
                <a:noFill/>
                <a:miter lim="800000"/>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18" name="Rectangle 213"/>
              <p:cNvSpPr>
                <a:spLocks noChangeArrowheads="1"/>
              </p:cNvSpPr>
              <p:nvPr/>
            </p:nvSpPr>
            <p:spPr bwMode="auto">
              <a:xfrm>
                <a:off x="3637" y="562"/>
                <a:ext cx="154" cy="55"/>
              </a:xfrm>
              <a:prstGeom prst="rect">
                <a:avLst/>
              </a:prstGeom>
              <a:solidFill>
                <a:srgbClr val="A5A585"/>
              </a:solidFill>
              <a:ln w="9525">
                <a:noFill/>
                <a:miter lim="800000"/>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19" name="Line 214"/>
              <p:cNvSpPr>
                <a:spLocks noChangeShapeType="1"/>
              </p:cNvSpPr>
              <p:nvPr/>
            </p:nvSpPr>
            <p:spPr bwMode="auto">
              <a:xfrm flipV="1">
                <a:off x="3637" y="588"/>
                <a:ext cx="1" cy="29"/>
              </a:xfrm>
              <a:prstGeom prst="line">
                <a:avLst/>
              </a:pr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20" name="Line 215"/>
              <p:cNvSpPr>
                <a:spLocks noChangeShapeType="1"/>
              </p:cNvSpPr>
              <p:nvPr/>
            </p:nvSpPr>
            <p:spPr bwMode="auto">
              <a:xfrm flipV="1">
                <a:off x="3791" y="588"/>
                <a:ext cx="1" cy="29"/>
              </a:xfrm>
              <a:prstGeom prst="line">
                <a:avLst/>
              </a:pr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sp>
          <p:nvSpPr>
            <p:cNvPr id="206" name="Arc 216"/>
            <p:cNvSpPr>
              <a:spLocks/>
            </p:cNvSpPr>
            <p:nvPr/>
          </p:nvSpPr>
          <p:spPr bwMode="auto">
            <a:xfrm>
              <a:off x="3411" y="454"/>
              <a:ext cx="604" cy="156"/>
            </a:xfrm>
            <a:custGeom>
              <a:avLst/>
              <a:gdLst>
                <a:gd name="T0" fmla="*/ 604 w 43200"/>
                <a:gd name="T1" fmla="*/ 3 h 23250"/>
                <a:gd name="T2" fmla="*/ 1 w 43200"/>
                <a:gd name="T3" fmla="*/ 0 h 23250"/>
                <a:gd name="T4" fmla="*/ 302 w 43200"/>
                <a:gd name="T5" fmla="*/ 11 h 23250"/>
                <a:gd name="T6" fmla="*/ 0 60000 65536"/>
                <a:gd name="T7" fmla="*/ 0 60000 65536"/>
                <a:gd name="T8" fmla="*/ 0 60000 65536"/>
                <a:gd name="T9" fmla="*/ 0 w 43200"/>
                <a:gd name="T10" fmla="*/ 0 h 23250"/>
                <a:gd name="T11" fmla="*/ 43200 w 43200"/>
                <a:gd name="T12" fmla="*/ 23250 h 23250"/>
              </a:gdLst>
              <a:ahLst/>
              <a:cxnLst>
                <a:cxn ang="T6">
                  <a:pos x="T0" y="T1"/>
                </a:cxn>
                <a:cxn ang="T7">
                  <a:pos x="T2" y="T3"/>
                </a:cxn>
                <a:cxn ang="T8">
                  <a:pos x="T4" y="T5"/>
                </a:cxn>
              </a:cxnLst>
              <a:rect l="T9" t="T10" r="T11" b="T12"/>
              <a:pathLst>
                <a:path w="43200" h="23250" fill="none" extrusionOk="0">
                  <a:moveTo>
                    <a:pt x="43165" y="432"/>
                  </a:moveTo>
                  <a:cubicBezTo>
                    <a:pt x="43188" y="837"/>
                    <a:pt x="43200" y="1243"/>
                    <a:pt x="43200" y="1650"/>
                  </a:cubicBezTo>
                  <a:cubicBezTo>
                    <a:pt x="43200" y="13579"/>
                    <a:pt x="33529" y="23250"/>
                    <a:pt x="21600" y="23250"/>
                  </a:cubicBezTo>
                  <a:cubicBezTo>
                    <a:pt x="9670" y="23250"/>
                    <a:pt x="0" y="13579"/>
                    <a:pt x="0" y="1650"/>
                  </a:cubicBezTo>
                  <a:cubicBezTo>
                    <a:pt x="-1" y="1099"/>
                    <a:pt x="21" y="549"/>
                    <a:pt x="63" y="0"/>
                  </a:cubicBezTo>
                </a:path>
                <a:path w="43200" h="23250" stroke="0" extrusionOk="0">
                  <a:moveTo>
                    <a:pt x="43165" y="432"/>
                  </a:moveTo>
                  <a:cubicBezTo>
                    <a:pt x="43188" y="837"/>
                    <a:pt x="43200" y="1243"/>
                    <a:pt x="43200" y="1650"/>
                  </a:cubicBezTo>
                  <a:cubicBezTo>
                    <a:pt x="43200" y="13579"/>
                    <a:pt x="33529" y="23250"/>
                    <a:pt x="21600" y="23250"/>
                  </a:cubicBezTo>
                  <a:cubicBezTo>
                    <a:pt x="9670" y="23250"/>
                    <a:pt x="0" y="13579"/>
                    <a:pt x="0" y="1650"/>
                  </a:cubicBezTo>
                  <a:cubicBezTo>
                    <a:pt x="-1" y="1099"/>
                    <a:pt x="21" y="549"/>
                    <a:pt x="63" y="0"/>
                  </a:cubicBezTo>
                  <a:lnTo>
                    <a:pt x="21600" y="1650"/>
                  </a:lnTo>
                  <a:close/>
                </a:path>
              </a:pathLst>
            </a:custGeom>
            <a:solidFill>
              <a:srgbClr val="A5A585"/>
            </a:solidFill>
            <a:ln w="9525">
              <a:no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07" name="Arc 217"/>
            <p:cNvSpPr>
              <a:spLocks/>
            </p:cNvSpPr>
            <p:nvPr/>
          </p:nvSpPr>
          <p:spPr bwMode="auto">
            <a:xfrm>
              <a:off x="3412" y="454"/>
              <a:ext cx="602" cy="155"/>
            </a:xfrm>
            <a:custGeom>
              <a:avLst/>
              <a:gdLst>
                <a:gd name="T0" fmla="*/ 602 w 43200"/>
                <a:gd name="T1" fmla="*/ 3 h 23256"/>
                <a:gd name="T2" fmla="*/ 1 w 43200"/>
                <a:gd name="T3" fmla="*/ 0 h 23256"/>
                <a:gd name="T4" fmla="*/ 301 w 43200"/>
                <a:gd name="T5" fmla="*/ 11 h 23256"/>
                <a:gd name="T6" fmla="*/ 0 60000 65536"/>
                <a:gd name="T7" fmla="*/ 0 60000 65536"/>
                <a:gd name="T8" fmla="*/ 0 60000 65536"/>
                <a:gd name="T9" fmla="*/ 0 w 43200"/>
                <a:gd name="T10" fmla="*/ 0 h 23256"/>
                <a:gd name="T11" fmla="*/ 43200 w 43200"/>
                <a:gd name="T12" fmla="*/ 23256 h 23256"/>
              </a:gdLst>
              <a:ahLst/>
              <a:cxnLst>
                <a:cxn ang="T6">
                  <a:pos x="T0" y="T1"/>
                </a:cxn>
                <a:cxn ang="T7">
                  <a:pos x="T2" y="T3"/>
                </a:cxn>
                <a:cxn ang="T8">
                  <a:pos x="T4" y="T5"/>
                </a:cxn>
              </a:cxnLst>
              <a:rect l="T9" t="T10" r="T11" b="T12"/>
              <a:pathLst>
                <a:path w="43200" h="23256" fill="none" extrusionOk="0">
                  <a:moveTo>
                    <a:pt x="43165" y="432"/>
                  </a:moveTo>
                  <a:cubicBezTo>
                    <a:pt x="43188" y="840"/>
                    <a:pt x="43200" y="1248"/>
                    <a:pt x="43200" y="1656"/>
                  </a:cubicBezTo>
                  <a:cubicBezTo>
                    <a:pt x="43200" y="13585"/>
                    <a:pt x="33529" y="23256"/>
                    <a:pt x="21600" y="23256"/>
                  </a:cubicBezTo>
                  <a:cubicBezTo>
                    <a:pt x="9670" y="23256"/>
                    <a:pt x="0" y="13585"/>
                    <a:pt x="0" y="1656"/>
                  </a:cubicBezTo>
                  <a:cubicBezTo>
                    <a:pt x="-1" y="1103"/>
                    <a:pt x="21" y="550"/>
                    <a:pt x="63" y="-1"/>
                  </a:cubicBezTo>
                </a:path>
                <a:path w="43200" h="23256" stroke="0" extrusionOk="0">
                  <a:moveTo>
                    <a:pt x="43165" y="432"/>
                  </a:moveTo>
                  <a:cubicBezTo>
                    <a:pt x="43188" y="840"/>
                    <a:pt x="43200" y="1248"/>
                    <a:pt x="43200" y="1656"/>
                  </a:cubicBezTo>
                  <a:cubicBezTo>
                    <a:pt x="43200" y="13585"/>
                    <a:pt x="33529" y="23256"/>
                    <a:pt x="21600" y="23256"/>
                  </a:cubicBezTo>
                  <a:cubicBezTo>
                    <a:pt x="9670" y="23256"/>
                    <a:pt x="0" y="13585"/>
                    <a:pt x="0" y="1656"/>
                  </a:cubicBezTo>
                  <a:cubicBezTo>
                    <a:pt x="-1" y="1103"/>
                    <a:pt x="21" y="550"/>
                    <a:pt x="63" y="-1"/>
                  </a:cubicBezTo>
                  <a:lnTo>
                    <a:pt x="21600" y="1656"/>
                  </a:lnTo>
                  <a:close/>
                </a:path>
              </a:pathLst>
            </a:custGeom>
            <a:no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08" name="Oval 218"/>
            <p:cNvSpPr>
              <a:spLocks noChangeArrowheads="1"/>
            </p:cNvSpPr>
            <p:nvPr/>
          </p:nvSpPr>
          <p:spPr bwMode="auto">
            <a:xfrm>
              <a:off x="3412" y="400"/>
              <a:ext cx="604" cy="111"/>
            </a:xfrm>
            <a:prstGeom prst="ellipse">
              <a:avLst/>
            </a:prstGeom>
            <a:solidFill>
              <a:srgbClr val="C9C9B6"/>
            </a:solid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09" name="Line 219"/>
            <p:cNvSpPr>
              <a:spLocks noChangeShapeType="1"/>
            </p:cNvSpPr>
            <p:nvPr/>
          </p:nvSpPr>
          <p:spPr bwMode="auto">
            <a:xfrm>
              <a:off x="3711" y="323"/>
              <a:ext cx="301" cy="131"/>
            </a:xfrm>
            <a:prstGeom prst="line">
              <a:avLst/>
            </a:prstGeom>
            <a:noFill/>
            <a:ln w="12700">
              <a:solidFill>
                <a:srgbClr val="93936C"/>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10" name="Freeform 220"/>
            <p:cNvSpPr>
              <a:spLocks/>
            </p:cNvSpPr>
            <p:nvPr/>
          </p:nvSpPr>
          <p:spPr bwMode="auto">
            <a:xfrm>
              <a:off x="3701" y="291"/>
              <a:ext cx="21" cy="218"/>
            </a:xfrm>
            <a:custGeom>
              <a:avLst/>
              <a:gdLst>
                <a:gd name="T0" fmla="*/ 10 w 21"/>
                <a:gd name="T1" fmla="*/ 0 h 218"/>
                <a:gd name="T2" fmla="*/ 0 w 21"/>
                <a:gd name="T3" fmla="*/ 218 h 218"/>
                <a:gd name="T4" fmla="*/ 21 w 21"/>
                <a:gd name="T5" fmla="*/ 218 h 218"/>
                <a:gd name="T6" fmla="*/ 10 w 21"/>
                <a:gd name="T7" fmla="*/ 0 h 218"/>
                <a:gd name="T8" fmla="*/ 0 60000 65536"/>
                <a:gd name="T9" fmla="*/ 0 60000 65536"/>
                <a:gd name="T10" fmla="*/ 0 60000 65536"/>
                <a:gd name="T11" fmla="*/ 0 60000 65536"/>
                <a:gd name="T12" fmla="*/ 0 w 21"/>
                <a:gd name="T13" fmla="*/ 0 h 218"/>
                <a:gd name="T14" fmla="*/ 21 w 21"/>
                <a:gd name="T15" fmla="*/ 218 h 218"/>
              </a:gdLst>
              <a:ahLst/>
              <a:cxnLst>
                <a:cxn ang="T8">
                  <a:pos x="T0" y="T1"/>
                </a:cxn>
                <a:cxn ang="T9">
                  <a:pos x="T2" y="T3"/>
                </a:cxn>
                <a:cxn ang="T10">
                  <a:pos x="T4" y="T5"/>
                </a:cxn>
                <a:cxn ang="T11">
                  <a:pos x="T6" y="T7"/>
                </a:cxn>
              </a:cxnLst>
              <a:rect l="T12" t="T13" r="T14" b="T15"/>
              <a:pathLst>
                <a:path w="21" h="218">
                  <a:moveTo>
                    <a:pt x="10" y="0"/>
                  </a:moveTo>
                  <a:lnTo>
                    <a:pt x="0" y="218"/>
                  </a:lnTo>
                  <a:lnTo>
                    <a:pt x="21" y="218"/>
                  </a:lnTo>
                  <a:lnTo>
                    <a:pt x="10" y="0"/>
                  </a:lnTo>
                  <a:close/>
                </a:path>
              </a:pathLst>
            </a:custGeom>
            <a:solidFill>
              <a:srgbClr val="B7B79D"/>
            </a:solidFill>
            <a:ln w="9525">
              <a:no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11" name="Freeform 221"/>
            <p:cNvSpPr>
              <a:spLocks/>
            </p:cNvSpPr>
            <p:nvPr/>
          </p:nvSpPr>
          <p:spPr bwMode="auto">
            <a:xfrm>
              <a:off x="3701" y="291"/>
              <a:ext cx="21" cy="218"/>
            </a:xfrm>
            <a:custGeom>
              <a:avLst/>
              <a:gdLst>
                <a:gd name="T0" fmla="*/ 10 w 21"/>
                <a:gd name="T1" fmla="*/ 0 h 218"/>
                <a:gd name="T2" fmla="*/ 0 w 21"/>
                <a:gd name="T3" fmla="*/ 218 h 218"/>
                <a:gd name="T4" fmla="*/ 21 w 21"/>
                <a:gd name="T5" fmla="*/ 218 h 218"/>
                <a:gd name="T6" fmla="*/ 10 w 21"/>
                <a:gd name="T7" fmla="*/ 0 h 218"/>
                <a:gd name="T8" fmla="*/ 0 60000 65536"/>
                <a:gd name="T9" fmla="*/ 0 60000 65536"/>
                <a:gd name="T10" fmla="*/ 0 60000 65536"/>
                <a:gd name="T11" fmla="*/ 0 60000 65536"/>
                <a:gd name="T12" fmla="*/ 0 w 21"/>
                <a:gd name="T13" fmla="*/ 0 h 218"/>
                <a:gd name="T14" fmla="*/ 21 w 21"/>
                <a:gd name="T15" fmla="*/ 218 h 218"/>
              </a:gdLst>
              <a:ahLst/>
              <a:cxnLst>
                <a:cxn ang="T8">
                  <a:pos x="T0" y="T1"/>
                </a:cxn>
                <a:cxn ang="T9">
                  <a:pos x="T2" y="T3"/>
                </a:cxn>
                <a:cxn ang="T10">
                  <a:pos x="T4" y="T5"/>
                </a:cxn>
                <a:cxn ang="T11">
                  <a:pos x="T6" y="T7"/>
                </a:cxn>
              </a:cxnLst>
              <a:rect l="T12" t="T13" r="T14" b="T15"/>
              <a:pathLst>
                <a:path w="21" h="218">
                  <a:moveTo>
                    <a:pt x="10" y="0"/>
                  </a:moveTo>
                  <a:lnTo>
                    <a:pt x="0" y="218"/>
                  </a:lnTo>
                  <a:lnTo>
                    <a:pt x="21" y="218"/>
                  </a:lnTo>
                  <a:lnTo>
                    <a:pt x="10" y="0"/>
                  </a:lnTo>
                  <a:close/>
                </a:path>
              </a:pathLst>
            </a:custGeom>
            <a:solidFill>
              <a:srgbClr val="B7B79D"/>
            </a:solidFill>
            <a:ln w="4763">
              <a:solidFill>
                <a:srgbClr val="626248"/>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12" name="Oval 222"/>
            <p:cNvSpPr>
              <a:spLocks noChangeArrowheads="1"/>
            </p:cNvSpPr>
            <p:nvPr/>
          </p:nvSpPr>
          <p:spPr bwMode="auto">
            <a:xfrm>
              <a:off x="3694" y="342"/>
              <a:ext cx="40" cy="19"/>
            </a:xfrm>
            <a:prstGeom prst="ellipse">
              <a:avLst/>
            </a:prstGeom>
            <a:solidFill>
              <a:srgbClr val="B7B79D"/>
            </a:solidFill>
            <a:ln w="4763">
              <a:solidFill>
                <a:srgbClr val="494936"/>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13" name="Freeform 223"/>
            <p:cNvSpPr>
              <a:spLocks/>
            </p:cNvSpPr>
            <p:nvPr/>
          </p:nvSpPr>
          <p:spPr bwMode="auto">
            <a:xfrm>
              <a:off x="3512" y="407"/>
              <a:ext cx="106" cy="97"/>
            </a:xfrm>
            <a:custGeom>
              <a:avLst/>
              <a:gdLst>
                <a:gd name="T0" fmla="*/ 61 w 106"/>
                <a:gd name="T1" fmla="*/ 94 h 97"/>
                <a:gd name="T2" fmla="*/ 0 w 106"/>
                <a:gd name="T3" fmla="*/ 7 h 97"/>
                <a:gd name="T4" fmla="*/ 24 w 106"/>
                <a:gd name="T5" fmla="*/ 5 h 97"/>
                <a:gd name="T6" fmla="*/ 40 w 106"/>
                <a:gd name="T7" fmla="*/ 2 h 97"/>
                <a:gd name="T8" fmla="*/ 56 w 106"/>
                <a:gd name="T9" fmla="*/ 2 h 97"/>
                <a:gd name="T10" fmla="*/ 74 w 106"/>
                <a:gd name="T11" fmla="*/ 0 h 97"/>
                <a:gd name="T12" fmla="*/ 106 w 106"/>
                <a:gd name="T13" fmla="*/ 97 h 97"/>
                <a:gd name="T14" fmla="*/ 82 w 106"/>
                <a:gd name="T15" fmla="*/ 97 h 97"/>
                <a:gd name="T16" fmla="*/ 61 w 106"/>
                <a:gd name="T17" fmla="*/ 94 h 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6"/>
                <a:gd name="T28" fmla="*/ 0 h 97"/>
                <a:gd name="T29" fmla="*/ 106 w 106"/>
                <a:gd name="T30" fmla="*/ 97 h 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6" h="97">
                  <a:moveTo>
                    <a:pt x="61" y="94"/>
                  </a:moveTo>
                  <a:lnTo>
                    <a:pt x="0" y="7"/>
                  </a:lnTo>
                  <a:lnTo>
                    <a:pt x="24" y="5"/>
                  </a:lnTo>
                  <a:lnTo>
                    <a:pt x="40" y="2"/>
                  </a:lnTo>
                  <a:lnTo>
                    <a:pt x="56" y="2"/>
                  </a:lnTo>
                  <a:lnTo>
                    <a:pt x="74" y="0"/>
                  </a:lnTo>
                  <a:lnTo>
                    <a:pt x="106" y="97"/>
                  </a:lnTo>
                  <a:lnTo>
                    <a:pt x="82" y="97"/>
                  </a:lnTo>
                  <a:lnTo>
                    <a:pt x="61" y="94"/>
                  </a:lnTo>
                  <a:close/>
                </a:path>
              </a:pathLst>
            </a:custGeom>
            <a:solidFill>
              <a:srgbClr val="B7B79D"/>
            </a:solidFill>
            <a:ln w="9525">
              <a:no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14" name="Freeform 224"/>
            <p:cNvSpPr>
              <a:spLocks/>
            </p:cNvSpPr>
            <p:nvPr/>
          </p:nvSpPr>
          <p:spPr bwMode="auto">
            <a:xfrm>
              <a:off x="3512" y="407"/>
              <a:ext cx="106" cy="97"/>
            </a:xfrm>
            <a:custGeom>
              <a:avLst/>
              <a:gdLst>
                <a:gd name="T0" fmla="*/ 61 w 106"/>
                <a:gd name="T1" fmla="*/ 94 h 97"/>
                <a:gd name="T2" fmla="*/ 0 w 106"/>
                <a:gd name="T3" fmla="*/ 7 h 97"/>
                <a:gd name="T4" fmla="*/ 24 w 106"/>
                <a:gd name="T5" fmla="*/ 5 h 97"/>
                <a:gd name="T6" fmla="*/ 40 w 106"/>
                <a:gd name="T7" fmla="*/ 2 h 97"/>
                <a:gd name="T8" fmla="*/ 56 w 106"/>
                <a:gd name="T9" fmla="*/ 2 h 97"/>
                <a:gd name="T10" fmla="*/ 74 w 106"/>
                <a:gd name="T11" fmla="*/ 0 h 97"/>
                <a:gd name="T12" fmla="*/ 106 w 106"/>
                <a:gd name="T13" fmla="*/ 97 h 97"/>
                <a:gd name="T14" fmla="*/ 82 w 106"/>
                <a:gd name="T15" fmla="*/ 97 h 97"/>
                <a:gd name="T16" fmla="*/ 61 w 106"/>
                <a:gd name="T17" fmla="*/ 94 h 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6"/>
                <a:gd name="T28" fmla="*/ 0 h 97"/>
                <a:gd name="T29" fmla="*/ 106 w 106"/>
                <a:gd name="T30" fmla="*/ 97 h 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6" h="97">
                  <a:moveTo>
                    <a:pt x="61" y="94"/>
                  </a:moveTo>
                  <a:lnTo>
                    <a:pt x="0" y="7"/>
                  </a:lnTo>
                  <a:lnTo>
                    <a:pt x="24" y="5"/>
                  </a:lnTo>
                  <a:lnTo>
                    <a:pt x="40" y="2"/>
                  </a:lnTo>
                  <a:lnTo>
                    <a:pt x="56" y="2"/>
                  </a:lnTo>
                  <a:lnTo>
                    <a:pt x="74" y="0"/>
                  </a:lnTo>
                  <a:lnTo>
                    <a:pt x="106" y="97"/>
                  </a:lnTo>
                  <a:lnTo>
                    <a:pt x="82" y="97"/>
                  </a:lnTo>
                  <a:lnTo>
                    <a:pt x="61" y="94"/>
                  </a:lnTo>
                  <a:close/>
                </a:path>
              </a:pathLst>
            </a:custGeom>
            <a:solidFill>
              <a:srgbClr val="B7B79D"/>
            </a:solidFill>
            <a:ln w="9525">
              <a:no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sp>
          <p:nvSpPr>
            <p:cNvPr id="215" name="Line 225"/>
            <p:cNvSpPr>
              <a:spLocks noChangeShapeType="1"/>
            </p:cNvSpPr>
            <p:nvPr/>
          </p:nvSpPr>
          <p:spPr bwMode="auto">
            <a:xfrm flipH="1">
              <a:off x="3413" y="323"/>
              <a:ext cx="301" cy="131"/>
            </a:xfrm>
            <a:prstGeom prst="line">
              <a:avLst/>
            </a:prstGeom>
            <a:noFill/>
            <a:ln w="12700">
              <a:solidFill>
                <a:srgbClr val="93936C"/>
              </a:solidFill>
              <a:round/>
              <a:headEnd/>
              <a:tailEnd/>
            </a:ln>
          </p:spPr>
          <p:txBody>
            <a:bodyPr/>
            <a:lstStyle/>
            <a:p>
              <a:pPr fontAlgn="base">
                <a:spcBef>
                  <a:spcPct val="0"/>
                </a:spcBef>
                <a:spcAft>
                  <a:spcPct val="0"/>
                </a:spcAft>
              </a:pPr>
              <a:endParaRPr lang="es-ES" sz="1400" b="1">
                <a:solidFill>
                  <a:srgbClr val="000000"/>
                </a:solidFill>
                <a:latin typeface="Arial" charset="0"/>
              </a:endParaRPr>
            </a:p>
          </p:txBody>
        </p:sp>
      </p:grpSp>
      <p:sp>
        <p:nvSpPr>
          <p:cNvPr id="226" name="Rectangle 226"/>
          <p:cNvSpPr>
            <a:spLocks noChangeArrowheads="1"/>
          </p:cNvSpPr>
          <p:nvPr/>
        </p:nvSpPr>
        <p:spPr bwMode="auto">
          <a:xfrm>
            <a:off x="5898622" y="1531868"/>
            <a:ext cx="69850" cy="838200"/>
          </a:xfrm>
          <a:prstGeom prst="rect">
            <a:avLst/>
          </a:prstGeom>
          <a:solidFill>
            <a:srgbClr val="808080"/>
          </a:solidFill>
          <a:ln w="9525">
            <a:solidFill>
              <a:srgbClr val="000000"/>
            </a:solidFill>
            <a:miter lim="800000"/>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ES" sz="1400" b="1" i="0" u="none" strike="noStrike" kern="0" cap="none" spc="0" normalizeH="0" baseline="0" noProof="0">
              <a:ln>
                <a:noFill/>
              </a:ln>
              <a:solidFill>
                <a:srgbClr val="000000"/>
              </a:solidFill>
              <a:effectLst/>
              <a:uLnTx/>
              <a:uFillTx/>
              <a:latin typeface="Arial" charset="0"/>
            </a:endParaRPr>
          </a:p>
        </p:txBody>
      </p:sp>
      <p:sp>
        <p:nvSpPr>
          <p:cNvPr id="227" name="Text Box 227"/>
          <p:cNvSpPr txBox="1">
            <a:spLocks noChangeArrowheads="1"/>
          </p:cNvSpPr>
          <p:nvPr/>
        </p:nvSpPr>
        <p:spPr bwMode="auto">
          <a:xfrm>
            <a:off x="5162610" y="802113"/>
            <a:ext cx="3619155" cy="646331"/>
          </a:xfrm>
          <a:prstGeom prst="rect">
            <a:avLst/>
          </a:prstGeom>
          <a:noFill/>
          <a:ln w="9525">
            <a:noFill/>
            <a:miter lim="800000"/>
            <a:headEnd/>
            <a:tailEnd/>
          </a:ln>
        </p:spPr>
        <p:txBody>
          <a:bodyPr wrap="square">
            <a:spAutoFit/>
          </a:bodyPr>
          <a:lstStyle/>
          <a:p>
            <a:pPr algn="ctr" fontAlgn="base">
              <a:spcBef>
                <a:spcPct val="0"/>
              </a:spcBef>
              <a:spcAft>
                <a:spcPct val="0"/>
              </a:spcAft>
            </a:pPr>
            <a:r>
              <a:rPr lang="es-ES" b="1" dirty="0">
                <a:solidFill>
                  <a:srgbClr val="000000"/>
                </a:solidFill>
                <a:latin typeface="Arial" charset="0"/>
              </a:rPr>
              <a:t>Antena omnidireccional o de</a:t>
            </a:r>
          </a:p>
          <a:p>
            <a:pPr algn="ctr" fontAlgn="base">
              <a:spcBef>
                <a:spcPct val="0"/>
              </a:spcBef>
              <a:spcAft>
                <a:spcPct val="0"/>
              </a:spcAft>
            </a:pPr>
            <a:r>
              <a:rPr lang="es-ES" b="1" dirty="0">
                <a:solidFill>
                  <a:srgbClr val="000000"/>
                </a:solidFill>
                <a:latin typeface="Arial" charset="0"/>
              </a:rPr>
              <a:t>parche (o varias parabólicas)</a:t>
            </a:r>
          </a:p>
        </p:txBody>
      </p:sp>
      <p:sp>
        <p:nvSpPr>
          <p:cNvPr id="228" name="Text Box 228"/>
          <p:cNvSpPr txBox="1">
            <a:spLocks noChangeArrowheads="1"/>
          </p:cNvSpPr>
          <p:nvPr/>
        </p:nvSpPr>
        <p:spPr bwMode="auto">
          <a:xfrm>
            <a:off x="3919519" y="4264178"/>
            <a:ext cx="4133304" cy="2554545"/>
          </a:xfrm>
          <a:prstGeom prst="rect">
            <a:avLst/>
          </a:prstGeom>
          <a:noFill/>
          <a:ln w="9525">
            <a:noFill/>
            <a:miter lim="800000"/>
            <a:headEnd/>
            <a:tailEnd/>
          </a:ln>
        </p:spPr>
        <p:txBody>
          <a:bodyPr wrap="square">
            <a:spAutoFit/>
          </a:bodyPr>
          <a:lstStyle/>
          <a:p>
            <a:pPr fontAlgn="base">
              <a:spcBef>
                <a:spcPct val="0"/>
              </a:spcBef>
              <a:spcAft>
                <a:spcPct val="0"/>
              </a:spcAft>
            </a:pPr>
            <a:r>
              <a:rPr lang="es-ES" sz="2000" b="1" dirty="0">
                <a:solidFill>
                  <a:srgbClr val="000000"/>
                </a:solidFill>
                <a:latin typeface="Arial" charset="0"/>
              </a:rPr>
              <a:t>Capacidad compartida por todos los enlaces si se usa una sola antena y un solo emisor de radio en la sede central.</a:t>
            </a:r>
          </a:p>
          <a:p>
            <a:pPr fontAlgn="base">
              <a:spcBef>
                <a:spcPct val="0"/>
              </a:spcBef>
              <a:spcAft>
                <a:spcPct val="0"/>
              </a:spcAft>
            </a:pPr>
            <a:r>
              <a:rPr lang="es-ES" sz="2000" b="1" dirty="0">
                <a:solidFill>
                  <a:srgbClr val="000000"/>
                </a:solidFill>
                <a:latin typeface="Arial" charset="0"/>
              </a:rPr>
              <a:t>Si se usan varias antenas y emisoras se puede tener capacidad dedicada para cada enlace.  </a:t>
            </a:r>
          </a:p>
        </p:txBody>
      </p:sp>
    </p:spTree>
    <p:extLst>
      <p:ext uri="{BB962C8B-B14F-4D97-AF65-F5344CB8AC3E}">
        <p14:creationId xmlns:p14="http://schemas.microsoft.com/office/powerpoint/2010/main" val="3061488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948267" y="-167189"/>
            <a:ext cx="10278534" cy="7025189"/>
          </a:xfrm>
          <a:prstGeom prst="rect">
            <a:avLst/>
          </a:prstGeom>
        </p:spPr>
      </p:pic>
    </p:spTree>
    <p:extLst>
      <p:ext uri="{BB962C8B-B14F-4D97-AF65-F5344CB8AC3E}">
        <p14:creationId xmlns:p14="http://schemas.microsoft.com/office/powerpoint/2010/main" val="7400173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745067" y="-152400"/>
            <a:ext cx="10769600" cy="7010400"/>
          </a:xfrm>
          <a:prstGeom prst="rect">
            <a:avLst/>
          </a:prstGeom>
        </p:spPr>
      </p:pic>
    </p:spTree>
    <p:extLst>
      <p:ext uri="{BB962C8B-B14F-4D97-AF65-F5344CB8AC3E}">
        <p14:creationId xmlns:p14="http://schemas.microsoft.com/office/powerpoint/2010/main" val="36569691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p:cNvGraphicFramePr>
            <a:graphicFrameLocks noGrp="1"/>
          </p:cNvGraphicFramePr>
          <p:nvPr>
            <p:extLst>
              <p:ext uri="{D42A27DB-BD31-4B8C-83A1-F6EECF244321}">
                <p14:modId xmlns:p14="http://schemas.microsoft.com/office/powerpoint/2010/main" val="2209774396"/>
              </p:ext>
            </p:extLst>
          </p:nvPr>
        </p:nvGraphicFramePr>
        <p:xfrm>
          <a:off x="948268" y="116814"/>
          <a:ext cx="11108266" cy="6605722"/>
        </p:xfrm>
        <a:graphic>
          <a:graphicData uri="http://schemas.openxmlformats.org/drawingml/2006/table">
            <a:tbl>
              <a:tblPr/>
              <a:tblGrid>
                <a:gridCol w="1565128">
                  <a:extLst>
                    <a:ext uri="{9D8B030D-6E8A-4147-A177-3AD203B41FA5}">
                      <a16:colId xmlns:a16="http://schemas.microsoft.com/office/drawing/2014/main" val="20000"/>
                    </a:ext>
                  </a:extLst>
                </a:gridCol>
                <a:gridCol w="1053894">
                  <a:extLst>
                    <a:ext uri="{9D8B030D-6E8A-4147-A177-3AD203B41FA5}">
                      <a16:colId xmlns:a16="http://schemas.microsoft.com/office/drawing/2014/main" val="20001"/>
                    </a:ext>
                  </a:extLst>
                </a:gridCol>
                <a:gridCol w="1309511">
                  <a:extLst>
                    <a:ext uri="{9D8B030D-6E8A-4147-A177-3AD203B41FA5}">
                      <a16:colId xmlns:a16="http://schemas.microsoft.com/office/drawing/2014/main" val="20002"/>
                    </a:ext>
                  </a:extLst>
                </a:gridCol>
                <a:gridCol w="1151467">
                  <a:extLst>
                    <a:ext uri="{9D8B030D-6E8A-4147-A177-3AD203B41FA5}">
                      <a16:colId xmlns:a16="http://schemas.microsoft.com/office/drawing/2014/main" val="20003"/>
                    </a:ext>
                  </a:extLst>
                </a:gridCol>
                <a:gridCol w="158044">
                  <a:extLst>
                    <a:ext uri="{9D8B030D-6E8A-4147-A177-3AD203B41FA5}">
                      <a16:colId xmlns:a16="http://schemas.microsoft.com/office/drawing/2014/main" val="20004"/>
                    </a:ext>
                  </a:extLst>
                </a:gridCol>
                <a:gridCol w="1603022">
                  <a:extLst>
                    <a:ext uri="{9D8B030D-6E8A-4147-A177-3AD203B41FA5}">
                      <a16:colId xmlns:a16="http://schemas.microsoft.com/office/drawing/2014/main" val="20005"/>
                    </a:ext>
                  </a:extLst>
                </a:gridCol>
                <a:gridCol w="1016001">
                  <a:extLst>
                    <a:ext uri="{9D8B030D-6E8A-4147-A177-3AD203B41FA5}">
                      <a16:colId xmlns:a16="http://schemas.microsoft.com/office/drawing/2014/main" val="20006"/>
                    </a:ext>
                  </a:extLst>
                </a:gridCol>
                <a:gridCol w="999066">
                  <a:extLst>
                    <a:ext uri="{9D8B030D-6E8A-4147-A177-3AD203B41FA5}">
                      <a16:colId xmlns:a16="http://schemas.microsoft.com/office/drawing/2014/main" val="20007"/>
                    </a:ext>
                  </a:extLst>
                </a:gridCol>
                <a:gridCol w="1016000">
                  <a:extLst>
                    <a:ext uri="{9D8B030D-6E8A-4147-A177-3AD203B41FA5}">
                      <a16:colId xmlns:a16="http://schemas.microsoft.com/office/drawing/2014/main" val="20008"/>
                    </a:ext>
                  </a:extLst>
                </a:gridCol>
                <a:gridCol w="1236133">
                  <a:extLst>
                    <a:ext uri="{9D8B030D-6E8A-4147-A177-3AD203B41FA5}">
                      <a16:colId xmlns:a16="http://schemas.microsoft.com/office/drawing/2014/main" val="20009"/>
                    </a:ext>
                  </a:extLst>
                </a:gridCol>
              </a:tblGrid>
              <a:tr h="674528">
                <a:tc>
                  <a:txBody>
                    <a:bodyPr/>
                    <a:lstStyle/>
                    <a:p>
                      <a:pPr algn="l"/>
                      <a:r>
                        <a:rPr lang="es-AR" sz="2400" dirty="0">
                          <a:effectLst/>
                        </a:rPr>
                        <a:t>Standard</a:t>
                      </a:r>
                    </a:p>
                  </a:txBody>
                  <a:tcPr marL="31771" marR="31771" marT="31771" marB="31771" anchor="ctr">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FF3FA"/>
                    </a:solidFill>
                  </a:tcPr>
                </a:tc>
                <a:tc gridSpan="3">
                  <a:txBody>
                    <a:bodyPr/>
                    <a:lstStyle/>
                    <a:p>
                      <a:pPr algn="l"/>
                      <a:r>
                        <a:rPr lang="es-AR" sz="2400" dirty="0">
                          <a:effectLst/>
                        </a:rPr>
                        <a:t>IEEE 802.3af</a:t>
                      </a:r>
                    </a:p>
                  </a:txBody>
                  <a:tcPr marL="31771" marR="31771" marT="31771" marB="31771" anchor="ctr">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FF3FA"/>
                    </a:solidFill>
                  </a:tcPr>
                </a:tc>
                <a:tc hMerge="1">
                  <a:txBody>
                    <a:bodyPr/>
                    <a:lstStyle/>
                    <a:p>
                      <a:endParaRPr lang="es-AR"/>
                    </a:p>
                  </a:txBody>
                  <a:tcPr/>
                </a:tc>
                <a:tc hMerge="1">
                  <a:txBody>
                    <a:bodyPr/>
                    <a:lstStyle/>
                    <a:p>
                      <a:endParaRPr lang="es-AR"/>
                    </a:p>
                  </a:txBody>
                  <a:tcPr/>
                </a:tc>
                <a:tc gridSpan="2">
                  <a:txBody>
                    <a:bodyPr/>
                    <a:lstStyle/>
                    <a:p>
                      <a:pPr algn="l"/>
                      <a:r>
                        <a:rPr lang="es-AR" sz="2400" dirty="0">
                          <a:effectLst/>
                        </a:rPr>
                        <a:t>IEEE 802.3at</a:t>
                      </a:r>
                    </a:p>
                  </a:txBody>
                  <a:tcPr marL="31771" marR="31771" marT="31771" marB="31771" anchor="ctr">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FF3FA"/>
                    </a:solidFill>
                  </a:tcPr>
                </a:tc>
                <a:tc hMerge="1">
                  <a:txBody>
                    <a:bodyPr/>
                    <a:lstStyle/>
                    <a:p>
                      <a:pPr algn="l"/>
                      <a:endParaRPr lang="es-AR" sz="2400">
                        <a:effectLst/>
                      </a:endParaRPr>
                    </a:p>
                  </a:txBody>
                  <a:tcPr marL="31771" marR="31771" marT="31771" marB="31771" anchor="ctr">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FF3FA"/>
                    </a:solidFill>
                  </a:tcPr>
                </a:tc>
                <a:tc gridSpan="4">
                  <a:txBody>
                    <a:bodyPr/>
                    <a:lstStyle/>
                    <a:p>
                      <a:pPr algn="l"/>
                      <a:r>
                        <a:rPr lang="es-AR" sz="2400">
                          <a:effectLst/>
                        </a:rPr>
                        <a:t>IEEE 802.3bt</a:t>
                      </a:r>
                    </a:p>
                  </a:txBody>
                  <a:tcPr marL="31771" marR="31771" marT="31771" marB="31771" anchor="ctr">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EFF3FA"/>
                    </a:solidFill>
                  </a:tcPr>
                </a:tc>
                <a:tc hMerge="1">
                  <a:txBody>
                    <a:bodyPr/>
                    <a:lstStyle/>
                    <a:p>
                      <a:endParaRPr lang="es-AR"/>
                    </a:p>
                  </a:txBody>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10000"/>
                  </a:ext>
                </a:extLst>
              </a:tr>
              <a:tr h="674528">
                <a:tc>
                  <a:txBody>
                    <a:bodyPr/>
                    <a:lstStyle/>
                    <a:p>
                      <a:pPr algn="l" fontAlgn="t"/>
                      <a:r>
                        <a:rPr lang="es-AR" sz="2400" dirty="0">
                          <a:solidFill>
                            <a:srgbClr val="000066"/>
                          </a:solidFill>
                          <a:effectLst/>
                        </a:rPr>
                        <a:t>Name / Year</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gridSpan="3">
                  <a:txBody>
                    <a:bodyPr/>
                    <a:lstStyle/>
                    <a:p>
                      <a:pPr algn="l" fontAlgn="t"/>
                      <a:r>
                        <a:rPr lang="es-AR" sz="2400" dirty="0">
                          <a:solidFill>
                            <a:srgbClr val="000066"/>
                          </a:solidFill>
                          <a:effectLst/>
                        </a:rPr>
                        <a:t>PoE / 2003</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hMerge="1">
                  <a:txBody>
                    <a:bodyPr/>
                    <a:lstStyle/>
                    <a:p>
                      <a:endParaRPr lang="es-AR"/>
                    </a:p>
                  </a:txBody>
                  <a:tcPr/>
                </a:tc>
                <a:tc hMerge="1">
                  <a:txBody>
                    <a:bodyPr/>
                    <a:lstStyle/>
                    <a:p>
                      <a:endParaRPr lang="es-AR"/>
                    </a:p>
                  </a:txBody>
                  <a:tcPr/>
                </a:tc>
                <a:tc gridSpan="2">
                  <a:txBody>
                    <a:bodyPr/>
                    <a:lstStyle/>
                    <a:p>
                      <a:pPr algn="l" fontAlgn="t"/>
                      <a:r>
                        <a:rPr lang="es-AR" sz="2400">
                          <a:solidFill>
                            <a:srgbClr val="000066"/>
                          </a:solidFill>
                          <a:effectLst/>
                        </a:rPr>
                        <a:t>PoE+ / 2009</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hMerge="1">
                  <a:txBody>
                    <a:bodyPr/>
                    <a:lstStyle/>
                    <a:p>
                      <a:pPr algn="l" fontAlgn="t"/>
                      <a:endParaRPr lang="es-AR" sz="2400">
                        <a:solidFill>
                          <a:srgbClr val="000066"/>
                        </a:solidFill>
                        <a:effectLst/>
                      </a:endParaRP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gridSpan="4">
                  <a:txBody>
                    <a:bodyPr/>
                    <a:lstStyle/>
                    <a:p>
                      <a:pPr algn="l" fontAlgn="t"/>
                      <a:r>
                        <a:rPr lang="es-AR" sz="2400">
                          <a:solidFill>
                            <a:srgbClr val="000066"/>
                          </a:solidFill>
                          <a:effectLst/>
                        </a:rPr>
                        <a:t>High Power PoE / 2018</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hMerge="1">
                  <a:txBody>
                    <a:bodyPr/>
                    <a:lstStyle/>
                    <a:p>
                      <a:endParaRPr lang="es-AR"/>
                    </a:p>
                  </a:txBody>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10001"/>
                  </a:ext>
                </a:extLst>
              </a:tr>
              <a:tr h="674528">
                <a:tc>
                  <a:txBody>
                    <a:bodyPr/>
                    <a:lstStyle/>
                    <a:p>
                      <a:pPr algn="l" fontAlgn="t"/>
                      <a:r>
                        <a:rPr lang="es-AR" sz="2400">
                          <a:solidFill>
                            <a:srgbClr val="000066"/>
                          </a:solidFill>
                          <a:effectLst/>
                        </a:rPr>
                        <a:t>PSE Power Steps</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dirty="0">
                          <a:solidFill>
                            <a:srgbClr val="000066"/>
                          </a:solidFill>
                          <a:effectLst/>
                        </a:rPr>
                        <a:t>4 w</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dirty="0">
                          <a:solidFill>
                            <a:srgbClr val="000066"/>
                          </a:solidFill>
                          <a:effectLst/>
                        </a:rPr>
                        <a:t>7 w</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dirty="0">
                          <a:solidFill>
                            <a:srgbClr val="000066"/>
                          </a:solidFill>
                          <a:effectLst/>
                        </a:rPr>
                        <a:t>15.4 W</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gridSpan="2">
                  <a:txBody>
                    <a:bodyPr/>
                    <a:lstStyle/>
                    <a:p>
                      <a:pPr algn="l" fontAlgn="t"/>
                      <a:r>
                        <a:rPr lang="es-AR" sz="2400">
                          <a:solidFill>
                            <a:srgbClr val="000066"/>
                          </a:solidFill>
                          <a:effectLst/>
                        </a:rPr>
                        <a:t>30 W</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hMerge="1">
                  <a:txBody>
                    <a:bodyPr/>
                    <a:lstStyle/>
                    <a:p>
                      <a:pPr algn="l" fontAlgn="t"/>
                      <a:endParaRPr lang="es-AR" sz="2400">
                        <a:solidFill>
                          <a:srgbClr val="000066"/>
                        </a:solidFill>
                        <a:effectLst/>
                      </a:endParaRP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a:solidFill>
                            <a:srgbClr val="000066"/>
                          </a:solidFill>
                          <a:effectLst/>
                        </a:rPr>
                        <a:t>45 W</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a:solidFill>
                            <a:srgbClr val="000066"/>
                          </a:solidFill>
                          <a:effectLst/>
                        </a:rPr>
                        <a:t>60 W</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a:solidFill>
                            <a:srgbClr val="000066"/>
                          </a:solidFill>
                          <a:effectLst/>
                        </a:rPr>
                        <a:t>75 W</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a:solidFill>
                            <a:srgbClr val="000066"/>
                          </a:solidFill>
                          <a:effectLst/>
                        </a:rPr>
                        <a:t>90 W to 100 W</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84837">
                <a:tc>
                  <a:txBody>
                    <a:bodyPr/>
                    <a:lstStyle/>
                    <a:p>
                      <a:pPr algn="l" fontAlgn="t"/>
                      <a:r>
                        <a:rPr lang="es-AR" sz="2400">
                          <a:solidFill>
                            <a:srgbClr val="000066"/>
                          </a:solidFill>
                          <a:effectLst/>
                        </a:rPr>
                        <a:t>PD Power @ 100 ft</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a:solidFill>
                            <a:srgbClr val="000066"/>
                          </a:solidFill>
                          <a:effectLst/>
                        </a:rPr>
                        <a:t>3.84 W</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dirty="0">
                          <a:solidFill>
                            <a:srgbClr val="000066"/>
                          </a:solidFill>
                          <a:effectLst/>
                        </a:rPr>
                        <a:t>6.49 W</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dirty="0">
                          <a:solidFill>
                            <a:srgbClr val="000066"/>
                          </a:solidFill>
                          <a:effectLst/>
                        </a:rPr>
                        <a:t>13 W</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gridSpan="2">
                  <a:txBody>
                    <a:bodyPr/>
                    <a:lstStyle/>
                    <a:p>
                      <a:pPr algn="l" fontAlgn="t"/>
                      <a:r>
                        <a:rPr lang="es-AR" sz="2400" dirty="0">
                          <a:solidFill>
                            <a:srgbClr val="000066"/>
                          </a:solidFill>
                          <a:effectLst/>
                        </a:rPr>
                        <a:t>25.5 W</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hMerge="1">
                  <a:txBody>
                    <a:bodyPr/>
                    <a:lstStyle/>
                    <a:p>
                      <a:pPr algn="l" fontAlgn="t"/>
                      <a:endParaRPr lang="es-AR" sz="2400" dirty="0">
                        <a:solidFill>
                          <a:srgbClr val="000066"/>
                        </a:solidFill>
                        <a:effectLst/>
                      </a:endParaRP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a:solidFill>
                            <a:srgbClr val="000066"/>
                          </a:solidFill>
                          <a:effectLst/>
                        </a:rPr>
                        <a:t>40 W</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dirty="0">
                          <a:solidFill>
                            <a:srgbClr val="000066"/>
                          </a:solidFill>
                          <a:effectLst/>
                        </a:rPr>
                        <a:t>51 W</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a:solidFill>
                            <a:srgbClr val="000066"/>
                          </a:solidFill>
                          <a:effectLst/>
                        </a:rPr>
                        <a:t>62 W</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a:solidFill>
                            <a:srgbClr val="000066"/>
                          </a:solidFill>
                          <a:effectLst/>
                        </a:rPr>
                        <a:t>71.3 W to 78.1 W</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4218">
                <a:tc>
                  <a:txBody>
                    <a:bodyPr/>
                    <a:lstStyle/>
                    <a:p>
                      <a:pPr algn="l" fontAlgn="t"/>
                      <a:r>
                        <a:rPr lang="es-AR" sz="2400">
                          <a:solidFill>
                            <a:srgbClr val="000066"/>
                          </a:solidFill>
                          <a:effectLst/>
                        </a:rPr>
                        <a:t>Class</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a:solidFill>
                            <a:srgbClr val="000066"/>
                          </a:solidFill>
                          <a:effectLst/>
                        </a:rPr>
                        <a:t>1</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a:solidFill>
                            <a:srgbClr val="000066"/>
                          </a:solidFill>
                          <a:effectLst/>
                        </a:rPr>
                        <a:t>2</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dirty="0">
                          <a:solidFill>
                            <a:srgbClr val="000066"/>
                          </a:solidFill>
                          <a:effectLst/>
                        </a:rPr>
                        <a:t>3</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gridSpan="2">
                  <a:txBody>
                    <a:bodyPr/>
                    <a:lstStyle/>
                    <a:p>
                      <a:pPr algn="l" fontAlgn="t"/>
                      <a:r>
                        <a:rPr lang="es-AR" sz="2400" dirty="0">
                          <a:solidFill>
                            <a:srgbClr val="000066"/>
                          </a:solidFill>
                          <a:effectLst/>
                        </a:rPr>
                        <a:t>4</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hMerge="1">
                  <a:txBody>
                    <a:bodyPr/>
                    <a:lstStyle/>
                    <a:p>
                      <a:pPr algn="l" fontAlgn="t"/>
                      <a:endParaRPr lang="es-AR" sz="2400" dirty="0">
                        <a:solidFill>
                          <a:srgbClr val="000066"/>
                        </a:solidFill>
                        <a:effectLst/>
                      </a:endParaRP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a:solidFill>
                            <a:srgbClr val="000066"/>
                          </a:solidFill>
                          <a:effectLst/>
                        </a:rPr>
                        <a:t>5</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a:solidFill>
                            <a:srgbClr val="000066"/>
                          </a:solidFill>
                          <a:effectLst/>
                        </a:rPr>
                        <a:t>6</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a:solidFill>
                            <a:srgbClr val="000066"/>
                          </a:solidFill>
                          <a:effectLst/>
                        </a:rPr>
                        <a:t>7</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a:txBody>
                    <a:bodyPr/>
                    <a:lstStyle/>
                    <a:p>
                      <a:pPr algn="l" fontAlgn="t"/>
                      <a:r>
                        <a:rPr lang="es-AR" sz="2400">
                          <a:solidFill>
                            <a:srgbClr val="000066"/>
                          </a:solidFill>
                          <a:effectLst/>
                        </a:rPr>
                        <a:t>8</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84837">
                <a:tc>
                  <a:txBody>
                    <a:bodyPr/>
                    <a:lstStyle/>
                    <a:p>
                      <a:pPr algn="l" fontAlgn="t"/>
                      <a:r>
                        <a:rPr lang="es-AR" sz="2400">
                          <a:solidFill>
                            <a:srgbClr val="000066"/>
                          </a:solidFill>
                          <a:effectLst/>
                        </a:rPr>
                        <a:t>Min Cable Rating for PoE</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gridSpan="3">
                  <a:txBody>
                    <a:bodyPr/>
                    <a:lstStyle/>
                    <a:p>
                      <a:pPr algn="l" fontAlgn="t"/>
                      <a:r>
                        <a:rPr lang="es-AR" sz="2400">
                          <a:solidFill>
                            <a:srgbClr val="000066"/>
                          </a:solidFill>
                          <a:effectLst/>
                        </a:rPr>
                        <a:t>CAT3</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hMerge="1">
                  <a:txBody>
                    <a:bodyPr/>
                    <a:lstStyle/>
                    <a:p>
                      <a:endParaRPr lang="es-AR"/>
                    </a:p>
                  </a:txBody>
                  <a:tcPr/>
                </a:tc>
                <a:tc hMerge="1">
                  <a:txBody>
                    <a:bodyPr/>
                    <a:lstStyle/>
                    <a:p>
                      <a:endParaRPr lang="es-AR"/>
                    </a:p>
                  </a:txBody>
                  <a:tcPr/>
                </a:tc>
                <a:tc gridSpan="2">
                  <a:txBody>
                    <a:bodyPr/>
                    <a:lstStyle/>
                    <a:p>
                      <a:pPr algn="l" fontAlgn="t"/>
                      <a:r>
                        <a:rPr lang="es-AR" sz="2400" dirty="0">
                          <a:solidFill>
                            <a:srgbClr val="000066"/>
                          </a:solidFill>
                          <a:effectLst/>
                        </a:rPr>
                        <a:t>CAT5</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hMerge="1">
                  <a:txBody>
                    <a:bodyPr/>
                    <a:lstStyle/>
                    <a:p>
                      <a:pPr algn="l" fontAlgn="t"/>
                      <a:endParaRPr lang="es-AR" sz="2400" dirty="0">
                        <a:solidFill>
                          <a:srgbClr val="000066"/>
                        </a:solidFill>
                        <a:effectLst/>
                      </a:endParaRP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gridSpan="4">
                  <a:txBody>
                    <a:bodyPr/>
                    <a:lstStyle/>
                    <a:p>
                      <a:pPr algn="l" fontAlgn="t"/>
                      <a:r>
                        <a:rPr lang="es-AR" sz="2400" dirty="0">
                          <a:solidFill>
                            <a:srgbClr val="000066"/>
                          </a:solidFill>
                          <a:effectLst/>
                        </a:rPr>
                        <a:t>CAT6</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hMerge="1">
                  <a:txBody>
                    <a:bodyPr/>
                    <a:lstStyle/>
                    <a:p>
                      <a:endParaRPr lang="es-AR"/>
                    </a:p>
                  </a:txBody>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10005"/>
                  </a:ext>
                </a:extLst>
              </a:tr>
              <a:tr h="674528">
                <a:tc>
                  <a:txBody>
                    <a:bodyPr/>
                    <a:lstStyle/>
                    <a:p>
                      <a:pPr algn="l" fontAlgn="t"/>
                      <a:r>
                        <a:rPr lang="es-AR" sz="2400" dirty="0">
                          <a:solidFill>
                            <a:srgbClr val="000066"/>
                          </a:solidFill>
                          <a:effectLst/>
                        </a:rPr>
                        <a:t>Ethernet Pairs /Type</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gridSpan="5">
                  <a:txBody>
                    <a:bodyPr/>
                    <a:lstStyle/>
                    <a:p>
                      <a:pPr algn="l" fontAlgn="t"/>
                      <a:r>
                        <a:rPr lang="es-AR" sz="2400">
                          <a:solidFill>
                            <a:srgbClr val="000066"/>
                          </a:solidFill>
                          <a:effectLst/>
                        </a:rPr>
                        <a:t>2-Pair (Type 1 &amp; 2) / 2-Pair or 4-Pair (Type 3 &amp; 4)</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tc gridSpan="4">
                  <a:txBody>
                    <a:bodyPr/>
                    <a:lstStyle/>
                    <a:p>
                      <a:pPr algn="l" fontAlgn="t"/>
                      <a:r>
                        <a:rPr lang="es-AR" sz="2400" dirty="0">
                          <a:solidFill>
                            <a:srgbClr val="000066"/>
                          </a:solidFill>
                          <a:effectLst/>
                        </a:rPr>
                        <a:t>4-Pair (Type 3 &amp; 4)</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hMerge="1">
                  <a:txBody>
                    <a:bodyPr/>
                    <a:lstStyle/>
                    <a:p>
                      <a:endParaRPr lang="es-AR"/>
                    </a:p>
                  </a:txBody>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10006"/>
                  </a:ext>
                </a:extLst>
              </a:tr>
              <a:tr h="674528">
                <a:tc>
                  <a:txBody>
                    <a:bodyPr/>
                    <a:lstStyle/>
                    <a:p>
                      <a:pPr algn="l" fontAlgn="t"/>
                      <a:r>
                        <a:rPr lang="es-AR" sz="2400" dirty="0">
                          <a:solidFill>
                            <a:srgbClr val="000066"/>
                          </a:solidFill>
                          <a:effectLst/>
                        </a:rPr>
                        <a:t>PoE Input Power</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gridSpan="4">
                  <a:txBody>
                    <a:bodyPr/>
                    <a:lstStyle/>
                    <a:p>
                      <a:pPr algn="l" fontAlgn="t"/>
                      <a:r>
                        <a:rPr lang="es-AR" sz="2400">
                          <a:solidFill>
                            <a:srgbClr val="000066"/>
                          </a:solidFill>
                          <a:effectLst/>
                        </a:rPr>
                        <a:t>46 - 57 VDC</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hMerge="1">
                  <a:txBody>
                    <a:bodyPr/>
                    <a:lstStyle/>
                    <a:p>
                      <a:endParaRPr lang="es-AR"/>
                    </a:p>
                  </a:txBody>
                  <a:tcPr/>
                </a:tc>
                <a:tc hMerge="1">
                  <a:txBody>
                    <a:bodyPr/>
                    <a:lstStyle/>
                    <a:p>
                      <a:endParaRPr lang="es-AR"/>
                    </a:p>
                  </a:txBody>
                  <a:tcPr/>
                </a:tc>
                <a:tc hMerge="1">
                  <a:txBody>
                    <a:bodyPr/>
                    <a:lstStyle/>
                    <a:p>
                      <a:endParaRPr lang="es-AR"/>
                    </a:p>
                  </a:txBody>
                  <a:tcPr/>
                </a:tc>
                <a:tc gridSpan="5">
                  <a:txBody>
                    <a:bodyPr/>
                    <a:lstStyle/>
                    <a:p>
                      <a:pPr algn="l" fontAlgn="t"/>
                      <a:r>
                        <a:rPr lang="es-AR" sz="2400" dirty="0">
                          <a:solidFill>
                            <a:srgbClr val="000066"/>
                          </a:solidFill>
                          <a:effectLst/>
                        </a:rPr>
                        <a:t>52 - 57 VDC</a:t>
                      </a:r>
                    </a:p>
                  </a:txBody>
                  <a:tcPr marL="31771" marR="31771" marT="31771" marB="31771">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FFFFFF"/>
                    </a:solidFill>
                  </a:tcPr>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10007"/>
                  </a:ext>
                </a:extLst>
              </a:tr>
            </a:tbl>
          </a:graphicData>
        </a:graphic>
      </p:graphicFrame>
      <p:sp>
        <p:nvSpPr>
          <p:cNvPr id="6" name="CuadroTexto 5"/>
          <p:cNvSpPr txBox="1"/>
          <p:nvPr/>
        </p:nvSpPr>
        <p:spPr>
          <a:xfrm rot="16200000">
            <a:off x="-3064934" y="1676400"/>
            <a:ext cx="6976534" cy="523220"/>
          </a:xfrm>
          <a:prstGeom prst="rect">
            <a:avLst/>
          </a:prstGeom>
          <a:noFill/>
        </p:spPr>
        <p:txBody>
          <a:bodyPr wrap="square" rtlCol="0">
            <a:spAutoFit/>
          </a:bodyPr>
          <a:lstStyle/>
          <a:p>
            <a:r>
              <a:rPr lang="es-MX" sz="2800" b="1" i="1" dirty="0">
                <a:solidFill>
                  <a:schemeClr val="accent1"/>
                </a:solidFill>
              </a:rPr>
              <a:t>POE (Power Over Ethernet)</a:t>
            </a:r>
            <a:endParaRPr lang="es-AR" sz="2800" b="1" i="1" dirty="0">
              <a:solidFill>
                <a:schemeClr val="accent1"/>
              </a:solidFill>
            </a:endParaRPr>
          </a:p>
        </p:txBody>
      </p:sp>
    </p:spTree>
    <p:extLst>
      <p:ext uri="{BB962C8B-B14F-4D97-AF65-F5344CB8AC3E}">
        <p14:creationId xmlns:p14="http://schemas.microsoft.com/office/powerpoint/2010/main" val="74720639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seño predeterminado">
  <a:themeElements>
    <a:clrScheme name="">
      <a:dk1>
        <a:srgbClr val="000000"/>
      </a:dk1>
      <a:lt1>
        <a:srgbClr val="FFFFFF"/>
      </a:lt1>
      <a:dk2>
        <a:srgbClr val="000000"/>
      </a:dk2>
      <a:lt2>
        <a:srgbClr val="808080"/>
      </a:lt2>
      <a:accent1>
        <a:srgbClr val="00CC99"/>
      </a:accent1>
      <a:accent2>
        <a:srgbClr val="000000"/>
      </a:accent2>
      <a:accent3>
        <a:srgbClr val="FFFFFF"/>
      </a:accent3>
      <a:accent4>
        <a:srgbClr val="000000"/>
      </a:accent4>
      <a:accent5>
        <a:srgbClr val="AAE2CA"/>
      </a:accent5>
      <a:accent6>
        <a:srgbClr val="000000"/>
      </a:accent6>
      <a:hlink>
        <a:srgbClr val="000000"/>
      </a:hlink>
      <a:folHlink>
        <a:srgbClr val="000000"/>
      </a:folHlink>
    </a:clrScheme>
    <a:fontScheme name="Diseño predeterminado">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s-ES" sz="1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s-ES" sz="1400" b="1" i="0" u="none" strike="noStrike" cap="none" normalizeH="0" baseline="0" smtClean="0">
            <a:ln>
              <a:noFill/>
            </a:ln>
            <a:solidFill>
              <a:schemeClr val="tx1"/>
            </a:solidFill>
            <a:effectLst/>
            <a:latin typeface="Arial" charset="0"/>
          </a:defRPr>
        </a:defPPr>
      </a:lstStyle>
    </a:lnDef>
  </a:objectDefaults>
  <a:extraClrSchemeLst>
    <a:extraClrScheme>
      <a:clrScheme name="Diseño predeterminado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iseño predeterminado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iseño predeterminado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2457</TotalTime>
  <Words>6090</Words>
  <Application>Microsoft Office PowerPoint</Application>
  <PresentationFormat>Panorámica</PresentationFormat>
  <Paragraphs>577</Paragraphs>
  <Slides>56</Slides>
  <Notes>36</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56</vt:i4>
      </vt:variant>
    </vt:vector>
  </HeadingPairs>
  <TitlesOfParts>
    <vt:vector size="62" baseType="lpstr">
      <vt:lpstr>Arial</vt:lpstr>
      <vt:lpstr>Calibri</vt:lpstr>
      <vt:lpstr>Calibri Light</vt:lpstr>
      <vt:lpstr>Times New Roman</vt:lpstr>
      <vt:lpstr>Tema de Office</vt:lpstr>
      <vt:lpstr>Diseño predeterminado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Ventajas/inconvenientes de 802.11a (5 GHz) frente a 802.11g (2,4 GHz)</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Gustavo Fernández</dc:creator>
  <cp:lastModifiedBy>Gustavo Fernandez</cp:lastModifiedBy>
  <cp:revision>103</cp:revision>
  <dcterms:created xsi:type="dcterms:W3CDTF">2019-06-23T15:24:47Z</dcterms:created>
  <dcterms:modified xsi:type="dcterms:W3CDTF">2022-08-16T02:40:52Z</dcterms:modified>
</cp:coreProperties>
</file>