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59" r:id="rId5"/>
    <p:sldId id="262" r:id="rId6"/>
    <p:sldId id="264" r:id="rId7"/>
    <p:sldId id="287" r:id="rId8"/>
    <p:sldId id="260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85" r:id="rId17"/>
    <p:sldId id="271" r:id="rId18"/>
    <p:sldId id="272" r:id="rId19"/>
    <p:sldId id="273" r:id="rId20"/>
    <p:sldId id="274" r:id="rId21"/>
    <p:sldId id="277" r:id="rId22"/>
    <p:sldId id="275" r:id="rId23"/>
    <p:sldId id="276" r:id="rId24"/>
    <p:sldId id="278" r:id="rId25"/>
    <p:sldId id="280" r:id="rId26"/>
    <p:sldId id="279" r:id="rId27"/>
    <p:sldId id="282" r:id="rId28"/>
    <p:sldId id="284" r:id="rId29"/>
    <p:sldId id="281" r:id="rId30"/>
    <p:sldId id="283" r:id="rId31"/>
    <p:sldId id="286" r:id="rId3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Fernández" initials="GF" lastIdx="2" clrIdx="0">
    <p:extLst>
      <p:ext uri="{19B8F6BF-5375-455C-9EA6-DF929625EA0E}">
        <p15:presenceInfo xmlns:p15="http://schemas.microsoft.com/office/powerpoint/2012/main" userId="S-1-5-21-410713885-3639572900-1975694635-16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09T21:28:29.047" idx="1">
    <p:pos x="7483" y="1201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56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13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229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783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16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060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34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729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767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618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241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6F3D-62DB-415F-894A-84B3FD2A2B6E}" type="datetimeFigureOut">
              <a:rPr lang="es-AR" smtClean="0"/>
              <a:t>10/08/2020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7DE04-4993-4947-A4E1-20E82DBFAE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221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materias.fi.uba.ar/6679/apuntes/CABLEADO_ESTRUC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xa.unne.edu.ar/informatica/SO/Cableado_Estructurado-TP08.pdf" TargetMode="External"/><Relationship Id="rId4" Type="http://schemas.openxmlformats.org/officeDocument/2006/relationships/hyperlink" Target="https://iie.fing.edu.uy/ense/asign/ccu/material/docs/Cableado%20Estructurado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642" y="3602764"/>
            <a:ext cx="3750358" cy="325238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76" y="1412986"/>
            <a:ext cx="3238432" cy="2808433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892" y="921642"/>
            <a:ext cx="4629151" cy="2498502"/>
          </a:xfrm>
          <a:prstGeom prst="rect">
            <a:avLst/>
          </a:prstGeom>
        </p:spPr>
      </p:pic>
      <p:cxnSp>
        <p:nvCxnSpPr>
          <p:cNvPr id="16" name="Conector recto 15"/>
          <p:cNvCxnSpPr/>
          <p:nvPr/>
        </p:nvCxnSpPr>
        <p:spPr>
          <a:xfrm>
            <a:off x="8398233" y="2533862"/>
            <a:ext cx="871106" cy="1246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496" y="2533862"/>
            <a:ext cx="854903" cy="566679"/>
          </a:xfrm>
          <a:prstGeom prst="rect">
            <a:avLst/>
          </a:prstGeom>
        </p:spPr>
      </p:pic>
      <p:cxnSp>
        <p:nvCxnSpPr>
          <p:cNvPr id="20" name="Conector recto 19"/>
          <p:cNvCxnSpPr/>
          <p:nvPr/>
        </p:nvCxnSpPr>
        <p:spPr>
          <a:xfrm>
            <a:off x="3760631" y="2817201"/>
            <a:ext cx="373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 flipV="1">
            <a:off x="4795313" y="2170893"/>
            <a:ext cx="2212383" cy="469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n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505" y="3779949"/>
            <a:ext cx="870401" cy="441470"/>
          </a:xfrm>
          <a:prstGeom prst="rect">
            <a:avLst/>
          </a:prstGeom>
        </p:spPr>
      </p:pic>
      <p:cxnSp>
        <p:nvCxnSpPr>
          <p:cNvPr id="29" name="Conector recto 28"/>
          <p:cNvCxnSpPr/>
          <p:nvPr/>
        </p:nvCxnSpPr>
        <p:spPr>
          <a:xfrm>
            <a:off x="9633397" y="4221419"/>
            <a:ext cx="399245" cy="7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24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524000" cy="1688563"/>
          </a:xfrm>
          <a:prstGeom prst="rect">
            <a:avLst/>
          </a:prstGeom>
        </p:spPr>
      </p:pic>
      <p:pic>
        <p:nvPicPr>
          <p:cNvPr id="1028" name="Picture 4" descr="El modelo OS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35" y="540913"/>
            <a:ext cx="9132463" cy="607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309093" y="2253803"/>
            <a:ext cx="177728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 smtClean="0"/>
              <a:t>Modelo de Capas</a:t>
            </a:r>
          </a:p>
          <a:p>
            <a:pPr algn="ctr"/>
            <a:r>
              <a:rPr lang="es-419" sz="3200" b="1" dirty="0" smtClean="0"/>
              <a:t>OSI</a:t>
            </a:r>
          </a:p>
          <a:p>
            <a:pPr algn="ctr"/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48595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162" y="693378"/>
            <a:ext cx="8320424" cy="570327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653048" y="231820"/>
            <a:ext cx="7534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000" b="1" dirty="0" smtClean="0"/>
              <a:t>Modelo OSI                                                                               Modelo TCP/IP</a:t>
            </a:r>
            <a:endParaRPr lang="es-AR" sz="2000" b="1" dirty="0"/>
          </a:p>
        </p:txBody>
      </p:sp>
    </p:spTree>
    <p:extLst>
      <p:ext uri="{BB962C8B-B14F-4D97-AF65-F5344CB8AC3E}">
        <p14:creationId xmlns:p14="http://schemas.microsoft.com/office/powerpoint/2010/main" val="414731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524000" cy="168856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22" y="592428"/>
            <a:ext cx="8434905" cy="5782613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631065" y="5653824"/>
            <a:ext cx="1635617" cy="3863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974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648496" y="772732"/>
            <a:ext cx="926800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600" b="1" dirty="0" smtClean="0"/>
              <a:t>MEDIOS: </a:t>
            </a:r>
          </a:p>
          <a:p>
            <a:r>
              <a:rPr lang="es-419" sz="4800" b="1" dirty="0" smtClean="0"/>
              <a:t>             (1) Cobre  </a:t>
            </a:r>
          </a:p>
          <a:p>
            <a:endParaRPr lang="es-419" sz="4800" b="1" dirty="0"/>
          </a:p>
          <a:p>
            <a:r>
              <a:rPr lang="es-419" sz="4800" b="1" dirty="0" smtClean="0"/>
              <a:t>(2) Fibra Óptica</a:t>
            </a:r>
          </a:p>
          <a:p>
            <a:endParaRPr lang="es-419" sz="4800" b="1" dirty="0" smtClean="0"/>
          </a:p>
          <a:p>
            <a:endParaRPr lang="es-419" sz="4800" b="1" dirty="0" smtClean="0"/>
          </a:p>
          <a:p>
            <a:r>
              <a:rPr lang="es-419" sz="4800" b="1" dirty="0" smtClean="0"/>
              <a:t>(3)	Radio Frecuencia</a:t>
            </a:r>
          </a:p>
          <a:p>
            <a:endParaRPr lang="es-419" sz="4800" b="1" dirty="0" smtClean="0"/>
          </a:p>
          <a:p>
            <a:endParaRPr lang="es-AR" sz="4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332" y="351620"/>
            <a:ext cx="4498282" cy="267423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595" y="5140338"/>
            <a:ext cx="4165108" cy="159927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68" y="2717442"/>
            <a:ext cx="3270193" cy="248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5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743200" y="940158"/>
            <a:ext cx="3658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(1) Palabras Claves</a:t>
            </a:r>
            <a:endParaRPr lang="es-AR" sz="3600" dirty="0"/>
          </a:p>
        </p:txBody>
      </p:sp>
      <p:sp>
        <p:nvSpPr>
          <p:cNvPr id="4" name="CuadroTexto 3"/>
          <p:cNvSpPr txBox="1"/>
          <p:nvPr/>
        </p:nvSpPr>
        <p:spPr>
          <a:xfrm>
            <a:off x="2859110" y="1990431"/>
            <a:ext cx="60788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 smtClean="0"/>
              <a:t>Backbone y Backplane</a:t>
            </a:r>
          </a:p>
          <a:p>
            <a:r>
              <a:rPr lang="es-419" sz="2800" dirty="0" smtClean="0"/>
              <a:t>U/UTP, F/UTP, S/FTP</a:t>
            </a:r>
          </a:p>
          <a:p>
            <a:r>
              <a:rPr lang="es-419" sz="2800" dirty="0" smtClean="0"/>
              <a:t>Jack, Plugs, Patchpanel</a:t>
            </a:r>
          </a:p>
          <a:p>
            <a:r>
              <a:rPr lang="es-419" sz="2800" dirty="0" smtClean="0"/>
              <a:t>Patchcords</a:t>
            </a:r>
          </a:p>
          <a:p>
            <a:r>
              <a:rPr lang="es-419" sz="2800" smtClean="0"/>
              <a:t>Normas </a:t>
            </a:r>
            <a:r>
              <a:rPr lang="es-419" sz="2800" dirty="0" smtClean="0"/>
              <a:t>de cableado</a:t>
            </a:r>
          </a:p>
          <a:p>
            <a:r>
              <a:rPr lang="es-419" sz="2800" dirty="0" smtClean="0"/>
              <a:t>Canal, Link</a:t>
            </a:r>
          </a:p>
          <a:p>
            <a:r>
              <a:rPr lang="es-419" sz="2800" dirty="0" smtClean="0"/>
              <a:t>Categorías, Ancho de Banda, Distancia</a:t>
            </a:r>
          </a:p>
          <a:p>
            <a:r>
              <a:rPr lang="es-419" sz="2800" dirty="0" smtClean="0"/>
              <a:t>Certificación, Fluke</a:t>
            </a:r>
          </a:p>
          <a:p>
            <a:r>
              <a:rPr lang="es-419" sz="2800" dirty="0" smtClean="0"/>
              <a:t>Etiquetados</a:t>
            </a:r>
          </a:p>
          <a:p>
            <a:r>
              <a:rPr lang="es-419" sz="2800" dirty="0" smtClean="0"/>
              <a:t>Accesorios y Canalizaciones</a:t>
            </a:r>
          </a:p>
          <a:p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42296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918" y="0"/>
            <a:ext cx="8480612" cy="685800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6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021983" y="566670"/>
            <a:ext cx="65939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5400" b="1" dirty="0" smtClean="0"/>
              <a:t> </a:t>
            </a:r>
            <a:r>
              <a:rPr lang="es-419" sz="3600" b="1" dirty="0" smtClean="0"/>
              <a:t>                 </a:t>
            </a:r>
          </a:p>
          <a:p>
            <a:r>
              <a:rPr lang="es-419" sz="3600" b="1" dirty="0" smtClean="0"/>
              <a:t>                  U/UTP</a:t>
            </a:r>
          </a:p>
          <a:p>
            <a:r>
              <a:rPr lang="es-419" sz="3600" b="1" dirty="0"/>
              <a:t> </a:t>
            </a:r>
            <a:r>
              <a:rPr lang="es-419" sz="3600" b="1" dirty="0" smtClean="0"/>
              <a:t>                  F/UTP</a:t>
            </a:r>
          </a:p>
          <a:p>
            <a:r>
              <a:rPr lang="es-419" sz="3600" b="1" dirty="0"/>
              <a:t> </a:t>
            </a:r>
            <a:r>
              <a:rPr lang="es-419" sz="3600" b="1" dirty="0" smtClean="0"/>
              <a:t>                  S/FTP</a:t>
            </a:r>
          </a:p>
          <a:p>
            <a:endParaRPr lang="es-419" sz="3600" b="1" dirty="0"/>
          </a:p>
          <a:p>
            <a:endParaRPr lang="es-419" sz="3600" b="1" dirty="0" smtClean="0"/>
          </a:p>
          <a:p>
            <a:endParaRPr lang="es-419" sz="3600" b="1" dirty="0"/>
          </a:p>
          <a:p>
            <a:endParaRPr lang="es-419" sz="3600" b="1" dirty="0" smtClean="0"/>
          </a:p>
          <a:p>
            <a:endParaRPr lang="es-419" sz="3600" b="1" dirty="0"/>
          </a:p>
          <a:p>
            <a:r>
              <a:rPr lang="es-419" sz="3600" b="1" dirty="0" smtClean="0"/>
              <a:t>Jacks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98" y="160338"/>
            <a:ext cx="3624934" cy="3624934"/>
          </a:xfrm>
          <a:prstGeom prst="rect">
            <a:avLst/>
          </a:prstGeom>
        </p:spPr>
      </p:pic>
      <p:sp>
        <p:nvSpPr>
          <p:cNvPr id="6" name="AutoShape 2" descr="Amp | 2111475-6 | Jack Cat 6 SC Azul – Franjime Lat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598" y="4830021"/>
            <a:ext cx="25146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5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430772" y="844369"/>
            <a:ext cx="656380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419" sz="3600" b="1" dirty="0">
                <a:solidFill>
                  <a:prstClr val="black"/>
                </a:solidFill>
              </a:rPr>
              <a:t>Plugs   </a:t>
            </a:r>
          </a:p>
          <a:p>
            <a:pPr lvl="0"/>
            <a:endParaRPr lang="es-419" sz="3600" b="1" dirty="0" smtClean="0">
              <a:solidFill>
                <a:prstClr val="black"/>
              </a:solidFill>
            </a:endParaRPr>
          </a:p>
          <a:p>
            <a:pPr lvl="0"/>
            <a:endParaRPr lang="es-419" sz="3600" b="1" dirty="0">
              <a:solidFill>
                <a:prstClr val="black"/>
              </a:solidFill>
            </a:endParaRPr>
          </a:p>
          <a:p>
            <a:pPr lvl="0"/>
            <a:endParaRPr lang="es-419" sz="3600" b="1" dirty="0" smtClean="0">
              <a:solidFill>
                <a:prstClr val="black"/>
              </a:solidFill>
            </a:endParaRPr>
          </a:p>
          <a:p>
            <a:pPr lvl="0"/>
            <a:r>
              <a:rPr lang="es-419" sz="3600" b="1" dirty="0" smtClean="0">
                <a:solidFill>
                  <a:prstClr val="black"/>
                </a:solidFill>
              </a:rPr>
              <a:t>                        Patchpanel  </a:t>
            </a:r>
            <a:endParaRPr lang="es-419" sz="3600" b="1" dirty="0">
              <a:solidFill>
                <a:prstClr val="black"/>
              </a:solidFill>
            </a:endParaRPr>
          </a:p>
          <a:p>
            <a:pPr lvl="0"/>
            <a:endParaRPr lang="es-419" sz="3600" b="1" dirty="0">
              <a:solidFill>
                <a:prstClr val="black"/>
              </a:solidFill>
            </a:endParaRPr>
          </a:p>
          <a:p>
            <a:pPr lvl="0"/>
            <a:endParaRPr lang="es-419" sz="3600" b="1" dirty="0" smtClean="0">
              <a:solidFill>
                <a:prstClr val="black"/>
              </a:solidFill>
            </a:endParaRPr>
          </a:p>
          <a:p>
            <a:pPr lvl="0"/>
            <a:endParaRPr lang="es-419" sz="3600" b="1" dirty="0">
              <a:solidFill>
                <a:prstClr val="black"/>
              </a:solidFill>
            </a:endParaRPr>
          </a:p>
          <a:p>
            <a:pPr lvl="0"/>
            <a:r>
              <a:rPr lang="es-419" sz="3600" b="1" dirty="0">
                <a:solidFill>
                  <a:prstClr val="black"/>
                </a:solidFill>
              </a:rPr>
              <a:t>Patchcords</a:t>
            </a:r>
            <a:endParaRPr lang="es-AR" sz="3600" b="1" dirty="0">
              <a:solidFill>
                <a:prstClr val="black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04" y="451370"/>
            <a:ext cx="2139881" cy="213988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33" y="5084409"/>
            <a:ext cx="2481287" cy="167654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521" y="1815369"/>
            <a:ext cx="4878340" cy="257336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1154" y="3489674"/>
            <a:ext cx="4021651" cy="228073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2557" y="118560"/>
            <a:ext cx="2286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446986" y="566670"/>
            <a:ext cx="7017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400" b="1" dirty="0" smtClean="0"/>
              <a:t>Normas y Categorías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737361" y="1318022"/>
            <a:ext cx="758951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 smtClean="0"/>
              <a:t>Las normas normas difundidas en nuestro país son: </a:t>
            </a:r>
            <a:r>
              <a:rPr lang="es-AR" sz="2800" b="1" dirty="0"/>
              <a:t>ANSI</a:t>
            </a:r>
            <a:r>
              <a:rPr lang="es-AR" sz="2800" dirty="0"/>
              <a:t>/</a:t>
            </a:r>
            <a:r>
              <a:rPr lang="es-AR" sz="2800" b="1" dirty="0"/>
              <a:t>TIA</a:t>
            </a:r>
            <a:r>
              <a:rPr lang="es-AR" sz="2800" dirty="0"/>
              <a:t>/</a:t>
            </a:r>
            <a:r>
              <a:rPr lang="es-AR" sz="2800" b="1" dirty="0"/>
              <a:t>EIA</a:t>
            </a:r>
            <a:r>
              <a:rPr lang="es-AR" sz="2800" dirty="0"/>
              <a:t> </a:t>
            </a:r>
            <a:endParaRPr lang="es-419" sz="2800" dirty="0"/>
          </a:p>
          <a:p>
            <a:r>
              <a:rPr lang="es-419" sz="2800" dirty="0" smtClean="0"/>
              <a:t>568</a:t>
            </a:r>
          </a:p>
          <a:p>
            <a:r>
              <a:rPr lang="es-419" sz="2800" dirty="0" smtClean="0"/>
              <a:t>569</a:t>
            </a:r>
          </a:p>
          <a:p>
            <a:r>
              <a:rPr lang="es-419" sz="2800" dirty="0" smtClean="0"/>
              <a:t>606</a:t>
            </a:r>
          </a:p>
          <a:p>
            <a:endParaRPr lang="es-419" sz="2800" dirty="0" smtClean="0"/>
          </a:p>
          <a:p>
            <a:endParaRPr lang="es-419" sz="2800" dirty="0" smtClean="0"/>
          </a:p>
          <a:p>
            <a:endParaRPr lang="es-419" sz="2800" dirty="0"/>
          </a:p>
          <a:p>
            <a:r>
              <a:rPr lang="es-419" sz="2800" dirty="0" smtClean="0"/>
              <a:t>De la 568 se desprenden las categorías vigentes:</a:t>
            </a:r>
          </a:p>
          <a:p>
            <a:r>
              <a:rPr lang="es-419" sz="2800" dirty="0" smtClean="0"/>
              <a:t>Cat 5e</a:t>
            </a:r>
          </a:p>
          <a:p>
            <a:r>
              <a:rPr lang="es-419" sz="2800" dirty="0" smtClean="0"/>
              <a:t>Cat 6</a:t>
            </a:r>
          </a:p>
          <a:p>
            <a:r>
              <a:rPr lang="es-419" sz="2800" dirty="0" smtClean="0"/>
              <a:t>Cat 6a</a:t>
            </a:r>
          </a:p>
          <a:p>
            <a:r>
              <a:rPr lang="es-419" dirty="0" smtClean="0"/>
              <a:t> </a:t>
            </a:r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18556"/>
            <a:ext cx="8035417" cy="27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8" y="1688738"/>
            <a:ext cx="6214932" cy="413575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606040" y="213360"/>
            <a:ext cx="384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Certificacion</a:t>
            </a:r>
            <a:endParaRPr lang="es-AR" sz="3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439" y="1"/>
            <a:ext cx="5153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71171"/>
            <a:ext cx="4876800" cy="145732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352800" y="624840"/>
            <a:ext cx="2412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Etiquetados</a:t>
            </a:r>
            <a:endParaRPr lang="es-AR" sz="3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1" y="2878106"/>
            <a:ext cx="6791991" cy="244065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1" y="3175635"/>
            <a:ext cx="3281362" cy="32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1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590800" y="198038"/>
            <a:ext cx="612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Accesorios</a:t>
            </a:r>
            <a:endParaRPr lang="es-AR" sz="3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3" y="1688738"/>
            <a:ext cx="3825674" cy="318806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502919"/>
            <a:ext cx="3997643" cy="399764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169" y="2697480"/>
            <a:ext cx="5166503" cy="362426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590800" y="874849"/>
            <a:ext cx="1005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dirty="0" smtClean="0"/>
              <a:t>Racks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3385813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289560"/>
            <a:ext cx="4396740" cy="43967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" y="4667250"/>
            <a:ext cx="12112943" cy="219075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604760" y="1319406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Unidades racks 19”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312406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510019"/>
            <a:ext cx="3977640" cy="23574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1803"/>
            <a:ext cx="3657600" cy="36576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487" y="4427220"/>
            <a:ext cx="5228666" cy="222218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542" y="-155302"/>
            <a:ext cx="4126418" cy="290138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210" y="1889760"/>
            <a:ext cx="3137753" cy="234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02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1" y="240461"/>
            <a:ext cx="4479132" cy="276181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1" y="3412807"/>
            <a:ext cx="4479132" cy="317062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807" y="267251"/>
            <a:ext cx="4862273" cy="273502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807" y="3412807"/>
            <a:ext cx="4862273" cy="309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75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636520" y="655320"/>
            <a:ext cx="3658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(2) Palabras Claves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880360" y="2011680"/>
            <a:ext cx="5013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 smtClean="0"/>
              <a:t>.-Fibras SM y MM</a:t>
            </a:r>
          </a:p>
          <a:p>
            <a:r>
              <a:rPr lang="es-419" sz="2400" dirty="0" smtClean="0"/>
              <a:t>.-Conectores</a:t>
            </a:r>
          </a:p>
          <a:p>
            <a:r>
              <a:rPr lang="es-419" sz="2400" dirty="0" smtClean="0"/>
              <a:t>.-Tipos de Cables</a:t>
            </a:r>
          </a:p>
          <a:p>
            <a:r>
              <a:rPr lang="es-419" sz="2400" dirty="0" smtClean="0"/>
              <a:t>.-Bandejas Rackeables</a:t>
            </a:r>
          </a:p>
          <a:p>
            <a:r>
              <a:rPr lang="es-419" sz="2400" dirty="0" smtClean="0"/>
              <a:t>.-Parámetros de Certificación, Ancho     de Banda</a:t>
            </a:r>
          </a:p>
          <a:p>
            <a:r>
              <a:rPr lang="es-419" sz="2400" dirty="0" smtClean="0"/>
              <a:t>.-Transceiver</a:t>
            </a:r>
          </a:p>
          <a:p>
            <a:endParaRPr lang="es-419" sz="2400" dirty="0" smtClean="0"/>
          </a:p>
          <a:p>
            <a:endParaRPr lang="es-419" sz="2400" dirty="0" smtClean="0"/>
          </a:p>
          <a:p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65525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76" y="1021988"/>
            <a:ext cx="6839903" cy="265259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474720" y="305760"/>
            <a:ext cx="28837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dirty="0" smtClean="0"/>
              <a:t>Fibras SM y MM</a:t>
            </a:r>
          </a:p>
          <a:p>
            <a:endParaRPr lang="es-AR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976" y="3962348"/>
            <a:ext cx="8043864" cy="262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76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3216"/>
            <a:ext cx="5648640" cy="380714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299" y="0"/>
            <a:ext cx="6423892" cy="397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58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165" y="981529"/>
            <a:ext cx="6000618" cy="165499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" y="2880341"/>
            <a:ext cx="6000618" cy="336034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082165" y="175178"/>
            <a:ext cx="734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Conectores y Acopladores</a:t>
            </a:r>
            <a:endParaRPr lang="es-AR" sz="3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9223" y="3002280"/>
            <a:ext cx="5915287" cy="269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64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132" y="2085022"/>
            <a:ext cx="5348288" cy="355904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560" y="3202305"/>
            <a:ext cx="3429000" cy="15811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27960" y="844369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MPO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2259047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185818"/>
            <a:ext cx="4510524" cy="251750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286000" y="320040"/>
            <a:ext cx="4084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Tipos de Cable</a:t>
            </a:r>
            <a:endParaRPr lang="es-AR" sz="3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188" y="844369"/>
            <a:ext cx="4161168" cy="16952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932" y="4558665"/>
            <a:ext cx="9976776" cy="229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6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492" y="1173480"/>
            <a:ext cx="5379588" cy="4124351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7117080" y="163561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2800" dirty="0" smtClean="0"/>
              <a:t>1. Polietileno.</a:t>
            </a:r>
          </a:p>
          <a:p>
            <a:r>
              <a:rPr lang="es-AR" sz="2800" dirty="0" smtClean="0"/>
              <a:t>2. Cinta de tereftalato de</a:t>
            </a:r>
            <a:endParaRPr lang="es-419" sz="2800" dirty="0" smtClean="0"/>
          </a:p>
          <a:p>
            <a:r>
              <a:rPr lang="es-AR" sz="2800" dirty="0" smtClean="0"/>
              <a:t> </a:t>
            </a:r>
            <a:r>
              <a:rPr lang="es-419" sz="2800" dirty="0" smtClean="0"/>
              <a:t>   </a:t>
            </a:r>
            <a:r>
              <a:rPr lang="es-AR" sz="2800" dirty="0" smtClean="0"/>
              <a:t>polietileno.</a:t>
            </a:r>
          </a:p>
          <a:p>
            <a:r>
              <a:rPr lang="es-AR" sz="2800" dirty="0" smtClean="0"/>
              <a:t>3. Alambres de acero trenzado.</a:t>
            </a:r>
          </a:p>
          <a:p>
            <a:r>
              <a:rPr lang="es-AR" sz="2800" dirty="0" smtClean="0"/>
              <a:t>4. Barrera de aluminio resistente</a:t>
            </a:r>
            <a:endParaRPr lang="es-419" sz="2800" dirty="0" smtClean="0"/>
          </a:p>
          <a:p>
            <a:r>
              <a:rPr lang="es-AR" sz="2800" dirty="0" smtClean="0"/>
              <a:t> </a:t>
            </a:r>
            <a:r>
              <a:rPr lang="es-419" sz="2800" dirty="0" smtClean="0"/>
              <a:t>    </a:t>
            </a:r>
            <a:r>
              <a:rPr lang="es-AR" sz="2800" dirty="0" smtClean="0"/>
              <a:t>al agua.</a:t>
            </a:r>
          </a:p>
          <a:p>
            <a:r>
              <a:rPr lang="es-AR" sz="2800" dirty="0" smtClean="0"/>
              <a:t>5. Policarbonato.</a:t>
            </a:r>
          </a:p>
          <a:p>
            <a:r>
              <a:rPr lang="es-AR" sz="2800" dirty="0" smtClean="0"/>
              <a:t>6. Tubo de cobre o aluminio.</a:t>
            </a:r>
          </a:p>
          <a:p>
            <a:r>
              <a:rPr lang="es-AR" sz="2800" dirty="0" smtClean="0"/>
              <a:t>7. Vaselina.</a:t>
            </a:r>
          </a:p>
          <a:p>
            <a:r>
              <a:rPr lang="es-AR" sz="2800" dirty="0" smtClean="0"/>
              <a:t>8. Fibras ópticas.</a:t>
            </a:r>
            <a:endParaRPr lang="es-AR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2148840" y="365760"/>
            <a:ext cx="3642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F.O. Submarina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3662725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21" y="167640"/>
            <a:ext cx="8376152" cy="39650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" y="3261931"/>
            <a:ext cx="5478514" cy="32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01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899" y="0"/>
            <a:ext cx="10041861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37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139440" y="335280"/>
            <a:ext cx="4982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Bandejas y canalizaciones</a:t>
            </a:r>
            <a:endParaRPr lang="es-AR" sz="3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410" y="984136"/>
            <a:ext cx="4517437" cy="212747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365" y="4099359"/>
            <a:ext cx="4041035" cy="27586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" y="2047875"/>
            <a:ext cx="3428048" cy="25677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70" y="2989213"/>
            <a:ext cx="3388722" cy="38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08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639" y="899160"/>
            <a:ext cx="8056601" cy="529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72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04" y="1993458"/>
            <a:ext cx="10457013" cy="446830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373156" y="244204"/>
            <a:ext cx="23112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Atenuación</a:t>
            </a:r>
          </a:p>
          <a:p>
            <a:endParaRPr lang="es-AR" sz="3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47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320" y="1051560"/>
            <a:ext cx="9387840" cy="522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04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745" y="2664781"/>
            <a:ext cx="3925252" cy="290258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481" y="-847271"/>
            <a:ext cx="4175760" cy="57011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097" y="3563941"/>
            <a:ext cx="4267540" cy="304824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489960" y="1097280"/>
            <a:ext cx="2299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 smtClean="0"/>
              <a:t>Transceiver</a:t>
            </a:r>
          </a:p>
          <a:p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2591969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84960" y="807720"/>
            <a:ext cx="333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 smtClean="0"/>
              <a:t>Bibliografía</a:t>
            </a:r>
            <a:endParaRPr lang="es-AR" sz="3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132" cy="16887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584960" y="2499360"/>
            <a:ext cx="8351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</a:t>
            </a:r>
            <a:r>
              <a:rPr lang="es-419" dirty="0" smtClean="0"/>
              <a:t>.- </a:t>
            </a:r>
            <a:r>
              <a:rPr lang="en-GB" b="1" dirty="0" smtClean="0"/>
              <a:t>Computer </a:t>
            </a:r>
            <a:r>
              <a:rPr lang="en-GB" b="1" dirty="0"/>
              <a:t>Networks. AS Tanenbaum. ED. Prentice-Hall.1990. ISBN </a:t>
            </a:r>
            <a:r>
              <a:rPr lang="en-GB" b="1" dirty="0" smtClean="0"/>
              <a:t>0-13-166836-6</a:t>
            </a:r>
            <a:endParaRPr lang="es-419" b="1" dirty="0" smtClean="0"/>
          </a:p>
          <a:p>
            <a:r>
              <a:rPr lang="es-419" b="1" dirty="0" smtClean="0"/>
              <a:t>.-  </a:t>
            </a:r>
            <a:r>
              <a:rPr lang="es-AR" b="1" dirty="0"/>
              <a:t>Data and computer Communications. W. Stallings. Ed. Prentice Hall </a:t>
            </a:r>
            <a:r>
              <a:rPr lang="es-AR" b="1" dirty="0" smtClean="0"/>
              <a:t>1997</a:t>
            </a:r>
            <a:endParaRPr lang="es-419" b="1" dirty="0" smtClean="0"/>
          </a:p>
          <a:p>
            <a:r>
              <a:rPr lang="es-419" b="1" dirty="0" smtClean="0"/>
              <a:t>.-</a:t>
            </a:r>
            <a:r>
              <a:rPr lang="es-AR" dirty="0" smtClean="0">
                <a:hlinkClick r:id="rId3"/>
              </a:rPr>
              <a:t>http://materias.fi.uba.ar/6679/apuntes/CABLEADO_ESTRUC.pdf</a:t>
            </a:r>
            <a:endParaRPr lang="es-419" dirty="0" smtClean="0"/>
          </a:p>
          <a:p>
            <a:r>
              <a:rPr lang="es-419" b="1" dirty="0" smtClean="0"/>
              <a:t>.- </a:t>
            </a:r>
            <a:r>
              <a:rPr lang="es-AR" dirty="0" smtClean="0">
                <a:hlinkClick r:id="rId4"/>
              </a:rPr>
              <a:t>https://iie.fing.edu.uy/ense/asign/ccu/material/docs/Cableado%20Estructurado.pdf</a:t>
            </a:r>
            <a:endParaRPr lang="es-419" dirty="0" smtClean="0"/>
          </a:p>
          <a:p>
            <a:r>
              <a:rPr lang="es-419" b="1" dirty="0" smtClean="0"/>
              <a:t>.- </a:t>
            </a:r>
            <a:r>
              <a:rPr lang="es-AR" dirty="0" smtClean="0">
                <a:hlinkClick r:id="rId5"/>
              </a:rPr>
              <a:t>http://exa.unne.edu.ar/informatica/SO/Cableado_Estructurado-TP08.pdf</a:t>
            </a:r>
            <a:endParaRPr lang="es-419" b="1" dirty="0" smtClean="0"/>
          </a:p>
          <a:p>
            <a:endParaRPr lang="es-419" b="1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47838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195</Words>
  <Application>Microsoft Office PowerPoint</Application>
  <PresentationFormat>Panorámica</PresentationFormat>
  <Paragraphs>90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Fernández</dc:creator>
  <cp:lastModifiedBy>Gustavo Fernández</cp:lastModifiedBy>
  <cp:revision>31</cp:revision>
  <dcterms:created xsi:type="dcterms:W3CDTF">2020-08-09T22:04:53Z</dcterms:created>
  <dcterms:modified xsi:type="dcterms:W3CDTF">2020-08-10T13:56:08Z</dcterms:modified>
</cp:coreProperties>
</file>