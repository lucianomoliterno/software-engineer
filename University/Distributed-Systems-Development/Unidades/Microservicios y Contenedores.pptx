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hMr848LVK1TVJjhFTMENtWvd9J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598f7def12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g2598f7def12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64ec92b73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2764ec92b7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764ec92b73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2764ec92b73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64ec92b7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g2764ec92b73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b7d02bc46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25b7d02bc46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764ec92b73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2764ec92b73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64ec92b73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2764ec92b73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598f7def12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g2598f7def12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598f7def12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g2598f7def12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598f7def12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2598f7def12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598f7def12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2598f7def12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5a1f5cbc6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25a1f5cbc6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5a1f5cbc60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25a1f5cbc60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5a1f5cbc60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g25a1f5cbc60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5a1f5cbc60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25a1f5cbc60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313c7b2c51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g2313c7b2c51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5" name="Shape 45"/>
        <p:cNvGrpSpPr/>
        <p:nvPr/>
      </p:nvGrpSpPr>
      <p:grpSpPr>
        <a:xfrm>
          <a:off x="0" y="0"/>
          <a:ext cx="0" cy="0"/>
          <a:chOff x="0" y="0"/>
          <a:chExt cx="0" cy="0"/>
        </a:xfrm>
      </p:grpSpPr>
      <p:sp>
        <p:nvSpPr>
          <p:cNvPr id="46" name="Google Shape;4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grpSp>
        <p:nvGrpSpPr>
          <p:cNvPr id="81" name="Google Shape;81;g242d9d80d42_2_95"/>
          <p:cNvGrpSpPr/>
          <p:nvPr/>
        </p:nvGrpSpPr>
        <p:grpSpPr>
          <a:xfrm>
            <a:off x="0" y="5204762"/>
            <a:ext cx="9144000" cy="1653192"/>
            <a:chOff x="0" y="3903669"/>
            <a:chExt cx="9144000" cy="1239925"/>
          </a:xfrm>
        </p:grpSpPr>
        <p:sp>
          <p:nvSpPr>
            <p:cNvPr id="82" name="Google Shape;82;g242d9d80d42_2_95"/>
            <p:cNvSpPr/>
            <p:nvPr/>
          </p:nvSpPr>
          <p:spPr>
            <a:xfrm>
              <a:off x="8154895" y="3903669"/>
              <a:ext cx="989100" cy="987900"/>
            </a:xfrm>
            <a:prstGeom prst="rtTriangle">
              <a:avLst/>
            </a:pr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242d9d80d42_2_95"/>
            <p:cNvSpPr/>
            <p:nvPr/>
          </p:nvSpPr>
          <p:spPr>
            <a:xfrm flipH="1">
              <a:off x="6181163" y="3903669"/>
              <a:ext cx="989100" cy="987900"/>
            </a:xfrm>
            <a:prstGeom prst="rtTriangle">
              <a:avLst/>
            </a:pr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242d9d80d42_2_95"/>
            <p:cNvSpPr/>
            <p:nvPr/>
          </p:nvSpPr>
          <p:spPr>
            <a:xfrm>
              <a:off x="7170274" y="3903669"/>
              <a:ext cx="989100" cy="987900"/>
            </a:xfrm>
            <a:prstGeom prst="rect">
              <a:avLst/>
            </a:prstGeom>
            <a:solidFill>
              <a:srgbClr val="3C78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242d9d80d42_2_95"/>
            <p:cNvSpPr/>
            <p:nvPr/>
          </p:nvSpPr>
          <p:spPr>
            <a:xfrm rot="10800000">
              <a:off x="8154757" y="3903682"/>
              <a:ext cx="989100" cy="987900"/>
            </a:xfrm>
            <a:prstGeom prst="rtTriangle">
              <a:avLst/>
            </a:prstGeom>
            <a:solidFill>
              <a:srgbClr val="1155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242d9d80d42_2_95"/>
            <p:cNvSpPr/>
            <p:nvPr/>
          </p:nvSpPr>
          <p:spPr>
            <a:xfrm>
              <a:off x="0" y="4891594"/>
              <a:ext cx="9144000" cy="2520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 name="Google Shape;87;g242d9d80d42_2_95"/>
          <p:cNvSpPr txBox="1"/>
          <p:nvPr>
            <p:ph type="title"/>
          </p:nvPr>
        </p:nvSpPr>
        <p:spPr>
          <a:xfrm>
            <a:off x="311700" y="546667"/>
            <a:ext cx="8520600" cy="810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8" name="Google Shape;88;g242d9d80d42_2_95"/>
          <p:cNvSpPr txBox="1"/>
          <p:nvPr>
            <p:ph idx="1" type="body"/>
          </p:nvPr>
        </p:nvSpPr>
        <p:spPr>
          <a:xfrm>
            <a:off x="311700" y="1639833"/>
            <a:ext cx="8520600" cy="4452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9" name="Google Shape;89;g242d9d80d42_2_95"/>
          <p:cNvSpPr txBox="1"/>
          <p:nvPr>
            <p:ph idx="12" type="sldNum"/>
          </p:nvPr>
        </p:nvSpPr>
        <p:spPr>
          <a:xfrm>
            <a:off x="8460431" y="6201587"/>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www.youtube.com/watch?v=R_mLEnpiLYE" TargetMode="External"/><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atlassian.com/es/microservices"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atlassian.com/es/agile" TargetMode="External"/><Relationship Id="rId4" Type="http://schemas.openxmlformats.org/officeDocument/2006/relationships/hyperlink" Target="https://www.atlassian.com/es/agile/devops" TargetMode="External"/><Relationship Id="rId9" Type="http://schemas.openxmlformats.org/officeDocument/2006/relationships/hyperlink" Target="https://www.atlassian.com/es/microservices" TargetMode="External"/><Relationship Id="rId5" Type="http://schemas.openxmlformats.org/officeDocument/2006/relationships/hyperlink" Target="https://www.netapp.com/es/devops-solutions/what-is-devops/" TargetMode="External"/><Relationship Id="rId6" Type="http://schemas.openxmlformats.org/officeDocument/2006/relationships/hyperlink" Target="https://azure.microsoft.com/es-es/resources/cloud-computing-dictionary/what-is-devops#start" TargetMode="External"/><Relationship Id="rId7" Type="http://schemas.openxmlformats.org/officeDocument/2006/relationships/hyperlink" Target="https://www.youtube.com/watch?v=zBoFWw2d0rQ" TargetMode="External"/><Relationship Id="rId8" Type="http://schemas.openxmlformats.org/officeDocument/2006/relationships/hyperlink" Target="https://youtube.com/playlist?list=PLEiEAq2VkUUJS6zkGgXeWw9l32EwRoYd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
          <p:cNvSpPr txBox="1"/>
          <p:nvPr>
            <p:ph type="ctrTitle"/>
          </p:nvPr>
        </p:nvSpPr>
        <p:spPr>
          <a:xfrm>
            <a:off x="683568" y="188641"/>
            <a:ext cx="7772400" cy="936104"/>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lang="es-ES" sz="4000"/>
              <a:t>Ingeniería de Software II</a:t>
            </a:r>
            <a:endParaRPr sz="4000"/>
          </a:p>
        </p:txBody>
      </p:sp>
      <p:sp>
        <p:nvSpPr>
          <p:cNvPr id="95" name="Google Shape;95;p1"/>
          <p:cNvSpPr txBox="1"/>
          <p:nvPr>
            <p:ph idx="1" type="subTitle"/>
          </p:nvPr>
        </p:nvSpPr>
        <p:spPr>
          <a:xfrm>
            <a:off x="1187624" y="4725144"/>
            <a:ext cx="6400800" cy="13681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b="1" lang="es-ES" sz="2400">
                <a:solidFill>
                  <a:schemeClr val="dk1"/>
                </a:solidFill>
              </a:rPr>
              <a:t>Profesor: </a:t>
            </a:r>
            <a:r>
              <a:rPr lang="es-ES" sz="2400">
                <a:solidFill>
                  <a:schemeClr val="dk1"/>
                </a:solidFill>
              </a:rPr>
              <a:t>Lic</a:t>
            </a:r>
            <a:r>
              <a:rPr b="1" lang="es-ES" sz="2400">
                <a:solidFill>
                  <a:schemeClr val="dk1"/>
                </a:solidFill>
              </a:rPr>
              <a:t>.</a:t>
            </a:r>
            <a:r>
              <a:rPr lang="es-ES" sz="2400">
                <a:solidFill>
                  <a:schemeClr val="dk1"/>
                </a:solidFill>
              </a:rPr>
              <a:t> Pablo San Román</a:t>
            </a:r>
            <a:endParaRPr sz="2400">
              <a:solidFill>
                <a:schemeClr val="dk1"/>
              </a:solidFill>
            </a:endParaRPr>
          </a:p>
        </p:txBody>
      </p:sp>
      <p:sp>
        <p:nvSpPr>
          <p:cNvPr id="96" name="Google Shape;96;p1"/>
          <p:cNvSpPr txBox="1"/>
          <p:nvPr/>
        </p:nvSpPr>
        <p:spPr>
          <a:xfrm>
            <a:off x="1115616" y="3645024"/>
            <a:ext cx="7128792" cy="936104"/>
          </a:xfrm>
          <a:prstGeom prst="rect">
            <a:avLst/>
          </a:prstGeom>
          <a:noFill/>
          <a:ln>
            <a:noFill/>
          </a:ln>
        </p:spPr>
        <p:txBody>
          <a:bodyPr anchorCtr="0" anchor="t" bIns="45700" lIns="91425" spcFirstLastPara="1" rIns="91425" wrap="square" tIns="45700">
            <a:normAutofit/>
          </a:bodyPr>
          <a:lstStyle/>
          <a:p>
            <a:pPr indent="0" lvl="0" marL="457200" marR="0" rtl="0" algn="l">
              <a:lnSpc>
                <a:spcPct val="100000"/>
              </a:lnSpc>
              <a:spcBef>
                <a:spcPts val="0"/>
              </a:spcBef>
              <a:spcAft>
                <a:spcPts val="0"/>
              </a:spcAft>
              <a:buClr>
                <a:srgbClr val="000000"/>
              </a:buClr>
              <a:buSzPts val="2400"/>
              <a:buFont typeface="Arial"/>
              <a:buNone/>
            </a:pPr>
            <a:r>
              <a:rPr b="1" i="1" lang="es-ES" sz="2500">
                <a:solidFill>
                  <a:schemeClr val="dk1"/>
                </a:solidFill>
                <a:latin typeface="Calibri"/>
                <a:ea typeface="Calibri"/>
                <a:cs typeface="Calibri"/>
                <a:sym typeface="Calibri"/>
              </a:rPr>
              <a:t>Introducción a Microservicios, Contenedores</a:t>
            </a:r>
            <a:endParaRPr b="1" i="1" sz="2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1" sz="2400" u="none" cap="none" strike="noStrike">
              <a:solidFill>
                <a:schemeClr val="dk1"/>
              </a:solidFill>
              <a:latin typeface="Calibri"/>
              <a:ea typeface="Calibri"/>
              <a:cs typeface="Calibri"/>
              <a:sym typeface="Calibri"/>
            </a:endParaRPr>
          </a:p>
        </p:txBody>
      </p:sp>
      <p:sp>
        <p:nvSpPr>
          <p:cNvPr id="97" name="Google Shape;97;p1"/>
          <p:cNvSpPr txBox="1"/>
          <p:nvPr/>
        </p:nvSpPr>
        <p:spPr>
          <a:xfrm>
            <a:off x="1331640" y="6093296"/>
            <a:ext cx="6400800" cy="576064"/>
          </a:xfrm>
          <a:prstGeom prst="rect">
            <a:avLst/>
          </a:prstGeom>
          <a:noFill/>
          <a:ln>
            <a:noFill/>
          </a:ln>
        </p:spPr>
        <p:txBody>
          <a:bodyPr anchorCtr="0" anchor="t"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2400"/>
              <a:buFont typeface="Arial"/>
              <a:buNone/>
            </a:pPr>
            <a:r>
              <a:rPr b="1" i="0" lang="es-ES" sz="2400" u="none" cap="none" strike="noStrike">
                <a:solidFill>
                  <a:schemeClr val="dk1"/>
                </a:solidFill>
                <a:latin typeface="Calibri"/>
                <a:ea typeface="Calibri"/>
                <a:cs typeface="Calibri"/>
                <a:sym typeface="Calibri"/>
              </a:rPr>
              <a:t>Año:</a:t>
            </a:r>
            <a:r>
              <a:rPr b="0" i="0" lang="es-ES" sz="2400" u="none" cap="none" strike="noStrike">
                <a:solidFill>
                  <a:schemeClr val="dk1"/>
                </a:solidFill>
                <a:latin typeface="Calibri"/>
                <a:ea typeface="Calibri"/>
                <a:cs typeface="Calibri"/>
                <a:sym typeface="Calibri"/>
              </a:rPr>
              <a:t> 202</a:t>
            </a:r>
            <a:r>
              <a:rPr lang="es-ES" sz="2400">
                <a:solidFill>
                  <a:schemeClr val="dk1"/>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pic>
        <p:nvPicPr>
          <p:cNvPr descr="C:\Users\Leo\Pictures\Logo. ISFT 172.jpeg" id="98" name="Google Shape;98;p1"/>
          <p:cNvPicPr preferRelativeResize="0"/>
          <p:nvPr/>
        </p:nvPicPr>
        <p:blipFill rotWithShape="1">
          <a:blip r:embed="rId3">
            <a:alphaModFix/>
          </a:blip>
          <a:srcRect b="0" l="0" r="0" t="0"/>
          <a:stretch/>
        </p:blipFill>
        <p:spPr>
          <a:xfrm>
            <a:off x="3633000" y="1404100"/>
            <a:ext cx="1798075" cy="1961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02" name="Shape 102"/>
        <p:cNvGrpSpPr/>
        <p:nvPr/>
      </p:nvGrpSpPr>
      <p:grpSpPr>
        <a:xfrm>
          <a:off x="0" y="0"/>
          <a:ext cx="0" cy="0"/>
          <a:chOff x="0" y="0"/>
          <a:chExt cx="0" cy="0"/>
        </a:xfrm>
      </p:grpSpPr>
      <p:sp>
        <p:nvSpPr>
          <p:cNvPr id="103" name="Google Shape;103;g2598f7def12_0_3"/>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Aplicaciones Monolíticas</a:t>
            </a:r>
            <a:endParaRPr sz="3200">
              <a:solidFill>
                <a:schemeClr val="lt1"/>
              </a:solidFill>
            </a:endParaRPr>
          </a:p>
        </p:txBody>
      </p:sp>
      <p:sp>
        <p:nvSpPr>
          <p:cNvPr id="104" name="Google Shape;104;g2598f7def12_0_3"/>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ES" sz="2800">
                <a:solidFill>
                  <a:schemeClr val="dk1"/>
                </a:solidFill>
                <a:highlight>
                  <a:schemeClr val="lt1"/>
                </a:highlight>
                <a:latin typeface="Calibri"/>
                <a:ea typeface="Calibri"/>
                <a:cs typeface="Calibri"/>
                <a:sym typeface="Calibri"/>
              </a:rPr>
              <a:t>En el pasado, las aplicaciones de software se construían principalmente siguiendo una arquitectura monolítica, donde todo estaba contenido en una sola unidad autónoma. Este enfoque funcionó bien hasta que la complejidad de las aplicaciones aumentó.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1500"/>
              </a:spcAft>
              <a:buClr>
                <a:schemeClr val="dk1"/>
              </a:buClr>
              <a:buSzPts val="1100"/>
              <a:buFont typeface="Arial"/>
              <a:buNone/>
            </a:pPr>
            <a:r>
              <a:rPr lang="es-ES" sz="2800">
                <a:solidFill>
                  <a:schemeClr val="dk1"/>
                </a:solidFill>
                <a:highlight>
                  <a:schemeClr val="lt1"/>
                </a:highlight>
                <a:latin typeface="Calibri"/>
                <a:ea typeface="Calibri"/>
                <a:cs typeface="Calibri"/>
                <a:sym typeface="Calibri"/>
              </a:rPr>
              <a:t>En una arquitectura monolítica, cualquier cambio en el código requería la re compilación de todo el sistema, pruebas exhaustivas y la implementación de una nueva versión completa de la aplicación.</a:t>
            </a:r>
            <a:endParaRPr sz="2800">
              <a:solidFill>
                <a:schemeClr val="dk1"/>
              </a:solidFill>
              <a:highlight>
                <a:schemeClr val="lt1"/>
              </a:highlight>
              <a:latin typeface="Calibri"/>
              <a:ea typeface="Calibri"/>
              <a:cs typeface="Calibri"/>
              <a:sym typeface="Calibri"/>
            </a:endParaRPr>
          </a:p>
        </p:txBody>
      </p:sp>
      <p:pic>
        <p:nvPicPr>
          <p:cNvPr descr="C:\Users\Leo\Pictures\Logo. ISFT 172.jpeg" id="105" name="Google Shape;105;g2598f7def12_0_3"/>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09" name="Shape 109"/>
        <p:cNvGrpSpPr/>
        <p:nvPr/>
      </p:nvGrpSpPr>
      <p:grpSpPr>
        <a:xfrm>
          <a:off x="0" y="0"/>
          <a:ext cx="0" cy="0"/>
          <a:chOff x="0" y="0"/>
          <a:chExt cx="0" cy="0"/>
        </a:xfrm>
      </p:grpSpPr>
      <p:sp>
        <p:nvSpPr>
          <p:cNvPr id="110" name="Google Shape;110;g2764ec92b73_0_1"/>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Microservicios: ¿Que son?</a:t>
            </a:r>
            <a:endParaRPr sz="3200">
              <a:solidFill>
                <a:schemeClr val="lt1"/>
              </a:solidFill>
            </a:endParaRPr>
          </a:p>
        </p:txBody>
      </p:sp>
      <p:sp>
        <p:nvSpPr>
          <p:cNvPr id="111" name="Google Shape;111;g2764ec92b73_0_1"/>
          <p:cNvSpPr txBox="1"/>
          <p:nvPr/>
        </p:nvSpPr>
        <p:spPr>
          <a:xfrm>
            <a:off x="159900" y="1196650"/>
            <a:ext cx="8824200" cy="5331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s-ES" sz="2800">
                <a:solidFill>
                  <a:schemeClr val="dk1"/>
                </a:solidFill>
                <a:highlight>
                  <a:schemeClr val="lt1"/>
                </a:highlight>
                <a:latin typeface="Calibri"/>
                <a:ea typeface="Calibri"/>
                <a:cs typeface="Calibri"/>
                <a:sym typeface="Calibri"/>
              </a:rPr>
              <a:t>La evolución se manifestó a través de los microservicios, una estrategia que fragmenta los sistemas en unidades más pequeñas e independientes, desarrolladas e implementadas de manera autónoma. </a:t>
            </a:r>
            <a:r>
              <a:rPr lang="es-ES" sz="2800">
                <a:solidFill>
                  <a:schemeClr val="dk1"/>
                </a:solidFill>
                <a:highlight>
                  <a:schemeClr val="lt1"/>
                </a:highlight>
                <a:latin typeface="Calibri"/>
                <a:ea typeface="Calibri"/>
                <a:cs typeface="Calibri"/>
                <a:sym typeface="Calibri"/>
              </a:rPr>
              <a:t>Estos servicios interactúan mediante interfaces claramente definidas, como APIs.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Clr>
                <a:schemeClr val="dk1"/>
              </a:buClr>
              <a:buSzPts val="1100"/>
              <a:buFont typeface="Arial"/>
              <a:buNone/>
            </a:pPr>
            <a:r>
              <a:rPr lang="es-ES" sz="2800">
                <a:solidFill>
                  <a:schemeClr val="dk1"/>
                </a:solidFill>
                <a:highlight>
                  <a:schemeClr val="lt1"/>
                </a:highlight>
                <a:latin typeface="Calibri"/>
                <a:ea typeface="Calibri"/>
                <a:cs typeface="Calibri"/>
                <a:sym typeface="Calibri"/>
              </a:rPr>
              <a:t>Esta arquitectura fue catalizada por el movimiento DevOps, que persigue la entrega continua de actualizaciones llevando a muchas compañías a modernizar aplicaciones legadas mediante el uso de lenguajes y tecnologías contemporáneas.</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rgbClr val="37415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12" name="Google Shape;112;g2764ec92b73_0_1"/>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16" name="Shape 116"/>
        <p:cNvGrpSpPr/>
        <p:nvPr/>
      </p:nvGrpSpPr>
      <p:grpSpPr>
        <a:xfrm>
          <a:off x="0" y="0"/>
          <a:ext cx="0" cy="0"/>
          <a:chOff x="0" y="0"/>
          <a:chExt cx="0" cy="0"/>
        </a:xfrm>
      </p:grpSpPr>
      <p:sp>
        <p:nvSpPr>
          <p:cNvPr id="117" name="Google Shape;117;g2764ec92b73_0_14"/>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Microservicios: Características</a:t>
            </a:r>
            <a:endParaRPr sz="3200">
              <a:solidFill>
                <a:schemeClr val="lt1"/>
              </a:solidFill>
            </a:endParaRPr>
          </a:p>
        </p:txBody>
      </p:sp>
      <p:sp>
        <p:nvSpPr>
          <p:cNvPr id="118" name="Google Shape;118;g2764ec92b73_0_14"/>
          <p:cNvSpPr txBox="1"/>
          <p:nvPr/>
        </p:nvSpPr>
        <p:spPr>
          <a:xfrm>
            <a:off x="159900" y="1196650"/>
            <a:ext cx="8824200" cy="5331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500"/>
              </a:spcBef>
              <a:spcAft>
                <a:spcPts val="0"/>
              </a:spcAft>
              <a:buNone/>
            </a:pPr>
            <a:r>
              <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None/>
            </a:pPr>
            <a:r>
              <a:t/>
            </a:r>
            <a:endParaRPr sz="2800">
              <a:solidFill>
                <a:schemeClr val="dk1"/>
              </a:solidFill>
              <a:highlight>
                <a:schemeClr val="lt1"/>
              </a:highlight>
              <a:latin typeface="Calibri"/>
              <a:ea typeface="Calibri"/>
              <a:cs typeface="Calibri"/>
              <a:sym typeface="Calibri"/>
            </a:endParaRPr>
          </a:p>
          <a:p>
            <a:pPr indent="-406400" lvl="0" marL="457200" rtl="0" algn="l">
              <a:lnSpc>
                <a:spcPct val="115000"/>
              </a:lnSpc>
              <a:spcBef>
                <a:spcPts val="1500"/>
              </a:spcBef>
              <a:spcAft>
                <a:spcPts val="0"/>
              </a:spcAft>
              <a:buClr>
                <a:schemeClr val="dk1"/>
              </a:buClr>
              <a:buSzPts val="2800"/>
              <a:buFont typeface="Calibri"/>
              <a:buChar char="●"/>
            </a:pPr>
            <a:r>
              <a:rPr lang="es-ES" sz="2800">
                <a:solidFill>
                  <a:schemeClr val="dk1"/>
                </a:solidFill>
                <a:highlight>
                  <a:schemeClr val="lt1"/>
                </a:highlight>
                <a:latin typeface="Calibri"/>
                <a:ea typeface="Calibri"/>
                <a:cs typeface="Calibri"/>
                <a:sym typeface="Calibri"/>
              </a:rPr>
              <a:t>En una arquitectura de microservicios, los componentes son autónomos y se pueden desarrollar, implementar y actualizar sin afectar otros servicios. </a:t>
            </a:r>
            <a:endParaRPr sz="2800">
              <a:solidFill>
                <a:schemeClr val="dk1"/>
              </a:solidFill>
              <a:highlight>
                <a:schemeClr val="lt1"/>
              </a:highlight>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s-ES" sz="2800">
                <a:solidFill>
                  <a:schemeClr val="dk1"/>
                </a:solidFill>
                <a:highlight>
                  <a:schemeClr val="lt1"/>
                </a:highlight>
                <a:latin typeface="Calibri"/>
                <a:ea typeface="Calibri"/>
                <a:cs typeface="Calibri"/>
                <a:sym typeface="Calibri"/>
              </a:rPr>
              <a:t>Estos componentes trabajan juntos para proporcionar una experiencia al usuario, pudiendo ser servicios, bibliotecas, aplicaciones móviles, entre otros.</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rgbClr val="37415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19" name="Google Shape;119;g2764ec92b73_0_14"/>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23" name="Shape 123"/>
        <p:cNvGrpSpPr/>
        <p:nvPr/>
      </p:nvGrpSpPr>
      <p:grpSpPr>
        <a:xfrm>
          <a:off x="0" y="0"/>
          <a:ext cx="0" cy="0"/>
          <a:chOff x="0" y="0"/>
          <a:chExt cx="0" cy="0"/>
        </a:xfrm>
      </p:grpSpPr>
      <p:sp>
        <p:nvSpPr>
          <p:cNvPr id="124" name="Google Shape;124;g2764ec92b73_0_20"/>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Microservicios: Características</a:t>
            </a:r>
            <a:endParaRPr sz="3200">
              <a:solidFill>
                <a:schemeClr val="lt1"/>
              </a:solidFill>
            </a:endParaRPr>
          </a:p>
        </p:txBody>
      </p:sp>
      <p:sp>
        <p:nvSpPr>
          <p:cNvPr id="125" name="Google Shape;125;g2764ec92b73_0_20"/>
          <p:cNvSpPr txBox="1"/>
          <p:nvPr/>
        </p:nvSpPr>
        <p:spPr>
          <a:xfrm>
            <a:off x="159900" y="1196650"/>
            <a:ext cx="8824200" cy="5331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500"/>
              </a:spcBef>
              <a:spcAft>
                <a:spcPts val="0"/>
              </a:spcAft>
              <a:buNone/>
            </a:pPr>
            <a:r>
              <a:t/>
            </a:r>
            <a:endParaRPr sz="2800">
              <a:solidFill>
                <a:schemeClr val="dk1"/>
              </a:solidFill>
              <a:highlight>
                <a:schemeClr val="lt1"/>
              </a:highlight>
              <a:latin typeface="Calibri"/>
              <a:ea typeface="Calibri"/>
              <a:cs typeface="Calibri"/>
              <a:sym typeface="Calibri"/>
            </a:endParaRPr>
          </a:p>
          <a:p>
            <a:pPr indent="-406400" lvl="0" marL="457200" rtl="0" algn="l">
              <a:lnSpc>
                <a:spcPct val="115000"/>
              </a:lnSpc>
              <a:spcBef>
                <a:spcPts val="1500"/>
              </a:spcBef>
              <a:spcAft>
                <a:spcPts val="0"/>
              </a:spcAft>
              <a:buClr>
                <a:schemeClr val="dk1"/>
              </a:buClr>
              <a:buSzPts val="2800"/>
              <a:buFont typeface="Calibri"/>
              <a:buChar char="●"/>
            </a:pPr>
            <a:r>
              <a:rPr lang="es-ES" sz="2800">
                <a:solidFill>
                  <a:schemeClr val="dk1"/>
                </a:solidFill>
                <a:highlight>
                  <a:schemeClr val="lt1"/>
                </a:highlight>
                <a:latin typeface="Calibri"/>
                <a:ea typeface="Calibri"/>
                <a:cs typeface="Calibri"/>
                <a:sym typeface="Calibri"/>
              </a:rPr>
              <a:t>Cada componente requiere una interfaz clara para comunicarse con otros a través de mecanismos como RPC o REST. Esta interfaz se define mediante una API que acompaña al servicio.</a:t>
            </a:r>
            <a:endParaRPr sz="2800">
              <a:solidFill>
                <a:schemeClr val="dk1"/>
              </a:solidFill>
              <a:highlight>
                <a:schemeClr val="lt1"/>
              </a:highlight>
              <a:latin typeface="Calibri"/>
              <a:ea typeface="Calibri"/>
              <a:cs typeface="Calibri"/>
              <a:sym typeface="Calibri"/>
            </a:endParaRPr>
          </a:p>
          <a:p>
            <a:pPr indent="-406400" lvl="0" marL="457200" rtl="0" algn="l">
              <a:lnSpc>
                <a:spcPct val="115000"/>
              </a:lnSpc>
              <a:spcBef>
                <a:spcPts val="0"/>
              </a:spcBef>
              <a:spcAft>
                <a:spcPts val="0"/>
              </a:spcAft>
              <a:buClr>
                <a:schemeClr val="dk1"/>
              </a:buClr>
              <a:buSzPts val="2800"/>
              <a:buFont typeface="Calibri"/>
              <a:buChar char="●"/>
            </a:pPr>
            <a:r>
              <a:rPr lang="es-ES" sz="2800">
                <a:solidFill>
                  <a:schemeClr val="dk1"/>
                </a:solidFill>
                <a:highlight>
                  <a:schemeClr val="lt1"/>
                </a:highlight>
                <a:latin typeface="Calibri"/>
                <a:ea typeface="Calibri"/>
                <a:cs typeface="Calibri"/>
                <a:sym typeface="Calibri"/>
              </a:rPr>
              <a:t>La filosofía DevOps juega un papel fundamental, permitiendo la creación y gestión independiente de los equipos, la automatización, las prácticas de CI/CD y la estabilidad del sistema.</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rgbClr val="37415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26" name="Google Shape;126;g2764ec92b73_0_20"/>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30" name="Shape 130"/>
        <p:cNvGrpSpPr/>
        <p:nvPr/>
      </p:nvGrpSpPr>
      <p:grpSpPr>
        <a:xfrm>
          <a:off x="0" y="0"/>
          <a:ext cx="0" cy="0"/>
          <a:chOff x="0" y="0"/>
          <a:chExt cx="0" cy="0"/>
        </a:xfrm>
      </p:grpSpPr>
      <p:sp>
        <p:nvSpPr>
          <p:cNvPr id="131" name="Google Shape;131;g25b7d02bc46_0_39"/>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Microservicios: ¿Que son?</a:t>
            </a:r>
            <a:endParaRPr sz="3200">
              <a:solidFill>
                <a:schemeClr val="lt1"/>
              </a:solidFill>
            </a:endParaRPr>
          </a:p>
        </p:txBody>
      </p:sp>
      <p:sp>
        <p:nvSpPr>
          <p:cNvPr id="132" name="Google Shape;132;g25b7d02bc46_0_39"/>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rgbClr val="37415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33" name="Google Shape;133;g25b7d02bc46_0_39"/>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pic>
        <p:nvPicPr>
          <p:cNvPr descr="La División Digital de Exceltic siempre está al día para poder ofrecerte las mejores soluciones tecnológicas. ¿Sabías los beneficios que te ofrecen los servicios de Cloud y Microservicios? &#10;&#10;Si tienes alguna consulta, no dudes en ponerte en contacto con nosotros a través de nuestras redes sociales o nuestra página web. &#10;&#10;Linkedin: https://www.linkedin.com/company/exceltic/?viewAsMember=true&#10;Twitter: https://twitter.com/exceltic&#10;Facebook: https://www.facebook.com/exceltic&#10;Instagram: https://www.instagram.com/excelticengineering/" id="134" name="Google Shape;134;g25b7d02bc46_0_39" title="Exceltic | Cloud y Microservicios">
            <a:hlinkClick r:id="rId4"/>
          </p:cNvPr>
          <p:cNvPicPr preferRelativeResize="0"/>
          <p:nvPr/>
        </p:nvPicPr>
        <p:blipFill>
          <a:blip r:embed="rId5">
            <a:alphaModFix/>
          </a:blip>
          <a:stretch>
            <a:fillRect/>
          </a:stretch>
        </p:blipFill>
        <p:spPr>
          <a:xfrm>
            <a:off x="179500" y="1573038"/>
            <a:ext cx="8695875" cy="4891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38" name="Shape 138"/>
        <p:cNvGrpSpPr/>
        <p:nvPr/>
      </p:nvGrpSpPr>
      <p:grpSpPr>
        <a:xfrm>
          <a:off x="0" y="0"/>
          <a:ext cx="0" cy="0"/>
          <a:chOff x="0" y="0"/>
          <a:chExt cx="0" cy="0"/>
        </a:xfrm>
      </p:grpSpPr>
      <p:sp>
        <p:nvSpPr>
          <p:cNvPr id="139" name="Google Shape;139;g2764ec92b73_0_26"/>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Microservicios: Ventajas y Desventajas</a:t>
            </a:r>
            <a:endParaRPr sz="3200">
              <a:solidFill>
                <a:schemeClr val="lt1"/>
              </a:solidFill>
            </a:endParaRPr>
          </a:p>
        </p:txBody>
      </p:sp>
      <p:sp>
        <p:nvSpPr>
          <p:cNvPr id="140" name="Google Shape;140;g2764ec92b73_0_26"/>
          <p:cNvSpPr txBox="1"/>
          <p:nvPr/>
        </p:nvSpPr>
        <p:spPr>
          <a:xfrm>
            <a:off x="159900" y="11966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None/>
            </a:pPr>
            <a:r>
              <a:rPr lang="es-ES" sz="2800">
                <a:solidFill>
                  <a:schemeClr val="dk1"/>
                </a:solidFill>
                <a:highlight>
                  <a:schemeClr val="lt1"/>
                </a:highlight>
                <a:latin typeface="Calibri"/>
                <a:ea typeface="Calibri"/>
                <a:cs typeface="Calibri"/>
                <a:sym typeface="Calibri"/>
              </a:rPr>
              <a:t>Los microservicios aportan ventajas como agilidad, escalabilidad flexible, publicaciones frecuentes, flexibilidad tecnológica, enfoque en la calidad y alta fiabilidad.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Clr>
                <a:schemeClr val="dk1"/>
              </a:buClr>
              <a:buSzPts val="1100"/>
              <a:buFont typeface="Arial"/>
              <a:buNone/>
            </a:pPr>
            <a:r>
              <a:rPr lang="es-ES" sz="2800">
                <a:solidFill>
                  <a:schemeClr val="dk1"/>
                </a:solidFill>
                <a:highlight>
                  <a:schemeClr val="lt1"/>
                </a:highlight>
                <a:latin typeface="Calibri"/>
                <a:ea typeface="Calibri"/>
                <a:cs typeface="Calibri"/>
                <a:sym typeface="Calibri"/>
              </a:rPr>
              <a:t>Sin embargo, enfrentan desafíos como la complejidad creciente, falta de claridad en la propiedad, costos de infraestructura y sobrecarga organizativa.</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rPr lang="es-ES" sz="2800">
                <a:solidFill>
                  <a:schemeClr val="dk1"/>
                </a:solidFill>
                <a:highlight>
                  <a:schemeClr val="lt1"/>
                </a:highlight>
                <a:latin typeface="Calibri"/>
                <a:ea typeface="Calibri"/>
                <a:cs typeface="Calibri"/>
                <a:sym typeface="Calibri"/>
              </a:rPr>
              <a:t>Más información: </a:t>
            </a:r>
            <a:r>
              <a:rPr lang="es-ES" sz="2800" u="sng">
                <a:solidFill>
                  <a:schemeClr val="hlink"/>
                </a:solidFill>
                <a:highlight>
                  <a:schemeClr val="lt1"/>
                </a:highlight>
                <a:latin typeface="Calibri"/>
                <a:ea typeface="Calibri"/>
                <a:cs typeface="Calibri"/>
                <a:sym typeface="Calibri"/>
                <a:hlinkClick r:id="rId3"/>
              </a:rPr>
              <a:t>https://www.atlassian.com/es/microservices</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rgbClr val="37415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41" name="Google Shape;141;g2764ec92b73_0_26"/>
          <p:cNvPicPr preferRelativeResize="0"/>
          <p:nvPr/>
        </p:nvPicPr>
        <p:blipFill rotWithShape="1">
          <a:blip r:embed="rId4">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45" name="Shape 145"/>
        <p:cNvGrpSpPr/>
        <p:nvPr/>
      </p:nvGrpSpPr>
      <p:grpSpPr>
        <a:xfrm>
          <a:off x="0" y="0"/>
          <a:ext cx="0" cy="0"/>
          <a:chOff x="0" y="0"/>
          <a:chExt cx="0" cy="0"/>
        </a:xfrm>
      </p:grpSpPr>
      <p:sp>
        <p:nvSpPr>
          <p:cNvPr id="146" name="Google Shape;146;g2764ec92b73_0_33"/>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Microservicios: ¿Cómo comenzar?</a:t>
            </a:r>
            <a:endParaRPr sz="3200">
              <a:solidFill>
                <a:schemeClr val="lt1"/>
              </a:solidFill>
            </a:endParaRPr>
          </a:p>
        </p:txBody>
      </p:sp>
      <p:sp>
        <p:nvSpPr>
          <p:cNvPr id="147" name="Google Shape;147;g2764ec92b73_0_33"/>
          <p:cNvSpPr txBox="1"/>
          <p:nvPr/>
        </p:nvSpPr>
        <p:spPr>
          <a:xfrm>
            <a:off x="159900" y="1196650"/>
            <a:ext cx="8824200" cy="5331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Clr>
                <a:schemeClr val="dk1"/>
              </a:buClr>
              <a:buSzPts val="1100"/>
              <a:buFont typeface="Arial"/>
              <a:buNone/>
            </a:pPr>
            <a:r>
              <a:rPr lang="es-ES" sz="2800">
                <a:solidFill>
                  <a:schemeClr val="dk1"/>
                </a:solidFill>
                <a:highlight>
                  <a:schemeClr val="lt1"/>
                </a:highlight>
                <a:latin typeface="Calibri"/>
                <a:ea typeface="Calibri"/>
                <a:cs typeface="Calibri"/>
                <a:sym typeface="Calibri"/>
              </a:rPr>
              <a:t>La adopción de microservicios debe verse como un proceso gradual. Comenzar con pequeñas unidades y aumentar gradualmente permite a los equipos comprender mejor los sistemas distribuidos y su escalado. </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Clr>
                <a:schemeClr val="dk1"/>
              </a:buClr>
              <a:buSzPts val="1100"/>
              <a:buFont typeface="Arial"/>
              <a:buNone/>
            </a:pPr>
            <a:r>
              <a:t/>
            </a:r>
            <a:endParaRPr sz="28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rgbClr val="37415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48" name="Google Shape;148;g2764ec92b73_0_33"/>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52" name="Shape 152"/>
        <p:cNvGrpSpPr/>
        <p:nvPr/>
      </p:nvGrpSpPr>
      <p:grpSpPr>
        <a:xfrm>
          <a:off x="0" y="0"/>
          <a:ext cx="0" cy="0"/>
          <a:chOff x="0" y="0"/>
          <a:chExt cx="0" cy="0"/>
        </a:xfrm>
      </p:grpSpPr>
      <p:sp>
        <p:nvSpPr>
          <p:cNvPr id="153" name="Google Shape;153;g2598f7def12_0_41"/>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Contenedores: ¿Que son?</a:t>
            </a:r>
            <a:endParaRPr sz="3200">
              <a:solidFill>
                <a:schemeClr val="lt1"/>
              </a:solidFill>
            </a:endParaRPr>
          </a:p>
        </p:txBody>
      </p:sp>
      <p:sp>
        <p:nvSpPr>
          <p:cNvPr id="154" name="Google Shape;154;g2598f7def12_0_41"/>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2400"/>
              <a:buFont typeface="Arial"/>
              <a:buNone/>
            </a:pPr>
            <a:r>
              <a:t/>
            </a:r>
            <a:endParaRPr sz="2500">
              <a:solidFill>
                <a:srgbClr val="374151"/>
              </a:solidFill>
              <a:highlight>
                <a:srgbClr val="F7F7F8"/>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rPr lang="es-ES" sz="2500">
                <a:solidFill>
                  <a:schemeClr val="dk1"/>
                </a:solidFill>
                <a:highlight>
                  <a:schemeClr val="lt1"/>
                </a:highlight>
                <a:latin typeface="Calibri"/>
                <a:ea typeface="Calibri"/>
                <a:cs typeface="Calibri"/>
                <a:sym typeface="Calibri"/>
              </a:rPr>
              <a:t>Los contenedores son unidades de ejecución aisladas y portátiles que contienen una aplicación y todas sus dependencias, incluyendo el sistema operativo, bibliotecas y configuraciones necesarias para que la aplicación se ejecute correctamente. </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rPr lang="es-ES" sz="2500">
                <a:solidFill>
                  <a:schemeClr val="dk1"/>
                </a:solidFill>
                <a:highlight>
                  <a:schemeClr val="lt1"/>
                </a:highlight>
                <a:latin typeface="Calibri"/>
                <a:ea typeface="Calibri"/>
                <a:cs typeface="Calibri"/>
                <a:sym typeface="Calibri"/>
              </a:rPr>
              <a:t>Un contenedor encapsula todos estos componentes de manera eficiente y garantiza que la aplicación se ejecute de la misma manera en cualquier entorno, ya sea en un entorno de desarrollo, prueba o producción. El Software de contenedores más utilizado es Docker.</a:t>
            </a:r>
            <a:endParaRPr sz="25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55" name="Google Shape;155;g2598f7def12_0_41"/>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59" name="Shape 159"/>
        <p:cNvGrpSpPr/>
        <p:nvPr/>
      </p:nvGrpSpPr>
      <p:grpSpPr>
        <a:xfrm>
          <a:off x="0" y="0"/>
          <a:ext cx="0" cy="0"/>
          <a:chOff x="0" y="0"/>
          <a:chExt cx="0" cy="0"/>
        </a:xfrm>
      </p:grpSpPr>
      <p:sp>
        <p:nvSpPr>
          <p:cNvPr id="160" name="Google Shape;160;g2598f7def12_0_17"/>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15000"/>
              </a:lnSpc>
              <a:spcBef>
                <a:spcPts val="1500"/>
              </a:spcBef>
              <a:spcAft>
                <a:spcPts val="1500"/>
              </a:spcAft>
              <a:buClr>
                <a:schemeClr val="dk1"/>
              </a:buClr>
              <a:buSzPts val="1100"/>
              <a:buFont typeface="Arial"/>
              <a:buNone/>
            </a:pPr>
            <a:r>
              <a:rPr lang="es-ES" sz="3200">
                <a:solidFill>
                  <a:schemeClr val="lt1"/>
                </a:solidFill>
                <a:highlight>
                  <a:schemeClr val="accent1"/>
                </a:highlight>
              </a:rPr>
              <a:t>C</a:t>
            </a:r>
            <a:r>
              <a:rPr lang="es-ES" sz="3200">
                <a:solidFill>
                  <a:schemeClr val="lt1"/>
                </a:solidFill>
                <a:highlight>
                  <a:schemeClr val="accent1"/>
                </a:highlight>
              </a:rPr>
              <a:t>ontenedores: características clave </a:t>
            </a:r>
            <a:endParaRPr sz="3200">
              <a:solidFill>
                <a:schemeClr val="lt1"/>
              </a:solidFill>
              <a:highlight>
                <a:schemeClr val="accent1"/>
              </a:highlight>
            </a:endParaRPr>
          </a:p>
        </p:txBody>
      </p:sp>
      <p:sp>
        <p:nvSpPr>
          <p:cNvPr id="161" name="Google Shape;161;g2598f7def12_0_17"/>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Aislamiento: </a:t>
            </a:r>
            <a:r>
              <a:rPr lang="es-ES" sz="2500">
                <a:solidFill>
                  <a:schemeClr val="dk1"/>
                </a:solidFill>
                <a:highlight>
                  <a:schemeClr val="lt1"/>
                </a:highlight>
                <a:latin typeface="Calibri"/>
                <a:ea typeface="Calibri"/>
                <a:cs typeface="Calibri"/>
                <a:sym typeface="Calibri"/>
              </a:rPr>
              <a:t>Los contenedores proporcionan un entorno aislado para ejecutar aplicaciones, lo que significa que cada contenedor funciona de forma independiente. Esto ayuda a prevenir conflictos y problemas de seguridad.</a:t>
            </a:r>
            <a:endParaRPr sz="25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Portabilidad:</a:t>
            </a:r>
            <a:r>
              <a:rPr lang="es-ES" sz="2500">
                <a:solidFill>
                  <a:schemeClr val="dk1"/>
                </a:solidFill>
                <a:highlight>
                  <a:schemeClr val="lt1"/>
                </a:highlight>
                <a:latin typeface="Calibri"/>
                <a:ea typeface="Calibri"/>
                <a:cs typeface="Calibri"/>
                <a:sym typeface="Calibri"/>
              </a:rPr>
              <a:t> Los contenedores son portátiles y se pueden ejecutar en diferentes sistemas operativos y entornos de manera consistente. Esto se debe a que encapsulan todas las dependencias necesarias para la aplicación dentro del contenedor, lo que evita problemas de compatibilidad, facilitando la migración y el despliegue en diferentes sistemas operativos y plataformas en la nube.</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chemeClr val="dk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62" name="Google Shape;162;g2598f7def12_0_17"/>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66" name="Shape 166"/>
        <p:cNvGrpSpPr/>
        <p:nvPr/>
      </p:nvGrpSpPr>
      <p:grpSpPr>
        <a:xfrm>
          <a:off x="0" y="0"/>
          <a:ext cx="0" cy="0"/>
          <a:chOff x="0" y="0"/>
          <a:chExt cx="0" cy="0"/>
        </a:xfrm>
      </p:grpSpPr>
      <p:sp>
        <p:nvSpPr>
          <p:cNvPr id="167" name="Google Shape;167;g2598f7def12_0_24"/>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15000"/>
              </a:lnSpc>
              <a:spcBef>
                <a:spcPts val="1500"/>
              </a:spcBef>
              <a:spcAft>
                <a:spcPts val="1500"/>
              </a:spcAft>
              <a:buClr>
                <a:schemeClr val="dk1"/>
              </a:buClr>
              <a:buSzPts val="1100"/>
              <a:buFont typeface="Arial"/>
              <a:buNone/>
            </a:pPr>
            <a:r>
              <a:rPr lang="es-ES" sz="3200">
                <a:solidFill>
                  <a:schemeClr val="lt1"/>
                </a:solidFill>
                <a:highlight>
                  <a:schemeClr val="accent1"/>
                </a:highlight>
              </a:rPr>
              <a:t>Contenedores: características clave</a:t>
            </a:r>
            <a:endParaRPr sz="3200">
              <a:solidFill>
                <a:schemeClr val="lt1"/>
              </a:solidFill>
              <a:highlight>
                <a:schemeClr val="accent1"/>
              </a:highlight>
            </a:endParaRPr>
          </a:p>
        </p:txBody>
      </p:sp>
      <p:sp>
        <p:nvSpPr>
          <p:cNvPr id="168" name="Google Shape;168;g2598f7def12_0_24"/>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t/>
            </a:r>
            <a:endParaRPr sz="25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Eficiencia:</a:t>
            </a:r>
            <a:r>
              <a:rPr lang="es-ES" sz="2500">
                <a:solidFill>
                  <a:schemeClr val="dk1"/>
                </a:solidFill>
                <a:highlight>
                  <a:schemeClr val="lt1"/>
                </a:highlight>
                <a:latin typeface="Calibri"/>
                <a:ea typeface="Calibri"/>
                <a:cs typeface="Calibri"/>
                <a:sym typeface="Calibri"/>
              </a:rPr>
              <a:t> Los contenedores son ligeros y tienen un tiempo de inicio rápido. Esto se debe a que comparten el mismo kernel del sistema operativo subyacente, lo que permite un uso eficiente de los recursos y una rápida creación y destrucción de contenedores.</a:t>
            </a:r>
            <a:endParaRPr sz="25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1500"/>
              </a:spcAft>
              <a:buNone/>
            </a:pPr>
            <a:r>
              <a:rPr b="1" lang="es-ES" sz="2500">
                <a:solidFill>
                  <a:schemeClr val="dk1"/>
                </a:solidFill>
                <a:highlight>
                  <a:schemeClr val="lt1"/>
                </a:highlight>
                <a:latin typeface="Calibri"/>
                <a:ea typeface="Calibri"/>
                <a:cs typeface="Calibri"/>
                <a:sym typeface="Calibri"/>
              </a:rPr>
              <a:t>Escalabilidad:</a:t>
            </a:r>
            <a:r>
              <a:rPr lang="es-ES" sz="2500">
                <a:solidFill>
                  <a:schemeClr val="dk1"/>
                </a:solidFill>
                <a:highlight>
                  <a:schemeClr val="lt1"/>
                </a:highlight>
                <a:latin typeface="Calibri"/>
                <a:ea typeface="Calibri"/>
                <a:cs typeface="Calibri"/>
                <a:sym typeface="Calibri"/>
              </a:rPr>
              <a:t> Los contenedores se pueden escalar fácilmente, ya que se pueden crear múltiples instancias de un mismo contenedor según la demanda. Esto permite una rápida escalabilidad horizontal y un mejor aprovechamiento de los recursos.</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69" name="Google Shape;169;g2598f7def12_0_24"/>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73" name="Shape 173"/>
        <p:cNvGrpSpPr/>
        <p:nvPr/>
      </p:nvGrpSpPr>
      <p:grpSpPr>
        <a:xfrm>
          <a:off x="0" y="0"/>
          <a:ext cx="0" cy="0"/>
          <a:chOff x="0" y="0"/>
          <a:chExt cx="0" cy="0"/>
        </a:xfrm>
      </p:grpSpPr>
      <p:sp>
        <p:nvSpPr>
          <p:cNvPr id="174" name="Google Shape;174;g2598f7def12_0_30"/>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15000"/>
              </a:lnSpc>
              <a:spcBef>
                <a:spcPts val="1500"/>
              </a:spcBef>
              <a:spcAft>
                <a:spcPts val="1500"/>
              </a:spcAft>
              <a:buClr>
                <a:schemeClr val="dk1"/>
              </a:buClr>
              <a:buSzPts val="1100"/>
              <a:buFont typeface="Arial"/>
              <a:buNone/>
            </a:pPr>
            <a:r>
              <a:rPr lang="es-ES" sz="3200">
                <a:solidFill>
                  <a:schemeClr val="lt1"/>
                </a:solidFill>
                <a:highlight>
                  <a:schemeClr val="accent1"/>
                </a:highlight>
              </a:rPr>
              <a:t>Contenedores: características clave</a:t>
            </a:r>
            <a:endParaRPr sz="3200">
              <a:solidFill>
                <a:schemeClr val="lt1"/>
              </a:solidFill>
              <a:highlight>
                <a:schemeClr val="accent1"/>
              </a:highlight>
            </a:endParaRPr>
          </a:p>
        </p:txBody>
      </p:sp>
      <p:sp>
        <p:nvSpPr>
          <p:cNvPr id="175" name="Google Shape;175;g2598f7def12_0_30"/>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t/>
            </a:r>
            <a:endParaRPr sz="25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None/>
            </a:pPr>
            <a:r>
              <a:t/>
            </a:r>
            <a:endParaRPr b="1" sz="25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Gestión simplificada:</a:t>
            </a:r>
            <a:r>
              <a:rPr lang="es-ES" sz="2500">
                <a:solidFill>
                  <a:schemeClr val="dk1"/>
                </a:solidFill>
                <a:highlight>
                  <a:schemeClr val="lt1"/>
                </a:highlight>
                <a:latin typeface="Calibri"/>
                <a:ea typeface="Calibri"/>
                <a:cs typeface="Calibri"/>
                <a:sym typeface="Calibri"/>
              </a:rPr>
              <a:t> Los contenedores se pueden gestionar de forma centralizada utilizando herramientas específicas, como Docker Swarm, Kub</a:t>
            </a:r>
            <a:r>
              <a:rPr lang="es-ES" sz="2500">
                <a:solidFill>
                  <a:schemeClr val="dk1"/>
                </a:solidFill>
                <a:highlight>
                  <a:schemeClr val="lt1"/>
                </a:highlight>
                <a:latin typeface="Calibri"/>
                <a:ea typeface="Calibri"/>
                <a:cs typeface="Calibri"/>
                <a:sym typeface="Calibri"/>
              </a:rPr>
              <a:t>ernetes, </a:t>
            </a:r>
            <a:r>
              <a:rPr lang="es-ES" sz="2500">
                <a:solidFill>
                  <a:schemeClr val="dk1"/>
                </a:solidFill>
                <a:highlight>
                  <a:schemeClr val="lt1"/>
                </a:highlight>
                <a:latin typeface="Calibri"/>
                <a:ea typeface="Calibri"/>
                <a:cs typeface="Calibri"/>
                <a:sym typeface="Calibri"/>
              </a:rPr>
              <a:t>Azure Kubernetes Service (AKS), Google Kubernetes Engine (GKE), las cuales</a:t>
            </a:r>
            <a:r>
              <a:rPr lang="es-ES" sz="2500">
                <a:solidFill>
                  <a:schemeClr val="dk1"/>
                </a:solidFill>
                <a:highlight>
                  <a:schemeClr val="lt1"/>
                </a:highlight>
                <a:latin typeface="Calibri"/>
                <a:ea typeface="Calibri"/>
                <a:cs typeface="Calibri"/>
                <a:sym typeface="Calibri"/>
              </a:rPr>
              <a:t> facilitan el despliegue, </a:t>
            </a:r>
            <a:r>
              <a:rPr lang="es-ES" sz="2500">
                <a:solidFill>
                  <a:schemeClr val="dk1"/>
                </a:solidFill>
                <a:highlight>
                  <a:schemeClr val="lt1"/>
                </a:highlight>
                <a:latin typeface="Calibri"/>
                <a:ea typeface="Calibri"/>
                <a:cs typeface="Calibri"/>
                <a:sym typeface="Calibri"/>
              </a:rPr>
              <a:t>monitorización y orquestación de los contenedores en entornos de producción.</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chemeClr val="dk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76" name="Google Shape;176;g2598f7def12_0_30"/>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80" name="Shape 180"/>
        <p:cNvGrpSpPr/>
        <p:nvPr/>
      </p:nvGrpSpPr>
      <p:grpSpPr>
        <a:xfrm>
          <a:off x="0" y="0"/>
          <a:ext cx="0" cy="0"/>
          <a:chOff x="0" y="0"/>
          <a:chExt cx="0" cy="0"/>
        </a:xfrm>
      </p:grpSpPr>
      <p:sp>
        <p:nvSpPr>
          <p:cNvPr id="181" name="Google Shape;181;g25a1f5cbc60_0_0"/>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15000"/>
              </a:lnSpc>
              <a:spcBef>
                <a:spcPts val="1500"/>
              </a:spcBef>
              <a:spcAft>
                <a:spcPts val="1500"/>
              </a:spcAft>
              <a:buClr>
                <a:schemeClr val="dk1"/>
              </a:buClr>
              <a:buSzPts val="1100"/>
              <a:buFont typeface="Arial"/>
              <a:buNone/>
            </a:pPr>
            <a:r>
              <a:rPr lang="es-ES" sz="3200">
                <a:solidFill>
                  <a:schemeClr val="lt1"/>
                </a:solidFill>
                <a:highlight>
                  <a:schemeClr val="accent1"/>
                </a:highlight>
              </a:rPr>
              <a:t>Gestión de Contenedores: Beneficios</a:t>
            </a:r>
            <a:endParaRPr sz="3200">
              <a:solidFill>
                <a:schemeClr val="lt1"/>
              </a:solidFill>
              <a:highlight>
                <a:schemeClr val="accent1"/>
              </a:highlight>
            </a:endParaRPr>
          </a:p>
        </p:txBody>
      </p:sp>
      <p:sp>
        <p:nvSpPr>
          <p:cNvPr id="182" name="Google Shape;182;g25a1f5cbc60_0_0"/>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Orquestación de contenedores:</a:t>
            </a:r>
            <a:r>
              <a:rPr lang="es-ES" sz="2500">
                <a:solidFill>
                  <a:schemeClr val="dk1"/>
                </a:solidFill>
                <a:highlight>
                  <a:schemeClr val="lt1"/>
                </a:highlight>
                <a:latin typeface="Calibri"/>
                <a:ea typeface="Calibri"/>
                <a:cs typeface="Calibri"/>
                <a:sym typeface="Calibri"/>
              </a:rPr>
              <a:t> permite la gestión y programación eficiente de contenedores en clústeres. Puede crear y gestionar múltiples contenedores en diferentes nodos, distribuyendo las cargas de trabajo de manera equilibrada y garantizando la alta disponibilidad de las aplicaciones.</a:t>
            </a:r>
            <a:endParaRPr sz="25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Escalado automático: </a:t>
            </a:r>
            <a:r>
              <a:rPr lang="es-ES" sz="2500">
                <a:solidFill>
                  <a:schemeClr val="dk1"/>
                </a:solidFill>
                <a:highlight>
                  <a:schemeClr val="lt1"/>
                </a:highlight>
                <a:latin typeface="Calibri"/>
                <a:ea typeface="Calibri"/>
                <a:cs typeface="Calibri"/>
                <a:sym typeface="Calibri"/>
              </a:rPr>
              <a:t>facilita el escalado automático de aplicaciones en función de la carga de trabajo. Puede ajustar automáticamente el número de réplicas de un conjunto de pods en función de las métricas definidas, como la CPU o la utilización de memoria, lo que permite un uso eficiente de los recursos y garantiza un rendimiento óptimo.</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chemeClr val="dk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83" name="Google Shape;183;g25a1f5cbc60_0_0"/>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87" name="Shape 187"/>
        <p:cNvGrpSpPr/>
        <p:nvPr/>
      </p:nvGrpSpPr>
      <p:grpSpPr>
        <a:xfrm>
          <a:off x="0" y="0"/>
          <a:ext cx="0" cy="0"/>
          <a:chOff x="0" y="0"/>
          <a:chExt cx="0" cy="0"/>
        </a:xfrm>
      </p:grpSpPr>
      <p:sp>
        <p:nvSpPr>
          <p:cNvPr id="188" name="Google Shape;188;g25a1f5cbc60_0_8"/>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15000"/>
              </a:lnSpc>
              <a:spcBef>
                <a:spcPts val="1500"/>
              </a:spcBef>
              <a:spcAft>
                <a:spcPts val="1500"/>
              </a:spcAft>
              <a:buClr>
                <a:schemeClr val="dk1"/>
              </a:buClr>
              <a:buSzPts val="1100"/>
              <a:buFont typeface="Arial"/>
              <a:buNone/>
            </a:pPr>
            <a:r>
              <a:rPr lang="es-ES" sz="3200">
                <a:solidFill>
                  <a:schemeClr val="lt1"/>
                </a:solidFill>
                <a:highlight>
                  <a:schemeClr val="accent1"/>
                </a:highlight>
              </a:rPr>
              <a:t>Gestión de Contenedores: funcionalidades</a:t>
            </a:r>
            <a:endParaRPr sz="3200">
              <a:solidFill>
                <a:schemeClr val="lt1"/>
              </a:solidFill>
              <a:highlight>
                <a:schemeClr val="accent1"/>
              </a:highlight>
            </a:endParaRPr>
          </a:p>
        </p:txBody>
      </p:sp>
      <p:sp>
        <p:nvSpPr>
          <p:cNvPr id="189" name="Google Shape;189;g25a1f5cbc60_0_8"/>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Descubrimiento de servicios: </a:t>
            </a:r>
            <a:r>
              <a:rPr lang="es-ES" sz="2500">
                <a:solidFill>
                  <a:schemeClr val="dk1"/>
                </a:solidFill>
                <a:highlight>
                  <a:schemeClr val="lt1"/>
                </a:highlight>
                <a:latin typeface="Calibri"/>
                <a:ea typeface="Calibri"/>
                <a:cs typeface="Calibri"/>
                <a:sym typeface="Calibri"/>
              </a:rPr>
              <a:t>proporciona un sistema de descubrimiento de servicios que permite a los contenedores encontrar y comunicarse entre sí de manera dinámica. Cada servicio tiene su propia dirección IP y nombre DNS, lo que facilita la comunicación y el enrutamiento de tráfico entre los componentes de la aplicación.</a:t>
            </a:r>
            <a:endParaRPr sz="25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Balanceo de carga:</a:t>
            </a:r>
            <a:r>
              <a:rPr lang="es-ES" sz="2500">
                <a:solidFill>
                  <a:schemeClr val="dk1"/>
                </a:solidFill>
                <a:highlight>
                  <a:schemeClr val="lt1"/>
                </a:highlight>
                <a:latin typeface="Calibri"/>
                <a:ea typeface="Calibri"/>
                <a:cs typeface="Calibri"/>
                <a:sym typeface="Calibri"/>
              </a:rPr>
              <a:t> ofrece balanceo de carga integrado para distribuir el tráfico de red. Puede configurar reglas de balanceo de carga y utilizar algoritmos de balanceo, como round-robin, para garantizar una distribución equitativa de las solicitudes y una mayor disponibilidad de la aplicación.</a:t>
            </a:r>
            <a:endParaRPr sz="2500">
              <a:solidFill>
                <a:schemeClr val="dk1"/>
              </a:solidFill>
              <a:highlight>
                <a:schemeClr val="lt1"/>
              </a:highlight>
              <a:latin typeface="Calibri"/>
              <a:ea typeface="Calibri"/>
              <a:cs typeface="Calibri"/>
              <a:sym typeface="Calibri"/>
            </a:endParaRPr>
          </a:p>
          <a:p>
            <a:pPr indent="0" lvl="0" marL="0" marR="0" rtl="0" algn="l">
              <a:lnSpc>
                <a:spcPct val="115000"/>
              </a:lnSpc>
              <a:spcBef>
                <a:spcPts val="150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90" name="Google Shape;190;g25a1f5cbc60_0_8"/>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94" name="Shape 194"/>
        <p:cNvGrpSpPr/>
        <p:nvPr/>
      </p:nvGrpSpPr>
      <p:grpSpPr>
        <a:xfrm>
          <a:off x="0" y="0"/>
          <a:ext cx="0" cy="0"/>
          <a:chOff x="0" y="0"/>
          <a:chExt cx="0" cy="0"/>
        </a:xfrm>
      </p:grpSpPr>
      <p:sp>
        <p:nvSpPr>
          <p:cNvPr id="195" name="Google Shape;195;g25a1f5cbc60_0_14"/>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15000"/>
              </a:lnSpc>
              <a:spcBef>
                <a:spcPts val="1500"/>
              </a:spcBef>
              <a:spcAft>
                <a:spcPts val="1500"/>
              </a:spcAft>
              <a:buClr>
                <a:schemeClr val="dk1"/>
              </a:buClr>
              <a:buSzPts val="1100"/>
              <a:buFont typeface="Arial"/>
              <a:buNone/>
            </a:pPr>
            <a:r>
              <a:rPr lang="es-ES" sz="3200">
                <a:solidFill>
                  <a:schemeClr val="lt1"/>
                </a:solidFill>
                <a:highlight>
                  <a:schemeClr val="accent1"/>
                </a:highlight>
              </a:rPr>
              <a:t>Gestión de Contenedores: funcionalidades</a:t>
            </a:r>
            <a:endParaRPr sz="3200">
              <a:solidFill>
                <a:schemeClr val="lt1"/>
              </a:solidFill>
              <a:highlight>
                <a:schemeClr val="accent1"/>
              </a:highlight>
            </a:endParaRPr>
          </a:p>
        </p:txBody>
      </p:sp>
      <p:sp>
        <p:nvSpPr>
          <p:cNvPr id="196" name="Google Shape;196;g25a1f5cbc60_0_14"/>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Actualizaciones y despliegues sin tiempo de inactividad:</a:t>
            </a:r>
            <a:r>
              <a:rPr lang="es-ES" sz="2500">
                <a:solidFill>
                  <a:schemeClr val="dk1"/>
                </a:solidFill>
                <a:highlight>
                  <a:schemeClr val="lt1"/>
                </a:highlight>
                <a:latin typeface="Calibri"/>
                <a:ea typeface="Calibri"/>
                <a:cs typeface="Calibri"/>
                <a:sym typeface="Calibri"/>
              </a:rPr>
              <a:t> permite realizar actualizaciones y despliegues de aplicaciones de forma transparente y sin tiempo de inactividad. Puedes implementar nuevas versiones de la aplicación gradualmente, asegurando que las réplicas antiguas y nuevas coexistan y validando el estado antes de finalizar la actualización.</a:t>
            </a:r>
            <a:endParaRPr sz="25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Gestión de almacenamiento: </a:t>
            </a:r>
            <a:r>
              <a:rPr lang="es-ES" sz="2500">
                <a:solidFill>
                  <a:schemeClr val="dk1"/>
                </a:solidFill>
                <a:highlight>
                  <a:schemeClr val="lt1"/>
                </a:highlight>
                <a:latin typeface="Calibri"/>
                <a:ea typeface="Calibri"/>
                <a:cs typeface="Calibri"/>
                <a:sym typeface="Calibri"/>
              </a:rPr>
              <a:t>ofrece características avanzadas para la gestión de almacenamiento persistente. Puede montar volúmenes de almacenamiento en contenedores, garantizando la persistencia de los datos incluso cuando los pods (</a:t>
            </a:r>
            <a:r>
              <a:rPr lang="es-ES" sz="2500">
                <a:solidFill>
                  <a:schemeClr val="dk1"/>
                </a:solidFill>
                <a:highlight>
                  <a:schemeClr val="lt1"/>
                </a:highlight>
                <a:latin typeface="Calibri"/>
                <a:ea typeface="Calibri"/>
                <a:cs typeface="Calibri"/>
                <a:sym typeface="Calibri"/>
              </a:rPr>
              <a:t>unidad básica de implementación y ejecución de contenedores) </a:t>
            </a:r>
            <a:r>
              <a:rPr lang="es-ES" sz="2500">
                <a:solidFill>
                  <a:schemeClr val="dk1"/>
                </a:solidFill>
                <a:highlight>
                  <a:schemeClr val="lt1"/>
                </a:highlight>
                <a:latin typeface="Calibri"/>
                <a:ea typeface="Calibri"/>
                <a:cs typeface="Calibri"/>
                <a:sym typeface="Calibri"/>
              </a:rPr>
              <a:t>se reinician o se mueven entre nodos.</a:t>
            </a:r>
            <a:endParaRPr sz="25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None/>
            </a:pPr>
            <a:r>
              <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chemeClr val="dk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197" name="Google Shape;197;g25a1f5cbc60_0_14"/>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1" name="Shape 201"/>
        <p:cNvGrpSpPr/>
        <p:nvPr/>
      </p:nvGrpSpPr>
      <p:grpSpPr>
        <a:xfrm>
          <a:off x="0" y="0"/>
          <a:ext cx="0" cy="0"/>
          <a:chOff x="0" y="0"/>
          <a:chExt cx="0" cy="0"/>
        </a:xfrm>
      </p:grpSpPr>
      <p:sp>
        <p:nvSpPr>
          <p:cNvPr id="202" name="Google Shape;202;g25a1f5cbc60_0_21"/>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90"/>
              </a:srgbClr>
            </a:outerShdw>
          </a:effectLst>
        </p:spPr>
        <p:txBody>
          <a:bodyPr anchorCtr="0" anchor="ctr" bIns="45700" lIns="91425" spcFirstLastPara="1" rIns="91425" wrap="square" tIns="45700">
            <a:normAutofit/>
          </a:bodyPr>
          <a:lstStyle/>
          <a:p>
            <a:pPr indent="0" lvl="0" marL="0" rtl="0" algn="ctr">
              <a:lnSpc>
                <a:spcPct val="115000"/>
              </a:lnSpc>
              <a:spcBef>
                <a:spcPts val="1500"/>
              </a:spcBef>
              <a:spcAft>
                <a:spcPts val="1500"/>
              </a:spcAft>
              <a:buClr>
                <a:schemeClr val="dk1"/>
              </a:buClr>
              <a:buSzPts val="1100"/>
              <a:buFont typeface="Arial"/>
              <a:buNone/>
            </a:pPr>
            <a:r>
              <a:rPr lang="es-ES" sz="3200">
                <a:solidFill>
                  <a:schemeClr val="lt1"/>
                </a:solidFill>
                <a:highlight>
                  <a:schemeClr val="accent1"/>
                </a:highlight>
              </a:rPr>
              <a:t>Gestión de Contenedores: funcionalidades</a:t>
            </a:r>
            <a:endParaRPr sz="3200">
              <a:solidFill>
                <a:schemeClr val="lt1"/>
              </a:solidFill>
              <a:highlight>
                <a:schemeClr val="accent1"/>
              </a:highlight>
            </a:endParaRPr>
          </a:p>
        </p:txBody>
      </p:sp>
      <p:sp>
        <p:nvSpPr>
          <p:cNvPr id="203" name="Google Shape;203;g25a1f5cbc60_0_21"/>
          <p:cNvSpPr txBox="1"/>
          <p:nvPr/>
        </p:nvSpPr>
        <p:spPr>
          <a:xfrm>
            <a:off x="179500" y="1353250"/>
            <a:ext cx="8824200" cy="533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t/>
            </a:r>
            <a:endParaRPr sz="25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None/>
            </a:pPr>
            <a:r>
              <a:t/>
            </a:r>
            <a:endParaRPr sz="2500">
              <a:solidFill>
                <a:schemeClr val="dk1"/>
              </a:solidFill>
              <a:highlight>
                <a:schemeClr val="lt1"/>
              </a:highlight>
              <a:latin typeface="Calibri"/>
              <a:ea typeface="Calibri"/>
              <a:cs typeface="Calibri"/>
              <a:sym typeface="Calibri"/>
            </a:endParaRPr>
          </a:p>
          <a:p>
            <a:pPr indent="0" lvl="0" marL="0" rtl="0" algn="l">
              <a:lnSpc>
                <a:spcPct val="115000"/>
              </a:lnSpc>
              <a:spcBef>
                <a:spcPts val="1500"/>
              </a:spcBef>
              <a:spcAft>
                <a:spcPts val="0"/>
              </a:spcAft>
              <a:buNone/>
            </a:pPr>
            <a:r>
              <a:rPr b="1" lang="es-ES" sz="2500">
                <a:solidFill>
                  <a:schemeClr val="dk1"/>
                </a:solidFill>
                <a:highlight>
                  <a:schemeClr val="lt1"/>
                </a:highlight>
                <a:latin typeface="Calibri"/>
                <a:ea typeface="Calibri"/>
                <a:cs typeface="Calibri"/>
                <a:sym typeface="Calibri"/>
              </a:rPr>
              <a:t>Autosanidad y autorrecuperación:</a:t>
            </a:r>
            <a:r>
              <a:rPr lang="es-ES" sz="2500">
                <a:solidFill>
                  <a:schemeClr val="dk1"/>
                </a:solidFill>
                <a:highlight>
                  <a:schemeClr val="lt1"/>
                </a:highlight>
                <a:latin typeface="Calibri"/>
                <a:ea typeface="Calibri"/>
                <a:cs typeface="Calibri"/>
                <a:sym typeface="Calibri"/>
              </a:rPr>
              <a:t> monitorea constantemente el estado de los nodos y los contenedores. Si detecta un fallo en un nodo o un contenedor, intentará recuperar automáticamente la aplicación reiniciando el contenedor en otro nodo sano.</a:t>
            </a:r>
            <a:endParaRPr sz="2500">
              <a:solidFill>
                <a:schemeClr val="dk1"/>
              </a:solidFill>
              <a:highlight>
                <a:schemeClr val="lt1"/>
              </a:highlight>
              <a:latin typeface="Calibri"/>
              <a:ea typeface="Calibri"/>
              <a:cs typeface="Calibri"/>
              <a:sym typeface="Calibri"/>
            </a:endParaRPr>
          </a:p>
          <a:p>
            <a:pPr indent="0" lvl="0" marL="0" rtl="0" algn="just">
              <a:lnSpc>
                <a:spcPct val="115000"/>
              </a:lnSpc>
              <a:spcBef>
                <a:spcPts val="1500"/>
              </a:spcBef>
              <a:spcAft>
                <a:spcPts val="0"/>
              </a:spcAft>
              <a:buNone/>
            </a:pPr>
            <a:r>
              <a:t/>
            </a:r>
            <a:endParaRPr sz="2500">
              <a:solidFill>
                <a:schemeClr val="dk1"/>
              </a:solidFill>
              <a:highlight>
                <a:schemeClr val="lt1"/>
              </a:highlight>
              <a:latin typeface="Calibri"/>
              <a:ea typeface="Calibri"/>
              <a:cs typeface="Calibri"/>
              <a:sym typeface="Calibri"/>
            </a:endParaRPr>
          </a:p>
          <a:p>
            <a:pPr indent="0" lvl="0" marL="0" marR="0" rtl="0" algn="just">
              <a:lnSpc>
                <a:spcPct val="115000"/>
              </a:lnSpc>
              <a:spcBef>
                <a:spcPts val="1500"/>
              </a:spcBef>
              <a:spcAft>
                <a:spcPts val="0"/>
              </a:spcAft>
              <a:buClr>
                <a:srgbClr val="000000"/>
              </a:buClr>
              <a:buSzPts val="2400"/>
              <a:buFont typeface="Arial"/>
              <a:buNone/>
            </a:pPr>
            <a:r>
              <a:t/>
            </a:r>
            <a:endParaRPr sz="2500">
              <a:solidFill>
                <a:schemeClr val="dk1"/>
              </a:solidFill>
              <a:highlight>
                <a:srgbClr val="F7F7F8"/>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204" name="Google Shape;204;g25a1f5cbc60_0_21"/>
          <p:cNvPicPr preferRelativeResize="0"/>
          <p:nvPr/>
        </p:nvPicPr>
        <p:blipFill rotWithShape="1">
          <a:blip r:embed="rId3">
            <a:alphaModFix/>
          </a:blip>
          <a:srcRect b="0" l="0" r="0" t="0"/>
          <a:stretch/>
        </p:blipFill>
        <p:spPr>
          <a:xfrm>
            <a:off x="7956375" y="210575"/>
            <a:ext cx="1047425" cy="11426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8" name="Shape 208"/>
        <p:cNvGrpSpPr/>
        <p:nvPr/>
      </p:nvGrpSpPr>
      <p:grpSpPr>
        <a:xfrm>
          <a:off x="0" y="0"/>
          <a:ext cx="0" cy="0"/>
          <a:chOff x="0" y="0"/>
          <a:chExt cx="0" cy="0"/>
        </a:xfrm>
      </p:grpSpPr>
      <p:sp>
        <p:nvSpPr>
          <p:cNvPr id="209" name="Google Shape;209;g2313c7b2c51_0_9"/>
          <p:cNvSpPr txBox="1"/>
          <p:nvPr>
            <p:ph type="title"/>
          </p:nvPr>
        </p:nvSpPr>
        <p:spPr>
          <a:xfrm>
            <a:off x="179512" y="260648"/>
            <a:ext cx="7776900" cy="9360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5686"/>
              </a:srgbClr>
            </a:outerShdw>
          </a:effectLst>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Calibri"/>
              <a:buNone/>
            </a:pPr>
            <a:r>
              <a:rPr lang="es-ES" sz="3200">
                <a:solidFill>
                  <a:schemeClr val="lt1"/>
                </a:solidFill>
              </a:rPr>
              <a:t>Bibliografía</a:t>
            </a:r>
            <a:endParaRPr sz="3200">
              <a:solidFill>
                <a:schemeClr val="lt1"/>
              </a:solidFill>
            </a:endParaRPr>
          </a:p>
        </p:txBody>
      </p:sp>
      <p:sp>
        <p:nvSpPr>
          <p:cNvPr id="210" name="Google Shape;210;g2313c7b2c51_0_9"/>
          <p:cNvSpPr txBox="1"/>
          <p:nvPr/>
        </p:nvSpPr>
        <p:spPr>
          <a:xfrm>
            <a:off x="179550" y="1410850"/>
            <a:ext cx="8784900" cy="961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400"/>
              <a:buFont typeface="Arial"/>
              <a:buNone/>
            </a:pPr>
            <a:r>
              <a:rPr b="1" i="0" lang="es-ES" sz="2400" u="sng" cap="none" strike="noStrike">
                <a:solidFill>
                  <a:schemeClr val="hlink"/>
                </a:solidFill>
                <a:highlight>
                  <a:schemeClr val="lt1"/>
                </a:highlight>
                <a:latin typeface="Calibri"/>
                <a:ea typeface="Calibri"/>
                <a:cs typeface="Calibri"/>
                <a:sym typeface="Calibri"/>
                <a:hlinkClick r:id="rId3"/>
              </a:rPr>
              <a:t>https://www.atlassian.com/es/agile</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rPr b="1" i="0" lang="es-ES" sz="2400" u="sng" cap="none" strike="noStrike">
                <a:solidFill>
                  <a:schemeClr val="hlink"/>
                </a:solidFill>
                <a:highlight>
                  <a:schemeClr val="lt1"/>
                </a:highlight>
                <a:latin typeface="Calibri"/>
                <a:ea typeface="Calibri"/>
                <a:cs typeface="Calibri"/>
                <a:sym typeface="Calibri"/>
                <a:hlinkClick r:id="rId4"/>
              </a:rPr>
              <a:t>https://www.atlassian.com/es/agile/devops</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rPr b="1" lang="es-ES" sz="2400" u="sng">
                <a:solidFill>
                  <a:schemeClr val="hlink"/>
                </a:solidFill>
                <a:highlight>
                  <a:schemeClr val="lt1"/>
                </a:highlight>
                <a:latin typeface="Calibri"/>
                <a:ea typeface="Calibri"/>
                <a:cs typeface="Calibri"/>
                <a:sym typeface="Calibri"/>
                <a:hlinkClick r:id="rId5"/>
              </a:rPr>
              <a:t>https://www.netapp.com/es/devops-solutions/what-is-devops/</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rPr b="1" lang="es-ES" sz="2400" u="sng">
                <a:solidFill>
                  <a:schemeClr val="hlink"/>
                </a:solidFill>
                <a:highlight>
                  <a:schemeClr val="lt1"/>
                </a:highlight>
                <a:latin typeface="Calibri"/>
                <a:ea typeface="Calibri"/>
                <a:cs typeface="Calibri"/>
                <a:sym typeface="Calibri"/>
                <a:hlinkClick r:id="rId6"/>
              </a:rPr>
              <a:t>https://azure.microsoft.com/es-es/resources/cloud-computing-dictionary/what-is-devops#start</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rPr b="1" lang="es-ES" sz="2400">
                <a:solidFill>
                  <a:schemeClr val="dk1"/>
                </a:solidFill>
                <a:highlight>
                  <a:schemeClr val="lt1"/>
                </a:highlight>
                <a:latin typeface="Calibri"/>
                <a:ea typeface="Calibri"/>
                <a:cs typeface="Calibri"/>
                <a:sym typeface="Calibri"/>
              </a:rPr>
              <a:t>Clase de DevOps Universidad de Los Andes: </a:t>
            </a:r>
            <a:r>
              <a:rPr b="1" lang="es-ES" sz="2400" u="sng">
                <a:solidFill>
                  <a:schemeClr val="hlink"/>
                </a:solidFill>
                <a:highlight>
                  <a:schemeClr val="lt1"/>
                </a:highlight>
                <a:latin typeface="Calibri"/>
                <a:ea typeface="Calibri"/>
                <a:cs typeface="Calibri"/>
                <a:sym typeface="Calibri"/>
                <a:hlinkClick r:id="rId7"/>
              </a:rPr>
              <a:t>https://www.youtube.com/watch?v=zBoFWw2d0rQ</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rPr b="1" lang="es-ES" sz="2400">
                <a:solidFill>
                  <a:schemeClr val="dk1"/>
                </a:solidFill>
                <a:highlight>
                  <a:schemeClr val="lt1"/>
                </a:highlight>
                <a:latin typeface="Calibri"/>
                <a:ea typeface="Calibri"/>
                <a:cs typeface="Calibri"/>
                <a:sym typeface="Calibri"/>
              </a:rPr>
              <a:t>Curso Completo de DevOps: </a:t>
            </a:r>
            <a:r>
              <a:rPr b="1" lang="es-ES" sz="2400" u="sng">
                <a:solidFill>
                  <a:schemeClr val="hlink"/>
                </a:solidFill>
                <a:highlight>
                  <a:schemeClr val="lt1"/>
                </a:highlight>
                <a:latin typeface="Calibri"/>
                <a:ea typeface="Calibri"/>
                <a:cs typeface="Calibri"/>
                <a:sym typeface="Calibri"/>
                <a:hlinkClick r:id="rId8"/>
              </a:rPr>
              <a:t>https://youtube.com/playlist?list=PLEiEAq2VkUUJS6zkGgXeWw9l32EwRoYdR</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rPr b="1" lang="es-ES" sz="2400" u="sng">
                <a:solidFill>
                  <a:schemeClr val="hlink"/>
                </a:solidFill>
                <a:highlight>
                  <a:schemeClr val="lt1"/>
                </a:highlight>
                <a:latin typeface="Calibri"/>
                <a:ea typeface="Calibri"/>
                <a:cs typeface="Calibri"/>
                <a:sym typeface="Calibri"/>
                <a:hlinkClick r:id="rId9"/>
              </a:rPr>
              <a:t>https://www.atlassian.com/es/microservices</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sz="2400">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1"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4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500"/>
              <a:buFont typeface="Arial"/>
              <a:buNone/>
            </a:pPr>
            <a:r>
              <a:t/>
            </a:r>
            <a:endParaRPr b="0" i="0" sz="2400" u="none" cap="none" strike="noStrike">
              <a:solidFill>
                <a:schemeClr val="dk1"/>
              </a:solidFill>
              <a:highlight>
                <a:schemeClr val="lt1"/>
              </a:highlight>
              <a:latin typeface="Calibri"/>
              <a:ea typeface="Calibri"/>
              <a:cs typeface="Calibri"/>
              <a:sym typeface="Calibri"/>
            </a:endParaRPr>
          </a:p>
          <a:p>
            <a:pPr indent="0" lvl="0" marL="0" marR="0" rtl="0" algn="just">
              <a:lnSpc>
                <a:spcPct val="115000"/>
              </a:lnSpc>
              <a:spcBef>
                <a:spcPts val="0"/>
              </a:spcBef>
              <a:spcAft>
                <a:spcPts val="0"/>
              </a:spcAft>
              <a:buClr>
                <a:srgbClr val="000000"/>
              </a:buClr>
              <a:buSzPts val="2500"/>
              <a:buFont typeface="Arial"/>
              <a:buNone/>
            </a:pPr>
            <a:r>
              <a:t/>
            </a:r>
            <a:endParaRPr b="0" i="0" sz="2500" u="none" cap="none" strike="noStrike">
              <a:solidFill>
                <a:schemeClr val="dk1"/>
              </a:solidFill>
              <a:highlight>
                <a:schemeClr val="lt1"/>
              </a:highlight>
              <a:latin typeface="Calibri"/>
              <a:ea typeface="Calibri"/>
              <a:cs typeface="Calibri"/>
              <a:sym typeface="Calibri"/>
            </a:endParaRPr>
          </a:p>
        </p:txBody>
      </p:sp>
      <p:pic>
        <p:nvPicPr>
          <p:cNvPr descr="C:\Users\Leo\Pictures\Logo. ISFT 172.jpeg" id="211" name="Google Shape;211;g2313c7b2c51_0_9"/>
          <p:cNvPicPr preferRelativeResize="0"/>
          <p:nvPr/>
        </p:nvPicPr>
        <p:blipFill rotWithShape="1">
          <a:blip r:embed="rId10">
            <a:alphaModFix/>
          </a:blip>
          <a:srcRect b="0" l="0" r="0" t="0"/>
          <a:stretch/>
        </p:blipFill>
        <p:spPr>
          <a:xfrm>
            <a:off x="7956375" y="210575"/>
            <a:ext cx="1047425" cy="11426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2017-09-04T19:21:59Z</dcterms:created>
  <dc:creator>Pablo</dc:creator>
</cp:coreProperties>
</file>