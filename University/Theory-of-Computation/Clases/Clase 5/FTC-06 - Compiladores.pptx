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4" r:id="rId24"/>
    <p:sldId id="281" r:id="rId25"/>
    <p:sldId id="283" r:id="rId26"/>
    <p:sldId id="282" r:id="rId2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3" autoAdjust="0"/>
    <p:restoredTop sz="94660"/>
  </p:normalViewPr>
  <p:slideViewPr>
    <p:cSldViewPr snapToGrid="0">
      <p:cViewPr>
        <p:scale>
          <a:sx n="79" d="100"/>
          <a:sy n="79" d="100"/>
        </p:scale>
        <p:origin x="-384" y="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20C63B28-680B-40BA-BAF0-CDDC1C32F2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="" xmlns:a16="http://schemas.microsoft.com/office/drawing/2014/main" id="{0F6F4BC6-62A8-4F2A-A42D-0CB1F807DE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A0BAFB7C-8E0E-468F-BA89-55C5C2FE4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5C0D0081-D60A-4E86-81F7-38193259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AC70CF7D-0519-41B0-874B-4E2C5661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6438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520AE3C-5B09-4B46-BBE0-E673EEB44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E51456C3-604C-4687-B146-FB214A08B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AABEEDC8-078C-4C48-BBDF-4E4D45010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61039649-4BA3-4028-A347-55F274A7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1D36CBE0-807B-4634-9176-7C7E6E8B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07433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C367C40E-A093-4F77-96EE-E8F47941A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9A465B42-274D-40BA-A6F3-946ADCF4B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27304BA1-F4EF-439F-90ED-A2CC2A9AE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F4A60864-18DE-4CFC-BF66-FE2811758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98621648-0A93-4FD8-9CB6-5343C0019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7045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B6F827C-B803-48F5-B86D-B92952360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C91C588F-852B-449F-975E-7C26A4C79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6628B925-1FBB-4681-8B11-C508AF837B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7BE38973-6C14-4026-9C4D-C8F1B2E8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DDB0F547-15CD-4553-A2D1-C3755DDCC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C4283AA8-CF3A-4FCB-8CD5-107F8477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52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3C43476-8475-4AAE-8E41-9E8F1CBF2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5472FE43-6B8E-4D8B-A3D9-6CA2EE8593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="" xmlns:a16="http://schemas.microsoft.com/office/drawing/2014/main" id="{C87F4137-2056-4EE9-BE5D-B34E3F026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="" xmlns:a16="http://schemas.microsoft.com/office/drawing/2014/main" id="{CD4C370E-B9FC-4E8F-A17D-63E708CE5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="" xmlns:a16="http://schemas.microsoft.com/office/drawing/2014/main" id="{ED64075D-9E2E-41D3-866F-0F4199976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="" xmlns:a16="http://schemas.microsoft.com/office/drawing/2014/main" id="{0BF94304-FF68-429E-B125-EB35E568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="" xmlns:a16="http://schemas.microsoft.com/office/drawing/2014/main" id="{29B26C90-E586-4C20-A1EE-79559DBC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="" xmlns:a16="http://schemas.microsoft.com/office/drawing/2014/main" id="{0F78CF1F-BD71-4DFC-AD85-72720AE6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7652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913745E7-0DCE-49AB-83CC-67F69A7AA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="" xmlns:a16="http://schemas.microsoft.com/office/drawing/2014/main" id="{8CB90C12-73D7-4B91-A3FE-D9B03C5A3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="" xmlns:a16="http://schemas.microsoft.com/office/drawing/2014/main" id="{49FF3BAE-5BC0-4D7A-BD33-A2C6B7B0B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="" xmlns:a16="http://schemas.microsoft.com/office/drawing/2014/main" id="{AF88DC54-A363-424C-A66E-950C9D5CC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36651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="" xmlns:a16="http://schemas.microsoft.com/office/drawing/2014/main" id="{E5BD7976-1394-4FC8-B8D7-865E9C8DE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="" xmlns:a16="http://schemas.microsoft.com/office/drawing/2014/main" id="{028F63C5-9F51-4E93-91AC-A9EE785BE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="" xmlns:a16="http://schemas.microsoft.com/office/drawing/2014/main" id="{EF9FE922-64D4-4A87-98A1-87862CBB2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97064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1FE68F91-98B7-4F11-A12E-1213B9CDF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="" xmlns:a16="http://schemas.microsoft.com/office/drawing/2014/main" id="{7FA87097-9CCE-42FD-8F05-1A78140C97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8EE4BB82-AF48-4C1B-9587-B5F2D6E85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B7C612D5-09C0-4352-B682-F703B649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2F1DD472-0CA2-466D-8863-FA5B915C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F938939B-14DE-44A5-BF29-1558C10E7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9542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AD7ADDE8-35D2-4AB3-BFEB-3E15FBBF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="" xmlns:a16="http://schemas.microsoft.com/office/drawing/2014/main" id="{899135E0-503E-4D1E-BD85-3906593DE7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="" xmlns:a16="http://schemas.microsoft.com/office/drawing/2014/main" id="{5EC74D96-865F-42AB-A40B-F9A6791D6C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="" xmlns:a16="http://schemas.microsoft.com/office/drawing/2014/main" id="{F513BF82-44D5-4EC7-BF47-69B8AF762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="" xmlns:a16="http://schemas.microsoft.com/office/drawing/2014/main" id="{A3A47EA8-0240-4B42-8C01-394F3771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="" xmlns:a16="http://schemas.microsoft.com/office/drawing/2014/main" id="{99600F27-6E77-447C-8A24-E6FAA7675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5796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E1FCA8E7-3B8D-47F4-B1A0-D0DE2E7E3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B4FD2CF1-4A6B-468C-9999-AE864B208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29215B36-3672-4CAF-BE64-1FB65A513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9E73B271-8FF8-4297-82AE-18DA7918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F40AE8A8-8DE3-4451-9530-27CC790B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35374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="" xmlns:a16="http://schemas.microsoft.com/office/drawing/2014/main" id="{10D33723-CDF3-422D-9100-08480E6F2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="" xmlns:a16="http://schemas.microsoft.com/office/drawing/2014/main" id="{37542780-6BE9-4593-95AF-99AFC00C3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42F9F894-81B8-47EC-9C56-0D39A5139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FA1B4CFC-A971-433A-817E-EDD6C689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38080314-209B-470D-B49D-A95C8B9CA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8814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="" xmlns:a16="http://schemas.microsoft.com/office/drawing/2014/main" id="{9E58368F-FEC0-423C-95A5-91E910302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="" xmlns:a16="http://schemas.microsoft.com/office/drawing/2014/main" id="{67680BC2-7904-4295-A612-13C8CEDB4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="" xmlns:a16="http://schemas.microsoft.com/office/drawing/2014/main" id="{6EFDD47F-EA9A-4BBB-A3D9-D197C902D5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3F69A-07CA-4FA6-8659-3F8184DE9D62}" type="datetimeFigureOut">
              <a:rPr lang="es-AR" smtClean="0"/>
              <a:t>20/10/2020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="" xmlns:a16="http://schemas.microsoft.com/office/drawing/2014/main" id="{023967D6-450C-40DE-969C-8C418C949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="" xmlns:a16="http://schemas.microsoft.com/office/drawing/2014/main" id="{0DBC9104-6A80-480C-BEE8-98E6B6634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DCCBA-ABFE-4282-BCDE-E7FFFF2A12BA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48518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784247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 de texto 2">
            <a:extLst>
              <a:ext uri="{FF2B5EF4-FFF2-40B4-BE49-F238E27FC236}">
                <a16:creationId xmlns="" xmlns:a16="http://schemas.microsoft.com/office/drawing/2014/main" id="{AAE8F54E-1B3A-4600-AFCB-9226D0D55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1234" y="0"/>
            <a:ext cx="10167183" cy="863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Calibri Light" panose="020F0302020204030204" pitchFamily="34" charset="0"/>
              <a:ea typeface="Calibri" panose="020F05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AR" altLang="es-AR" sz="2400" b="1" dirty="0" smtClean="0">
                <a:solidFill>
                  <a:srgbClr val="FFFFFF"/>
                </a:solidFill>
                <a:latin typeface="Calibri Light" panose="020F0302020204030204" pitchFamily="34" charset="0"/>
              </a:rPr>
              <a:t>Universidad Nacional de Lanús – Licenciatura en Sistemas</a:t>
            </a:r>
            <a:endParaRPr kumimoji="0" lang="es-AR" altLang="es-A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297" y="-233866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863" y="1215190"/>
            <a:ext cx="3071579" cy="34022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601581" y="5173579"/>
            <a:ext cx="109246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AR" sz="4000" b="1" cap="all" dirty="0" smtClean="0"/>
              <a:t>FUNDAMENTOS Y TEORÍA DE LA COMPUTACIÓN</a:t>
            </a:r>
            <a:endParaRPr lang="es-AR" sz="4000" b="1" cap="all" dirty="0"/>
          </a:p>
        </p:txBody>
      </p:sp>
      <p:pic>
        <p:nvPicPr>
          <p:cNvPr id="15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05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Traductores: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Hace </a:t>
            </a:r>
            <a:r>
              <a:rPr lang="es-AR" sz="2400" dirty="0" smtClean="0"/>
              <a:t>unos años atrás, </a:t>
            </a:r>
            <a:r>
              <a:rPr lang="es-AR" sz="2400" dirty="0"/>
              <a:t>se utilizaban los </a:t>
            </a:r>
            <a:r>
              <a:rPr lang="es-AR" sz="2400" dirty="0" smtClean="0"/>
              <a:t>lenguajes </a:t>
            </a:r>
            <a:r>
              <a:rPr lang="es-AR" sz="2400" dirty="0"/>
              <a:t>de primera </a:t>
            </a:r>
            <a:r>
              <a:rPr lang="es-AR" sz="2400" dirty="0" smtClean="0"/>
              <a:t>generación que operan </a:t>
            </a:r>
            <a:r>
              <a:rPr lang="es-AR" sz="2400" dirty="0"/>
              <a:t>a nivel de </a:t>
            </a:r>
            <a:r>
              <a:rPr lang="es-AR" sz="2400" dirty="0" smtClean="0"/>
              <a:t>código binario </a:t>
            </a:r>
            <a:r>
              <a:rPr lang="es-AR" sz="2400" dirty="0"/>
              <a:t>de la </a:t>
            </a:r>
            <a:r>
              <a:rPr lang="es-AR" sz="2400" dirty="0" smtClean="0"/>
              <a:t>máquina, o sea una </a:t>
            </a:r>
            <a:r>
              <a:rPr lang="es-AR" sz="2400" dirty="0"/>
              <a:t>secuencia de ceros y unos con los que se </a:t>
            </a:r>
            <a:r>
              <a:rPr lang="es-AR" sz="2400" dirty="0" smtClean="0"/>
              <a:t>instruye al </a:t>
            </a:r>
            <a:r>
              <a:rPr lang="es-AR" sz="2400" dirty="0"/>
              <a:t>ordenador para que realice acciones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El </a:t>
            </a:r>
            <a:r>
              <a:rPr lang="es-AR" sz="2400" dirty="0" smtClean="0"/>
              <a:t>código </a:t>
            </a:r>
            <a:r>
              <a:rPr lang="es-AR" sz="2400" dirty="0"/>
              <a:t>de </a:t>
            </a:r>
            <a:r>
              <a:rPr lang="es-AR" sz="2400" dirty="0" smtClean="0"/>
              <a:t>máquina </a:t>
            </a:r>
            <a:r>
              <a:rPr lang="es-AR" sz="2400" dirty="0"/>
              <a:t>fue reemplazado por los lenguajes de segunda </a:t>
            </a:r>
            <a:r>
              <a:rPr lang="es-AR" sz="2400" dirty="0" smtClean="0"/>
              <a:t>generación, </a:t>
            </a:r>
            <a:r>
              <a:rPr lang="es-AR" sz="2400" dirty="0"/>
              <a:t>o </a:t>
            </a:r>
            <a:r>
              <a:rPr lang="es-AR" sz="2400" dirty="0" smtClean="0"/>
              <a:t>lenguajes ensambladores</a:t>
            </a:r>
            <a:r>
              <a:rPr lang="es-AR" sz="2400" dirty="0"/>
              <a:t>. Estos lenguajes permiten usar abreviaturas </a:t>
            </a:r>
            <a:r>
              <a:rPr lang="es-AR" sz="2400" dirty="0" smtClean="0"/>
              <a:t>nemónicos </a:t>
            </a:r>
            <a:r>
              <a:rPr lang="es-AR" sz="2400" dirty="0"/>
              <a:t>como nombres </a:t>
            </a:r>
            <a:r>
              <a:rPr lang="es-AR" sz="2400" dirty="0" smtClean="0"/>
              <a:t>simbólicos.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Luego llegaron los </a:t>
            </a:r>
            <a:r>
              <a:rPr lang="es-AR" sz="2400" dirty="0"/>
              <a:t>lenguajes de tercera generación o lenguajes de alto nivel. Con ellos se pueden usar estructuras de control basadas en objetos de datos lógicos: variables de un tipo específico. Ofrecen un nivel de abstracción que permite la especificación de los datos, funciones o procesos </a:t>
            </a:r>
            <a:r>
              <a:rPr lang="es-AR" sz="2400" dirty="0" smtClean="0"/>
              <a:t>independiente </a:t>
            </a:r>
            <a:r>
              <a:rPr lang="es-AR" sz="2400" dirty="0"/>
              <a:t>de la máquina</a:t>
            </a:r>
            <a:r>
              <a:rPr lang="es-AR" sz="2400" dirty="0" smtClean="0"/>
              <a:t>.</a:t>
            </a: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3710627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dirty="0"/>
              <a:t>Traductores </a:t>
            </a:r>
            <a:r>
              <a:rPr lang="es-AR" sz="2400" b="1" u="sng" dirty="0" smtClean="0"/>
              <a:t> (cont.):</a:t>
            </a:r>
            <a:endParaRPr lang="es-AR" sz="2400" b="1" u="sng" dirty="0" smtClean="0"/>
          </a:p>
          <a:p>
            <a:pPr algn="just"/>
            <a:endParaRPr lang="es-AR" sz="2000" dirty="0"/>
          </a:p>
          <a:p>
            <a:pPr algn="just"/>
            <a:r>
              <a:rPr lang="es-AR" sz="2000" dirty="0" smtClean="0"/>
              <a:t>Para ejecutar </a:t>
            </a:r>
            <a:r>
              <a:rPr lang="es-AR" sz="2000" dirty="0"/>
              <a:t>programas en lenguajes de alto nivel</a:t>
            </a:r>
            <a:r>
              <a:rPr lang="es-AR" sz="2000" dirty="0" smtClean="0"/>
              <a:t>, éstos </a:t>
            </a:r>
            <a:r>
              <a:rPr lang="es-AR" sz="2000" dirty="0"/>
              <a:t>deben ser traducidos a </a:t>
            </a:r>
            <a:r>
              <a:rPr lang="es-AR" sz="2000" dirty="0" smtClean="0"/>
              <a:t>código máquina. </a:t>
            </a:r>
            <a:r>
              <a:rPr lang="es-AR" sz="2000" dirty="0"/>
              <a:t>A este proceso se le denomina </a:t>
            </a:r>
            <a:r>
              <a:rPr lang="es-AR" sz="2000" dirty="0" smtClean="0"/>
              <a:t>compilación, y la </a:t>
            </a:r>
            <a:r>
              <a:rPr lang="es-AR" sz="2000" dirty="0"/>
              <a:t>herramienta correspondiente se llama compilador. </a:t>
            </a:r>
            <a:endParaRPr lang="es-AR" sz="2000" dirty="0" smtClean="0"/>
          </a:p>
          <a:p>
            <a:pPr algn="just"/>
            <a:endParaRPr lang="es-AR" sz="2000" dirty="0"/>
          </a:p>
          <a:p>
            <a:pPr algn="just"/>
            <a:r>
              <a:rPr lang="es-AR" sz="2000" dirty="0" smtClean="0"/>
              <a:t>Un compilador es </a:t>
            </a:r>
            <a:r>
              <a:rPr lang="es-AR" sz="2000" dirty="0"/>
              <a:t>un programa que lee otro, escrito en lenguaje fuente, y lo traduce a </a:t>
            </a:r>
            <a:r>
              <a:rPr lang="es-AR" sz="2000" dirty="0" smtClean="0"/>
              <a:t>lenguaje objeto:</a:t>
            </a:r>
            <a:endParaRPr lang="es-AR" sz="2000" dirty="0" smtClean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410" y="3371849"/>
            <a:ext cx="10238873" cy="28845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Traductores y compiladores: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 traductor es un programa que acepta cualquier texto expresado en un lenguaje (el </a:t>
            </a:r>
            <a:r>
              <a:rPr lang="es-AR" sz="2400" dirty="0" smtClean="0"/>
              <a:t>lenguaje fuente </a:t>
            </a:r>
            <a:r>
              <a:rPr lang="es-AR" sz="2400" dirty="0"/>
              <a:t>del traductor) y genera un texto </a:t>
            </a:r>
            <a:r>
              <a:rPr lang="es-AR" sz="2400" dirty="0" smtClean="0"/>
              <a:t>semánticamente </a:t>
            </a:r>
            <a:r>
              <a:rPr lang="es-AR" sz="2400" dirty="0"/>
              <a:t>equivalente expresado en otro </a:t>
            </a:r>
            <a:r>
              <a:rPr lang="es-AR" sz="2400" dirty="0" smtClean="0"/>
              <a:t>lenguaje (</a:t>
            </a:r>
            <a:r>
              <a:rPr lang="es-AR" sz="2400" dirty="0"/>
              <a:t>su lenguaje destino</a:t>
            </a:r>
            <a:r>
              <a:rPr lang="es-AR" sz="2400" dirty="0" smtClean="0"/>
              <a:t>).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 ensamblador traduce un lenguaje ensamblador en su correspondiente </a:t>
            </a:r>
            <a:r>
              <a:rPr lang="es-AR" sz="2400" dirty="0" smtClean="0"/>
              <a:t>código máquina. Generalmente</a:t>
            </a:r>
            <a:r>
              <a:rPr lang="es-AR" sz="2400" dirty="0"/>
              <a:t>, un ensamblador genera una </a:t>
            </a:r>
            <a:r>
              <a:rPr lang="es-AR" sz="2400" dirty="0" smtClean="0"/>
              <a:t>instrucción </a:t>
            </a:r>
            <a:r>
              <a:rPr lang="es-AR" sz="2400" dirty="0"/>
              <a:t>de la </a:t>
            </a:r>
            <a:r>
              <a:rPr lang="es-AR" sz="2400" dirty="0" smtClean="0"/>
              <a:t>máquina </a:t>
            </a:r>
            <a:r>
              <a:rPr lang="es-AR" sz="2400" dirty="0"/>
              <a:t>por cada </a:t>
            </a:r>
            <a:r>
              <a:rPr lang="es-AR" sz="2400" dirty="0" smtClean="0"/>
              <a:t>instrucción </a:t>
            </a:r>
            <a:r>
              <a:rPr lang="es-AR" sz="2400" dirty="0"/>
              <a:t>fuente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 compilador traduce desde un lenguaje de alto nivel a otro lenguaje de bajo nivel. </a:t>
            </a:r>
            <a:r>
              <a:rPr lang="es-AR" sz="2400" dirty="0" smtClean="0"/>
              <a:t>Generalmente</a:t>
            </a:r>
            <a:r>
              <a:rPr lang="es-AR" sz="2400" dirty="0"/>
              <a:t>, un compilador genera varias instrucciones de la </a:t>
            </a:r>
            <a:r>
              <a:rPr lang="es-AR" sz="2400" dirty="0" smtClean="0"/>
              <a:t>máquina </a:t>
            </a:r>
            <a:r>
              <a:rPr lang="es-AR" sz="2400" dirty="0"/>
              <a:t>por cada comando fuente.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Intérpretes: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 </a:t>
            </a:r>
            <a:r>
              <a:rPr lang="es-AR" sz="2400" dirty="0" smtClean="0"/>
              <a:t>intérprete </a:t>
            </a:r>
            <a:r>
              <a:rPr lang="es-AR" sz="2400" dirty="0"/>
              <a:t>es un programa que acepta otro programa (el programa fuente) escrito en </a:t>
            </a:r>
            <a:r>
              <a:rPr lang="es-AR" sz="2400" dirty="0" smtClean="0"/>
              <a:t>un determinado </a:t>
            </a:r>
            <a:r>
              <a:rPr lang="es-AR" sz="2400" dirty="0"/>
              <a:t>lenguaje (el lenguaje fuente), y ejecuta el programa inmediatamente. </a:t>
            </a:r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Un intérprete trabaja </a:t>
            </a:r>
            <a:r>
              <a:rPr lang="es-AR" sz="2400" dirty="0"/>
              <a:t>cargando, analizando y ejecutando una a una las instrucciones del programa fuente. </a:t>
            </a:r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El programa </a:t>
            </a:r>
            <a:r>
              <a:rPr lang="es-AR" sz="2400" dirty="0"/>
              <a:t>fuente comienza a ejecutarse y produce resultados desde el momento en que la </a:t>
            </a:r>
            <a:r>
              <a:rPr lang="es-AR" sz="2400" dirty="0" smtClean="0"/>
              <a:t>primera instrucción </a:t>
            </a:r>
            <a:r>
              <a:rPr lang="es-AR" sz="2400" dirty="0"/>
              <a:t>ha sido analizada. </a:t>
            </a:r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El intérprete </a:t>
            </a:r>
            <a:r>
              <a:rPr lang="es-AR" sz="2400" dirty="0"/>
              <a:t>no traduce el programa fuente en un </a:t>
            </a:r>
            <a:r>
              <a:rPr lang="es-AR" sz="2400" dirty="0" smtClean="0"/>
              <a:t>código </a:t>
            </a:r>
            <a:r>
              <a:rPr lang="es-AR" sz="2400" dirty="0"/>
              <a:t>objeto.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56368" y="927451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Uso de intérpretes: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La </a:t>
            </a:r>
            <a:r>
              <a:rPr lang="es-AR" sz="2400" dirty="0" smtClean="0"/>
              <a:t>interpretación </a:t>
            </a:r>
            <a:r>
              <a:rPr lang="es-AR" sz="2400" dirty="0"/>
              <a:t>es un buen </a:t>
            </a:r>
            <a:r>
              <a:rPr lang="es-AR" sz="2400" dirty="0" smtClean="0"/>
              <a:t>método </a:t>
            </a:r>
            <a:r>
              <a:rPr lang="es-AR" sz="2400" dirty="0"/>
              <a:t>cuando se dan las siguientes circunstancias:</a:t>
            </a:r>
          </a:p>
          <a:p>
            <a:pPr algn="just"/>
            <a:endParaRPr lang="es-AR" sz="2400" dirty="0" smtClean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 smtClean="0"/>
              <a:t>El </a:t>
            </a:r>
            <a:r>
              <a:rPr lang="es-AR" sz="2400" dirty="0"/>
              <a:t>programador </a:t>
            </a:r>
            <a:r>
              <a:rPr lang="es-AR" sz="2400" dirty="0" smtClean="0"/>
              <a:t>está </a:t>
            </a:r>
            <a:r>
              <a:rPr lang="es-AR" sz="2400" dirty="0"/>
              <a:t>trabajando en forma interactiva, y quiere ver el resultado de </a:t>
            </a:r>
            <a:r>
              <a:rPr lang="es-AR" sz="2400" dirty="0" smtClean="0"/>
              <a:t>cada instrucción </a:t>
            </a:r>
            <a:r>
              <a:rPr lang="es-AR" sz="2400" dirty="0"/>
              <a:t>antes de entrar la siguiente </a:t>
            </a:r>
            <a:r>
              <a:rPr lang="es-AR" sz="2400" dirty="0" smtClean="0"/>
              <a:t>instrucción.</a:t>
            </a:r>
          </a:p>
          <a:p>
            <a:pPr marL="800100" lvl="1" indent="-342900" algn="just">
              <a:buFont typeface="Arial" pitchFamily="34" charset="0"/>
              <a:buChar char="•"/>
            </a:pPr>
            <a:endParaRPr lang="es-AR" sz="2400" dirty="0" smtClean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 smtClean="0"/>
              <a:t>El </a:t>
            </a:r>
            <a:r>
              <a:rPr lang="es-AR" sz="2400" dirty="0"/>
              <a:t>programa se va a utilizar </a:t>
            </a:r>
            <a:r>
              <a:rPr lang="es-AR" sz="2400" dirty="0" smtClean="0"/>
              <a:t>solo </a:t>
            </a:r>
            <a:r>
              <a:rPr lang="es-AR" sz="2400" dirty="0"/>
              <a:t>una vez, y por tanto la velocidad de </a:t>
            </a:r>
            <a:r>
              <a:rPr lang="es-AR" sz="2400" dirty="0" smtClean="0"/>
              <a:t>ejecución </a:t>
            </a:r>
            <a:r>
              <a:rPr lang="es-AR" sz="2400" dirty="0"/>
              <a:t>no </a:t>
            </a:r>
            <a:r>
              <a:rPr lang="es-AR" sz="2400" dirty="0" smtClean="0"/>
              <a:t>es importante.</a:t>
            </a:r>
          </a:p>
          <a:p>
            <a:pPr marL="800100" lvl="1" indent="-342900" algn="just">
              <a:buFont typeface="Arial" pitchFamily="34" charset="0"/>
              <a:buChar char="•"/>
            </a:pPr>
            <a:endParaRPr lang="es-AR" sz="2400" dirty="0" smtClean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 smtClean="0"/>
              <a:t>Se </a:t>
            </a:r>
            <a:r>
              <a:rPr lang="es-AR" sz="2400" dirty="0"/>
              <a:t>espera que cada </a:t>
            </a:r>
            <a:r>
              <a:rPr lang="es-AR" sz="2400" dirty="0" smtClean="0"/>
              <a:t>instrucción </a:t>
            </a:r>
            <a:r>
              <a:rPr lang="es-AR" sz="2400" dirty="0"/>
              <a:t>se ejecute una sola </a:t>
            </a:r>
            <a:r>
              <a:rPr lang="es-AR" sz="2400" dirty="0" smtClean="0"/>
              <a:t>vez.</a:t>
            </a:r>
          </a:p>
          <a:p>
            <a:pPr marL="800100" lvl="1" indent="-342900" algn="just">
              <a:buFont typeface="Arial" pitchFamily="34" charset="0"/>
              <a:buChar char="•"/>
            </a:pPr>
            <a:endParaRPr lang="es-AR" sz="2400" dirty="0" smtClean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 smtClean="0"/>
              <a:t>Las </a:t>
            </a:r>
            <a:r>
              <a:rPr lang="es-AR" sz="2400" dirty="0"/>
              <a:t>instrucciones tiene un formato simple, y por tanto pueden ser analizadas de </a:t>
            </a:r>
            <a:r>
              <a:rPr lang="es-AR" sz="2400" dirty="0" smtClean="0"/>
              <a:t>forma fácil </a:t>
            </a:r>
            <a:r>
              <a:rPr lang="es-AR" sz="2400" dirty="0"/>
              <a:t>y eficiente.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44337" y="951514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Uso de intérpretes </a:t>
            </a:r>
            <a:r>
              <a:rPr lang="es-AR" sz="2800" b="1" u="sng" dirty="0" smtClean="0"/>
              <a:t> (cont.):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La interpretación </a:t>
            </a:r>
            <a:r>
              <a:rPr lang="es-AR" sz="2400" dirty="0"/>
              <a:t>de un programa </a:t>
            </a:r>
            <a:r>
              <a:rPr lang="es-AR" sz="2400" dirty="0" smtClean="0"/>
              <a:t>fuente puede </a:t>
            </a:r>
            <a:r>
              <a:rPr lang="es-AR" sz="2400" dirty="0"/>
              <a:t>ser 100 veces </a:t>
            </a:r>
            <a:r>
              <a:rPr lang="es-AR" sz="2400" dirty="0" smtClean="0"/>
              <a:t>más </a:t>
            </a:r>
            <a:r>
              <a:rPr lang="es-AR" sz="2400" dirty="0"/>
              <a:t>lenta que la </a:t>
            </a:r>
            <a:r>
              <a:rPr lang="es-AR" sz="2400" dirty="0" smtClean="0"/>
              <a:t>ejecución </a:t>
            </a:r>
            <a:r>
              <a:rPr lang="es-AR" sz="2400" dirty="0"/>
              <a:t>del programa equivalente </a:t>
            </a:r>
            <a:r>
              <a:rPr lang="es-AR" sz="2400" dirty="0" smtClean="0"/>
              <a:t>escrito en código máquina. 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La interpretación </a:t>
            </a:r>
            <a:r>
              <a:rPr lang="es-AR" sz="2400" dirty="0"/>
              <a:t>no es interesante cuando</a:t>
            </a:r>
            <a:r>
              <a:rPr lang="es-AR" sz="2400" dirty="0" smtClean="0"/>
              <a:t>:</a:t>
            </a:r>
          </a:p>
          <a:p>
            <a:pPr algn="just"/>
            <a:endParaRPr lang="es-AR" sz="2400" dirty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/>
              <a:t>El programa se va a ejecutar en modo de </a:t>
            </a:r>
            <a:r>
              <a:rPr lang="es-AR" sz="2400" dirty="0" smtClean="0"/>
              <a:t>producción, </a:t>
            </a:r>
            <a:r>
              <a:rPr lang="es-AR" sz="2400" dirty="0"/>
              <a:t>y por tanto la velocidad es </a:t>
            </a:r>
            <a:r>
              <a:rPr lang="es-AR" sz="2400" dirty="0" smtClean="0"/>
              <a:t>importante.</a:t>
            </a:r>
          </a:p>
          <a:p>
            <a:pPr marL="800100" lvl="1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 smtClean="0"/>
              <a:t>Se </a:t>
            </a:r>
            <a:r>
              <a:rPr lang="es-AR" sz="2400" dirty="0"/>
              <a:t>espera que las instrucciones se ejecuten </a:t>
            </a:r>
            <a:r>
              <a:rPr lang="es-AR" sz="2400" dirty="0" smtClean="0"/>
              <a:t>frecuentemente.</a:t>
            </a:r>
          </a:p>
          <a:p>
            <a:pPr marL="800100" lvl="1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800100" lvl="1" indent="-342900" algn="just">
              <a:buFont typeface="Arial" pitchFamily="34" charset="0"/>
              <a:buChar char="•"/>
            </a:pPr>
            <a:r>
              <a:rPr lang="es-AR" sz="2400" dirty="0" smtClean="0"/>
              <a:t>Las </a:t>
            </a:r>
            <a:r>
              <a:rPr lang="es-AR" sz="2400" dirty="0"/>
              <a:t>instrucciones tienen formatos complicados, y por tanto su </a:t>
            </a:r>
            <a:r>
              <a:rPr lang="es-AR" sz="2400" dirty="0" smtClean="0"/>
              <a:t>análisis </a:t>
            </a:r>
            <a:r>
              <a:rPr lang="es-AR" sz="2400" dirty="0"/>
              <a:t>es costoso en tiempo.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Intérpretes conocidos: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s-AR" sz="2400" dirty="0" smtClean="0"/>
              <a:t>Intérprete </a:t>
            </a:r>
            <a:r>
              <a:rPr lang="es-AR" sz="2400" dirty="0"/>
              <a:t>Caml: Caml es un lenguaje funcional. El </a:t>
            </a:r>
            <a:r>
              <a:rPr lang="es-AR" sz="2400" dirty="0" smtClean="0"/>
              <a:t>intérprete </a:t>
            </a:r>
            <a:r>
              <a:rPr lang="es-AR" sz="2400" dirty="0"/>
              <a:t>lee </a:t>
            </a:r>
            <a:r>
              <a:rPr lang="es-AR" sz="2400" dirty="0" smtClean="0"/>
              <a:t>cada línea hasta el símbolo </a:t>
            </a:r>
            <a:r>
              <a:rPr lang="es-AR" sz="2400" dirty="0"/>
              <a:t>”;;” y la ejecuta produciendo una </a:t>
            </a:r>
            <a:r>
              <a:rPr lang="es-AR" sz="2400" dirty="0" smtClean="0"/>
              <a:t>salida. </a:t>
            </a:r>
          </a:p>
          <a:p>
            <a:pPr marL="914400" lvl="1" indent="-457200" algn="just">
              <a:buFont typeface="+mj-lt"/>
              <a:buAutoNum type="arabicParenR"/>
            </a:pPr>
            <a:endParaRPr lang="es-AR" sz="2400" dirty="0" smtClean="0"/>
          </a:p>
          <a:p>
            <a:pPr marL="914400" lvl="1" indent="-457200" algn="just">
              <a:buFont typeface="+mj-lt"/>
              <a:buAutoNum type="arabicParenR"/>
            </a:pPr>
            <a:r>
              <a:rPr lang="es-AR" sz="2400" dirty="0" smtClean="0"/>
              <a:t>Intérprete </a:t>
            </a:r>
            <a:r>
              <a:rPr lang="es-AR" sz="2400" dirty="0"/>
              <a:t>Lisp: Lisp es un lenguaje en el que existe una estructura de </a:t>
            </a:r>
            <a:r>
              <a:rPr lang="es-AR" sz="2400" dirty="0" smtClean="0"/>
              <a:t>datos tanto </a:t>
            </a:r>
            <a:r>
              <a:rPr lang="es-AR" sz="2400" dirty="0"/>
              <a:t>para el </a:t>
            </a:r>
            <a:r>
              <a:rPr lang="es-AR" sz="2400" dirty="0" smtClean="0"/>
              <a:t>código </a:t>
            </a:r>
            <a:r>
              <a:rPr lang="es-AR" sz="2400" dirty="0"/>
              <a:t>como para los </a:t>
            </a:r>
            <a:r>
              <a:rPr lang="es-AR" sz="2400" dirty="0" smtClean="0"/>
              <a:t>datos.</a:t>
            </a:r>
          </a:p>
          <a:p>
            <a:pPr marL="914400" lvl="1" indent="-457200" algn="just">
              <a:buFont typeface="+mj-lt"/>
              <a:buAutoNum type="arabicParenR"/>
            </a:pPr>
            <a:endParaRPr lang="es-AR" sz="2400" dirty="0" smtClean="0"/>
          </a:p>
          <a:p>
            <a:pPr marL="914400" lvl="1" indent="-457200" algn="just">
              <a:buFont typeface="+mj-lt"/>
              <a:buAutoNum type="arabicParenR"/>
            </a:pPr>
            <a:r>
              <a:rPr lang="es-AR" sz="2400" dirty="0" smtClean="0"/>
              <a:t>Intérprete </a:t>
            </a:r>
            <a:r>
              <a:rPr lang="es-AR" sz="2400" dirty="0"/>
              <a:t>de comandos de Unix (shell): Una </a:t>
            </a:r>
            <a:r>
              <a:rPr lang="es-AR" sz="2400" dirty="0" smtClean="0"/>
              <a:t>instrucción </a:t>
            </a:r>
            <a:r>
              <a:rPr lang="es-AR" sz="2400" dirty="0"/>
              <a:t>para el sistema operativo </a:t>
            </a:r>
            <a:r>
              <a:rPr lang="es-AR" sz="2400" dirty="0" smtClean="0"/>
              <a:t>Unix </a:t>
            </a:r>
            <a:r>
              <a:rPr lang="es-AR" sz="2400" dirty="0"/>
              <a:t>se introduce dando el comando de forma textual. </a:t>
            </a:r>
            <a:endParaRPr lang="es-AR" sz="2400" dirty="0" smtClean="0"/>
          </a:p>
          <a:p>
            <a:pPr marL="914400" lvl="1" indent="-457200" algn="just">
              <a:buFont typeface="+mj-lt"/>
              <a:buAutoNum type="arabicParenR"/>
            </a:pPr>
            <a:endParaRPr lang="es-AR" sz="2400" dirty="0" smtClean="0"/>
          </a:p>
          <a:p>
            <a:pPr marL="914400" lvl="1" indent="-457200" algn="just">
              <a:buFont typeface="+mj-lt"/>
              <a:buAutoNum type="arabicParenR"/>
            </a:pPr>
            <a:r>
              <a:rPr lang="es-AR" sz="2400" dirty="0" smtClean="0"/>
              <a:t>Intérprete SQL: El </a:t>
            </a:r>
            <a:r>
              <a:rPr lang="es-AR" sz="2400" dirty="0"/>
              <a:t>usuario extrae </a:t>
            </a:r>
            <a:r>
              <a:rPr lang="es-AR" sz="2400" dirty="0" smtClean="0"/>
              <a:t>información </a:t>
            </a:r>
            <a:r>
              <a:rPr lang="es-AR" sz="2400" dirty="0"/>
              <a:t>de la base de datos introduciendo una </a:t>
            </a:r>
            <a:r>
              <a:rPr lang="es-AR" sz="2400" dirty="0" smtClean="0"/>
              <a:t>consulta SQL.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44337" y="987608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Compiladores interpretados: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 compilador puede tardar mucho en traducir un programa </a:t>
            </a:r>
            <a:r>
              <a:rPr lang="es-AR" sz="2400" dirty="0" smtClean="0"/>
              <a:t>fuente, pero una vez </a:t>
            </a:r>
            <a:r>
              <a:rPr lang="es-AR" sz="2400" dirty="0"/>
              <a:t>hecho esto, el programa puede correr a la velocidad de la </a:t>
            </a:r>
            <a:r>
              <a:rPr lang="es-AR" sz="2400" dirty="0" smtClean="0"/>
              <a:t>máquina. 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Un intérprete permite que </a:t>
            </a:r>
            <a:r>
              <a:rPr lang="es-AR" sz="2400" dirty="0"/>
              <a:t>el programa comience a ejecutarse inmediatamente, pero corre muy </a:t>
            </a:r>
            <a:r>
              <a:rPr lang="es-AR" sz="2400" dirty="0" smtClean="0"/>
              <a:t>lento.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 compilador interpretado es una </a:t>
            </a:r>
            <a:r>
              <a:rPr lang="es-AR" sz="2400" dirty="0" smtClean="0"/>
              <a:t>combinación </a:t>
            </a:r>
            <a:r>
              <a:rPr lang="es-AR" sz="2400" dirty="0"/>
              <a:t>de compilador e </a:t>
            </a:r>
            <a:r>
              <a:rPr lang="es-AR" sz="2400" dirty="0" smtClean="0"/>
              <a:t>intérprete, </a:t>
            </a:r>
            <a:r>
              <a:rPr lang="es-AR" sz="2400" dirty="0"/>
              <a:t>reuniendo </a:t>
            </a:r>
            <a:r>
              <a:rPr lang="es-AR" sz="2400" dirty="0" smtClean="0"/>
              <a:t>algunas de </a:t>
            </a:r>
            <a:r>
              <a:rPr lang="es-AR" sz="2400" dirty="0"/>
              <a:t>las ventajas de cada uno de ellos. La idea principal es traducir el programa fuente en </a:t>
            </a:r>
            <a:r>
              <a:rPr lang="es-AR" sz="2400" dirty="0" smtClean="0"/>
              <a:t>un lenguaje intermedio.</a:t>
            </a:r>
          </a:p>
          <a:p>
            <a:pPr algn="just"/>
            <a:endParaRPr lang="es-AR" sz="2400" dirty="0" smtClean="0"/>
          </a:p>
          <a:p>
            <a:pPr algn="just"/>
            <a:r>
              <a:rPr lang="es-AR" sz="2400" dirty="0"/>
              <a:t>El </a:t>
            </a:r>
            <a:r>
              <a:rPr lang="es-AR" sz="2400" dirty="0" smtClean="0"/>
              <a:t>código </a:t>
            </a:r>
            <a:r>
              <a:rPr lang="es-AR" sz="2400" dirty="0"/>
              <a:t>de la </a:t>
            </a:r>
            <a:r>
              <a:rPr lang="es-AR" sz="2400" dirty="0" smtClean="0"/>
              <a:t>Máquina </a:t>
            </a:r>
            <a:r>
              <a:rPr lang="es-AR" sz="2400" dirty="0"/>
              <a:t>Virtual de Java (el JVM-</a:t>
            </a:r>
            <a:r>
              <a:rPr lang="es-AR" sz="2400" dirty="0" err="1"/>
              <a:t>code</a:t>
            </a:r>
            <a:r>
              <a:rPr lang="es-AR" sz="2400" dirty="0"/>
              <a:t>) es un lenguaje intermedio orientado </a:t>
            </a:r>
            <a:r>
              <a:rPr lang="es-AR" sz="2400" dirty="0" smtClean="0"/>
              <a:t>a Java</a:t>
            </a:r>
            <a:r>
              <a:rPr lang="es-AR" sz="2400" dirty="0"/>
              <a:t>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dirty="0"/>
              <a:t>Contexto de un compilador:</a:t>
            </a:r>
            <a:endParaRPr lang="es-AR" sz="2400" b="1" u="sng" dirty="0" smtClean="0"/>
          </a:p>
          <a:p>
            <a:pPr algn="just"/>
            <a:endParaRPr lang="es-AR" sz="2000" dirty="0"/>
          </a:p>
          <a:p>
            <a:pPr algn="just"/>
            <a:r>
              <a:rPr lang="es-AR" sz="2000" dirty="0"/>
              <a:t>En el proceso de </a:t>
            </a:r>
            <a:r>
              <a:rPr lang="es-AR" sz="2000" dirty="0" smtClean="0"/>
              <a:t>construcción </a:t>
            </a:r>
            <a:r>
              <a:rPr lang="es-AR" sz="2000" dirty="0"/>
              <a:t>de un programa escrito en </a:t>
            </a:r>
            <a:r>
              <a:rPr lang="es-AR" sz="2000" dirty="0" smtClean="0"/>
              <a:t>código máquina </a:t>
            </a:r>
            <a:r>
              <a:rPr lang="es-AR" sz="2000" dirty="0"/>
              <a:t>a partir del </a:t>
            </a:r>
            <a:r>
              <a:rPr lang="es-AR" sz="2000" dirty="0" smtClean="0"/>
              <a:t>programa fuente</a:t>
            </a:r>
            <a:r>
              <a:rPr lang="es-AR" sz="2000" dirty="0"/>
              <a:t>, suelen intervenir, aparte del compilador, otros programas</a:t>
            </a:r>
            <a:r>
              <a:rPr lang="es-AR" sz="2000" dirty="0" smtClean="0"/>
              <a:t>:</a:t>
            </a:r>
          </a:p>
          <a:p>
            <a:pPr algn="just"/>
            <a:endParaRPr lang="es-AR" sz="20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000" dirty="0"/>
              <a:t>Preprocesador: Es un traductor cuyo lenguaje fuente es una forma extendida de </a:t>
            </a:r>
            <a:r>
              <a:rPr lang="es-AR" sz="2000" dirty="0" smtClean="0"/>
              <a:t>algún lenguaje </a:t>
            </a:r>
            <a:r>
              <a:rPr lang="es-AR" sz="2000" dirty="0"/>
              <a:t>de alto nivel, y cuyo lenguaje objeto es la forma </a:t>
            </a:r>
            <a:r>
              <a:rPr lang="es-AR" sz="2000" dirty="0" smtClean="0"/>
              <a:t>estándar </a:t>
            </a:r>
            <a:r>
              <a:rPr lang="es-AR" sz="2000" dirty="0"/>
              <a:t>del mismo lenguaje</a:t>
            </a:r>
            <a:r>
              <a:rPr lang="es-AR" sz="2000" dirty="0" smtClean="0"/>
              <a:t>. Por ejemplo C.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000" dirty="0" smtClean="0"/>
              <a:t>Ensamblador</a:t>
            </a:r>
            <a:r>
              <a:rPr lang="es-AR" sz="2000" dirty="0"/>
              <a:t>: Traduce el programa en lenguaje ensamblador, creado por el compilador, </a:t>
            </a:r>
            <a:r>
              <a:rPr lang="es-AR" sz="2000" dirty="0" smtClean="0"/>
              <a:t>a código máquina.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000" dirty="0" smtClean="0"/>
              <a:t>Cargador </a:t>
            </a:r>
            <a:r>
              <a:rPr lang="es-AR" sz="2000" dirty="0"/>
              <a:t>y linkador: Un cargador es un traductor cuyo lenguaje objeto es el </a:t>
            </a:r>
            <a:r>
              <a:rPr lang="es-AR" sz="2000" dirty="0" smtClean="0"/>
              <a:t>código </a:t>
            </a:r>
            <a:r>
              <a:rPr lang="es-AR" sz="2000" dirty="0"/>
              <a:t>de </a:t>
            </a:r>
            <a:r>
              <a:rPr lang="es-AR" sz="2000" dirty="0" smtClean="0"/>
              <a:t>la máquina real, que consiste usualmente </a:t>
            </a:r>
            <a:r>
              <a:rPr lang="es-AR" sz="2000" dirty="0"/>
              <a:t>en </a:t>
            </a:r>
            <a:r>
              <a:rPr lang="es-AR" sz="2000" dirty="0" smtClean="0"/>
              <a:t>programas </a:t>
            </a:r>
            <a:r>
              <a:rPr lang="es-AR" sz="2000" dirty="0"/>
              <a:t>de lenguaje </a:t>
            </a:r>
            <a:r>
              <a:rPr lang="es-AR" sz="2000" dirty="0" smtClean="0"/>
              <a:t>máquina </a:t>
            </a:r>
            <a:r>
              <a:rPr lang="es-AR" sz="2000" dirty="0"/>
              <a:t>en forma reubicable, junto con tablas de datos que </a:t>
            </a:r>
            <a:r>
              <a:rPr lang="es-AR" sz="2000" dirty="0" smtClean="0"/>
              <a:t>especifican los </a:t>
            </a:r>
            <a:r>
              <a:rPr lang="es-AR" sz="2000" dirty="0"/>
              <a:t>puntos en </a:t>
            </a:r>
            <a:r>
              <a:rPr lang="es-AR" sz="2000" dirty="0" smtClean="0"/>
              <a:t>donde </a:t>
            </a:r>
            <a:r>
              <a:rPr lang="es-AR" sz="2000" dirty="0"/>
              <a:t>el </a:t>
            </a:r>
            <a:r>
              <a:rPr lang="es-AR" sz="2000" dirty="0" smtClean="0"/>
              <a:t>código </a:t>
            </a:r>
            <a:r>
              <a:rPr lang="es-AR" sz="2000" dirty="0"/>
              <a:t>reubicable debe modificarse para convertirse en </a:t>
            </a:r>
            <a:r>
              <a:rPr lang="es-AR" sz="2000" dirty="0" smtClean="0"/>
              <a:t>verdaderamente </a:t>
            </a:r>
            <a:r>
              <a:rPr lang="es-AR" sz="2000" dirty="0"/>
              <a:t>ejecutable. </a:t>
            </a:r>
            <a:r>
              <a:rPr lang="es-AR" sz="2000" dirty="0" smtClean="0"/>
              <a:t>Un </a:t>
            </a:r>
            <a:r>
              <a:rPr lang="es-AR" sz="2000" dirty="0"/>
              <a:t>linkador </a:t>
            </a:r>
            <a:r>
              <a:rPr lang="es-AR" sz="2000" dirty="0" smtClean="0"/>
              <a:t>toma </a:t>
            </a:r>
            <a:r>
              <a:rPr lang="es-AR" sz="2000" dirty="0"/>
              <a:t>como entrada programas en forma reubicable </a:t>
            </a:r>
            <a:r>
              <a:rPr lang="es-AR" sz="2000" dirty="0" smtClean="0"/>
              <a:t>que se </a:t>
            </a:r>
            <a:r>
              <a:rPr lang="es-AR" sz="2000" dirty="0"/>
              <a:t>han compilado separadamente, incluyendo subprogramas almacenados en </a:t>
            </a:r>
            <a:r>
              <a:rPr lang="es-AR" sz="2000" dirty="0" smtClean="0"/>
              <a:t>librerías, los une </a:t>
            </a:r>
            <a:r>
              <a:rPr lang="es-AR" sz="2000" dirty="0"/>
              <a:t>en una sola unidad de </a:t>
            </a:r>
            <a:r>
              <a:rPr lang="es-AR" sz="2000" dirty="0" smtClean="0"/>
              <a:t>código máquina </a:t>
            </a:r>
            <a:r>
              <a:rPr lang="es-AR" sz="2000" dirty="0"/>
              <a:t>lista para ejecutarse. </a:t>
            </a:r>
            <a:endParaRPr lang="es-AR" sz="20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3066716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Contexto de un </a:t>
            </a:r>
            <a:r>
              <a:rPr lang="es-AR" sz="2800" b="1" u="sng" dirty="0" smtClean="0"/>
              <a:t>compilador (cont.):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En general, un editor </a:t>
            </a:r>
            <a:r>
              <a:rPr lang="es-AR" sz="2400" dirty="0" smtClean="0"/>
              <a:t>de carga </a:t>
            </a:r>
            <a:r>
              <a:rPr lang="es-AR" sz="2400" dirty="0"/>
              <a:t>y enlace une el </a:t>
            </a:r>
            <a:r>
              <a:rPr lang="es-AR" sz="2400" dirty="0" smtClean="0"/>
              <a:t>código máquina </a:t>
            </a:r>
            <a:r>
              <a:rPr lang="es-AR" sz="2400" dirty="0"/>
              <a:t>a rutinas de </a:t>
            </a:r>
            <a:r>
              <a:rPr lang="es-AR" sz="2400" dirty="0" smtClean="0"/>
              <a:t>librería </a:t>
            </a:r>
            <a:r>
              <a:rPr lang="es-AR" sz="2400" dirty="0"/>
              <a:t>para producir el </a:t>
            </a:r>
            <a:r>
              <a:rPr lang="es-AR" sz="2400" dirty="0" smtClean="0"/>
              <a:t>código que realmente </a:t>
            </a:r>
            <a:r>
              <a:rPr lang="es-AR" sz="2400" dirty="0"/>
              <a:t>se ejecuta en la </a:t>
            </a:r>
            <a:r>
              <a:rPr lang="es-AR" sz="2400" dirty="0" smtClean="0"/>
              <a:t>máquina:</a:t>
            </a:r>
            <a:endParaRPr lang="es-AR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137" y="915400"/>
            <a:ext cx="6978315" cy="5425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951514"/>
            <a:ext cx="103759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dirty="0"/>
              <a:t>Fases y estructura de un compilador:</a:t>
            </a:r>
            <a:endParaRPr lang="es-AR" sz="2400" b="1" u="sng" dirty="0" smtClean="0"/>
          </a:p>
          <a:p>
            <a:pPr algn="just"/>
            <a:endParaRPr lang="es-AR" sz="2300" dirty="0"/>
          </a:p>
          <a:p>
            <a:pPr algn="just"/>
            <a:r>
              <a:rPr lang="es-AR" sz="2300" dirty="0" smtClean="0"/>
              <a:t>La compilación consiste en </a:t>
            </a:r>
            <a:r>
              <a:rPr lang="es-AR" sz="2300" dirty="0"/>
              <a:t>dos tareas bien diferenciadas</a:t>
            </a:r>
            <a:r>
              <a:rPr lang="es-AR" sz="2300" dirty="0" smtClean="0"/>
              <a:t>:</a:t>
            </a:r>
          </a:p>
          <a:p>
            <a:pPr algn="just"/>
            <a:endParaRPr lang="es-AR" sz="23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s-AR" sz="2300" b="1" i="1" u="sng" dirty="0" smtClean="0"/>
              <a:t>Análisis</a:t>
            </a:r>
            <a:r>
              <a:rPr lang="es-AR" sz="2300" dirty="0" smtClean="0"/>
              <a:t>: </a:t>
            </a:r>
            <a:r>
              <a:rPr lang="es-AR" sz="2300" dirty="0"/>
              <a:t>Se determina la estructura y el significado de un </a:t>
            </a:r>
            <a:r>
              <a:rPr lang="es-AR" sz="2300" dirty="0" smtClean="0"/>
              <a:t>código </a:t>
            </a:r>
            <a:r>
              <a:rPr lang="es-AR" sz="2300" dirty="0"/>
              <a:t>fuente. Esta parte </a:t>
            </a:r>
            <a:r>
              <a:rPr lang="es-AR" sz="2300" dirty="0" smtClean="0"/>
              <a:t>del proceso </a:t>
            </a:r>
            <a:r>
              <a:rPr lang="es-AR" sz="2300" dirty="0"/>
              <a:t>de </a:t>
            </a:r>
            <a:r>
              <a:rPr lang="es-AR" sz="2300" dirty="0" smtClean="0"/>
              <a:t>compilación </a:t>
            </a:r>
            <a:r>
              <a:rPr lang="es-AR" sz="2300" dirty="0"/>
              <a:t>divide al programa fuente en sus elementos componentes y </a:t>
            </a:r>
            <a:r>
              <a:rPr lang="es-AR" sz="2300" dirty="0" smtClean="0"/>
              <a:t>crea una representación </a:t>
            </a:r>
            <a:r>
              <a:rPr lang="es-AR" sz="2300" dirty="0"/>
              <a:t>intermedia de </a:t>
            </a:r>
            <a:r>
              <a:rPr lang="es-AR" sz="2300" dirty="0" smtClean="0"/>
              <a:t>él</a:t>
            </a:r>
            <a:r>
              <a:rPr lang="es-AR" sz="2300" dirty="0"/>
              <a:t>, llamada </a:t>
            </a:r>
            <a:r>
              <a:rPr lang="es-AR" sz="2300" dirty="0" smtClean="0"/>
              <a:t>árbol sintáctico.</a:t>
            </a:r>
          </a:p>
          <a:p>
            <a:pPr marL="914400" lvl="1" indent="-457200" algn="just">
              <a:buFont typeface="+mj-lt"/>
              <a:buAutoNum type="arabicParenR"/>
            </a:pPr>
            <a:endParaRPr lang="es-AR" sz="23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s-AR" sz="2300" b="1" i="1" u="sng" dirty="0" smtClean="0"/>
              <a:t>Síntesis</a:t>
            </a:r>
            <a:r>
              <a:rPr lang="es-AR" sz="2300" dirty="0" smtClean="0"/>
              <a:t>: </a:t>
            </a:r>
            <a:r>
              <a:rPr lang="es-AR" sz="2300" dirty="0"/>
              <a:t>Se traduce el </a:t>
            </a:r>
            <a:r>
              <a:rPr lang="es-AR" sz="2300" dirty="0" smtClean="0"/>
              <a:t>código </a:t>
            </a:r>
            <a:r>
              <a:rPr lang="es-AR" sz="2300" dirty="0"/>
              <a:t>fuente a un </a:t>
            </a:r>
            <a:r>
              <a:rPr lang="es-AR" sz="2300" dirty="0" smtClean="0"/>
              <a:t>código </a:t>
            </a:r>
            <a:r>
              <a:rPr lang="es-AR" sz="2300" dirty="0"/>
              <a:t>de </a:t>
            </a:r>
            <a:r>
              <a:rPr lang="es-AR" sz="2300" dirty="0" smtClean="0"/>
              <a:t>máquina </a:t>
            </a:r>
            <a:r>
              <a:rPr lang="es-AR" sz="2300" dirty="0"/>
              <a:t>equivalente, a partir de </a:t>
            </a:r>
            <a:r>
              <a:rPr lang="es-AR" sz="2300" dirty="0" smtClean="0"/>
              <a:t>esa representación </a:t>
            </a:r>
            <a:r>
              <a:rPr lang="es-AR" sz="2300" dirty="0"/>
              <a:t>intermedia. </a:t>
            </a:r>
            <a:r>
              <a:rPr lang="es-AR" sz="2300" dirty="0" smtClean="0"/>
              <a:t>Aquí, </a:t>
            </a:r>
            <a:r>
              <a:rPr lang="es-AR" sz="2300" dirty="0"/>
              <a:t>es necesario usar </a:t>
            </a:r>
            <a:r>
              <a:rPr lang="es-AR" sz="2300" dirty="0" smtClean="0"/>
              <a:t>técnicas </a:t>
            </a:r>
            <a:r>
              <a:rPr lang="es-AR" sz="2300" dirty="0"/>
              <a:t>mas especializadas que </a:t>
            </a:r>
            <a:r>
              <a:rPr lang="es-AR" sz="2300" dirty="0" smtClean="0"/>
              <a:t>durante el análisis.</a:t>
            </a:r>
          </a:p>
          <a:p>
            <a:pPr marL="914400" lvl="1" indent="-457200" algn="just">
              <a:buFont typeface="+mj-lt"/>
              <a:buAutoNum type="arabicParenR"/>
            </a:pPr>
            <a:endParaRPr lang="es-AR" sz="2300" dirty="0"/>
          </a:p>
          <a:p>
            <a:pPr algn="just"/>
            <a:r>
              <a:rPr lang="es-AR" sz="2300" dirty="0"/>
              <a:t>Conceptualmente, un compilador opera en estas dos etapas, que a su vez pueden dividirse </a:t>
            </a:r>
            <a:r>
              <a:rPr lang="es-AR" sz="2300" dirty="0" smtClean="0"/>
              <a:t>en varias </a:t>
            </a:r>
            <a:r>
              <a:rPr lang="es-AR" sz="2300" dirty="0"/>
              <a:t>fases.</a:t>
            </a:r>
            <a:endParaRPr lang="es-AR" sz="23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3495" y="926432"/>
            <a:ext cx="7760367" cy="5426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399" y="927451"/>
            <a:ext cx="10851147" cy="566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000" b="1" u="sng" dirty="0"/>
              <a:t>Fases y estructura de un compilador </a:t>
            </a:r>
            <a:r>
              <a:rPr lang="es-AR" sz="2000" b="1" u="sng" dirty="0" smtClean="0"/>
              <a:t>(cont.):</a:t>
            </a:r>
            <a:endParaRPr lang="es-AR" sz="2000" b="1" u="sng" dirty="0" smtClean="0"/>
          </a:p>
          <a:p>
            <a:pPr algn="just"/>
            <a:endParaRPr lang="es-AR" dirty="0"/>
          </a:p>
          <a:p>
            <a:pPr algn="just"/>
            <a:r>
              <a:rPr lang="es-AR" dirty="0"/>
              <a:t>Las tres primeras fases </a:t>
            </a:r>
            <a:r>
              <a:rPr lang="es-AR" dirty="0" smtClean="0"/>
              <a:t>conforman </a:t>
            </a:r>
            <a:r>
              <a:rPr lang="es-AR" dirty="0"/>
              <a:t>la mayor parte de la tarea de </a:t>
            </a:r>
            <a:r>
              <a:rPr lang="es-AR" dirty="0" smtClean="0"/>
              <a:t>análisis </a:t>
            </a:r>
            <a:r>
              <a:rPr lang="es-AR" dirty="0"/>
              <a:t>en </a:t>
            </a:r>
            <a:r>
              <a:rPr lang="es-AR" dirty="0" smtClean="0"/>
              <a:t>un compilador</a:t>
            </a:r>
            <a:r>
              <a:rPr lang="es-AR" dirty="0"/>
              <a:t>, mientras que las tres </a:t>
            </a:r>
            <a:r>
              <a:rPr lang="es-AR" dirty="0" smtClean="0"/>
              <a:t>últimas </a:t>
            </a:r>
            <a:r>
              <a:rPr lang="es-AR" dirty="0"/>
              <a:t>pueden considerarse como constituyentes de la </a:t>
            </a:r>
            <a:r>
              <a:rPr lang="es-AR" dirty="0" smtClean="0"/>
              <a:t>parte de síntesis </a:t>
            </a:r>
            <a:r>
              <a:rPr lang="es-AR" dirty="0"/>
              <a:t>del mismo</a:t>
            </a:r>
            <a:r>
              <a:rPr lang="es-AR" dirty="0" smtClean="0"/>
              <a:t>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Durante el </a:t>
            </a:r>
            <a:r>
              <a:rPr lang="es-AR" dirty="0" smtClean="0"/>
              <a:t>análisis léxico, </a:t>
            </a:r>
            <a:r>
              <a:rPr lang="es-AR" dirty="0"/>
              <a:t>la cadena de caracteres que constituye el programa fuente, se lee </a:t>
            </a:r>
            <a:r>
              <a:rPr lang="es-AR" dirty="0" smtClean="0"/>
              <a:t>de izquierda </a:t>
            </a:r>
            <a:r>
              <a:rPr lang="es-AR" dirty="0"/>
              <a:t>a derecha, y se agrupa en componentes </a:t>
            </a:r>
            <a:r>
              <a:rPr lang="es-AR" dirty="0" smtClean="0"/>
              <a:t>léxicos.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En el </a:t>
            </a:r>
            <a:r>
              <a:rPr lang="es-AR" dirty="0" smtClean="0"/>
              <a:t>análisis sintáctico, </a:t>
            </a:r>
            <a:r>
              <a:rPr lang="es-AR" dirty="0"/>
              <a:t>los componentes </a:t>
            </a:r>
            <a:r>
              <a:rPr lang="es-AR" dirty="0" smtClean="0"/>
              <a:t>léxicos </a:t>
            </a:r>
            <a:r>
              <a:rPr lang="es-AR" dirty="0"/>
              <a:t>se agrupan </a:t>
            </a:r>
            <a:r>
              <a:rPr lang="es-AR" dirty="0" smtClean="0"/>
              <a:t>jerárquicamente </a:t>
            </a:r>
            <a:r>
              <a:rPr lang="es-AR" dirty="0"/>
              <a:t>en </a:t>
            </a:r>
            <a:r>
              <a:rPr lang="es-AR" dirty="0" smtClean="0"/>
              <a:t>colecciones anidadas </a:t>
            </a:r>
            <a:r>
              <a:rPr lang="es-AR" dirty="0"/>
              <a:t>con un significado </a:t>
            </a:r>
            <a:r>
              <a:rPr lang="es-AR" dirty="0" smtClean="0"/>
              <a:t>común.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En la fase de </a:t>
            </a:r>
            <a:r>
              <a:rPr lang="es-AR" dirty="0" smtClean="0"/>
              <a:t>análisis semántico </a:t>
            </a:r>
            <a:r>
              <a:rPr lang="es-AR" dirty="0"/>
              <a:t>se realizan ciertas revisiones para asegurar que los </a:t>
            </a:r>
            <a:r>
              <a:rPr lang="es-AR" dirty="0" smtClean="0"/>
              <a:t>componentes de </a:t>
            </a:r>
            <a:r>
              <a:rPr lang="es-AR" dirty="0"/>
              <a:t>un programa se ajustan de un modo significativo</a:t>
            </a:r>
            <a:r>
              <a:rPr lang="es-AR" dirty="0" smtClean="0"/>
              <a:t>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Las tres ú</a:t>
            </a:r>
            <a:r>
              <a:rPr lang="es-AR" dirty="0" smtClean="0"/>
              <a:t>ltimas </a:t>
            </a:r>
            <a:r>
              <a:rPr lang="es-AR" dirty="0"/>
              <a:t>fases suelen variar de un compilador a otro. Existen, por ejemplo, </a:t>
            </a:r>
            <a:r>
              <a:rPr lang="es-AR" dirty="0" smtClean="0"/>
              <a:t>compiladores que </a:t>
            </a:r>
            <a:r>
              <a:rPr lang="es-AR" dirty="0"/>
              <a:t>no generan </a:t>
            </a:r>
            <a:r>
              <a:rPr lang="es-AR" dirty="0" smtClean="0"/>
              <a:t>código </a:t>
            </a:r>
            <a:r>
              <a:rPr lang="es-AR" dirty="0"/>
              <a:t>intermedio, o no lo </a:t>
            </a:r>
            <a:r>
              <a:rPr lang="es-AR" dirty="0" smtClean="0"/>
              <a:t>optimizan.</a:t>
            </a:r>
          </a:p>
          <a:p>
            <a:pPr algn="just"/>
            <a:endParaRPr lang="es-AR" dirty="0"/>
          </a:p>
          <a:p>
            <a:pPr algn="just"/>
            <a:r>
              <a:rPr lang="es-AR" dirty="0"/>
              <a:t>De manera informal, también se consideran fases al administrador de la tabla de símbolos y al manejador de errores, que están en interacción con todas las demás.</a:t>
            </a:r>
          </a:p>
          <a:p>
            <a:pPr algn="just"/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80431" y="963546"/>
            <a:ext cx="103759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dirty="0"/>
              <a:t>Administración de la tabla de </a:t>
            </a:r>
            <a:r>
              <a:rPr lang="es-AR" sz="2400" b="1" u="sng" dirty="0" smtClean="0"/>
              <a:t>símbolos:</a:t>
            </a:r>
            <a:endParaRPr lang="es-AR" sz="2400" dirty="0"/>
          </a:p>
          <a:p>
            <a:pPr algn="just"/>
            <a:endParaRPr lang="es-AR" sz="2300" dirty="0"/>
          </a:p>
          <a:p>
            <a:pPr algn="just"/>
            <a:r>
              <a:rPr lang="es-AR" sz="2300" dirty="0" smtClean="0"/>
              <a:t>Un </a:t>
            </a:r>
            <a:r>
              <a:rPr lang="es-AR" sz="2300" dirty="0"/>
              <a:t>compilador </a:t>
            </a:r>
            <a:r>
              <a:rPr lang="es-AR" sz="2300" dirty="0" smtClean="0"/>
              <a:t>debe registrar los </a:t>
            </a:r>
            <a:r>
              <a:rPr lang="es-AR" sz="2300" dirty="0"/>
              <a:t>identificadores utilizados en el programa fuente y reunir </a:t>
            </a:r>
            <a:r>
              <a:rPr lang="es-AR" sz="2300" dirty="0" smtClean="0"/>
              <a:t>información </a:t>
            </a:r>
            <a:r>
              <a:rPr lang="es-AR" sz="2300" dirty="0"/>
              <a:t>sobre los </a:t>
            </a:r>
            <a:r>
              <a:rPr lang="es-AR" sz="2300" dirty="0" smtClean="0"/>
              <a:t>distintos atributos </a:t>
            </a:r>
            <a:r>
              <a:rPr lang="es-AR" sz="2300" dirty="0"/>
              <a:t>de cada identificador. Estos atributos pueden proporcionar </a:t>
            </a:r>
            <a:r>
              <a:rPr lang="es-AR" sz="2300" dirty="0" smtClean="0"/>
              <a:t>información </a:t>
            </a:r>
            <a:r>
              <a:rPr lang="es-AR" sz="2300" dirty="0"/>
              <a:t>sobre </a:t>
            </a:r>
            <a:r>
              <a:rPr lang="es-AR" sz="2300" dirty="0" smtClean="0"/>
              <a:t>la memoria </a:t>
            </a:r>
            <a:r>
              <a:rPr lang="es-AR" sz="2300" dirty="0"/>
              <a:t>asignada a un identificador, su tipo, su </a:t>
            </a:r>
            <a:r>
              <a:rPr lang="es-AR" sz="2300" dirty="0" smtClean="0"/>
              <a:t>ámbito, etc.</a:t>
            </a:r>
          </a:p>
          <a:p>
            <a:pPr algn="just"/>
            <a:endParaRPr lang="es-AR" sz="2300" dirty="0"/>
          </a:p>
          <a:p>
            <a:pPr algn="just"/>
            <a:r>
              <a:rPr lang="es-AR" sz="2300" dirty="0"/>
              <a:t>Una tabla de </a:t>
            </a:r>
            <a:r>
              <a:rPr lang="es-AR" sz="2300" dirty="0" smtClean="0"/>
              <a:t>símbolos </a:t>
            </a:r>
            <a:r>
              <a:rPr lang="es-AR" sz="2300" dirty="0"/>
              <a:t>es una estructura de datos que contiene un registro por cada </a:t>
            </a:r>
            <a:r>
              <a:rPr lang="es-AR" sz="2300" dirty="0" smtClean="0"/>
              <a:t>identificador</a:t>
            </a:r>
            <a:r>
              <a:rPr lang="es-AR" sz="2300" dirty="0"/>
              <a:t>, con campos para los atributos del identificador. </a:t>
            </a:r>
            <a:endParaRPr lang="es-AR" sz="2300" dirty="0" smtClean="0"/>
          </a:p>
          <a:p>
            <a:pPr algn="just"/>
            <a:endParaRPr lang="es-AR" sz="2300" dirty="0"/>
          </a:p>
          <a:p>
            <a:pPr algn="just"/>
            <a:r>
              <a:rPr lang="es-AR" sz="2300" dirty="0"/>
              <a:t>Cuando el analizador </a:t>
            </a:r>
            <a:r>
              <a:rPr lang="es-AR" sz="2300" dirty="0" smtClean="0"/>
              <a:t>léxico </a:t>
            </a:r>
            <a:r>
              <a:rPr lang="es-AR" sz="2300" dirty="0"/>
              <a:t>detecta un identificador en el programa fuente, este </a:t>
            </a:r>
            <a:r>
              <a:rPr lang="es-AR" sz="2300" dirty="0" smtClean="0"/>
              <a:t>identificador </a:t>
            </a:r>
            <a:r>
              <a:rPr lang="es-AR" sz="2300" dirty="0"/>
              <a:t>se introduce en la tabla de </a:t>
            </a:r>
            <a:r>
              <a:rPr lang="es-AR" sz="2300" dirty="0" smtClean="0"/>
              <a:t>símbolos. Normalmente </a:t>
            </a:r>
            <a:r>
              <a:rPr lang="es-AR" sz="2300" dirty="0"/>
              <a:t>los atributos de </a:t>
            </a:r>
            <a:r>
              <a:rPr lang="es-AR" sz="2300" dirty="0" smtClean="0"/>
              <a:t>un identificador </a:t>
            </a:r>
            <a:r>
              <a:rPr lang="es-AR" sz="2300" dirty="0"/>
              <a:t>no se pueden determinar durante el análisis léxico. Las fases restantes introducen </a:t>
            </a:r>
            <a:r>
              <a:rPr lang="es-AR" sz="2300" dirty="0" smtClean="0"/>
              <a:t>información </a:t>
            </a:r>
            <a:r>
              <a:rPr lang="es-AR" sz="2300" dirty="0"/>
              <a:t>sobre los identificadores en la tabla de </a:t>
            </a:r>
            <a:r>
              <a:rPr lang="es-AR" sz="2300" dirty="0" smtClean="0"/>
              <a:t>símbolos, </a:t>
            </a:r>
            <a:r>
              <a:rPr lang="es-AR" sz="2300" dirty="0"/>
              <a:t>y </a:t>
            </a:r>
            <a:r>
              <a:rPr lang="es-AR" sz="2300" dirty="0" smtClean="0"/>
              <a:t>después </a:t>
            </a:r>
            <a:r>
              <a:rPr lang="es-AR" sz="2300" dirty="0"/>
              <a:t>la utilizan de varias formas.</a:t>
            </a:r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963545"/>
            <a:ext cx="10375900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400" b="1" u="sng" dirty="0" smtClean="0"/>
              <a:t>Detección </a:t>
            </a:r>
            <a:r>
              <a:rPr lang="es-AR" sz="2400" b="1" u="sng" dirty="0"/>
              <a:t>e </a:t>
            </a:r>
            <a:r>
              <a:rPr lang="es-AR" sz="2400" b="1" u="sng" dirty="0" smtClean="0"/>
              <a:t>información </a:t>
            </a:r>
            <a:r>
              <a:rPr lang="es-AR" sz="2400" b="1" u="sng" dirty="0"/>
              <a:t>de errores:</a:t>
            </a:r>
            <a:endParaRPr lang="es-AR" sz="2400" b="1" u="sng" dirty="0" smtClean="0"/>
          </a:p>
          <a:p>
            <a:pPr algn="just"/>
            <a:endParaRPr lang="es-AR" sz="2300" dirty="0"/>
          </a:p>
          <a:p>
            <a:pPr algn="just"/>
            <a:r>
              <a:rPr lang="es-AR" sz="2300" dirty="0"/>
              <a:t>Cada fase dentro de proceso de </a:t>
            </a:r>
            <a:r>
              <a:rPr lang="es-AR" sz="2300" dirty="0" smtClean="0"/>
              <a:t>compilación, puede encontrar </a:t>
            </a:r>
            <a:r>
              <a:rPr lang="es-AR" sz="2300" dirty="0"/>
              <a:t>errores. </a:t>
            </a:r>
            <a:r>
              <a:rPr lang="es-AR" sz="2300" dirty="0" smtClean="0"/>
              <a:t>Cada </a:t>
            </a:r>
            <a:r>
              <a:rPr lang="es-AR" sz="2300" dirty="0"/>
              <a:t>fase debe tratar </a:t>
            </a:r>
            <a:r>
              <a:rPr lang="es-AR" sz="2300" dirty="0" smtClean="0"/>
              <a:t>de alguna </a:t>
            </a:r>
            <a:r>
              <a:rPr lang="es-AR" sz="2300" dirty="0"/>
              <a:t>forma ese error, para poder continuar la </a:t>
            </a:r>
            <a:r>
              <a:rPr lang="es-AR" sz="2300" dirty="0" smtClean="0"/>
              <a:t>compilación, </a:t>
            </a:r>
            <a:r>
              <a:rPr lang="es-AR" sz="2300" dirty="0"/>
              <a:t>permitiendo la </a:t>
            </a:r>
            <a:r>
              <a:rPr lang="es-AR" sz="2300" dirty="0" smtClean="0"/>
              <a:t>detección de nuevos </a:t>
            </a:r>
            <a:r>
              <a:rPr lang="es-AR" sz="2300" dirty="0"/>
              <a:t>errores en el programa fuente</a:t>
            </a:r>
            <a:r>
              <a:rPr lang="es-AR" sz="2300" dirty="0" smtClean="0"/>
              <a:t>.</a:t>
            </a:r>
          </a:p>
          <a:p>
            <a:pPr algn="just"/>
            <a:endParaRPr lang="es-AR" sz="2300" dirty="0"/>
          </a:p>
          <a:p>
            <a:pPr algn="just"/>
            <a:r>
              <a:rPr lang="es-AR" sz="2300" dirty="0"/>
              <a:t>La fase de </a:t>
            </a:r>
            <a:r>
              <a:rPr lang="es-AR" sz="2300" dirty="0" smtClean="0"/>
              <a:t>análisis léxico </a:t>
            </a:r>
            <a:r>
              <a:rPr lang="es-AR" sz="2300" dirty="0"/>
              <a:t>puede detectar errores donde los caracteres restantes de la </a:t>
            </a:r>
            <a:r>
              <a:rPr lang="es-AR" sz="2300" dirty="0" smtClean="0"/>
              <a:t>entrada no </a:t>
            </a:r>
            <a:r>
              <a:rPr lang="es-AR" sz="2300" dirty="0"/>
              <a:t>forman </a:t>
            </a:r>
            <a:r>
              <a:rPr lang="es-AR" sz="2300" dirty="0" smtClean="0"/>
              <a:t>ningún </a:t>
            </a:r>
            <a:r>
              <a:rPr lang="es-AR" sz="2300" dirty="0"/>
              <a:t>componente </a:t>
            </a:r>
            <a:r>
              <a:rPr lang="es-AR" sz="2300" dirty="0" smtClean="0"/>
              <a:t>léxico </a:t>
            </a:r>
            <a:r>
              <a:rPr lang="es-AR" sz="2300" dirty="0"/>
              <a:t>del lenguaje</a:t>
            </a:r>
            <a:r>
              <a:rPr lang="es-AR" sz="2300" dirty="0" smtClean="0"/>
              <a:t>.</a:t>
            </a:r>
          </a:p>
          <a:p>
            <a:pPr algn="just"/>
            <a:endParaRPr lang="es-AR" sz="2300" dirty="0"/>
          </a:p>
          <a:p>
            <a:pPr algn="just"/>
            <a:r>
              <a:rPr lang="es-AR" sz="2300" dirty="0"/>
              <a:t>Los errores </a:t>
            </a:r>
            <a:r>
              <a:rPr lang="es-AR" sz="2300" dirty="0" smtClean="0"/>
              <a:t>donde </a:t>
            </a:r>
            <a:r>
              <a:rPr lang="es-AR" sz="2300" dirty="0"/>
              <a:t>la cadena de componentes </a:t>
            </a:r>
            <a:r>
              <a:rPr lang="es-AR" sz="2300" dirty="0" smtClean="0"/>
              <a:t>léxicos </a:t>
            </a:r>
            <a:r>
              <a:rPr lang="es-AR" sz="2300" dirty="0"/>
              <a:t>viola las reglas de la estructura </a:t>
            </a:r>
            <a:r>
              <a:rPr lang="es-AR" sz="2300" dirty="0" smtClean="0"/>
              <a:t>del lenguaje </a:t>
            </a:r>
            <a:r>
              <a:rPr lang="es-AR" sz="2300" dirty="0"/>
              <a:t>(sintaxis) son determinados por la fase de </a:t>
            </a:r>
            <a:r>
              <a:rPr lang="es-AR" sz="2300" dirty="0" smtClean="0"/>
              <a:t>análisis sintáctico.</a:t>
            </a:r>
          </a:p>
          <a:p>
            <a:pPr algn="just"/>
            <a:endParaRPr lang="es-AR" sz="2300" dirty="0"/>
          </a:p>
          <a:p>
            <a:pPr algn="just"/>
            <a:r>
              <a:rPr lang="es-AR" sz="2300" dirty="0"/>
              <a:t>Durante la fase de </a:t>
            </a:r>
            <a:r>
              <a:rPr lang="es-AR" sz="2300" dirty="0" smtClean="0"/>
              <a:t>análisis semántico, </a:t>
            </a:r>
            <a:r>
              <a:rPr lang="es-AR" sz="2300" dirty="0"/>
              <a:t>el compilador intenta detectar construcciones </a:t>
            </a:r>
            <a:r>
              <a:rPr lang="es-AR" sz="2300" dirty="0" smtClean="0"/>
              <a:t>que tengan </a:t>
            </a:r>
            <a:r>
              <a:rPr lang="es-AR" sz="2300" dirty="0"/>
              <a:t>la estructura </a:t>
            </a:r>
            <a:r>
              <a:rPr lang="es-AR" sz="2300" dirty="0" smtClean="0"/>
              <a:t>sintáctica </a:t>
            </a:r>
            <a:r>
              <a:rPr lang="es-AR" sz="2300" dirty="0"/>
              <a:t>correcta, pero que no tengan significado para la </a:t>
            </a:r>
            <a:r>
              <a:rPr lang="es-AR" sz="2300" dirty="0" smtClean="0"/>
              <a:t>operación implicada (sumar dos identificadores: una matriz y un procedimiento).</a:t>
            </a:r>
            <a:endParaRPr lang="es-AR" sz="23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Análisis léxico </a:t>
            </a:r>
            <a:r>
              <a:rPr lang="es-AR" sz="2800" b="1" u="sng" dirty="0"/>
              <a:t>(o lineal):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La tarea </a:t>
            </a:r>
            <a:r>
              <a:rPr lang="es-AR" sz="2400" dirty="0" smtClean="0"/>
              <a:t>básica </a:t>
            </a:r>
            <a:r>
              <a:rPr lang="es-AR" sz="2400" dirty="0"/>
              <a:t>que realiza el </a:t>
            </a:r>
            <a:r>
              <a:rPr lang="es-AR" sz="2400" dirty="0" smtClean="0"/>
              <a:t>AL es </a:t>
            </a:r>
            <a:r>
              <a:rPr lang="es-AR" sz="2400" dirty="0"/>
              <a:t>transformar un flujo de caracteres de entrada en una serie de componentes </a:t>
            </a:r>
            <a:r>
              <a:rPr lang="es-AR" sz="2400" dirty="0" smtClean="0"/>
              <a:t>léxicos </a:t>
            </a:r>
            <a:r>
              <a:rPr lang="es-AR" sz="2400" dirty="0"/>
              <a:t>o tokens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La secuencia de caracteres que forma el token se denomina lexema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A un mismo token le pueden corresponder varios lexemas</a:t>
            </a:r>
            <a:r>
              <a:rPr lang="es-AR" sz="2400" dirty="0" smtClean="0"/>
              <a:t>. Por </a:t>
            </a:r>
            <a:r>
              <a:rPr lang="es-AR" sz="2400" dirty="0"/>
              <a:t>ejemplo, se pueden reconocer como tokens de tipo ID a todos los identificadores. </a:t>
            </a:r>
            <a:r>
              <a:rPr lang="es-AR" sz="2400" dirty="0" smtClean="0"/>
              <a:t>Aunque para </a:t>
            </a:r>
            <a:r>
              <a:rPr lang="es-AR" sz="2400" dirty="0"/>
              <a:t>analizar </a:t>
            </a:r>
            <a:r>
              <a:rPr lang="es-AR" sz="2400" dirty="0" smtClean="0"/>
              <a:t>sintácticamente </a:t>
            </a:r>
            <a:r>
              <a:rPr lang="es-AR" sz="2400" dirty="0"/>
              <a:t>una </a:t>
            </a:r>
            <a:r>
              <a:rPr lang="es-AR" sz="2400" dirty="0" smtClean="0"/>
              <a:t>expresión, solo </a:t>
            </a:r>
            <a:r>
              <a:rPr lang="es-AR" sz="2400" dirty="0"/>
              <a:t>nos </a:t>
            </a:r>
            <a:r>
              <a:rPr lang="es-AR" sz="2400" dirty="0" smtClean="0"/>
              <a:t>haría </a:t>
            </a:r>
            <a:r>
              <a:rPr lang="es-AR" sz="2400" dirty="0"/>
              <a:t>falta el </a:t>
            </a:r>
            <a:r>
              <a:rPr lang="es-AR" sz="2400" dirty="0" smtClean="0"/>
              <a:t>código </a:t>
            </a:r>
            <a:r>
              <a:rPr lang="es-AR" sz="2400" dirty="0"/>
              <a:t>de token, el </a:t>
            </a:r>
            <a:r>
              <a:rPr lang="es-AR" sz="2400" dirty="0" smtClean="0"/>
              <a:t>lexema debe </a:t>
            </a:r>
            <a:r>
              <a:rPr lang="es-AR" sz="2400" dirty="0"/>
              <a:t>ser recordado, para usarlo en fases posteriores dentro del proceso de </a:t>
            </a:r>
            <a:r>
              <a:rPr lang="es-AR" sz="2400" dirty="0" smtClean="0"/>
              <a:t>compilación.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Análisis léxico </a:t>
            </a:r>
            <a:r>
              <a:rPr lang="es-AR" sz="2800" b="1" u="sng" dirty="0" smtClean="0"/>
              <a:t>(cont.):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El </a:t>
            </a:r>
            <a:r>
              <a:rPr lang="es-AR" sz="2400" dirty="0" smtClean="0"/>
              <a:t>AL es </a:t>
            </a:r>
            <a:r>
              <a:rPr lang="es-AR" sz="2400" dirty="0"/>
              <a:t>el </a:t>
            </a:r>
            <a:r>
              <a:rPr lang="es-AR" sz="2400" dirty="0" smtClean="0"/>
              <a:t>único </a:t>
            </a:r>
            <a:r>
              <a:rPr lang="es-AR" sz="2400" dirty="0"/>
              <a:t>componente del compilador que </a:t>
            </a:r>
            <a:r>
              <a:rPr lang="es-AR" sz="2400" dirty="0" smtClean="0"/>
              <a:t>tendrá </a:t>
            </a:r>
            <a:r>
              <a:rPr lang="es-AR" sz="2400" dirty="0"/>
              <a:t>acceso al </a:t>
            </a:r>
            <a:r>
              <a:rPr lang="es-AR" sz="2400" dirty="0" smtClean="0"/>
              <a:t>código </a:t>
            </a:r>
            <a:r>
              <a:rPr lang="es-AR" sz="2400" dirty="0"/>
              <a:t>fuente. Por </a:t>
            </a:r>
            <a:r>
              <a:rPr lang="es-AR" sz="2400" dirty="0" smtClean="0"/>
              <a:t>lo que debe almacenar </a:t>
            </a:r>
            <a:r>
              <a:rPr lang="es-AR" sz="2400" dirty="0"/>
              <a:t>los lexemas para que puedan ser usados posteriormente. </a:t>
            </a:r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Esto se hace </a:t>
            </a:r>
            <a:r>
              <a:rPr lang="es-AR" sz="2400" dirty="0"/>
              <a:t>en la tabla de </a:t>
            </a:r>
            <a:r>
              <a:rPr lang="es-AR" sz="2400" dirty="0" smtClean="0"/>
              <a:t>símbolos. Además, </a:t>
            </a:r>
            <a:r>
              <a:rPr lang="es-AR" sz="2400" dirty="0"/>
              <a:t>debe enviar al analizador </a:t>
            </a:r>
            <a:r>
              <a:rPr lang="es-AR" sz="2400" dirty="0" smtClean="0"/>
              <a:t>sintáctico, </a:t>
            </a:r>
            <a:r>
              <a:rPr lang="es-AR" sz="2400" dirty="0"/>
              <a:t>aparte </a:t>
            </a:r>
            <a:r>
              <a:rPr lang="es-AR" sz="2400" dirty="0" smtClean="0"/>
              <a:t>del código </a:t>
            </a:r>
            <a:r>
              <a:rPr lang="es-AR" sz="2400" dirty="0"/>
              <a:t>de token reconocido, la </a:t>
            </a:r>
            <a:r>
              <a:rPr lang="es-AR" sz="2400" dirty="0" smtClean="0"/>
              <a:t>información </a:t>
            </a:r>
            <a:r>
              <a:rPr lang="es-AR" sz="2400" dirty="0"/>
              <a:t>del lugar </a:t>
            </a:r>
            <a:r>
              <a:rPr lang="es-AR" sz="2400" dirty="0" smtClean="0"/>
              <a:t>donde </a:t>
            </a:r>
            <a:r>
              <a:rPr lang="es-AR" sz="2400" dirty="0"/>
              <a:t>se encuentra almacenado ese </a:t>
            </a:r>
            <a:r>
              <a:rPr lang="es-AR" sz="2400" dirty="0" smtClean="0"/>
              <a:t>lexema (</a:t>
            </a:r>
            <a:r>
              <a:rPr lang="es-AR" sz="2400" dirty="0"/>
              <a:t>por ejemplo, mediante un apuntador a la </a:t>
            </a:r>
            <a:r>
              <a:rPr lang="es-AR" sz="2400" dirty="0" smtClean="0"/>
              <a:t>posición </a:t>
            </a:r>
            <a:r>
              <a:rPr lang="es-AR" sz="2400" dirty="0"/>
              <a:t>que ocupa dentro de la tabla de </a:t>
            </a:r>
            <a:r>
              <a:rPr lang="es-AR" sz="2400" dirty="0" smtClean="0"/>
              <a:t>símbolos).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Posteriormente, en otras fases del compilador, se </a:t>
            </a:r>
            <a:r>
              <a:rPr lang="es-AR" sz="2400" dirty="0" smtClean="0"/>
              <a:t>irá </a:t>
            </a:r>
            <a:r>
              <a:rPr lang="es-AR" sz="2400" dirty="0"/>
              <a:t>completando la </a:t>
            </a:r>
            <a:r>
              <a:rPr lang="es-AR" sz="2400" dirty="0" smtClean="0"/>
              <a:t>información </a:t>
            </a:r>
            <a:r>
              <a:rPr lang="es-AR" sz="2400" dirty="0"/>
              <a:t>sobre </a:t>
            </a:r>
            <a:r>
              <a:rPr lang="es-AR" sz="2400" dirty="0" smtClean="0"/>
              <a:t>cada ítem </a:t>
            </a:r>
            <a:r>
              <a:rPr lang="es-AR" sz="2400" dirty="0"/>
              <a:t>de la tabla de </a:t>
            </a:r>
            <a:r>
              <a:rPr lang="es-AR" sz="2400" dirty="0" smtClean="0"/>
              <a:t>símbolos.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Análisis léxico (cont</a:t>
            </a:r>
            <a:r>
              <a:rPr lang="es-AR" sz="2800" b="1" u="sng" dirty="0" smtClean="0"/>
              <a:t>. 2):</a:t>
            </a:r>
            <a:endParaRPr lang="es-AR" sz="2800" b="1" u="sng" dirty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Por ejemplo, ante la sentencia de </a:t>
            </a:r>
            <a:r>
              <a:rPr lang="es-AR" sz="2400" dirty="0" smtClean="0"/>
              <a:t>entrada</a:t>
            </a:r>
          </a:p>
          <a:p>
            <a:pPr algn="just"/>
            <a:endParaRPr lang="es-AR" sz="2400" dirty="0"/>
          </a:p>
          <a:p>
            <a:pPr lvl="5" algn="just"/>
            <a:r>
              <a:rPr lang="es-AR" sz="2400" dirty="0" smtClean="0"/>
              <a:t>costo </a:t>
            </a:r>
            <a:r>
              <a:rPr lang="es-AR" sz="2400" dirty="0"/>
              <a:t>= precio * </a:t>
            </a:r>
            <a:r>
              <a:rPr lang="es-AR" sz="2400" dirty="0" smtClean="0"/>
              <a:t>0,98;</a:t>
            </a:r>
            <a:endParaRPr lang="es-AR" sz="2400" dirty="0"/>
          </a:p>
          <a:p>
            <a:pPr algn="just"/>
            <a:endParaRPr lang="es-AR" sz="2400" dirty="0" smtClean="0"/>
          </a:p>
          <a:p>
            <a:pPr algn="just"/>
            <a:r>
              <a:rPr lang="es-AR" sz="2400" dirty="0" smtClean="0"/>
              <a:t>El </a:t>
            </a:r>
            <a:r>
              <a:rPr lang="es-AR" sz="2400" dirty="0"/>
              <a:t>AL </a:t>
            </a:r>
            <a:r>
              <a:rPr lang="es-AR" sz="2400" dirty="0" smtClean="0"/>
              <a:t>podría </a:t>
            </a:r>
            <a:r>
              <a:rPr lang="es-AR" sz="2400" dirty="0"/>
              <a:t>devolver una secuencia de parejas, como la siguiente</a:t>
            </a:r>
            <a:r>
              <a:rPr lang="es-AR" sz="2400" dirty="0" smtClean="0"/>
              <a:t>:</a:t>
            </a:r>
          </a:p>
          <a:p>
            <a:pPr algn="just"/>
            <a:endParaRPr lang="es-AR" sz="2400" dirty="0"/>
          </a:p>
          <a:p>
            <a:pPr lvl="5" algn="just"/>
            <a:r>
              <a:rPr lang="es-AR" sz="2400" dirty="0"/>
              <a:t>[ID,1] [=,] [ID,2] [*,] [CONS,3</a:t>
            </a:r>
            <a:r>
              <a:rPr lang="es-AR" sz="2400" dirty="0" smtClean="0"/>
              <a:t>] [;,]</a:t>
            </a:r>
          </a:p>
          <a:p>
            <a:pPr lvl="5" algn="just"/>
            <a:endParaRPr lang="es-AR" sz="2400" dirty="0"/>
          </a:p>
          <a:p>
            <a:pPr algn="just"/>
            <a:r>
              <a:rPr lang="es-AR" sz="2400" dirty="0" smtClean="0"/>
              <a:t>Donde </a:t>
            </a:r>
            <a:r>
              <a:rPr lang="es-AR" sz="2400" dirty="0"/>
              <a:t>ID, =, </a:t>
            </a:r>
            <a:r>
              <a:rPr lang="es-AR" sz="2400" dirty="0" smtClean="0"/>
              <a:t>*, CONS y ; corresponderían </a:t>
            </a:r>
            <a:r>
              <a:rPr lang="es-AR" sz="2400" dirty="0"/>
              <a:t>a </a:t>
            </a:r>
            <a:r>
              <a:rPr lang="es-AR" sz="2400" dirty="0" smtClean="0"/>
              <a:t>códigos </a:t>
            </a:r>
            <a:r>
              <a:rPr lang="es-AR" sz="2400" dirty="0"/>
              <a:t>de tokens y los </a:t>
            </a:r>
            <a:r>
              <a:rPr lang="es-AR" sz="2400" dirty="0" smtClean="0"/>
              <a:t>números </a:t>
            </a:r>
            <a:r>
              <a:rPr lang="es-AR" sz="2400" dirty="0"/>
              <a:t>a la derecha de </a:t>
            </a:r>
            <a:r>
              <a:rPr lang="es-AR" sz="2400" dirty="0" smtClean="0"/>
              <a:t>cada pareja serían índices </a:t>
            </a:r>
            <a:r>
              <a:rPr lang="es-AR" sz="2400" dirty="0"/>
              <a:t>de la tabla de </a:t>
            </a:r>
            <a:r>
              <a:rPr lang="es-AR" sz="2400" dirty="0" smtClean="0"/>
              <a:t>símbolos.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49552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Análisis léxico (cont. </a:t>
            </a:r>
            <a:r>
              <a:rPr lang="es-AR" sz="2800" b="1" u="sng" dirty="0" smtClean="0"/>
              <a:t>3):</a:t>
            </a:r>
            <a:endParaRPr lang="es-AR" sz="2800" b="1" u="sng" dirty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Si durante la fase de </a:t>
            </a:r>
            <a:r>
              <a:rPr lang="es-AR" sz="2400" dirty="0" smtClean="0"/>
              <a:t>análisis léxico, </a:t>
            </a:r>
            <a:r>
              <a:rPr lang="es-AR" sz="2400" dirty="0"/>
              <a:t>el AL se encuentra con uno o </a:t>
            </a:r>
            <a:r>
              <a:rPr lang="es-AR" sz="2400" dirty="0" smtClean="0"/>
              <a:t>más </a:t>
            </a:r>
            <a:r>
              <a:rPr lang="es-AR" sz="2400" dirty="0"/>
              <a:t>lexemas que no </a:t>
            </a:r>
            <a:r>
              <a:rPr lang="es-AR" sz="2400" dirty="0" smtClean="0"/>
              <a:t>corresponden </a:t>
            </a:r>
            <a:r>
              <a:rPr lang="es-AR" sz="2400" dirty="0"/>
              <a:t>a </a:t>
            </a:r>
            <a:r>
              <a:rPr lang="es-AR" sz="2400" dirty="0" smtClean="0"/>
              <a:t>ningún </a:t>
            </a:r>
            <a:r>
              <a:rPr lang="es-AR" sz="2400" dirty="0"/>
              <a:t>token </a:t>
            </a:r>
            <a:r>
              <a:rPr lang="es-AR" sz="2400" dirty="0" smtClean="0"/>
              <a:t>válido, </a:t>
            </a:r>
            <a:r>
              <a:rPr lang="es-AR" sz="2400" dirty="0"/>
              <a:t>debe dar un mensaje de error </a:t>
            </a:r>
            <a:r>
              <a:rPr lang="es-AR" sz="2400" dirty="0" smtClean="0"/>
              <a:t>léxico </a:t>
            </a:r>
            <a:r>
              <a:rPr lang="es-AR" sz="2400" dirty="0"/>
              <a:t>e intentar recuperarse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Finalmente, puesto que el AL es el ú</a:t>
            </a:r>
            <a:r>
              <a:rPr lang="es-AR" sz="2400" dirty="0" smtClean="0"/>
              <a:t>nico </a:t>
            </a:r>
            <a:r>
              <a:rPr lang="es-AR" sz="2400" dirty="0"/>
              <a:t>componente del compilador que tiene contacto </a:t>
            </a:r>
            <a:r>
              <a:rPr lang="es-AR" sz="2400" dirty="0" smtClean="0"/>
              <a:t>con el código </a:t>
            </a:r>
            <a:r>
              <a:rPr lang="es-AR" sz="2400" dirty="0"/>
              <a:t>fuente, debe encargarse de eliminar los </a:t>
            </a:r>
            <a:r>
              <a:rPr lang="es-AR" sz="2400" dirty="0" smtClean="0"/>
              <a:t>símbolos </a:t>
            </a:r>
            <a:r>
              <a:rPr lang="es-AR" sz="2400" dirty="0"/>
              <a:t>no significativos del programa, </a:t>
            </a:r>
            <a:r>
              <a:rPr lang="es-AR" sz="2400" dirty="0" smtClean="0"/>
              <a:t>como espacios </a:t>
            </a:r>
            <a:r>
              <a:rPr lang="es-AR" sz="2400" dirty="0"/>
              <a:t>en blanco, tabuladores, comentarios, etc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Para identificar los tokens del lenguaje, los algoritmos se diseñan en base a los autómatas finitos que reconocen esos tokens.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17835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Análisis sintáctico </a:t>
            </a:r>
            <a:r>
              <a:rPr lang="es-AR" sz="2800" b="1" u="sng" dirty="0"/>
              <a:t>(o </a:t>
            </a:r>
            <a:r>
              <a:rPr lang="es-AR" sz="2800" b="1" u="sng" dirty="0" smtClean="0"/>
              <a:t>jerárquico):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Su </a:t>
            </a:r>
            <a:r>
              <a:rPr lang="es-AR" sz="2400" dirty="0" smtClean="0"/>
              <a:t>función </a:t>
            </a:r>
            <a:r>
              <a:rPr lang="es-AR" sz="2400" dirty="0"/>
              <a:t>es revisar si los tokens </a:t>
            </a:r>
            <a:r>
              <a:rPr lang="es-AR" sz="2400" dirty="0" smtClean="0"/>
              <a:t>del código </a:t>
            </a:r>
            <a:r>
              <a:rPr lang="es-AR" sz="2400" dirty="0"/>
              <a:t>fuente que le proporciona el analizador </a:t>
            </a:r>
            <a:r>
              <a:rPr lang="es-AR" sz="2400" dirty="0" smtClean="0"/>
              <a:t>léxico </a:t>
            </a:r>
            <a:r>
              <a:rPr lang="es-AR" sz="2400" dirty="0"/>
              <a:t>aparecen en el orden correcto (</a:t>
            </a:r>
            <a:r>
              <a:rPr lang="es-AR" sz="2400" dirty="0" smtClean="0"/>
              <a:t>impuesto por </a:t>
            </a:r>
            <a:r>
              <a:rPr lang="es-AR" sz="2400" dirty="0"/>
              <a:t>la </a:t>
            </a:r>
            <a:r>
              <a:rPr lang="es-AR" sz="2400" dirty="0" smtClean="0"/>
              <a:t>gramática), </a:t>
            </a:r>
            <a:r>
              <a:rPr lang="es-AR" sz="2400" dirty="0"/>
              <a:t>y los combina para formar unidades </a:t>
            </a:r>
            <a:r>
              <a:rPr lang="es-AR" sz="2400" dirty="0" smtClean="0"/>
              <a:t>gramaticales, dándonos </a:t>
            </a:r>
            <a:r>
              <a:rPr lang="es-AR" sz="2400" dirty="0"/>
              <a:t>como salida </a:t>
            </a:r>
            <a:r>
              <a:rPr lang="es-AR" sz="2400" dirty="0" smtClean="0"/>
              <a:t>el árbol </a:t>
            </a:r>
            <a:r>
              <a:rPr lang="es-AR" sz="2400" dirty="0"/>
              <a:t>de </a:t>
            </a:r>
            <a:r>
              <a:rPr lang="es-AR" sz="2400" dirty="0" smtClean="0"/>
              <a:t>derivación </a:t>
            </a:r>
            <a:r>
              <a:rPr lang="es-AR" sz="2400" dirty="0"/>
              <a:t>o á</a:t>
            </a:r>
            <a:r>
              <a:rPr lang="es-AR" sz="2400" dirty="0" smtClean="0"/>
              <a:t>rbol sintáctico </a:t>
            </a:r>
            <a:r>
              <a:rPr lang="es-AR" sz="2400" dirty="0"/>
              <a:t>correspondiente a ese </a:t>
            </a:r>
            <a:r>
              <a:rPr lang="es-AR" sz="2400" dirty="0" smtClean="0"/>
              <a:t>código </a:t>
            </a:r>
            <a:r>
              <a:rPr lang="es-AR" sz="2400" dirty="0"/>
              <a:t>fuente</a:t>
            </a:r>
            <a:r>
              <a:rPr lang="es-AR" sz="2400" dirty="0" smtClean="0"/>
              <a:t>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Si el programa no tiene una estructura </a:t>
            </a:r>
            <a:r>
              <a:rPr lang="es-AR" sz="2400" dirty="0" smtClean="0"/>
              <a:t>sintáctica </a:t>
            </a:r>
            <a:r>
              <a:rPr lang="es-AR" sz="2400" dirty="0"/>
              <a:t>correcta, el analizador </a:t>
            </a:r>
            <a:r>
              <a:rPr lang="es-AR" sz="2400" dirty="0" smtClean="0"/>
              <a:t>sintáctico </a:t>
            </a:r>
            <a:r>
              <a:rPr lang="es-AR" sz="2400" dirty="0"/>
              <a:t>no </a:t>
            </a:r>
            <a:r>
              <a:rPr lang="es-AR" sz="2400" dirty="0" smtClean="0"/>
              <a:t>podrá encontrar </a:t>
            </a:r>
            <a:r>
              <a:rPr lang="es-AR" sz="2400" dirty="0"/>
              <a:t>el á</a:t>
            </a:r>
            <a:r>
              <a:rPr lang="es-AR" sz="2400" dirty="0" smtClean="0"/>
              <a:t>rbol </a:t>
            </a:r>
            <a:r>
              <a:rPr lang="es-AR" sz="2400" dirty="0"/>
              <a:t>de </a:t>
            </a:r>
            <a:r>
              <a:rPr lang="es-AR" sz="2400" dirty="0" smtClean="0"/>
              <a:t>derivación </a:t>
            </a:r>
            <a:r>
              <a:rPr lang="es-AR" sz="2400" dirty="0"/>
              <a:t>correspondiente y </a:t>
            </a:r>
            <a:r>
              <a:rPr lang="es-AR" sz="2400" dirty="0" smtClean="0"/>
              <a:t>deberá </a:t>
            </a:r>
            <a:r>
              <a:rPr lang="es-AR" sz="2400" dirty="0"/>
              <a:t>dar mensaje de error </a:t>
            </a:r>
            <a:r>
              <a:rPr lang="es-AR" sz="2400" dirty="0" smtClean="0"/>
              <a:t>sintáctico.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La mayor parte </a:t>
            </a:r>
            <a:r>
              <a:rPr lang="es-AR" sz="2400" dirty="0"/>
              <a:t>de los lenguajes de </a:t>
            </a:r>
            <a:r>
              <a:rPr lang="es-AR" sz="2400" dirty="0" smtClean="0"/>
              <a:t>programación </a:t>
            </a:r>
            <a:r>
              <a:rPr lang="es-AR" sz="2400" dirty="0"/>
              <a:t>pertenecen realmente al grupo de lenguajes </a:t>
            </a:r>
            <a:r>
              <a:rPr lang="es-AR" sz="2400" dirty="0" smtClean="0"/>
              <a:t>dependientes del contexto, y en el diseño del AS se usan autómatas de pila.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29328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Análisis semántico: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La fase de </a:t>
            </a:r>
            <a:r>
              <a:rPr lang="es-AR" sz="2400" dirty="0" smtClean="0"/>
              <a:t>análisis semántico </a:t>
            </a:r>
            <a:r>
              <a:rPr lang="es-AR" sz="2400" dirty="0"/>
              <a:t>revisa el programa fuente para tratar de encontrar errores </a:t>
            </a:r>
            <a:r>
              <a:rPr lang="es-AR" sz="2400" dirty="0" smtClean="0"/>
              <a:t>semánticos, y reúne </a:t>
            </a:r>
            <a:r>
              <a:rPr lang="es-AR" sz="2400" dirty="0"/>
              <a:t>la </a:t>
            </a:r>
            <a:r>
              <a:rPr lang="es-AR" sz="2400" dirty="0" smtClean="0"/>
              <a:t>información </a:t>
            </a:r>
            <a:r>
              <a:rPr lang="es-AR" sz="2400" dirty="0"/>
              <a:t>sobre los tipos para la fase posterior de </a:t>
            </a:r>
            <a:r>
              <a:rPr lang="es-AR" sz="2400" dirty="0" smtClean="0"/>
              <a:t>generación </a:t>
            </a:r>
            <a:r>
              <a:rPr lang="es-AR" sz="2400" dirty="0"/>
              <a:t>de </a:t>
            </a:r>
            <a:r>
              <a:rPr lang="es-AR" sz="2400" dirty="0" smtClean="0"/>
              <a:t>código. 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Utiliza </a:t>
            </a:r>
            <a:r>
              <a:rPr lang="es-AR" sz="2400" dirty="0"/>
              <a:t>la estructura </a:t>
            </a:r>
            <a:r>
              <a:rPr lang="es-AR" sz="2400" dirty="0" smtClean="0"/>
              <a:t>jerárquica </a:t>
            </a:r>
            <a:r>
              <a:rPr lang="es-AR" sz="2400" dirty="0"/>
              <a:t>que se construye en la fase de </a:t>
            </a:r>
            <a:r>
              <a:rPr lang="es-AR" sz="2400" dirty="0" smtClean="0"/>
              <a:t>análisis sintáctico, para </a:t>
            </a:r>
            <a:r>
              <a:rPr lang="es-AR" sz="2400" dirty="0"/>
              <a:t>identificar operadores y operandos de expresiones y proposiciones. </a:t>
            </a:r>
            <a:r>
              <a:rPr lang="es-AR" sz="2400" dirty="0" smtClean="0"/>
              <a:t>Además, </a:t>
            </a:r>
            <a:r>
              <a:rPr lang="es-AR" sz="2400" dirty="0"/>
              <a:t>accede</a:t>
            </a:r>
            <a:r>
              <a:rPr lang="es-AR" sz="2400" dirty="0" smtClean="0"/>
              <a:t>, completa </a:t>
            </a:r>
            <a:r>
              <a:rPr lang="es-AR" sz="2400" dirty="0"/>
              <a:t>y actualiza con frecuencia la tabla de </a:t>
            </a:r>
            <a:r>
              <a:rPr lang="es-AR" sz="2400" dirty="0" smtClean="0"/>
              <a:t>símbolos.</a:t>
            </a:r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Una tarea importante </a:t>
            </a:r>
            <a:r>
              <a:rPr lang="es-AR" sz="2400" dirty="0" smtClean="0"/>
              <a:t>es </a:t>
            </a:r>
            <a:r>
              <a:rPr lang="es-AR" sz="2400" dirty="0"/>
              <a:t>la </a:t>
            </a:r>
            <a:r>
              <a:rPr lang="es-AR" sz="2400" dirty="0" smtClean="0"/>
              <a:t>verificación </a:t>
            </a:r>
            <a:r>
              <a:rPr lang="es-AR" sz="2400" dirty="0"/>
              <a:t>de tipos. </a:t>
            </a:r>
            <a:r>
              <a:rPr lang="es-AR" sz="2400" dirty="0" smtClean="0"/>
              <a:t>Aquí, </a:t>
            </a:r>
            <a:r>
              <a:rPr lang="es-AR" sz="2400" dirty="0"/>
              <a:t>el </a:t>
            </a:r>
            <a:r>
              <a:rPr lang="es-AR" sz="2400" dirty="0" smtClean="0"/>
              <a:t>compilador comprueba </a:t>
            </a:r>
            <a:r>
              <a:rPr lang="es-AR" sz="2400" dirty="0"/>
              <a:t>si cada operador tiene operandos permitidos por la </a:t>
            </a:r>
            <a:r>
              <a:rPr lang="es-AR" sz="2400" dirty="0" smtClean="0"/>
              <a:t>especificación </a:t>
            </a:r>
            <a:r>
              <a:rPr lang="es-AR" sz="2400" dirty="0"/>
              <a:t>del lenguaje fuente</a:t>
            </a:r>
            <a:r>
              <a:rPr lang="es-AR" sz="2400" dirty="0" smtClean="0"/>
              <a:t>. A veces </a:t>
            </a:r>
            <a:r>
              <a:rPr lang="es-AR" sz="2400" dirty="0"/>
              <a:t>esta </a:t>
            </a:r>
            <a:r>
              <a:rPr lang="es-AR" sz="2400" dirty="0" smtClean="0"/>
              <a:t>especificación </a:t>
            </a:r>
            <a:r>
              <a:rPr lang="es-AR" sz="2400" dirty="0"/>
              <a:t>puede permitir ciertas conversiones de tipos en </a:t>
            </a:r>
            <a:r>
              <a:rPr lang="es-AR" sz="2400" dirty="0" smtClean="0"/>
              <a:t>los operandos.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29328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56368" y="939482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Análisis semántico (cont.):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Algunas </a:t>
            </a:r>
            <a:r>
              <a:rPr lang="es-AR" sz="2400" dirty="0"/>
              <a:t>de las comprobaciones que puede realizar, son</a:t>
            </a:r>
            <a:r>
              <a:rPr lang="es-AR" sz="2400" dirty="0" smtClean="0"/>
              <a:t>:</a:t>
            </a:r>
          </a:p>
          <a:p>
            <a:pPr algn="just"/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dirty="0"/>
              <a:t>Chequeo y </a:t>
            </a:r>
            <a:r>
              <a:rPr lang="es-AR" sz="2400" dirty="0" smtClean="0"/>
              <a:t>conversión </a:t>
            </a:r>
            <a:r>
              <a:rPr lang="es-AR" sz="2400" dirty="0"/>
              <a:t>de </a:t>
            </a:r>
            <a:r>
              <a:rPr lang="es-AR" sz="2400" dirty="0" smtClean="0"/>
              <a:t>tipos.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dirty="0" smtClean="0"/>
              <a:t>Comprobación </a:t>
            </a:r>
            <a:r>
              <a:rPr lang="es-AR" sz="2400" dirty="0"/>
              <a:t>de que el tipo y </a:t>
            </a:r>
            <a:r>
              <a:rPr lang="es-AR" sz="2400" dirty="0" smtClean="0"/>
              <a:t>número </a:t>
            </a:r>
            <a:r>
              <a:rPr lang="es-AR" sz="2400" dirty="0"/>
              <a:t>de </a:t>
            </a:r>
            <a:r>
              <a:rPr lang="es-AR" sz="2400" dirty="0" smtClean="0"/>
              <a:t>parámetros </a:t>
            </a:r>
            <a:r>
              <a:rPr lang="es-AR" sz="2400" dirty="0"/>
              <a:t>en la </a:t>
            </a:r>
            <a:r>
              <a:rPr lang="es-AR" sz="2400" dirty="0" smtClean="0"/>
              <a:t>declaración </a:t>
            </a:r>
            <a:r>
              <a:rPr lang="es-AR" sz="2400" dirty="0"/>
              <a:t>de </a:t>
            </a:r>
            <a:r>
              <a:rPr lang="es-AR" sz="2400" dirty="0" smtClean="0"/>
              <a:t>funciones coincide </a:t>
            </a:r>
            <a:r>
              <a:rPr lang="es-AR" sz="2400" dirty="0"/>
              <a:t>con los de las llamadas a esa </a:t>
            </a:r>
            <a:r>
              <a:rPr lang="es-AR" sz="2400" dirty="0" smtClean="0"/>
              <a:t>función.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dirty="0" smtClean="0"/>
              <a:t>Comprobación </a:t>
            </a:r>
            <a:r>
              <a:rPr lang="es-AR" sz="2400" dirty="0"/>
              <a:t>del rango para í</a:t>
            </a:r>
            <a:r>
              <a:rPr lang="es-AR" sz="2400" dirty="0" smtClean="0"/>
              <a:t>ndices </a:t>
            </a:r>
            <a:r>
              <a:rPr lang="es-AR" sz="2400" dirty="0"/>
              <a:t>de </a:t>
            </a:r>
            <a:r>
              <a:rPr lang="es-AR" sz="2400" dirty="0" smtClean="0"/>
              <a:t>arreglos.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dirty="0" smtClean="0"/>
              <a:t>Comprobación </a:t>
            </a:r>
            <a:r>
              <a:rPr lang="es-AR" sz="2400" dirty="0"/>
              <a:t>de la </a:t>
            </a:r>
            <a:r>
              <a:rPr lang="es-AR" sz="2400" dirty="0" smtClean="0"/>
              <a:t>declaración </a:t>
            </a:r>
            <a:r>
              <a:rPr lang="es-AR" sz="2400" dirty="0"/>
              <a:t>de </a:t>
            </a:r>
            <a:r>
              <a:rPr lang="es-AR" sz="2400" dirty="0" smtClean="0"/>
              <a:t>variables.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dirty="0" smtClean="0"/>
              <a:t>Comprobación </a:t>
            </a:r>
            <a:r>
              <a:rPr lang="es-AR" sz="2400" dirty="0"/>
              <a:t>de las reglas de alcance de variables.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3847048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399" y="915419"/>
            <a:ext cx="10851147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Generación </a:t>
            </a:r>
            <a:r>
              <a:rPr lang="es-AR" sz="2800" b="1" u="sng" dirty="0"/>
              <a:t>de </a:t>
            </a:r>
            <a:r>
              <a:rPr lang="es-AR" sz="2800" b="1" u="sng" dirty="0" smtClean="0"/>
              <a:t>código:</a:t>
            </a:r>
            <a:endParaRPr lang="es-AR" sz="2800" b="1" u="sng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El árbol </a:t>
            </a:r>
            <a:r>
              <a:rPr lang="es-AR" sz="2400" dirty="0"/>
              <a:t>de </a:t>
            </a:r>
            <a:r>
              <a:rPr lang="es-AR" sz="2400" dirty="0" smtClean="0"/>
              <a:t>derivación </a:t>
            </a:r>
            <a:r>
              <a:rPr lang="es-AR" sz="2400" dirty="0"/>
              <a:t>obtenido como resultado del </a:t>
            </a:r>
            <a:r>
              <a:rPr lang="es-AR" sz="2400" dirty="0" smtClean="0"/>
              <a:t>análisis sintáctico, </a:t>
            </a:r>
            <a:r>
              <a:rPr lang="es-AR" sz="2400" dirty="0"/>
              <a:t>junto con la </a:t>
            </a:r>
            <a:r>
              <a:rPr lang="es-AR" sz="2400" dirty="0" smtClean="0"/>
              <a:t>información contenida </a:t>
            </a:r>
            <a:r>
              <a:rPr lang="es-AR" sz="2400" dirty="0"/>
              <a:t>en la tabla de </a:t>
            </a:r>
            <a:r>
              <a:rPr lang="es-AR" sz="2400" dirty="0" smtClean="0"/>
              <a:t>símbolos, </a:t>
            </a:r>
            <a:r>
              <a:rPr lang="es-AR" sz="2400" dirty="0"/>
              <a:t>se usa para la </a:t>
            </a:r>
            <a:r>
              <a:rPr lang="es-AR" sz="2400" dirty="0" smtClean="0"/>
              <a:t>construcción </a:t>
            </a:r>
            <a:r>
              <a:rPr lang="es-AR" sz="2400" dirty="0"/>
              <a:t>del </a:t>
            </a:r>
            <a:r>
              <a:rPr lang="es-AR" sz="2400" dirty="0" smtClean="0"/>
              <a:t>código </a:t>
            </a:r>
            <a:r>
              <a:rPr lang="es-AR" sz="2400" dirty="0"/>
              <a:t>objeto. </a:t>
            </a:r>
            <a:endParaRPr lang="es-AR" sz="2400" dirty="0" smtClean="0"/>
          </a:p>
          <a:p>
            <a:pPr algn="just"/>
            <a:endParaRPr lang="es-AR" sz="2400" dirty="0"/>
          </a:p>
          <a:p>
            <a:pPr algn="just"/>
            <a:r>
              <a:rPr lang="es-AR" sz="2400" dirty="0" smtClean="0"/>
              <a:t>Existen varios métodos </a:t>
            </a:r>
            <a:r>
              <a:rPr lang="es-AR" sz="2400" dirty="0"/>
              <a:t>para conseguir esto. </a:t>
            </a:r>
            <a:r>
              <a:rPr lang="es-AR" sz="2400" dirty="0" smtClean="0"/>
              <a:t>Uno </a:t>
            </a:r>
            <a:r>
              <a:rPr lang="es-AR" sz="2400" dirty="0"/>
              <a:t>es </a:t>
            </a:r>
            <a:r>
              <a:rPr lang="es-AR" sz="2400" dirty="0" smtClean="0"/>
              <a:t>el que </a:t>
            </a:r>
            <a:r>
              <a:rPr lang="es-AR" sz="2400" dirty="0"/>
              <a:t>se conoce como </a:t>
            </a:r>
            <a:r>
              <a:rPr lang="es-AR" sz="2400" dirty="0" smtClean="0"/>
              <a:t>traducción </a:t>
            </a:r>
            <a:r>
              <a:rPr lang="es-AR" sz="2400" dirty="0"/>
              <a:t>dirigida por la sintaxis. </a:t>
            </a:r>
            <a:r>
              <a:rPr lang="es-AR" sz="2400" dirty="0" smtClean="0"/>
              <a:t>Consiste en </a:t>
            </a:r>
            <a:r>
              <a:rPr lang="es-AR" sz="2400" dirty="0"/>
              <a:t>asociar </a:t>
            </a:r>
            <a:r>
              <a:rPr lang="es-AR" sz="2400" dirty="0" smtClean="0"/>
              <a:t>a cada </a:t>
            </a:r>
            <a:r>
              <a:rPr lang="es-AR" sz="2400" dirty="0"/>
              <a:t>nodo del á</a:t>
            </a:r>
            <a:r>
              <a:rPr lang="es-AR" sz="2400" dirty="0" smtClean="0"/>
              <a:t>rbol </a:t>
            </a:r>
            <a:r>
              <a:rPr lang="es-AR" sz="2400" dirty="0"/>
              <a:t>de </a:t>
            </a:r>
            <a:r>
              <a:rPr lang="es-AR" sz="2400" dirty="0" smtClean="0"/>
              <a:t>derivación </a:t>
            </a:r>
            <a:r>
              <a:rPr lang="es-AR" sz="2400" dirty="0"/>
              <a:t>una cadena de </a:t>
            </a:r>
            <a:r>
              <a:rPr lang="es-AR" sz="2400" dirty="0" smtClean="0"/>
              <a:t>código </a:t>
            </a:r>
            <a:r>
              <a:rPr lang="es-AR" sz="2400" dirty="0"/>
              <a:t>objeto. El </a:t>
            </a:r>
            <a:r>
              <a:rPr lang="es-AR" sz="2400" dirty="0" smtClean="0"/>
              <a:t>código </a:t>
            </a:r>
            <a:r>
              <a:rPr lang="es-AR" sz="2400" dirty="0"/>
              <a:t>correspondiente a </a:t>
            </a:r>
            <a:r>
              <a:rPr lang="es-AR" sz="2400" dirty="0" smtClean="0"/>
              <a:t>un nodo </a:t>
            </a:r>
            <a:r>
              <a:rPr lang="es-AR" sz="2400" dirty="0"/>
              <a:t>se construye a partir del </a:t>
            </a:r>
            <a:r>
              <a:rPr lang="es-AR" sz="2400" dirty="0" smtClean="0"/>
              <a:t>código </a:t>
            </a:r>
            <a:r>
              <a:rPr lang="es-AR" sz="2400" dirty="0"/>
              <a:t>de sus descendientes y del </a:t>
            </a:r>
            <a:r>
              <a:rPr lang="es-AR" sz="2400" dirty="0" smtClean="0"/>
              <a:t>código </a:t>
            </a:r>
            <a:r>
              <a:rPr lang="es-AR" sz="2400" dirty="0"/>
              <a:t>que representa </a:t>
            </a:r>
            <a:r>
              <a:rPr lang="es-AR" sz="2400" dirty="0" smtClean="0"/>
              <a:t>acciones propias </a:t>
            </a:r>
            <a:r>
              <a:rPr lang="es-AR" sz="2400" dirty="0"/>
              <a:t>de ese nodo. </a:t>
            </a:r>
            <a:r>
              <a:rPr lang="es-AR" sz="2400" dirty="0" smtClean="0"/>
              <a:t>Este método </a:t>
            </a:r>
            <a:r>
              <a:rPr lang="es-AR" sz="2400" dirty="0"/>
              <a:t>es ascendente, pues parte </a:t>
            </a:r>
            <a:r>
              <a:rPr lang="es-AR" sz="2400" dirty="0" smtClean="0"/>
              <a:t>de las </a:t>
            </a:r>
            <a:r>
              <a:rPr lang="es-AR" sz="2400" dirty="0"/>
              <a:t>hojas del </a:t>
            </a:r>
            <a:r>
              <a:rPr lang="es-AR" sz="2400" dirty="0" smtClean="0"/>
              <a:t>árbol </a:t>
            </a:r>
            <a:r>
              <a:rPr lang="es-AR" sz="2400" dirty="0"/>
              <a:t>de </a:t>
            </a:r>
            <a:r>
              <a:rPr lang="es-AR" sz="2400" dirty="0" smtClean="0"/>
              <a:t>derivación </a:t>
            </a:r>
            <a:r>
              <a:rPr lang="es-AR" sz="2400" dirty="0"/>
              <a:t>y va generando </a:t>
            </a:r>
            <a:r>
              <a:rPr lang="es-AR" sz="2400" dirty="0" smtClean="0"/>
              <a:t>código </a:t>
            </a:r>
            <a:r>
              <a:rPr lang="es-AR" sz="2400" dirty="0"/>
              <a:t>hacia arriba, hasta que llegamos a </a:t>
            </a:r>
            <a:r>
              <a:rPr lang="es-AR" sz="2400" dirty="0" smtClean="0"/>
              <a:t>la raíz </a:t>
            </a:r>
            <a:r>
              <a:rPr lang="es-AR" sz="2400" dirty="0"/>
              <a:t>del á</a:t>
            </a:r>
            <a:r>
              <a:rPr lang="es-AR" sz="2400" dirty="0" smtClean="0"/>
              <a:t>rbol</a:t>
            </a:r>
            <a:r>
              <a:rPr lang="es-AR" sz="2400" dirty="0"/>
              <a:t>. </a:t>
            </a:r>
            <a:r>
              <a:rPr lang="es-AR" sz="2400" dirty="0" smtClean="0"/>
              <a:t>La raíz representa el símbolo </a:t>
            </a:r>
            <a:r>
              <a:rPr lang="es-AR" sz="2400" dirty="0"/>
              <a:t>inicial de la </a:t>
            </a:r>
            <a:r>
              <a:rPr lang="es-AR" sz="2400" dirty="0" smtClean="0"/>
              <a:t>gramática </a:t>
            </a:r>
            <a:r>
              <a:rPr lang="es-AR" sz="2400" dirty="0"/>
              <a:t>y su </a:t>
            </a:r>
            <a:r>
              <a:rPr lang="es-AR" sz="2400" dirty="0" smtClean="0"/>
              <a:t>código </a:t>
            </a:r>
            <a:r>
              <a:rPr lang="es-AR" sz="2400" dirty="0"/>
              <a:t>asociado </a:t>
            </a:r>
            <a:r>
              <a:rPr lang="es-AR" sz="2400" dirty="0" smtClean="0"/>
              <a:t>será el programa </a:t>
            </a:r>
            <a:r>
              <a:rPr lang="es-AR" sz="2400" dirty="0"/>
              <a:t>objeto deseado.</a:t>
            </a:r>
            <a:endParaRPr lang="es-AR" sz="2400" dirty="0" smtClean="0"/>
          </a:p>
        </p:txBody>
      </p:sp>
    </p:spTree>
    <p:extLst>
      <p:ext uri="{BB962C8B-B14F-4D97-AF65-F5344CB8AC3E}">
        <p14:creationId xmlns:p14="http://schemas.microsoft.com/office/powerpoint/2010/main" val="29328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8" y="6422"/>
            <a:ext cx="11410951" cy="90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-3198" y="6377614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77664" y="6315046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168400" y="1035735"/>
            <a:ext cx="103759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/>
              <a:t>Generación de </a:t>
            </a:r>
            <a:r>
              <a:rPr lang="es-AR" sz="2800" b="1" u="sng" dirty="0" smtClean="0"/>
              <a:t>código (cont.):</a:t>
            </a:r>
            <a:endParaRPr lang="es-AR" sz="2800" b="1" u="sng" dirty="0"/>
          </a:p>
          <a:p>
            <a:pPr algn="just"/>
            <a:endParaRPr lang="es-AR" sz="2400" dirty="0"/>
          </a:p>
          <a:p>
            <a:pPr algn="just"/>
            <a:r>
              <a:rPr lang="es-AR" sz="2400" dirty="0"/>
              <a:t>A veces, el proceso de </a:t>
            </a:r>
            <a:r>
              <a:rPr lang="es-AR" sz="2400" dirty="0" smtClean="0"/>
              <a:t>generación </a:t>
            </a:r>
            <a:r>
              <a:rPr lang="es-AR" sz="2400" dirty="0"/>
              <a:t>de </a:t>
            </a:r>
            <a:r>
              <a:rPr lang="es-AR" sz="2400" dirty="0" smtClean="0"/>
              <a:t>código </a:t>
            </a:r>
            <a:r>
              <a:rPr lang="es-AR" sz="2400" dirty="0"/>
              <a:t>se puede dividir en las siguientes fases</a:t>
            </a:r>
            <a:r>
              <a:rPr lang="es-AR" sz="2400" dirty="0" smtClean="0"/>
              <a:t>:</a:t>
            </a:r>
          </a:p>
          <a:p>
            <a:pPr algn="just"/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b="1" i="1" u="sng" dirty="0" smtClean="0"/>
              <a:t>Generación </a:t>
            </a:r>
            <a:r>
              <a:rPr lang="es-AR" sz="2400" b="1" i="1" u="sng" dirty="0"/>
              <a:t>de </a:t>
            </a:r>
            <a:r>
              <a:rPr lang="es-AR" sz="2400" b="1" i="1" u="sng" dirty="0" smtClean="0"/>
              <a:t>código intermedio</a:t>
            </a:r>
            <a:r>
              <a:rPr lang="es-AR" sz="2400" dirty="0" smtClean="0"/>
              <a:t>: se genera </a:t>
            </a:r>
            <a:r>
              <a:rPr lang="es-AR" sz="2400" dirty="0"/>
              <a:t>una </a:t>
            </a:r>
            <a:r>
              <a:rPr lang="es-AR" sz="2400" dirty="0" smtClean="0"/>
              <a:t>representación </a:t>
            </a:r>
            <a:r>
              <a:rPr lang="es-AR" sz="2400" dirty="0"/>
              <a:t>intermedia </a:t>
            </a:r>
            <a:r>
              <a:rPr lang="es-AR" sz="2400" dirty="0" smtClean="0"/>
              <a:t>explícita </a:t>
            </a:r>
            <a:r>
              <a:rPr lang="es-AR" sz="2400" dirty="0"/>
              <a:t>del programa </a:t>
            </a:r>
            <a:r>
              <a:rPr lang="es-AR" sz="2400" dirty="0" smtClean="0"/>
              <a:t>fuente. </a:t>
            </a:r>
            <a:r>
              <a:rPr lang="es-AR" sz="2400" dirty="0"/>
              <a:t>Esta </a:t>
            </a:r>
            <a:r>
              <a:rPr lang="es-AR" sz="2400" dirty="0" smtClean="0"/>
              <a:t>representación </a:t>
            </a:r>
            <a:r>
              <a:rPr lang="es-AR" sz="2400" dirty="0"/>
              <a:t>intermedia se puede considerar como </a:t>
            </a:r>
            <a:r>
              <a:rPr lang="es-AR" sz="2400" dirty="0" smtClean="0"/>
              <a:t>un programa </a:t>
            </a:r>
            <a:r>
              <a:rPr lang="es-AR" sz="2400" dirty="0"/>
              <a:t>para una </a:t>
            </a:r>
            <a:r>
              <a:rPr lang="es-AR" sz="2400" dirty="0" smtClean="0"/>
              <a:t>máquina abstracta.</a:t>
            </a:r>
          </a:p>
          <a:p>
            <a:pPr marL="342900" indent="-342900" algn="just">
              <a:buFont typeface="Arial" pitchFamily="34" charset="0"/>
              <a:buChar char="•"/>
            </a:pPr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b="1" i="1" u="sng" dirty="0"/>
              <a:t>Optimización </a:t>
            </a:r>
            <a:r>
              <a:rPr lang="es-AR" sz="2400" b="1" i="1" u="sng" dirty="0"/>
              <a:t>del </a:t>
            </a:r>
            <a:r>
              <a:rPr lang="es-AR" sz="2400" b="1" i="1" u="sng" dirty="0"/>
              <a:t>código</a:t>
            </a:r>
            <a:r>
              <a:rPr lang="es-AR" sz="2400" dirty="0" smtClean="0"/>
              <a:t>: trata </a:t>
            </a:r>
            <a:r>
              <a:rPr lang="es-AR" sz="2400" dirty="0"/>
              <a:t>de mejorar el </a:t>
            </a:r>
            <a:r>
              <a:rPr lang="es-AR" sz="2400" dirty="0" smtClean="0"/>
              <a:t>código </a:t>
            </a:r>
            <a:r>
              <a:rPr lang="es-AR" sz="2400" dirty="0"/>
              <a:t>intermedio, de modo que </a:t>
            </a:r>
            <a:r>
              <a:rPr lang="es-AR" sz="2400" dirty="0" smtClean="0"/>
              <a:t>se </a:t>
            </a:r>
            <a:r>
              <a:rPr lang="es-AR" sz="2400" dirty="0"/>
              <a:t>obtenga un </a:t>
            </a:r>
            <a:r>
              <a:rPr lang="es-AR" sz="2400" dirty="0" smtClean="0"/>
              <a:t>código máquina más </a:t>
            </a:r>
            <a:r>
              <a:rPr lang="es-AR" sz="2400" dirty="0"/>
              <a:t>eficiente en tiempo de </a:t>
            </a:r>
            <a:r>
              <a:rPr lang="es-AR" sz="2400" dirty="0" smtClean="0"/>
              <a:t>ejecución.</a:t>
            </a:r>
          </a:p>
          <a:p>
            <a:pPr algn="just"/>
            <a:endParaRPr lang="es-AR" sz="2400" dirty="0"/>
          </a:p>
          <a:p>
            <a:pPr marL="342900" indent="-342900" algn="just">
              <a:buFont typeface="Arial" pitchFamily="34" charset="0"/>
              <a:buChar char="•"/>
            </a:pPr>
            <a:r>
              <a:rPr lang="es-AR" sz="2400" b="1" i="1" u="sng" dirty="0"/>
              <a:t>Generación </a:t>
            </a:r>
            <a:r>
              <a:rPr lang="es-AR" sz="2400" b="1" i="1" u="sng" dirty="0"/>
              <a:t>de </a:t>
            </a:r>
            <a:r>
              <a:rPr lang="es-AR" sz="2400" b="1" i="1" u="sng" dirty="0"/>
              <a:t>código objeto</a:t>
            </a:r>
            <a:r>
              <a:rPr lang="es-AR" sz="2400" dirty="0" smtClean="0"/>
              <a:t>: por </a:t>
            </a:r>
            <a:r>
              <a:rPr lang="es-AR" sz="2400" dirty="0"/>
              <a:t>lo </a:t>
            </a:r>
            <a:r>
              <a:rPr lang="es-AR" sz="2400" dirty="0" smtClean="0"/>
              <a:t>general consiste en código </a:t>
            </a:r>
            <a:r>
              <a:rPr lang="es-AR" sz="2400" dirty="0"/>
              <a:t>de </a:t>
            </a:r>
            <a:r>
              <a:rPr lang="es-AR" sz="2400" dirty="0" smtClean="0"/>
              <a:t>máquina </a:t>
            </a:r>
            <a:r>
              <a:rPr lang="es-AR" sz="2400" dirty="0"/>
              <a:t>reubicable o </a:t>
            </a:r>
            <a:r>
              <a:rPr lang="es-AR" sz="2400" dirty="0" smtClean="0"/>
              <a:t>código </a:t>
            </a:r>
            <a:r>
              <a:rPr lang="es-AR" sz="2400" dirty="0"/>
              <a:t>ensamblador.</a:t>
            </a:r>
          </a:p>
        </p:txBody>
      </p:sp>
    </p:spTree>
    <p:extLst>
      <p:ext uri="{BB962C8B-B14F-4D97-AF65-F5344CB8AC3E}">
        <p14:creationId xmlns:p14="http://schemas.microsoft.com/office/powerpoint/2010/main" val="29328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5" name="Imagen 31">
            <a:extLst>
              <a:ext uri="{FF2B5EF4-FFF2-40B4-BE49-F238E27FC236}">
                <a16:creationId xmlns="" xmlns:a16="http://schemas.microsoft.com/office/drawing/2014/main" id="{452E838D-7BB9-4864-AE07-88664BFD6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049" y="0"/>
            <a:ext cx="11410951" cy="649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Imagen 30">
            <a:extLst>
              <a:ext uri="{FF2B5EF4-FFF2-40B4-BE49-F238E27FC236}">
                <a16:creationId xmlns="" xmlns:a16="http://schemas.microsoft.com/office/drawing/2014/main" id="{8E90C719-CF33-4486-9AEB-EA64319F5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98" y="1725"/>
            <a:ext cx="1076624" cy="1623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10">
            <a:extLst>
              <a:ext uri="{FF2B5EF4-FFF2-40B4-BE49-F238E27FC236}">
                <a16:creationId xmlns="" xmlns:a16="http://schemas.microsoft.com/office/drawing/2014/main" id="{3326196E-A94C-40EF-B474-404735765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-185739"/>
            <a:ext cx="19770819" cy="805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9" name="Rectangle 12">
            <a:extLst>
              <a:ext uri="{FF2B5EF4-FFF2-40B4-BE49-F238E27FC236}">
                <a16:creationId xmlns="" xmlns:a16="http://schemas.microsoft.com/office/drawing/2014/main" id="{C65EEF6C-1D99-492E-BB59-40F0F1921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886" y="271461"/>
            <a:ext cx="19770819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 dirty="0"/>
          </a:p>
        </p:txBody>
      </p:sp>
      <p:sp>
        <p:nvSpPr>
          <p:cNvPr id="2" name="1 Rectángulo"/>
          <p:cNvSpPr/>
          <p:nvPr/>
        </p:nvSpPr>
        <p:spPr>
          <a:xfrm>
            <a:off x="0" y="6497930"/>
            <a:ext cx="12195197" cy="221966"/>
          </a:xfrm>
          <a:prstGeom prst="rect">
            <a:avLst/>
          </a:prstGeom>
          <a:solidFill>
            <a:srgbClr val="6800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2 CuadroTexto"/>
          <p:cNvSpPr txBox="1"/>
          <p:nvPr/>
        </p:nvSpPr>
        <p:spPr>
          <a:xfrm>
            <a:off x="10111409" y="6435225"/>
            <a:ext cx="20805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rgbClr val="FFFFFF"/>
                </a:solidFill>
                <a:latin typeface="Calibri Light" panose="020F0302020204030204" pitchFamily="34" charset="0"/>
                <a:ea typeface="Calibri" panose="020F0502020204030204" pitchFamily="34" charset="0"/>
                <a:cs typeface="Calibri Light" panose="020F0302020204030204" pitchFamily="34" charset="0"/>
              </a:rPr>
              <a:t>Modalidad Virtual</a:t>
            </a: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78" y="5808678"/>
            <a:ext cx="947333" cy="1049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1 Título">
            <a:extLst>
              <a:ext uri="{FF2B5EF4-FFF2-40B4-BE49-F238E27FC236}">
                <a16:creationId xmlns:a16="http://schemas.microsoft.com/office/drawing/2014/main" xmlns="" id="{580E64F2-5285-450B-9979-ADA4942F6DF8}"/>
              </a:ext>
            </a:extLst>
          </p:cNvPr>
          <p:cNvSpPr txBox="1">
            <a:spLocks/>
          </p:cNvSpPr>
          <p:nvPr/>
        </p:nvSpPr>
        <p:spPr>
          <a:xfrm>
            <a:off x="1081837" y="179430"/>
            <a:ext cx="10515600" cy="554496"/>
          </a:xfrm>
          <a:prstGeom prst="rect">
            <a:avLst/>
          </a:prstGeom>
        </p:spPr>
        <p:txBody>
          <a:bodyPr rtlCol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AR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COMPILADORES</a:t>
            </a:r>
            <a:endParaRPr lang="es-AR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Rectángulo"/>
          <p:cNvSpPr/>
          <p:nvPr/>
        </p:nvSpPr>
        <p:spPr>
          <a:xfrm>
            <a:off x="1072147" y="662756"/>
            <a:ext cx="1526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AR" sz="2800" b="1" u="sng" dirty="0" smtClean="0"/>
              <a:t>Ejemplo</a:t>
            </a:r>
            <a:r>
              <a:rPr lang="es-AR" sz="2800" u="sng" dirty="0" smtClean="0"/>
              <a:t>:</a:t>
            </a:r>
            <a:endParaRPr lang="es-AR" sz="2400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1010" y="649705"/>
            <a:ext cx="8530390" cy="58232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32856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6478</TotalTime>
  <Words>2521</Words>
  <Application>Microsoft Office PowerPoint</Application>
  <PresentationFormat>Personalizado</PresentationFormat>
  <Paragraphs>244</Paragraphs>
  <Slides>26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7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Marcela Lepore</dc:creator>
  <cp:lastModifiedBy>Hernan</cp:lastModifiedBy>
  <cp:revision>228</cp:revision>
  <dcterms:created xsi:type="dcterms:W3CDTF">2020-03-19T18:50:23Z</dcterms:created>
  <dcterms:modified xsi:type="dcterms:W3CDTF">2020-10-20T23:51:54Z</dcterms:modified>
</cp:coreProperties>
</file>