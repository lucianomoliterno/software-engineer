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3B28-680B-40BA-BAF0-CDDC1C32F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6F4BC6-62A8-4F2A-A42D-0CB1F807D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BAFB7C-8E0E-468F-BA89-55C5C2FE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D0081-D60A-4E86-81F7-38193259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0CF7D-0519-41B0-874B-4E2C5661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3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0AE3C-5B09-4B46-BBE0-E673EEB4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456C3-604C-4687-B146-FB214A08B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EEDC8-078C-4C48-BBDF-4E4D4501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039649-4BA3-4028-A347-55F274A7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36CBE0-807B-4634-9176-7C7E6E8B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743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7C40E-A093-4F77-96EE-E8F47941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465B42-274D-40BA-A6F3-946ADCF4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04BA1-F4EF-439F-90ED-A2CC2A9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60864-18DE-4CFC-BF66-FE28117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621648-0A93-4FD8-9CB6-5343C001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7045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F827C-B803-48F5-B86D-B9295236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C588F-852B-449F-975E-7C26A4C79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28B925-1FBB-4681-8B11-C508AF837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E38973-6C14-4026-9C4D-C8F1B2E8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B0F547-15CD-4553-A2D1-C3755DDC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283AA8-CF3A-4FCB-8CD5-107F8477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52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43476-8475-4AAE-8E41-9E8F1CBF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72FE43-6B8E-4D8B-A3D9-6CA2EE85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7F4137-2056-4EE9-BE5D-B34E3F026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4C370E-B9FC-4E8F-A17D-63E708CE5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64075D-9E2E-41D3-866F-0F4199976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F94304-FF68-429E-B125-EB35E568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B26C90-E586-4C20-A1EE-79559DBC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78CF1F-BD71-4DFC-AD85-72720AE6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765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745E7-0DCE-49AB-83CC-67F69A7A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B90C12-73D7-4B91-A3FE-D9B03C5A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FF3BAE-5BC0-4D7A-BD33-A2C6B7B0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88DC54-A363-424C-A66E-950C9D5C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665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BD7976-1394-4FC8-B8D7-865E9C8D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8F63C5-9F51-4E93-91AC-A9EE785B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9FE922-64D4-4A87-98A1-87862CBB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06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68F91-98B7-4F11-A12E-1213B9CD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87097-9CCE-42FD-8F05-1A78140C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E4BB82-AF48-4C1B-9587-B5F2D6E85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C612D5-09C0-4352-B682-F703B649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1DD472-0CA2-466D-8863-FA5B915C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38939B-14DE-44A5-BF29-1558C10E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95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ADDE8-35D2-4AB3-BFEB-3E15FBBF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9135E0-503E-4D1E-BD85-3906593DE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C74D96-865F-42AB-A40B-F9A6791D6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13BF82-44D5-4EC7-BF47-69B8AF76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A47EA8-0240-4B42-8C01-394F3771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600F27-6E77-447C-8A24-E6FAA767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79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CA8E7-3B8D-47F4-B1A0-D0DE2E7E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FD2CF1-4A6B-468C-9999-AE864B208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215B36-3672-4CAF-BE64-1FB65A51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3B271-8FF8-4297-82AE-18DA7918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0AE8A8-8DE3-4451-9530-27CC790B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537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D33723-CDF3-422D-9100-08480E6F2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542780-6BE9-4593-95AF-99AFC00C3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F9F894-81B8-47EC-9C56-0D39A513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1B4CFC-A971-433A-817E-EDD6C689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80314-209B-470D-B49D-A95C8B9C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881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58368F-FEC0-423C-95A5-91E91030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680BC2-7904-4295-A612-13C8CEDB4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FDD47F-EA9A-4BBB-A3D9-D197C902D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3F69A-07CA-4FA6-8659-3F8184DE9D62}" type="datetimeFigureOut">
              <a:rPr lang="es-AR" smtClean="0"/>
              <a:t>19/8/2024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3967D6-450C-40DE-969C-8C418C949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BC9104-6A80-480C-BEE8-98E6B663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851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784247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234" y="0"/>
            <a:ext cx="10167183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2400" b="1" dirty="0">
                <a:solidFill>
                  <a:srgbClr val="FFFFFF"/>
                </a:solidFill>
                <a:latin typeface="Calibri Light" panose="020F0302020204030204" pitchFamily="34" charset="0"/>
              </a:rPr>
              <a:t>Universidad Nacional de Lanús – Licenciatura en Sistemas</a:t>
            </a: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97" y="-233866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863" y="1215190"/>
            <a:ext cx="3071579" cy="340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601581" y="5173579"/>
            <a:ext cx="10924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4000" b="1" cap="all" dirty="0"/>
              <a:t>FUNDAMENTOS Y TEORÍA DE LA COMPUTACIÓN</a:t>
            </a:r>
          </a:p>
        </p:txBody>
      </p:sp>
      <p:pic>
        <p:nvPicPr>
          <p:cNvPr id="15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5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251284" y="1028342"/>
            <a:ext cx="10515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/>
              <a:t>Alfabetos y palabras: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Un alfabeto es un conjunto finito y no vacío de elementos llamados símbolos o letras. 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Una palabra o cadena sobre un alfabeto V es una cadena finita de símbolos del alfabeto. La longitud de una cadena w, que notaremos como |w|, es el número de letras que aparecen en w. 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A la cadena que no tiene símbolos, o lo que es lo mismo, que tiene longitud 0, la llamaremos palabra vacía y se nota por λ (o también Ɛ, según los autores).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Si V es un alfabeto, llamaremos </a:t>
            </a:r>
            <a:r>
              <a:rPr lang="es-AR" dirty="0" err="1"/>
              <a:t>V</a:t>
            </a:r>
            <a:r>
              <a:rPr lang="es-AR" baseline="30000" dirty="0" err="1"/>
              <a:t>n</a:t>
            </a:r>
            <a:r>
              <a:rPr lang="es-AR" dirty="0"/>
              <a:t> al conjunto de todas las palabras de longitud n sobre V . Un elemento de </a:t>
            </a:r>
            <a:r>
              <a:rPr lang="es-AR" dirty="0" err="1"/>
              <a:t>V</a:t>
            </a:r>
            <a:r>
              <a:rPr lang="es-AR" baseline="30000" dirty="0" err="1"/>
              <a:t>n</a:t>
            </a:r>
            <a:r>
              <a:rPr lang="es-AR" baseline="30000" dirty="0"/>
              <a:t> </a:t>
            </a:r>
            <a:r>
              <a:rPr lang="es-AR" dirty="0"/>
              <a:t>será una cadena del tipo a</a:t>
            </a:r>
            <a:r>
              <a:rPr lang="es-AR" baseline="-25000" dirty="0"/>
              <a:t>1</a:t>
            </a:r>
            <a:r>
              <a:rPr lang="es-AR" dirty="0"/>
              <a:t>a</a:t>
            </a:r>
            <a:r>
              <a:rPr lang="es-AR" baseline="-25000" dirty="0"/>
              <a:t>2</a:t>
            </a:r>
            <a:r>
              <a:rPr lang="es-AR" dirty="0"/>
              <a:t> . . . </a:t>
            </a:r>
            <a:r>
              <a:rPr lang="es-AR" dirty="0" err="1"/>
              <a:t>a</a:t>
            </a:r>
            <a:r>
              <a:rPr lang="es-AR" baseline="-25000" dirty="0" err="1"/>
              <a:t>n</a:t>
            </a:r>
            <a:r>
              <a:rPr lang="es-AR" dirty="0"/>
              <a:t> donde cada </a:t>
            </a:r>
            <a:r>
              <a:rPr lang="es-AR" dirty="0" err="1"/>
              <a:t>a</a:t>
            </a:r>
            <a:r>
              <a:rPr lang="es-AR" baseline="-25000" dirty="0" err="1"/>
              <a:t>i</a:t>
            </a:r>
            <a:r>
              <a:rPr lang="es-AR" dirty="0"/>
              <a:t> ∈ V . 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Llamaremos V</a:t>
            </a:r>
            <a:r>
              <a:rPr lang="es-AR" baseline="30000" dirty="0"/>
              <a:t>0 </a:t>
            </a:r>
            <a:r>
              <a:rPr lang="es-AR" dirty="0"/>
              <a:t>al conjunto cuyo único elemento es la palabra vacía, es decir, V</a:t>
            </a:r>
            <a:r>
              <a:rPr lang="es-AR" baseline="30000" dirty="0"/>
              <a:t>0</a:t>
            </a:r>
            <a:r>
              <a:rPr lang="es-AR" dirty="0"/>
              <a:t> = {λ} . </a:t>
            </a:r>
          </a:p>
        </p:txBody>
      </p:sp>
    </p:spTree>
    <p:extLst>
      <p:ext uri="{BB962C8B-B14F-4D97-AF65-F5344CB8AC3E}">
        <p14:creationId xmlns:p14="http://schemas.microsoft.com/office/powerpoint/2010/main" val="3710627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195136" y="1120625"/>
            <a:ext cx="1070409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El conjunto de todas las cadenas de cualquier longitud sobre V es: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Llamamos V</a:t>
            </a:r>
            <a:r>
              <a:rPr lang="es-AR" baseline="30000" dirty="0"/>
              <a:t>+</a:t>
            </a:r>
            <a:r>
              <a:rPr lang="es-AR" dirty="0"/>
              <a:t> al conjunto de todas las cadenas sobre el alfabeto V excepto la vacía. </a:t>
            </a:r>
          </a:p>
          <a:p>
            <a:endParaRPr lang="es-AR" dirty="0"/>
          </a:p>
          <a:p>
            <a:r>
              <a:rPr lang="es-AR" dirty="0"/>
              <a:t>Por tanto, V</a:t>
            </a:r>
            <a:r>
              <a:rPr lang="es-AR" baseline="30000" dirty="0"/>
              <a:t>+</a:t>
            </a:r>
            <a:r>
              <a:rPr lang="es-AR" dirty="0"/>
              <a:t> = V</a:t>
            </a:r>
            <a:r>
              <a:rPr lang="es-AR" baseline="30000" dirty="0"/>
              <a:t>∗</a:t>
            </a:r>
            <a:r>
              <a:rPr lang="es-AR" dirty="0"/>
              <a:t> − {</a:t>
            </a:r>
            <a:r>
              <a:rPr lang="el-GR" dirty="0"/>
              <a:t>λ}.</a:t>
            </a:r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183" y="1671384"/>
            <a:ext cx="2281083" cy="1456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45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1195136" y="1120625"/>
            <a:ext cx="1070409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u="sng" dirty="0"/>
              <a:t>Ejemplos:</a:t>
            </a:r>
          </a:p>
          <a:p>
            <a:endParaRPr lang="es-AR" dirty="0"/>
          </a:p>
          <a:p>
            <a:r>
              <a:rPr lang="es-AR" dirty="0"/>
              <a:t>V={0, 1}</a:t>
            </a:r>
          </a:p>
          <a:p>
            <a:endParaRPr lang="es-AR" dirty="0"/>
          </a:p>
          <a:p>
            <a:r>
              <a:rPr lang="es-AR" dirty="0"/>
              <a:t>V</a:t>
            </a:r>
            <a:r>
              <a:rPr lang="es-AR" baseline="30000" dirty="0"/>
              <a:t>2</a:t>
            </a:r>
            <a:r>
              <a:rPr lang="es-AR" dirty="0"/>
              <a:t>={ 00, 01, 10, 11}</a:t>
            </a:r>
          </a:p>
          <a:p>
            <a:endParaRPr lang="es-AR" dirty="0"/>
          </a:p>
          <a:p>
            <a:r>
              <a:rPr lang="es-AR" dirty="0"/>
              <a:t>V</a:t>
            </a:r>
            <a:r>
              <a:rPr lang="es-AR" baseline="30000" dirty="0"/>
              <a:t>4</a:t>
            </a:r>
            <a:r>
              <a:rPr lang="es-AR" dirty="0"/>
              <a:t>={0000, 0001, 0010, 0011, 0100, 0101, 0110, 0111, 1000, 1001, 1010, 1011, 1100, 1101, 1110, 1111}</a:t>
            </a:r>
          </a:p>
          <a:p>
            <a:endParaRPr lang="es-AR" dirty="0"/>
          </a:p>
          <a:p>
            <a:r>
              <a:rPr lang="es-AR" dirty="0"/>
              <a:t>V</a:t>
            </a:r>
            <a:r>
              <a:rPr lang="es-AR" baseline="30000" dirty="0"/>
              <a:t>+</a:t>
            </a:r>
            <a:r>
              <a:rPr lang="es-AR" dirty="0"/>
              <a:t>={0, 1, 00, 01, 10, 11, 000, 001, 010, 011, 100, 101, 110,  111, 0000, 0001, …}</a:t>
            </a:r>
          </a:p>
          <a:p>
            <a:endParaRPr lang="es-AR" dirty="0"/>
          </a:p>
          <a:p>
            <a:r>
              <a:rPr lang="es-AR" dirty="0"/>
              <a:t>V</a:t>
            </a:r>
            <a:r>
              <a:rPr lang="es-AR" baseline="30000" dirty="0"/>
              <a:t>*</a:t>
            </a:r>
            <a:r>
              <a:rPr lang="es-AR" dirty="0"/>
              <a:t>={λ, 0, 1, 00, 01, 10, 11, 000, 001, 010, 011, 100, 101, 110,  111, 0000, 0001, …}</a:t>
            </a:r>
          </a:p>
        </p:txBody>
      </p:sp>
    </p:spTree>
    <p:extLst>
      <p:ext uri="{BB962C8B-B14F-4D97-AF65-F5344CB8AC3E}">
        <p14:creationId xmlns:p14="http://schemas.microsoft.com/office/powerpoint/2010/main" val="73450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  <p:sp>
        <p:nvSpPr>
          <p:cNvPr id="5" name="4 Rectángulo"/>
          <p:cNvSpPr/>
          <p:nvPr/>
        </p:nvSpPr>
        <p:spPr>
          <a:xfrm>
            <a:off x="1191125" y="1142780"/>
            <a:ext cx="1061185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/>
              <a:t>Concatenación de Palabras: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La operación de concatenación, que notaremos ‘・’, es una operación binaria entre palabras sobre un alfabeto V, esto es: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		・ : V</a:t>
            </a:r>
            <a:r>
              <a:rPr lang="es-AR" baseline="30000" dirty="0"/>
              <a:t>∗</a:t>
            </a:r>
            <a:r>
              <a:rPr lang="es-AR" dirty="0"/>
              <a:t> × V</a:t>
            </a:r>
            <a:r>
              <a:rPr lang="es-AR" baseline="30000" dirty="0"/>
              <a:t>∗</a:t>
            </a:r>
            <a:r>
              <a:rPr lang="es-AR" dirty="0"/>
              <a:t> −→ V</a:t>
            </a:r>
            <a:r>
              <a:rPr lang="es-AR" baseline="30000" dirty="0"/>
              <a:t>∗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de forma que si tenemos dos palabras x, y ∈ V</a:t>
            </a:r>
            <a:r>
              <a:rPr lang="es-AR" baseline="30000" dirty="0"/>
              <a:t>∗</a:t>
            </a:r>
            <a:r>
              <a:rPr lang="es-AR" dirty="0"/>
              <a:t> donde x = a</a:t>
            </a:r>
            <a:r>
              <a:rPr lang="es-AR" baseline="-25000" dirty="0"/>
              <a:t>1</a:t>
            </a:r>
            <a:r>
              <a:rPr lang="es-AR" dirty="0"/>
              <a:t>a</a:t>
            </a:r>
            <a:r>
              <a:rPr lang="es-AR" baseline="-25000" dirty="0"/>
              <a:t>2</a:t>
            </a:r>
            <a:r>
              <a:rPr lang="es-AR" dirty="0"/>
              <a:t> . . . </a:t>
            </a:r>
            <a:r>
              <a:rPr lang="es-AR" dirty="0" err="1"/>
              <a:t>a</a:t>
            </a:r>
            <a:r>
              <a:rPr lang="es-AR" baseline="-25000" dirty="0" err="1"/>
              <a:t>n</a:t>
            </a:r>
            <a:r>
              <a:rPr lang="es-AR" dirty="0"/>
              <a:t>, y = b</a:t>
            </a:r>
            <a:r>
              <a:rPr lang="es-AR" baseline="-25000" dirty="0"/>
              <a:t>1</a:t>
            </a:r>
            <a:r>
              <a:rPr lang="es-AR" dirty="0"/>
              <a:t>b</a:t>
            </a:r>
            <a:r>
              <a:rPr lang="es-AR" baseline="-25000" dirty="0"/>
              <a:t>2</a:t>
            </a:r>
            <a:r>
              <a:rPr lang="es-AR" dirty="0"/>
              <a:t> . . . </a:t>
            </a:r>
            <a:r>
              <a:rPr lang="es-AR" dirty="0" err="1"/>
              <a:t>b</a:t>
            </a:r>
            <a:r>
              <a:rPr lang="es-AR" baseline="-25000" dirty="0" err="1"/>
              <a:t>m</a:t>
            </a:r>
            <a:r>
              <a:rPr lang="es-AR" dirty="0"/>
              <a:t> entonces, x concatenado con y será una palabra w ∈ V</a:t>
            </a:r>
            <a:r>
              <a:rPr lang="es-AR" baseline="30000" dirty="0"/>
              <a:t>∗ </a:t>
            </a:r>
            <a:r>
              <a:rPr lang="es-AR" dirty="0"/>
              <a:t>con |w| = |x| + |y|, de forma que: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		w = x ・ y = a</a:t>
            </a:r>
            <a:r>
              <a:rPr lang="es-AR" baseline="-25000" dirty="0"/>
              <a:t>1</a:t>
            </a:r>
            <a:r>
              <a:rPr lang="es-AR" dirty="0"/>
              <a:t>a</a:t>
            </a:r>
            <a:r>
              <a:rPr lang="es-AR" baseline="-25000" dirty="0"/>
              <a:t>2</a:t>
            </a:r>
            <a:r>
              <a:rPr lang="es-AR" dirty="0"/>
              <a:t> . . . a</a:t>
            </a:r>
            <a:r>
              <a:rPr lang="es-AR" baseline="-25000" dirty="0"/>
              <a:t>n</a:t>
            </a:r>
            <a:r>
              <a:rPr lang="es-AR" dirty="0"/>
              <a:t>b</a:t>
            </a:r>
            <a:r>
              <a:rPr lang="es-AR" baseline="-25000" dirty="0"/>
              <a:t>1</a:t>
            </a:r>
            <a:r>
              <a:rPr lang="es-AR" dirty="0"/>
              <a:t>b</a:t>
            </a:r>
            <a:r>
              <a:rPr lang="es-AR" baseline="-25000" dirty="0"/>
              <a:t>2</a:t>
            </a:r>
            <a:r>
              <a:rPr lang="es-AR" dirty="0"/>
              <a:t> . . . </a:t>
            </a:r>
            <a:r>
              <a:rPr lang="es-AR" dirty="0" err="1"/>
              <a:t>b</a:t>
            </a:r>
            <a:r>
              <a:rPr lang="es-AR" baseline="-25000" dirty="0" err="1"/>
              <a:t>m</a:t>
            </a:r>
            <a:endParaRPr lang="es-AR" dirty="0"/>
          </a:p>
          <a:p>
            <a:pPr algn="just"/>
            <a:endParaRPr lang="es-AR" dirty="0"/>
          </a:p>
          <a:p>
            <a:pPr algn="just"/>
            <a:r>
              <a:rPr lang="es-AR" dirty="0"/>
              <a:t>Nota: a veces se suele suprimir el ‘・’ y se puede escribir directamente w = </a:t>
            </a:r>
            <a:r>
              <a:rPr lang="es-AR" dirty="0" err="1"/>
              <a:t>xy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3450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114578" y="979788"/>
            <a:ext cx="1068125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u="sng" dirty="0"/>
              <a:t>Propiedades de la concatenación:</a:t>
            </a:r>
          </a:p>
          <a:p>
            <a:pPr algn="just"/>
            <a:endParaRPr lang="es-A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s-AR" dirty="0"/>
              <a:t>Operación cerrada: ∀ x, y ∈ V</a:t>
            </a:r>
            <a:r>
              <a:rPr lang="es-AR" baseline="30000" dirty="0"/>
              <a:t>∗</a:t>
            </a:r>
            <a:r>
              <a:rPr lang="es-AR" dirty="0"/>
              <a:t> : x ・ y ∈ V</a:t>
            </a:r>
            <a:r>
              <a:rPr lang="es-AR" baseline="30000" dirty="0"/>
              <a:t>∗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s-A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s-AR" dirty="0"/>
              <a:t>Propiedad asociativa: ∀ x, y, z ∈ V</a:t>
            </a:r>
            <a:r>
              <a:rPr lang="es-AR" baseline="30000" dirty="0"/>
              <a:t>∗</a:t>
            </a:r>
            <a:r>
              <a:rPr lang="es-AR" dirty="0"/>
              <a:t> : x ・ (y ・ z) = (x ・ y) ・ z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s-A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s-AR" dirty="0"/>
              <a:t>Elemento neutro </a:t>
            </a:r>
            <a:r>
              <a:rPr lang="el-GR" dirty="0"/>
              <a:t>λ</a:t>
            </a:r>
            <a:r>
              <a:rPr lang="es-AR" dirty="0"/>
              <a:t>: ∀ x ∈ V</a:t>
            </a:r>
            <a:r>
              <a:rPr lang="es-AR" baseline="30000" dirty="0"/>
              <a:t>∗</a:t>
            </a:r>
            <a:r>
              <a:rPr lang="es-AR" dirty="0"/>
              <a:t> : </a:t>
            </a:r>
            <a:r>
              <a:rPr lang="el-GR" dirty="0"/>
              <a:t>λ ・ </a:t>
            </a:r>
            <a:r>
              <a:rPr lang="es-AR" dirty="0"/>
              <a:t>x = x ・ </a:t>
            </a:r>
            <a:r>
              <a:rPr lang="el-GR" dirty="0"/>
              <a:t>λ = </a:t>
            </a:r>
            <a:r>
              <a:rPr lang="es-AR" dirty="0"/>
              <a:t>x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s-A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s-AR" dirty="0"/>
              <a:t>Cancelación izquierda y derecha: ∀ x, y, z ∈ V: (x ・ y = x ・ z) ⇒ (y = z) || (y ・ x = z ・ x) ⇒ (y = z)</a:t>
            </a:r>
          </a:p>
          <a:p>
            <a:pPr algn="just"/>
            <a:endParaRPr lang="es-AR" dirty="0"/>
          </a:p>
          <a:p>
            <a:pPr algn="just"/>
            <a:r>
              <a:rPr lang="es-AR" b="1" u="sng" dirty="0"/>
              <a:t>Subcadena, prefijo y </a:t>
            </a:r>
            <a:r>
              <a:rPr lang="es-AR" b="1" u="sng" dirty="0" err="1"/>
              <a:t>subfijo</a:t>
            </a:r>
            <a:r>
              <a:rPr lang="es-AR" b="1" u="sng" dirty="0"/>
              <a:t>:</a:t>
            </a:r>
          </a:p>
          <a:p>
            <a:pPr algn="just"/>
            <a:endParaRPr lang="es-AR" dirty="0"/>
          </a:p>
          <a:p>
            <a:pPr marL="285750" indent="-285750">
              <a:buFont typeface="Arial" pitchFamily="34" charset="0"/>
              <a:buChar char="•"/>
            </a:pPr>
            <a:r>
              <a:rPr lang="es-AR" dirty="0"/>
              <a:t>Una cadena z es subcadena de otra cadena w si existen cadenas x, y ∈ V</a:t>
            </a:r>
            <a:r>
              <a:rPr lang="es-AR" baseline="30000" dirty="0"/>
              <a:t>∗</a:t>
            </a:r>
            <a:r>
              <a:rPr lang="es-AR" dirty="0"/>
              <a:t> tal que w = x ・ z ・ y.</a:t>
            </a:r>
          </a:p>
          <a:p>
            <a:pPr marL="285750" indent="-285750">
              <a:buFont typeface="Arial" pitchFamily="34" charset="0"/>
              <a:buChar char="•"/>
            </a:pPr>
            <a:endParaRPr lang="es-AR" dirty="0"/>
          </a:p>
          <a:p>
            <a:pPr marL="285750" indent="-285750">
              <a:buFont typeface="Arial" pitchFamily="34" charset="0"/>
              <a:buChar char="•"/>
            </a:pPr>
            <a:r>
              <a:rPr lang="es-AR" dirty="0"/>
              <a:t>Prefijo(w) = {x ∈ V</a:t>
            </a:r>
            <a:r>
              <a:rPr lang="es-AR" baseline="30000" dirty="0"/>
              <a:t>∗</a:t>
            </a:r>
            <a:r>
              <a:rPr lang="es-AR" dirty="0"/>
              <a:t> | ∃ z ∈ V</a:t>
            </a:r>
            <a:r>
              <a:rPr lang="es-AR" baseline="30000" dirty="0"/>
              <a:t>∗</a:t>
            </a:r>
            <a:r>
              <a:rPr lang="es-AR" dirty="0"/>
              <a:t> : w = x ・ z} </a:t>
            </a:r>
          </a:p>
          <a:p>
            <a:pPr marL="285750" indent="-285750">
              <a:buFont typeface="Arial" pitchFamily="34" charset="0"/>
              <a:buChar char="•"/>
            </a:pPr>
            <a:endParaRPr lang="es-AR" dirty="0"/>
          </a:p>
          <a:p>
            <a:pPr marL="285750" indent="-285750">
              <a:buFont typeface="Arial" pitchFamily="34" charset="0"/>
              <a:buChar char="•"/>
            </a:pPr>
            <a:r>
              <a:rPr lang="es-AR" dirty="0"/>
              <a:t>Sufijo(w) = {x ∈ V</a:t>
            </a:r>
            <a:r>
              <a:rPr lang="es-AR" baseline="30000" dirty="0"/>
              <a:t>∗</a:t>
            </a:r>
            <a:r>
              <a:rPr lang="es-AR" dirty="0"/>
              <a:t> | ∃ z ∈ V</a:t>
            </a:r>
            <a:r>
              <a:rPr lang="es-AR" baseline="30000" dirty="0"/>
              <a:t>∗ </a:t>
            </a:r>
            <a:r>
              <a:rPr lang="es-AR" dirty="0"/>
              <a:t>: w = z ・ x}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</p:spTree>
    <p:extLst>
      <p:ext uri="{BB962C8B-B14F-4D97-AF65-F5344CB8AC3E}">
        <p14:creationId xmlns:p14="http://schemas.microsoft.com/office/powerpoint/2010/main" val="73450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303421" y="1119534"/>
            <a:ext cx="1040330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dirty="0"/>
              <a:t>Diremos que x es un prefijo de w si x ∈ Prefijo(w) y será un prefijo propio si x &lt;&gt; w. 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Por otra parte, diremos que x es un sufijo de w si x ∈Sufijo(w) y será un sufijo propio si x &lt;&gt; w.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Ejemplo: si w = abab es una palabra sobre el alfabeto {a, b}, o lo que es lo mismo, w ∈ {a, b}</a:t>
            </a:r>
            <a:r>
              <a:rPr lang="es-AR" baseline="30000" dirty="0"/>
              <a:t>∗</a:t>
            </a:r>
            <a:r>
              <a:rPr lang="es-AR" dirty="0"/>
              <a:t>, tenemos que:</a:t>
            </a:r>
          </a:p>
          <a:p>
            <a:pPr algn="just"/>
            <a:endParaRPr lang="es-AR" dirty="0"/>
          </a:p>
          <a:p>
            <a:pPr lvl="1" algn="just"/>
            <a:r>
              <a:rPr lang="es-AR" dirty="0"/>
              <a:t>ab es un prefijo propio de w</a:t>
            </a:r>
          </a:p>
          <a:p>
            <a:pPr lvl="1" algn="just"/>
            <a:r>
              <a:rPr lang="es-AR" dirty="0"/>
              <a:t>abab es un prefijo de w, pero no es propio</a:t>
            </a:r>
          </a:p>
          <a:p>
            <a:pPr lvl="1" algn="just"/>
            <a:r>
              <a:rPr lang="es-AR" dirty="0"/>
              <a:t>b es un sufijo de w</a:t>
            </a:r>
          </a:p>
          <a:p>
            <a:pPr algn="just"/>
            <a:endParaRPr lang="es-AR" dirty="0"/>
          </a:p>
          <a:p>
            <a:pPr algn="just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3450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171075" y="1064984"/>
            <a:ext cx="1054768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/>
              <a:t>Potencia de una palabra: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Llamamos potencia n-</a:t>
            </a:r>
            <a:r>
              <a:rPr lang="es-AR" dirty="0" err="1"/>
              <a:t>ésima</a:t>
            </a:r>
            <a:r>
              <a:rPr lang="es-AR" dirty="0"/>
              <a:t> de una palabra, a la operación que consiste en concatenar la palabra consigo misma n veces. Dada una palabra w ∈ V</a:t>
            </a:r>
            <a:r>
              <a:rPr lang="es-AR" baseline="30000" dirty="0"/>
              <a:t>∗</a:t>
            </a:r>
            <a:r>
              <a:rPr lang="es-AR" dirty="0"/>
              <a:t>, se define inductivamente la potencia n-</a:t>
            </a:r>
            <a:r>
              <a:rPr lang="es-AR" dirty="0" err="1"/>
              <a:t>ésima</a:t>
            </a:r>
            <a:r>
              <a:rPr lang="es-AR" dirty="0"/>
              <a:t> de w, que notaremos </a:t>
            </a:r>
            <a:r>
              <a:rPr lang="es-AR" dirty="0" err="1"/>
              <a:t>w</a:t>
            </a:r>
            <a:r>
              <a:rPr lang="es-AR" baseline="30000" dirty="0" err="1"/>
              <a:t>n</a:t>
            </a:r>
            <a:r>
              <a:rPr lang="es-AR" dirty="0"/>
              <a:t>, como:</a:t>
            </a:r>
          </a:p>
          <a:p>
            <a:pPr algn="just"/>
            <a:endParaRPr lang="es-AR" dirty="0"/>
          </a:p>
          <a:p>
            <a:pPr lvl="1" algn="just"/>
            <a:r>
              <a:rPr lang="es-AR" dirty="0"/>
              <a:t>1. w</a:t>
            </a:r>
            <a:r>
              <a:rPr lang="es-AR" baseline="30000" dirty="0"/>
              <a:t>0</a:t>
            </a:r>
            <a:r>
              <a:rPr lang="es-AR" dirty="0"/>
              <a:t> = </a:t>
            </a:r>
            <a:r>
              <a:rPr lang="el-GR" dirty="0"/>
              <a:t>λ</a:t>
            </a:r>
          </a:p>
          <a:p>
            <a:pPr lvl="1" algn="just"/>
            <a:r>
              <a:rPr lang="es-AR" dirty="0"/>
              <a:t>2. </a:t>
            </a:r>
            <a:r>
              <a:rPr lang="es-AR" dirty="0" err="1"/>
              <a:t>w</a:t>
            </a:r>
            <a:r>
              <a:rPr lang="es-AR" baseline="30000" dirty="0" err="1"/>
              <a:t>n</a:t>
            </a:r>
            <a:r>
              <a:rPr lang="es-AR" dirty="0"/>
              <a:t> = w ・ w</a:t>
            </a:r>
            <a:r>
              <a:rPr lang="es-AR" baseline="30000" dirty="0"/>
              <a:t>n−1</a:t>
            </a:r>
            <a:r>
              <a:rPr lang="es-AR" dirty="0"/>
              <a:t> para n &gt; 0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Ejemplo: si w = aba es una palabra sobre el alfabeto {a, b} entonces:</a:t>
            </a:r>
          </a:p>
          <a:p>
            <a:pPr algn="just"/>
            <a:endParaRPr lang="es-AR" dirty="0"/>
          </a:p>
          <a:p>
            <a:pPr lvl="1" algn="just"/>
            <a:r>
              <a:rPr lang="es-AR" dirty="0"/>
              <a:t>w</a:t>
            </a:r>
            <a:r>
              <a:rPr lang="es-AR" baseline="30000" dirty="0"/>
              <a:t>0</a:t>
            </a:r>
            <a:r>
              <a:rPr lang="es-AR" dirty="0"/>
              <a:t> = </a:t>
            </a:r>
            <a:r>
              <a:rPr lang="el-GR" dirty="0"/>
              <a:t>λ</a:t>
            </a:r>
          </a:p>
          <a:p>
            <a:pPr lvl="1" algn="just"/>
            <a:r>
              <a:rPr lang="es-AR" dirty="0"/>
              <a:t>w</a:t>
            </a:r>
            <a:r>
              <a:rPr lang="es-AR" baseline="30000" dirty="0"/>
              <a:t>1</a:t>
            </a:r>
            <a:r>
              <a:rPr lang="es-AR" dirty="0"/>
              <a:t> = aba</a:t>
            </a:r>
          </a:p>
          <a:p>
            <a:pPr lvl="1" algn="just"/>
            <a:r>
              <a:rPr lang="es-AR" dirty="0"/>
              <a:t>w</a:t>
            </a:r>
            <a:r>
              <a:rPr lang="es-AR" baseline="30000" dirty="0"/>
              <a:t>2</a:t>
            </a:r>
            <a:r>
              <a:rPr lang="es-AR" dirty="0"/>
              <a:t> = </a:t>
            </a:r>
            <a:r>
              <a:rPr lang="es-AR" dirty="0" err="1"/>
              <a:t>abaaba</a:t>
            </a:r>
            <a:r>
              <a:rPr lang="es-AR" dirty="0"/>
              <a:t> = aba</a:t>
            </a:r>
            <a:r>
              <a:rPr lang="es-AR" baseline="30000" dirty="0"/>
              <a:t>2</a:t>
            </a:r>
            <a:r>
              <a:rPr lang="es-AR" dirty="0"/>
              <a:t>ba</a:t>
            </a:r>
          </a:p>
        </p:txBody>
      </p:sp>
    </p:spTree>
    <p:extLst>
      <p:ext uri="{BB962C8B-B14F-4D97-AF65-F5344CB8AC3E}">
        <p14:creationId xmlns:p14="http://schemas.microsoft.com/office/powerpoint/2010/main" val="73450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baseline="-25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219200" y="1108320"/>
            <a:ext cx="1031908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/>
              <a:t>Inversión de palabras: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Si w = a</a:t>
            </a:r>
            <a:r>
              <a:rPr lang="es-AR" baseline="-25000" dirty="0"/>
              <a:t>1</a:t>
            </a:r>
            <a:r>
              <a:rPr lang="es-AR" dirty="0"/>
              <a:t>a</a:t>
            </a:r>
            <a:r>
              <a:rPr lang="es-AR" baseline="-25000" dirty="0"/>
              <a:t>2</a:t>
            </a:r>
            <a:r>
              <a:rPr lang="es-AR" dirty="0"/>
              <a:t> . . . </a:t>
            </a:r>
            <a:r>
              <a:rPr lang="es-AR" dirty="0" err="1"/>
              <a:t>a</a:t>
            </a:r>
            <a:r>
              <a:rPr lang="es-AR" baseline="-25000" dirty="0" err="1"/>
              <a:t>n</a:t>
            </a:r>
            <a:r>
              <a:rPr lang="es-AR" dirty="0"/>
              <a:t> es una palabra sobre un alfabeto V entonces la palabra inversa o refleja de w se define como: </a:t>
            </a:r>
            <a:r>
              <a:rPr lang="es-AR" dirty="0" err="1"/>
              <a:t>w</a:t>
            </a:r>
            <a:r>
              <a:rPr lang="es-AR" baseline="30000" dirty="0" err="1"/>
              <a:t>R</a:t>
            </a:r>
            <a:r>
              <a:rPr lang="es-AR" dirty="0"/>
              <a:t> = a</a:t>
            </a:r>
            <a:r>
              <a:rPr lang="es-AR" baseline="-25000" dirty="0"/>
              <a:t>n</a:t>
            </a:r>
            <a:r>
              <a:rPr lang="es-AR" dirty="0"/>
              <a:t>a</a:t>
            </a:r>
            <a:r>
              <a:rPr lang="es-AR" baseline="-25000" dirty="0"/>
              <a:t>n−1 </a:t>
            </a:r>
            <a:r>
              <a:rPr lang="es-AR" dirty="0"/>
              <a:t>. . . a</a:t>
            </a:r>
            <a:r>
              <a:rPr lang="es-AR" baseline="-25000" dirty="0"/>
              <a:t>1</a:t>
            </a:r>
          </a:p>
          <a:p>
            <a:pPr algn="just"/>
            <a:endParaRPr lang="es-AR" dirty="0"/>
          </a:p>
          <a:p>
            <a:r>
              <a:rPr lang="es-AR" b="1" u="sng" dirty="0"/>
              <a:t>Lenguajes formales:</a:t>
            </a:r>
          </a:p>
          <a:p>
            <a:endParaRPr lang="es-AR" dirty="0"/>
          </a:p>
          <a:p>
            <a:pPr algn="just"/>
            <a:r>
              <a:rPr lang="es-AR" dirty="0"/>
              <a:t>Llamamos lenguaje sobre el alfabeto V a cualquier subconjunto de V</a:t>
            </a:r>
            <a:r>
              <a:rPr lang="es-AR" baseline="30000" dirty="0"/>
              <a:t>∗</a:t>
            </a:r>
            <a:r>
              <a:rPr lang="es-AR" dirty="0"/>
              <a:t>. Así tenemos que, V</a:t>
            </a:r>
            <a:r>
              <a:rPr lang="es-AR" baseline="30000" dirty="0"/>
              <a:t>∗</a:t>
            </a:r>
            <a:r>
              <a:rPr lang="es-AR" dirty="0"/>
              <a:t>,{}, y V pueden considerarse como lenguajes. 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Podemos especificar un lenguaje finito por extensión enumerando sus elementos entre llaves. 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Ejemplo: {aba, </a:t>
            </a:r>
            <a:r>
              <a:rPr lang="es-AR" dirty="0" err="1"/>
              <a:t>czr</a:t>
            </a:r>
            <a:r>
              <a:rPr lang="es-AR" dirty="0"/>
              <a:t>, d, f} es un lenguaje sobre el alfabeto {a, b, c, ..., z}.</a:t>
            </a:r>
          </a:p>
        </p:txBody>
      </p:sp>
    </p:spTree>
    <p:extLst>
      <p:ext uri="{BB962C8B-B14F-4D97-AF65-F5344CB8AC3E}">
        <p14:creationId xmlns:p14="http://schemas.microsoft.com/office/powerpoint/2010/main" val="73450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351547" y="1053497"/>
            <a:ext cx="1051158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dirty="0"/>
              <a:t>Podemos especificar un lenguaje por comprensión de la siguiente forma: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		</a:t>
            </a:r>
            <a:r>
              <a:rPr lang="es-AR" sz="2000" b="1" dirty="0"/>
              <a:t>L = {w ∈ V</a:t>
            </a:r>
            <a:r>
              <a:rPr lang="es-AR" sz="2000" b="1" baseline="30000" dirty="0"/>
              <a:t>∗</a:t>
            </a:r>
            <a:r>
              <a:rPr lang="es-AR" sz="2000" b="1" dirty="0"/>
              <a:t> | w cumple la propiedad P}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V</a:t>
            </a:r>
            <a:r>
              <a:rPr lang="es-AR" baseline="30000" dirty="0"/>
              <a:t>∗</a:t>
            </a:r>
            <a:r>
              <a:rPr lang="es-AR" dirty="0"/>
              <a:t> es el conjunto referencial, que podemos llamar también lenguaje universal sobre V 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Ejemplo: L = {w ∈ {0, 1}∗ | ceros(w) = unos(w)}, palabras que tienen el mismo número de ceros que de unos.</a:t>
            </a:r>
          </a:p>
        </p:txBody>
      </p:sp>
    </p:spTree>
    <p:extLst>
      <p:ext uri="{BB962C8B-B14F-4D97-AF65-F5344CB8AC3E}">
        <p14:creationId xmlns:p14="http://schemas.microsoft.com/office/powerpoint/2010/main" val="1560258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255172" y="1006459"/>
            <a:ext cx="1064406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/>
              <a:t>Operaciones del algebra de conjuntos: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Sean L</a:t>
            </a:r>
            <a:r>
              <a:rPr lang="es-AR" baseline="-25000" dirty="0"/>
              <a:t>1</a:t>
            </a:r>
            <a:r>
              <a:rPr lang="es-AR" dirty="0"/>
              <a:t> y L</a:t>
            </a:r>
            <a:r>
              <a:rPr lang="es-AR" baseline="-25000" dirty="0"/>
              <a:t>2</a:t>
            </a:r>
            <a:r>
              <a:rPr lang="es-AR" dirty="0"/>
              <a:t> dos lenguajes definidos sobre el alfabeto V:</a:t>
            </a:r>
          </a:p>
          <a:p>
            <a:pPr algn="just"/>
            <a:endParaRPr lang="es-A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s-AR" dirty="0"/>
              <a:t>Unión: L = L</a:t>
            </a:r>
            <a:r>
              <a:rPr lang="es-AR" baseline="-25000" dirty="0"/>
              <a:t>1</a:t>
            </a:r>
            <a:r>
              <a:rPr lang="es-AR" dirty="0"/>
              <a:t> ∪ L</a:t>
            </a:r>
            <a:r>
              <a:rPr lang="es-AR" baseline="-25000" dirty="0"/>
              <a:t>2</a:t>
            </a:r>
            <a:r>
              <a:rPr lang="es-AR" dirty="0"/>
              <a:t> = {w ∈ V</a:t>
            </a:r>
            <a:r>
              <a:rPr lang="es-AR" baseline="30000" dirty="0"/>
              <a:t>∗</a:t>
            </a:r>
            <a:r>
              <a:rPr lang="es-AR" dirty="0"/>
              <a:t> | (w ∈ L</a:t>
            </a:r>
            <a:r>
              <a:rPr lang="es-AR" baseline="-25000" dirty="0"/>
              <a:t>1</a:t>
            </a:r>
            <a:r>
              <a:rPr lang="es-AR" dirty="0"/>
              <a:t>) ∨ (w ∈ L</a:t>
            </a:r>
            <a:r>
              <a:rPr lang="es-AR" baseline="-25000" dirty="0"/>
              <a:t>2</a:t>
            </a:r>
            <a:r>
              <a:rPr lang="es-AR" dirty="0"/>
              <a:t>)}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s-A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s-AR" dirty="0"/>
              <a:t>Intersección: L = L</a:t>
            </a:r>
            <a:r>
              <a:rPr lang="es-AR" baseline="-25000" dirty="0"/>
              <a:t>1</a:t>
            </a:r>
            <a:r>
              <a:rPr lang="es-AR" dirty="0"/>
              <a:t> ∩ L</a:t>
            </a:r>
            <a:r>
              <a:rPr lang="es-AR" baseline="-25000" dirty="0"/>
              <a:t>2</a:t>
            </a:r>
            <a:r>
              <a:rPr lang="es-AR" dirty="0"/>
              <a:t> = {w ∈ V</a:t>
            </a:r>
            <a:r>
              <a:rPr lang="es-AR" baseline="30000" dirty="0"/>
              <a:t>∗</a:t>
            </a:r>
            <a:r>
              <a:rPr lang="es-AR" dirty="0"/>
              <a:t> | (w ∈ L</a:t>
            </a:r>
            <a:r>
              <a:rPr lang="es-AR" baseline="-25000" dirty="0"/>
              <a:t>1</a:t>
            </a:r>
            <a:r>
              <a:rPr lang="es-AR" dirty="0"/>
              <a:t>) ∧ (w ∈ L</a:t>
            </a:r>
            <a:r>
              <a:rPr lang="es-AR" baseline="-25000" dirty="0"/>
              <a:t>2</a:t>
            </a:r>
            <a:r>
              <a:rPr lang="es-AR" dirty="0"/>
              <a:t>)}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s-A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s-AR" dirty="0"/>
              <a:t>Diferencia: L = L</a:t>
            </a:r>
            <a:r>
              <a:rPr lang="es-AR" baseline="-25000" dirty="0"/>
              <a:t>1</a:t>
            </a:r>
            <a:r>
              <a:rPr lang="es-AR" dirty="0"/>
              <a:t> − L</a:t>
            </a:r>
            <a:r>
              <a:rPr lang="es-AR" baseline="-25000" dirty="0"/>
              <a:t>2</a:t>
            </a:r>
            <a:r>
              <a:rPr lang="es-AR" dirty="0"/>
              <a:t> = {w ∈ V</a:t>
            </a:r>
            <a:r>
              <a:rPr lang="es-AR" baseline="30000" dirty="0"/>
              <a:t>∗</a:t>
            </a:r>
            <a:r>
              <a:rPr lang="es-AR" dirty="0"/>
              <a:t> | (w ∈ L</a:t>
            </a:r>
            <a:r>
              <a:rPr lang="es-AR" baseline="-25000" dirty="0"/>
              <a:t>1</a:t>
            </a:r>
            <a:r>
              <a:rPr lang="es-AR" dirty="0"/>
              <a:t>) ∧ (w Ɇ L</a:t>
            </a:r>
            <a:r>
              <a:rPr lang="es-AR" baseline="-25000" dirty="0"/>
              <a:t>2</a:t>
            </a:r>
            <a:r>
              <a:rPr lang="es-AR" dirty="0"/>
              <a:t>)}</a:t>
            </a:r>
          </a:p>
          <a:p>
            <a:pPr algn="just"/>
            <a:r>
              <a:rPr lang="es-AR" dirty="0"/>
              <a:t>						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s-AR" dirty="0"/>
              <a:t>Complemento: el complementario del lenguaje L sobre el alfabeto V será:  </a:t>
            </a:r>
            <a:r>
              <a:rPr lang="es-AR" u="sng" dirty="0"/>
              <a:t>L</a:t>
            </a:r>
            <a:r>
              <a:rPr lang="es-AR" dirty="0"/>
              <a:t>  = V</a:t>
            </a:r>
            <a:r>
              <a:rPr lang="es-AR" baseline="30000" dirty="0"/>
              <a:t>∗</a:t>
            </a:r>
            <a:r>
              <a:rPr lang="es-AR" dirty="0"/>
              <a:t> − L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s-A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s-AR" dirty="0"/>
              <a:t>Existe un elemento neutro que es el lenguaje vacío (no es lo mismo el lenguaje vacío que el lenguaje que contiene la palabra vacía).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s-AR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s-AR" dirty="0"/>
              <a:t>La unión e intersección de lenguajes sobre el mismo alfabeto cumplen las propiedades asociativa, conmutativa</a:t>
            </a:r>
          </a:p>
        </p:txBody>
      </p:sp>
    </p:spTree>
    <p:extLst>
      <p:ext uri="{BB962C8B-B14F-4D97-AF65-F5344CB8AC3E}">
        <p14:creationId xmlns:p14="http://schemas.microsoft.com/office/powerpoint/2010/main" val="2526142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114578" y="979788"/>
            <a:ext cx="106812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u="sng" dirty="0"/>
              <a:t>Concatenación, potencia e inversión de lenguajes: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Sean L</a:t>
            </a:r>
            <a:r>
              <a:rPr lang="es-AR" baseline="-25000" dirty="0"/>
              <a:t>1</a:t>
            </a:r>
            <a:r>
              <a:rPr lang="es-AR" dirty="0"/>
              <a:t> y L</a:t>
            </a:r>
            <a:r>
              <a:rPr lang="es-AR" baseline="-25000" dirty="0"/>
              <a:t>2</a:t>
            </a:r>
            <a:r>
              <a:rPr lang="es-AR" dirty="0"/>
              <a:t> dos lenguajes definidos sobre el alfabeto V , la concatenación de estos dos lenguajes es otro lenguaje L definido como: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		L = L</a:t>
            </a:r>
            <a:r>
              <a:rPr lang="es-AR" baseline="-25000" dirty="0"/>
              <a:t>1</a:t>
            </a:r>
            <a:r>
              <a:rPr lang="es-AR" dirty="0"/>
              <a:t> ・ L</a:t>
            </a:r>
            <a:r>
              <a:rPr lang="es-AR" baseline="-25000" dirty="0"/>
              <a:t>2</a:t>
            </a:r>
            <a:r>
              <a:rPr lang="es-AR" dirty="0"/>
              <a:t> = {x ・ y ∈ V</a:t>
            </a:r>
            <a:r>
              <a:rPr lang="es-AR" baseline="30000" dirty="0"/>
              <a:t>∗</a:t>
            </a:r>
            <a:r>
              <a:rPr lang="es-AR" dirty="0"/>
              <a:t> | (x ∈ L</a:t>
            </a:r>
            <a:r>
              <a:rPr lang="es-AR" baseline="-25000" dirty="0"/>
              <a:t>1</a:t>
            </a:r>
            <a:r>
              <a:rPr lang="es-AR" dirty="0"/>
              <a:t>) ∧ (y ∈ L</a:t>
            </a:r>
            <a:r>
              <a:rPr lang="es-AR" baseline="-25000" dirty="0"/>
              <a:t>2</a:t>
            </a:r>
            <a:r>
              <a:rPr lang="es-AR" dirty="0"/>
              <a:t>)}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La definición anterior solo es válida si L</a:t>
            </a:r>
            <a:r>
              <a:rPr lang="es-AR" baseline="-25000" dirty="0"/>
              <a:t>1</a:t>
            </a:r>
            <a:r>
              <a:rPr lang="es-AR" dirty="0"/>
              <a:t> y L</a:t>
            </a:r>
            <a:r>
              <a:rPr lang="es-AR" baseline="-25000" dirty="0"/>
              <a:t>2</a:t>
            </a:r>
            <a:r>
              <a:rPr lang="es-AR" dirty="0"/>
              <a:t> contienen al menos un elemento. 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Podemos extender la operación de concatenación al lenguaje vacío de la siguiente manera: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		 Ø ・ L = L ・ Ø = Ø</a:t>
            </a:r>
          </a:p>
          <a:p>
            <a:pPr algn="just"/>
            <a:endParaRPr lang="es-AR" dirty="0"/>
          </a:p>
          <a:p>
            <a:r>
              <a:rPr lang="es-AR" dirty="0"/>
              <a:t>La concatenación de lenguajes sobre un alfabeto cumple la propiedad asociativa y tiene un elemento neutro que es el lenguaje {λ}.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</p:spTree>
    <p:extLst>
      <p:ext uri="{BB962C8B-B14F-4D97-AF65-F5344CB8AC3E}">
        <p14:creationId xmlns:p14="http://schemas.microsoft.com/office/powerpoint/2010/main" val="2526142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174735" y="979788"/>
            <a:ext cx="1068125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u="sng" dirty="0"/>
              <a:t>Teorema:</a:t>
            </a:r>
            <a:r>
              <a:rPr lang="es-AR" dirty="0"/>
              <a:t> Dados los lenguajes A,B,C sobre un alfabeto V, la concatenación de lenguajes es distributiva con respecto a la unión, esto es, se cumple que:</a:t>
            </a:r>
          </a:p>
          <a:p>
            <a:pPr algn="just"/>
            <a:endParaRPr lang="es-AR" dirty="0"/>
          </a:p>
          <a:p>
            <a:pPr lvl="1" algn="just"/>
            <a:r>
              <a:rPr lang="es-AR" dirty="0"/>
              <a:t>1. A ・ (B ∪ C) = (A ・ B) ∪ (A ・ C)</a:t>
            </a:r>
          </a:p>
          <a:p>
            <a:pPr lvl="1" algn="just"/>
            <a:r>
              <a:rPr lang="es-AR" dirty="0"/>
              <a:t>2. (B ∪ C) ・ A = (B ・ A) ∪ (C ・ A)</a:t>
            </a:r>
          </a:p>
          <a:p>
            <a:pPr algn="just"/>
            <a:endParaRPr lang="es-AR" dirty="0"/>
          </a:p>
          <a:p>
            <a:pPr algn="just"/>
            <a:r>
              <a:rPr lang="es-AR" b="1" u="sng" dirty="0"/>
              <a:t>Potencia n:</a:t>
            </a:r>
            <a:r>
              <a:rPr lang="es-AR" dirty="0"/>
              <a:t> es la operación que consiste en concatenar el lenguaje consigo mismo n veces. La definición inductiva es:</a:t>
            </a:r>
          </a:p>
          <a:p>
            <a:pPr algn="just"/>
            <a:endParaRPr lang="es-AR" dirty="0"/>
          </a:p>
          <a:p>
            <a:pPr lvl="1" algn="just"/>
            <a:r>
              <a:rPr lang="es-AR" dirty="0"/>
              <a:t>1. L</a:t>
            </a:r>
            <a:r>
              <a:rPr lang="es-AR" baseline="30000" dirty="0"/>
              <a:t>0</a:t>
            </a:r>
            <a:r>
              <a:rPr lang="es-AR" dirty="0"/>
              <a:t> = {</a:t>
            </a:r>
            <a:r>
              <a:rPr lang="el-GR" dirty="0"/>
              <a:t>λ}</a:t>
            </a:r>
          </a:p>
          <a:p>
            <a:pPr lvl="1" algn="just"/>
            <a:r>
              <a:rPr lang="es-AR" dirty="0"/>
              <a:t>2. </a:t>
            </a:r>
            <a:r>
              <a:rPr lang="es-AR" dirty="0" err="1"/>
              <a:t>L</a:t>
            </a:r>
            <a:r>
              <a:rPr lang="es-AR" baseline="30000" dirty="0" err="1"/>
              <a:t>n</a:t>
            </a:r>
            <a:r>
              <a:rPr lang="es-AR" dirty="0"/>
              <a:t> = L ・ L</a:t>
            </a:r>
            <a:r>
              <a:rPr lang="es-AR" baseline="30000" dirty="0"/>
              <a:t>n−1</a:t>
            </a:r>
            <a:r>
              <a:rPr lang="es-AR" dirty="0"/>
              <a:t>, ∀ n &gt; 0</a:t>
            </a:r>
          </a:p>
          <a:p>
            <a:pPr algn="just"/>
            <a:endParaRPr lang="es-AR" dirty="0"/>
          </a:p>
          <a:p>
            <a:pPr algn="just"/>
            <a:r>
              <a:rPr lang="es-AR" b="1" u="sng" dirty="0"/>
              <a:t>Ejemplo:</a:t>
            </a:r>
            <a:r>
              <a:rPr lang="es-AR" b="1" dirty="0"/>
              <a:t> </a:t>
            </a:r>
            <a:r>
              <a:rPr lang="es-AR" dirty="0"/>
              <a:t>si L = {ab, c} es un lenguaje sobre el alfabeto {a, b, c} entonces:</a:t>
            </a:r>
          </a:p>
          <a:p>
            <a:pPr algn="just"/>
            <a:endParaRPr lang="es-AR" dirty="0"/>
          </a:p>
          <a:p>
            <a:pPr lvl="1" algn="just"/>
            <a:r>
              <a:rPr lang="es-AR" dirty="0"/>
              <a:t>L</a:t>
            </a:r>
            <a:r>
              <a:rPr lang="es-AR" baseline="30000" dirty="0"/>
              <a:t>0</a:t>
            </a:r>
            <a:r>
              <a:rPr lang="es-AR" dirty="0"/>
              <a:t> = {</a:t>
            </a:r>
            <a:r>
              <a:rPr lang="el-GR" dirty="0"/>
              <a:t>λ}</a:t>
            </a:r>
          </a:p>
          <a:p>
            <a:pPr lvl="1" algn="just"/>
            <a:r>
              <a:rPr lang="es-AR" dirty="0"/>
              <a:t>L</a:t>
            </a:r>
            <a:r>
              <a:rPr lang="es-AR" baseline="30000" dirty="0"/>
              <a:t>1</a:t>
            </a:r>
            <a:r>
              <a:rPr lang="es-AR" dirty="0"/>
              <a:t> = L = {ab, c}</a:t>
            </a:r>
          </a:p>
          <a:p>
            <a:pPr lvl="1" algn="just"/>
            <a:r>
              <a:rPr lang="es-AR" dirty="0"/>
              <a:t>L</a:t>
            </a:r>
            <a:r>
              <a:rPr lang="es-AR" baseline="30000" dirty="0"/>
              <a:t>2</a:t>
            </a:r>
            <a:r>
              <a:rPr lang="es-AR" dirty="0"/>
              <a:t> = L ・ L</a:t>
            </a:r>
            <a:r>
              <a:rPr lang="es-AR" baseline="30000" dirty="0"/>
              <a:t>1</a:t>
            </a:r>
            <a:r>
              <a:rPr lang="es-AR" dirty="0"/>
              <a:t> = {abab, </a:t>
            </a:r>
            <a:r>
              <a:rPr lang="es-AR" dirty="0" err="1"/>
              <a:t>abc</a:t>
            </a:r>
            <a:r>
              <a:rPr lang="es-AR" dirty="0"/>
              <a:t>, </a:t>
            </a:r>
            <a:r>
              <a:rPr lang="es-AR" dirty="0" err="1"/>
              <a:t>cab</a:t>
            </a:r>
            <a:r>
              <a:rPr lang="es-AR" dirty="0"/>
              <a:t>, cc}</a:t>
            </a:r>
          </a:p>
          <a:p>
            <a:pPr lvl="1" algn="just"/>
            <a:r>
              <a:rPr lang="es-AR" dirty="0"/>
              <a:t>L</a:t>
            </a:r>
            <a:r>
              <a:rPr lang="es-AR" baseline="30000" dirty="0"/>
              <a:t>3</a:t>
            </a:r>
            <a:r>
              <a:rPr lang="es-AR" dirty="0"/>
              <a:t> = L ・ L</a:t>
            </a:r>
            <a:r>
              <a:rPr lang="es-AR" baseline="30000" dirty="0"/>
              <a:t>2</a:t>
            </a:r>
            <a:r>
              <a:rPr lang="es-AR" dirty="0"/>
              <a:t> = {</a:t>
            </a:r>
            <a:r>
              <a:rPr lang="es-AR" dirty="0" err="1"/>
              <a:t>ababab</a:t>
            </a:r>
            <a:r>
              <a:rPr lang="es-AR" dirty="0"/>
              <a:t>, </a:t>
            </a:r>
            <a:r>
              <a:rPr lang="es-AR" dirty="0" err="1"/>
              <a:t>ababc</a:t>
            </a:r>
            <a:r>
              <a:rPr lang="es-AR" dirty="0"/>
              <a:t>, </a:t>
            </a:r>
            <a:r>
              <a:rPr lang="es-AR" dirty="0" err="1"/>
              <a:t>abcab</a:t>
            </a:r>
            <a:r>
              <a:rPr lang="es-AR" dirty="0"/>
              <a:t>, </a:t>
            </a:r>
            <a:r>
              <a:rPr lang="es-AR" dirty="0" err="1"/>
              <a:t>abcc</a:t>
            </a:r>
            <a:r>
              <a:rPr lang="es-AR" dirty="0"/>
              <a:t>, </a:t>
            </a:r>
            <a:r>
              <a:rPr lang="es-AR" dirty="0" err="1"/>
              <a:t>cabab</a:t>
            </a:r>
            <a:r>
              <a:rPr lang="es-AR" dirty="0"/>
              <a:t>, </a:t>
            </a:r>
            <a:r>
              <a:rPr lang="es-AR" dirty="0" err="1"/>
              <a:t>cabc</a:t>
            </a:r>
            <a:r>
              <a:rPr lang="es-AR" dirty="0"/>
              <a:t>, </a:t>
            </a:r>
            <a:r>
              <a:rPr lang="es-AR" dirty="0" err="1"/>
              <a:t>ccab</a:t>
            </a:r>
            <a:r>
              <a:rPr lang="es-AR" dirty="0"/>
              <a:t>, ccc}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</p:spTree>
    <p:extLst>
      <p:ext uri="{BB962C8B-B14F-4D97-AF65-F5344CB8AC3E}">
        <p14:creationId xmlns:p14="http://schemas.microsoft.com/office/powerpoint/2010/main" val="2526142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155031" y="1166843"/>
            <a:ext cx="1065997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dirty="0"/>
              <a:t>Las definiciones de prefijo y sufijo de una palabra podemos extenderlas a lenguajes de la siguiente forma:</a:t>
            </a:r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r>
              <a:rPr lang="es-AR" dirty="0"/>
              <a:t>También podemos definir el lenguaje inverso o reflejo de L como:</a:t>
            </a:r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697" y="2040607"/>
            <a:ext cx="9026881" cy="93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791" y="3993982"/>
            <a:ext cx="4104220" cy="987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6142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154027" y="215525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ALFABETOS Y LENGUAJES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147010" y="1005371"/>
            <a:ext cx="1078831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/>
              <a:t>Clausura de un lenguaje: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Dado un lenguaje L sobre un alfabeto V se define la clausura positiva (o cierre positivo) de L, denotado L</a:t>
            </a:r>
            <a:r>
              <a:rPr lang="es-AR" baseline="30000" dirty="0"/>
              <a:t>+</a:t>
            </a:r>
            <a:r>
              <a:rPr lang="es-AR" dirty="0"/>
              <a:t>, como:</a:t>
            </a:r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r>
              <a:rPr lang="es-AR" dirty="0"/>
              <a:t>Definimos L</a:t>
            </a:r>
            <a:r>
              <a:rPr lang="es-AR" baseline="30000" dirty="0"/>
              <a:t>∗</a:t>
            </a:r>
            <a:r>
              <a:rPr lang="es-AR" dirty="0"/>
              <a:t> como la clausura (o cierre) de L, como:</a:t>
            </a:r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r>
              <a:rPr lang="es-AR" dirty="0"/>
              <a:t>El cierre o clausura de un lenguaje, por definición, contiene cualquier palabra que se obtenga por concatenación de palabras de L y además la palabra vacía.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487" y="1914525"/>
            <a:ext cx="2479007" cy="1638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202" y="3837071"/>
            <a:ext cx="2421356" cy="158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61429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1719</Words>
  <Application>Microsoft Office PowerPoint</Application>
  <PresentationFormat>Panorámica</PresentationFormat>
  <Paragraphs>206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Marcela Lepore</dc:creator>
  <cp:lastModifiedBy>Nicolas Perez</cp:lastModifiedBy>
  <cp:revision>33</cp:revision>
  <dcterms:created xsi:type="dcterms:W3CDTF">2020-03-19T18:50:23Z</dcterms:created>
  <dcterms:modified xsi:type="dcterms:W3CDTF">2024-08-19T04:43:44Z</dcterms:modified>
</cp:coreProperties>
</file>