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2"/>
  </p:notesMasterIdLst>
  <p:sldIdLst>
    <p:sldId id="435" r:id="rId2"/>
    <p:sldId id="603" r:id="rId3"/>
    <p:sldId id="436" r:id="rId4"/>
    <p:sldId id="437" r:id="rId5"/>
    <p:sldId id="438" r:id="rId6"/>
    <p:sldId id="439" r:id="rId7"/>
    <p:sldId id="440" r:id="rId8"/>
    <p:sldId id="441" r:id="rId9"/>
    <p:sldId id="442" r:id="rId10"/>
    <p:sldId id="443" r:id="rId11"/>
    <p:sldId id="444" r:id="rId12"/>
    <p:sldId id="445" r:id="rId13"/>
    <p:sldId id="446" r:id="rId14"/>
    <p:sldId id="447" r:id="rId15"/>
    <p:sldId id="448" r:id="rId16"/>
    <p:sldId id="449" r:id="rId17"/>
    <p:sldId id="450" r:id="rId18"/>
    <p:sldId id="451" r:id="rId19"/>
    <p:sldId id="452" r:id="rId20"/>
    <p:sldId id="453" r:id="rId21"/>
    <p:sldId id="454" r:id="rId22"/>
    <p:sldId id="455" r:id="rId23"/>
    <p:sldId id="456" r:id="rId24"/>
    <p:sldId id="457" r:id="rId25"/>
    <p:sldId id="458" r:id="rId26"/>
    <p:sldId id="459" r:id="rId27"/>
    <p:sldId id="460" r:id="rId28"/>
    <p:sldId id="461" r:id="rId29"/>
    <p:sldId id="462" r:id="rId30"/>
    <p:sldId id="463" r:id="rId31"/>
    <p:sldId id="464" r:id="rId32"/>
    <p:sldId id="465" r:id="rId33"/>
    <p:sldId id="466" r:id="rId34"/>
    <p:sldId id="467" r:id="rId35"/>
    <p:sldId id="468" r:id="rId36"/>
    <p:sldId id="469" r:id="rId37"/>
    <p:sldId id="470" r:id="rId38"/>
    <p:sldId id="471" r:id="rId39"/>
    <p:sldId id="472" r:id="rId40"/>
    <p:sldId id="473" r:id="rId41"/>
    <p:sldId id="474" r:id="rId42"/>
    <p:sldId id="475" r:id="rId43"/>
    <p:sldId id="476" r:id="rId44"/>
    <p:sldId id="477" r:id="rId45"/>
    <p:sldId id="478" r:id="rId46"/>
    <p:sldId id="481" r:id="rId47"/>
    <p:sldId id="482" r:id="rId48"/>
    <p:sldId id="483" r:id="rId49"/>
    <p:sldId id="484" r:id="rId50"/>
    <p:sldId id="485" r:id="rId51"/>
    <p:sldId id="486" r:id="rId52"/>
    <p:sldId id="487" r:id="rId53"/>
    <p:sldId id="488" r:id="rId54"/>
    <p:sldId id="489" r:id="rId55"/>
    <p:sldId id="490" r:id="rId56"/>
    <p:sldId id="491" r:id="rId57"/>
    <p:sldId id="492" r:id="rId58"/>
    <p:sldId id="493" r:id="rId59"/>
    <p:sldId id="494" r:id="rId60"/>
    <p:sldId id="495" r:id="rId61"/>
    <p:sldId id="496" r:id="rId62"/>
    <p:sldId id="497" r:id="rId63"/>
    <p:sldId id="498" r:id="rId64"/>
    <p:sldId id="499" r:id="rId65"/>
    <p:sldId id="500" r:id="rId66"/>
    <p:sldId id="501" r:id="rId67"/>
    <p:sldId id="502" r:id="rId68"/>
    <p:sldId id="503" r:id="rId69"/>
    <p:sldId id="504" r:id="rId70"/>
    <p:sldId id="505" r:id="rId71"/>
    <p:sldId id="506" r:id="rId72"/>
    <p:sldId id="507" r:id="rId73"/>
    <p:sldId id="508" r:id="rId74"/>
    <p:sldId id="509" r:id="rId75"/>
    <p:sldId id="510" r:id="rId76"/>
    <p:sldId id="511" r:id="rId77"/>
    <p:sldId id="512" r:id="rId78"/>
    <p:sldId id="513" r:id="rId79"/>
    <p:sldId id="514" r:id="rId80"/>
    <p:sldId id="515" r:id="rId81"/>
    <p:sldId id="516" r:id="rId82"/>
    <p:sldId id="517" r:id="rId83"/>
    <p:sldId id="518" r:id="rId84"/>
    <p:sldId id="519" r:id="rId85"/>
    <p:sldId id="520" r:id="rId86"/>
    <p:sldId id="521" r:id="rId87"/>
    <p:sldId id="522" r:id="rId88"/>
    <p:sldId id="523" r:id="rId89"/>
    <p:sldId id="524" r:id="rId90"/>
    <p:sldId id="525" r:id="rId91"/>
    <p:sldId id="526" r:id="rId92"/>
    <p:sldId id="527" r:id="rId93"/>
    <p:sldId id="528" r:id="rId94"/>
    <p:sldId id="529" r:id="rId95"/>
    <p:sldId id="530" r:id="rId96"/>
    <p:sldId id="531" r:id="rId97"/>
    <p:sldId id="532" r:id="rId98"/>
    <p:sldId id="533" r:id="rId99"/>
    <p:sldId id="534" r:id="rId100"/>
    <p:sldId id="535" r:id="rId101"/>
    <p:sldId id="536" r:id="rId102"/>
    <p:sldId id="537" r:id="rId103"/>
    <p:sldId id="538" r:id="rId104"/>
    <p:sldId id="539" r:id="rId105"/>
    <p:sldId id="540" r:id="rId106"/>
    <p:sldId id="541" r:id="rId107"/>
    <p:sldId id="542" r:id="rId108"/>
    <p:sldId id="543" r:id="rId109"/>
    <p:sldId id="544" r:id="rId110"/>
    <p:sldId id="545" r:id="rId111"/>
    <p:sldId id="546" r:id="rId112"/>
    <p:sldId id="547" r:id="rId113"/>
    <p:sldId id="548" r:id="rId114"/>
    <p:sldId id="549" r:id="rId115"/>
    <p:sldId id="550" r:id="rId116"/>
    <p:sldId id="551" r:id="rId117"/>
    <p:sldId id="552" r:id="rId118"/>
    <p:sldId id="553" r:id="rId119"/>
    <p:sldId id="554" r:id="rId120"/>
    <p:sldId id="555" r:id="rId121"/>
    <p:sldId id="556" r:id="rId122"/>
    <p:sldId id="557" r:id="rId123"/>
    <p:sldId id="558" r:id="rId124"/>
    <p:sldId id="559" r:id="rId125"/>
    <p:sldId id="560" r:id="rId126"/>
    <p:sldId id="561" r:id="rId127"/>
    <p:sldId id="562" r:id="rId128"/>
    <p:sldId id="563" r:id="rId129"/>
    <p:sldId id="564" r:id="rId130"/>
    <p:sldId id="565" r:id="rId131"/>
    <p:sldId id="566" r:id="rId132"/>
    <p:sldId id="567" r:id="rId133"/>
    <p:sldId id="568" r:id="rId134"/>
    <p:sldId id="569" r:id="rId135"/>
    <p:sldId id="570" r:id="rId136"/>
    <p:sldId id="571" r:id="rId137"/>
    <p:sldId id="572" r:id="rId138"/>
    <p:sldId id="573" r:id="rId139"/>
    <p:sldId id="574" r:id="rId140"/>
    <p:sldId id="575" r:id="rId141"/>
    <p:sldId id="576" r:id="rId142"/>
    <p:sldId id="577" r:id="rId143"/>
    <p:sldId id="578" r:id="rId144"/>
    <p:sldId id="579" r:id="rId145"/>
    <p:sldId id="580" r:id="rId146"/>
    <p:sldId id="581" r:id="rId147"/>
    <p:sldId id="582" r:id="rId148"/>
    <p:sldId id="583" r:id="rId149"/>
    <p:sldId id="584" r:id="rId150"/>
    <p:sldId id="585" r:id="rId151"/>
    <p:sldId id="586" r:id="rId152"/>
    <p:sldId id="587" r:id="rId153"/>
    <p:sldId id="588" r:id="rId154"/>
    <p:sldId id="589" r:id="rId155"/>
    <p:sldId id="590" r:id="rId156"/>
    <p:sldId id="591" r:id="rId157"/>
    <p:sldId id="592" r:id="rId158"/>
    <p:sldId id="593" r:id="rId159"/>
    <p:sldId id="594" r:id="rId160"/>
    <p:sldId id="595" r:id="rId161"/>
  </p:sldIdLst>
  <p:sldSz cx="9144000" cy="6858000" type="screen4x3"/>
  <p:notesSz cx="6797675" cy="9926638"/>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5" autoAdjust="0"/>
    <p:restoredTop sz="90653" autoAdjust="0"/>
  </p:normalViewPr>
  <p:slideViewPr>
    <p:cSldViewPr>
      <p:cViewPr varScale="1">
        <p:scale>
          <a:sx n="73" d="100"/>
          <a:sy n="73" d="100"/>
        </p:scale>
        <p:origin x="588"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7.png"/></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image" Target="../media/image38.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3.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8.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9.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1.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2.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6.png"/></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45659" cy="496332"/>
          </a:xfrm>
          <a:prstGeom prst="rect">
            <a:avLst/>
          </a:prstGeom>
        </p:spPr>
        <p:txBody>
          <a:bodyPr vert="horz" lIns="93177" tIns="46589" rIns="93177" bIns="46589" rtlCol="0"/>
          <a:lstStyle>
            <a:lvl1pPr algn="l">
              <a:defRPr sz="1200"/>
            </a:lvl1pPr>
          </a:lstStyle>
          <a:p>
            <a:endParaRPr lang="es-AR"/>
          </a:p>
        </p:txBody>
      </p:sp>
      <p:sp>
        <p:nvSpPr>
          <p:cNvPr id="3" name="2 Marcador de fecha"/>
          <p:cNvSpPr>
            <a:spLocks noGrp="1"/>
          </p:cNvSpPr>
          <p:nvPr>
            <p:ph type="dt" idx="1"/>
          </p:nvPr>
        </p:nvSpPr>
        <p:spPr>
          <a:xfrm>
            <a:off x="3850443" y="0"/>
            <a:ext cx="2945659" cy="496332"/>
          </a:xfrm>
          <a:prstGeom prst="rect">
            <a:avLst/>
          </a:prstGeom>
        </p:spPr>
        <p:txBody>
          <a:bodyPr vert="horz" lIns="93177" tIns="46589" rIns="93177" bIns="46589" rtlCol="0"/>
          <a:lstStyle>
            <a:lvl1pPr algn="r">
              <a:defRPr sz="1200"/>
            </a:lvl1pPr>
          </a:lstStyle>
          <a:p>
            <a:fld id="{DE46576F-DF86-486B-AED0-EFE88BEF0B6D}" type="datetimeFigureOut">
              <a:rPr lang="es-AR" smtClean="0"/>
              <a:t>11/6/2018</a:t>
            </a:fld>
            <a:endParaRPr lang="es-AR"/>
          </a:p>
        </p:txBody>
      </p:sp>
      <p:sp>
        <p:nvSpPr>
          <p:cNvPr id="4" name="3 Marcador de imagen de diapositiva"/>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endParaRPr lang="es-AR"/>
          </a:p>
        </p:txBody>
      </p:sp>
      <p:sp>
        <p:nvSpPr>
          <p:cNvPr id="5" name="4 Marcador de notas"/>
          <p:cNvSpPr>
            <a:spLocks noGrp="1"/>
          </p:cNvSpPr>
          <p:nvPr>
            <p:ph type="body" sz="quarter" idx="3"/>
          </p:nvPr>
        </p:nvSpPr>
        <p:spPr>
          <a:xfrm>
            <a:off x="679768" y="4715153"/>
            <a:ext cx="5438140" cy="4466987"/>
          </a:xfrm>
          <a:prstGeom prst="rect">
            <a:avLst/>
          </a:prstGeom>
        </p:spPr>
        <p:txBody>
          <a:bodyPr vert="horz" lIns="93177" tIns="46589" rIns="93177" bIns="46589"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9428584"/>
            <a:ext cx="2945659" cy="496332"/>
          </a:xfrm>
          <a:prstGeom prst="rect">
            <a:avLst/>
          </a:prstGeom>
        </p:spPr>
        <p:txBody>
          <a:bodyPr vert="horz" lIns="93177" tIns="46589" rIns="93177" bIns="46589"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50443" y="9428584"/>
            <a:ext cx="2945659" cy="496332"/>
          </a:xfrm>
          <a:prstGeom prst="rect">
            <a:avLst/>
          </a:prstGeom>
        </p:spPr>
        <p:txBody>
          <a:bodyPr vert="horz" lIns="93177" tIns="46589" rIns="93177" bIns="46589" rtlCol="0" anchor="b"/>
          <a:lstStyle>
            <a:lvl1pPr algn="r">
              <a:defRPr sz="1200"/>
            </a:lvl1pPr>
          </a:lstStyle>
          <a:p>
            <a:fld id="{C8C3F4FB-D8B1-4FFE-9725-B8D846C90599}" type="slidenum">
              <a:rPr lang="es-AR" smtClean="0"/>
              <a:t>‹Nº›</a:t>
            </a:fld>
            <a:endParaRPr lang="es-AR"/>
          </a:p>
        </p:txBody>
      </p:sp>
    </p:spTree>
    <p:extLst>
      <p:ext uri="{BB962C8B-B14F-4D97-AF65-F5344CB8AC3E}">
        <p14:creationId xmlns:p14="http://schemas.microsoft.com/office/powerpoint/2010/main" val="163590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75B18F2-A205-4DB5-9749-851E4C5F5070}" type="slidenum">
              <a:rPr lang="es-ES" altLang="es-AR"/>
              <a:pPr eaLnBrk="1" hangingPunct="1"/>
              <a:t>29</a:t>
            </a:fld>
            <a:endParaRPr lang="es-ES" altLang="es-AR"/>
          </a:p>
        </p:txBody>
      </p:sp>
      <p:sp>
        <p:nvSpPr>
          <p:cNvPr id="169987"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8"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AR" smtClean="0"/>
          </a:p>
        </p:txBody>
      </p:sp>
    </p:spTree>
    <p:extLst>
      <p:ext uri="{BB962C8B-B14F-4D97-AF65-F5344CB8AC3E}">
        <p14:creationId xmlns:p14="http://schemas.microsoft.com/office/powerpoint/2010/main" val="3112192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1011"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3108398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034"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2035"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3097838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3059"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1122864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082"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4083"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3466400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5107"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3615127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178"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8179"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2160106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02"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79203"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1037306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226"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80227"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754375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250"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81251"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1096878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274"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82275"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2717393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298"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83299"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2953508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22" name="Text Box 1"/>
          <p:cNvSpPr txBox="1">
            <a:spLocks noChangeArrowheads="1"/>
          </p:cNvSpPr>
          <p:nvPr/>
        </p:nvSpPr>
        <p:spPr bwMode="auto">
          <a:xfrm>
            <a:off x="2143125" y="695325"/>
            <a:ext cx="257175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s-AR">
              <a:solidFill>
                <a:schemeClr val="bg1"/>
              </a:solidFill>
              <a:latin typeface="Arial" panose="020B0604020202020204" pitchFamily="34" charset="0"/>
            </a:endParaRPr>
          </a:p>
        </p:txBody>
      </p:sp>
      <p:sp>
        <p:nvSpPr>
          <p:cNvPr id="184323" name="Text Box 2"/>
          <p:cNvSpPr>
            <a:spLocks noGrp="1" noChangeArrowheads="1"/>
          </p:cNvSpPr>
          <p:nvPr>
            <p:ph type="body"/>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numCol="1" anchor="ctr" anchorCtr="0" compatLnSpc="1">
            <a:prstTxWarp prst="textNoShape">
              <a:avLst/>
            </a:prstTxWarp>
          </a:bodyPr>
          <a:lstStyle/>
          <a:p>
            <a:endParaRPr lang="en-US" altLang="es-AR" smtClean="0"/>
          </a:p>
        </p:txBody>
      </p:sp>
    </p:spTree>
    <p:extLst>
      <p:ext uri="{BB962C8B-B14F-4D97-AF65-F5344CB8AC3E}">
        <p14:creationId xmlns:p14="http://schemas.microsoft.com/office/powerpoint/2010/main" val="475295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ES_tradnl" altLang="es-ES" smtClean="0">
                <a:latin typeface="Arial" panose="020B0604020202020204" pitchFamily="34" charset="0"/>
              </a:rPr>
              <a:t>La historia de networking informática es compleja.   Participaron en ella muchas personas de todo el mundo a lo largo de los últimos 35 años. Presentamos aquí una versión simplificada de la evolución de la Internet. Los procesos de creación y comercialización son mucho más complicados, pero es útil analizar el desarrollo fundamental. </a:t>
            </a:r>
          </a:p>
          <a:p>
            <a:endParaRPr lang="es-ES_tradnl" altLang="es-ES" smtClean="0">
              <a:latin typeface="Arial" panose="020B0604020202020204" pitchFamily="34" charset="0"/>
            </a:endParaRPr>
          </a:p>
          <a:p>
            <a:r>
              <a:rPr lang="es-ES_tradnl" altLang="es-ES" smtClean="0">
                <a:latin typeface="Arial" panose="020B0604020202020204" pitchFamily="34" charset="0"/>
              </a:rPr>
              <a:t>En la década de 1940, los computadores eran enormes dispositivos electromecánicos que eran propensos a sufrir fallas. En 1947, la invención del transistor semiconductor permitió la creación de computadores más pequeños y confiables. En la década de 1950 los computadores mainframe, que funcionaban con programas en tarjetas perforadas, comenzaron a ser utilizados habitualmente por las grandes instituciones. A fines de esta década, se creó el circuito integrado, que combinaba muchos y, en la actualidad, millones de transistores en un pequeño semiconductor. En la década de 1960, los mainframes con terminales eran comunes, y los circuitos integrados comenzaron a ser utilizados de forma generalizada. </a:t>
            </a:r>
          </a:p>
          <a:p>
            <a:endParaRPr lang="es-ES_tradnl" altLang="es-ES" smtClean="0">
              <a:latin typeface="Arial" panose="020B0604020202020204" pitchFamily="34" charset="0"/>
            </a:endParaRPr>
          </a:p>
          <a:p>
            <a:r>
              <a:rPr lang="es-ES_tradnl" altLang="es-ES" smtClean="0">
                <a:latin typeface="Arial" panose="020B0604020202020204" pitchFamily="34" charset="0"/>
              </a:rPr>
              <a:t>Hacia fines de la década de 1960 y durante la década de 1970, se inventaron computadores más pequeños, denominados minicomputadores. Sin embargo, estos minicomputadores seguían siendo muy voluminosos en comparación con los estándares modernos. En 1977, la Apple Computer Company presentó el microcomputador, conocido también como computador personal. En 1981 IBM presentó su primer computador personal. El equipo Mac, de uso sencillo, el PC IBM de arquitectura abierta y la posterior microminiaturización de los circuitos integrados dieron como resultado el uso difundido de los computadores personales en hogares y empresas </a:t>
            </a:r>
          </a:p>
          <a:p>
            <a:endParaRPr lang="es-ES_tradnl" altLang="es-ES" smtClean="0">
              <a:latin typeface="Arial" panose="020B0604020202020204" pitchFamily="34" charset="0"/>
            </a:endParaRPr>
          </a:p>
          <a:p>
            <a:r>
              <a:rPr lang="es-ES_tradnl" altLang="es-ES" smtClean="0">
                <a:latin typeface="Arial" panose="020B0604020202020204" pitchFamily="34" charset="0"/>
              </a:rPr>
              <a:t>Hacia fines de la década de 1960 y durante la década de 1970, se inventaron computadores más pequeños, denominados minicomputadores. Sin embargo, estos minicomputadores seguían siendo muy voluminosos en comparación con los estándares modernos. En 1977, la Apple Computer Company presentó el microcomputador, conocido también como computador personal. En 1981 IBM presentó su primer computador personal. El equipo Mac, de uso sencillo, el PC IBM de arquitectura abierta y la posterior microminiaturización de los circuitos integrados dieron como resultado el uso difundido de los computadores personales en hogares y empresas.</a:t>
            </a:r>
          </a:p>
          <a:p>
            <a:endParaRPr lang="es-ES_tradnl" altLang="es-ES" smtClean="0">
              <a:latin typeface="Arial" panose="020B0604020202020204" pitchFamily="34" charset="0"/>
            </a:endParaRPr>
          </a:p>
          <a:p>
            <a:r>
              <a:rPr lang="es-ES_tradnl" altLang="es-ES" smtClean="0">
                <a:latin typeface="Arial" panose="020B0604020202020204" pitchFamily="34" charset="0"/>
              </a:rPr>
              <a:t>A medida que crecía el número de usuarios interesados, el sistema no pudo soportar la demanda. Imagine, por ejemplo, que 500 personas quisieran conectarse de forma simultánea. A partir de la década de 1960 y durante las décadas de 1970, 1980 y 1990, el Departamento de Defensa de Estados Unidos (DoD) desarrolló redes de área amplia (WAN) de gran extensión y alta confiabilidad, para uso militar y científico. Esta tecnología era diferente de la comunicación punto-a-punto usada por los tableros de boletín. Permitía la internetworking de varios computadores mediante diferentes rutas. La red en sí determinaba la forma de transferir datos de un computador a otro. En lugar de poder comunicarse con un solo computador a la vez, se podía acceder a varios computadores mediante la misma conexión. La WAN del DoD finalmente se convirtió en la Internet.</a:t>
            </a:r>
            <a:br>
              <a:rPr lang="es-ES_tradnl" altLang="es-ES" smtClean="0">
                <a:latin typeface="Arial" panose="020B0604020202020204" pitchFamily="34" charset="0"/>
              </a:rPr>
            </a:br>
            <a:r>
              <a:rPr lang="es-ES_tradnl" altLang="es-ES" smtClean="0">
                <a:latin typeface="Arial" panose="020B0604020202020204" pitchFamily="34" charset="0"/>
              </a:rPr>
              <a:t> </a:t>
            </a:r>
          </a:p>
          <a:p>
            <a:r>
              <a:rPr lang="es-ES_tradnl" altLang="es-ES" smtClean="0">
                <a:latin typeface="Arial" panose="020B0604020202020204" pitchFamily="34" charset="0"/>
              </a:rPr>
              <a:t> </a:t>
            </a:r>
          </a:p>
          <a:p>
            <a:endParaRPr lang="es-ES_tradnl" altLang="es-ES" smtClean="0">
              <a:latin typeface="Arial" panose="020B0604020202020204" pitchFamily="34" charset="0"/>
            </a:endParaRPr>
          </a:p>
          <a:p>
            <a:endParaRPr lang="es-ES_tradnl" altLang="es-ES" smtClean="0">
              <a:latin typeface="Arial" panose="020B0604020202020204" pitchFamily="34" charset="0"/>
            </a:endParaRPr>
          </a:p>
          <a:p>
            <a:endParaRPr lang="es-ES_tradnl" altLang="es-ES" smtClean="0">
              <a:latin typeface="Arial" panose="020B0604020202020204" pitchFamily="34" charset="0"/>
            </a:endParaRPr>
          </a:p>
          <a:p>
            <a:endParaRPr lang="es-ES" altLang="es-ES" smtClean="0">
              <a:latin typeface="Arial" panose="020B0604020202020204" pitchFamily="34" charset="0"/>
            </a:endParaRPr>
          </a:p>
          <a:p>
            <a:endParaRPr lang="es-ES" altLang="es-ES" smtClean="0">
              <a:latin typeface="Arial" panose="020B0604020202020204" pitchFamily="34" charset="0"/>
            </a:endParaRPr>
          </a:p>
          <a:p>
            <a:endParaRPr lang="es-ES" altLang="es-ES" smtClean="0">
              <a:latin typeface="Arial" panose="020B0604020202020204" pitchFamily="34" charset="0"/>
            </a:endParaRPr>
          </a:p>
        </p:txBody>
      </p:sp>
      <p:sp>
        <p:nvSpPr>
          <p:cNvPr id="1853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BC07979-5F86-42C1-84B1-645B86788B4D}" type="slidenum">
              <a:rPr lang="es-ES_tradnl" altLang="es-ES">
                <a:latin typeface="Arial" panose="020B0604020202020204" pitchFamily="34" charset="0"/>
              </a:rPr>
              <a:pPr eaLnBrk="1" hangingPunct="1"/>
              <a:t>53</a:t>
            </a:fld>
            <a:endParaRPr lang="es-ES_tradnl" altLang="es-ES">
              <a:latin typeface="Arial" panose="020B0604020202020204" pitchFamily="34" charset="0"/>
            </a:endParaRPr>
          </a:p>
        </p:txBody>
      </p:sp>
    </p:spTree>
    <p:extLst>
      <p:ext uri="{BB962C8B-B14F-4D97-AF65-F5344CB8AC3E}">
        <p14:creationId xmlns:p14="http://schemas.microsoft.com/office/powerpoint/2010/main" val="883911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508AB6A2-6E7F-488F-A9DD-E26B40E8A47A}" type="slidenum">
              <a:rPr lang="es-ES_tradnl" altLang="es-ES">
                <a:latin typeface="Arial" panose="020B0604020202020204" pitchFamily="34" charset="0"/>
              </a:rPr>
              <a:pPr eaLnBrk="1" hangingPunct="1"/>
              <a:t>82</a:t>
            </a:fld>
            <a:endParaRPr lang="es-ES_tradnl" altLang="es-ES">
              <a:latin typeface="Arial" panose="020B0604020202020204" pitchFamily="34" charset="0"/>
            </a:endParaRPr>
          </a:p>
        </p:txBody>
      </p:sp>
      <p:sp>
        <p:nvSpPr>
          <p:cNvPr id="186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CL" altLang="es-ES" smtClean="0">
              <a:latin typeface="Arial" panose="020B0604020202020204" pitchFamily="34" charset="0"/>
            </a:endParaRPr>
          </a:p>
        </p:txBody>
      </p:sp>
    </p:spTree>
    <p:extLst>
      <p:ext uri="{BB962C8B-B14F-4D97-AF65-F5344CB8AC3E}">
        <p14:creationId xmlns:p14="http://schemas.microsoft.com/office/powerpoint/2010/main" val="2603532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2"/>
            <a:r>
              <a:rPr lang="es-ES_tradnl" altLang="es-ES" sz="1800" smtClean="0">
                <a:latin typeface="Arial" panose="020B0604020202020204" pitchFamily="34" charset="0"/>
              </a:rPr>
              <a:t>Por ejemplo, el ancho de banda de un módem convencional está limitado a alrededor de 56 kpbs por las propiedades físicas de los cables telefónicos de par trenzado y por la tecnología de módems. No obstante, las tecnologías empleadas por DSL utilizan los mismos cables telefónicos de par trenzado, y sin embargo DSL ofrece un ancho de banda mucho mayor que los módems convencionales. Esto demuestra que a veces es difícil definir los límites impuestos por las mismas leyes de la física. La fibra óptica posee el potencial físico para proporcionar un ancho de banda prácticamente ilimitado. Aun así, el ancho de banda de la fibra óptica no se puede aprovechar en su totalidad, en tanto no se desarrollen tecnologías que aprovechen todo su potencial.</a:t>
            </a:r>
          </a:p>
          <a:p>
            <a:endParaRPr lang="es-ES" altLang="es-AR" smtClean="0">
              <a:latin typeface="Arial" panose="020B0604020202020204" pitchFamily="34" charset="0"/>
            </a:endParaRPr>
          </a:p>
        </p:txBody>
      </p:sp>
      <p:sp>
        <p:nvSpPr>
          <p:cNvPr id="1873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AF95289-B060-43EF-8586-39F6E6808304}" type="slidenum">
              <a:rPr lang="es-ES_tradnl" altLang="es-ES">
                <a:latin typeface="Arial" panose="020B0604020202020204" pitchFamily="34" charset="0"/>
              </a:rPr>
              <a:pPr eaLnBrk="1" hangingPunct="1"/>
              <a:t>97</a:t>
            </a:fld>
            <a:endParaRPr lang="es-ES_tradnl" altLang="es-ES">
              <a:latin typeface="Arial" panose="020B0604020202020204" pitchFamily="34" charset="0"/>
            </a:endParaRPr>
          </a:p>
        </p:txBody>
      </p:sp>
    </p:spTree>
    <p:extLst>
      <p:ext uri="{BB962C8B-B14F-4D97-AF65-F5344CB8AC3E}">
        <p14:creationId xmlns:p14="http://schemas.microsoft.com/office/powerpoint/2010/main" val="2121140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ES_tradnl" altLang="es-ES" smtClean="0">
                <a:latin typeface="Arial" panose="020B0604020202020204" pitchFamily="34" charset="0"/>
              </a:rPr>
              <a:t>En ambos casos, comprender el significado del ancho de banda, y los cambios en su demanda a través del tiempo, pueden ahorrarle importantes sumas de dinero a un individuo o a una empresa. Un administrador de red necesita tomar las decisiones correctas con respecto al tipo de equipo y servicios que debe adquirir. </a:t>
            </a:r>
          </a:p>
          <a:p>
            <a:endParaRPr lang="es-ES" altLang="es-AR" smtClean="0">
              <a:latin typeface="Arial" panose="020B0604020202020204" pitchFamily="34" charset="0"/>
            </a:endParaRPr>
          </a:p>
        </p:txBody>
      </p:sp>
      <p:sp>
        <p:nvSpPr>
          <p:cNvPr id="188420"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6C1B65E-39F2-4342-AB48-13CC22548116}" type="slidenum">
              <a:rPr lang="es-ES_tradnl" altLang="es-ES">
                <a:latin typeface="Arial" panose="020B0604020202020204" pitchFamily="34" charset="0"/>
              </a:rPr>
              <a:pPr eaLnBrk="1" hangingPunct="1"/>
              <a:t>98</a:t>
            </a:fld>
            <a:endParaRPr lang="es-ES_tradnl" altLang="es-ES">
              <a:latin typeface="Arial" panose="020B0604020202020204" pitchFamily="34" charset="0"/>
            </a:endParaRPr>
          </a:p>
        </p:txBody>
      </p:sp>
    </p:spTree>
    <p:extLst>
      <p:ext uri="{BB962C8B-B14F-4D97-AF65-F5344CB8AC3E}">
        <p14:creationId xmlns:p14="http://schemas.microsoft.com/office/powerpoint/2010/main" val="1436115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3654907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376122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29748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534274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00096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924386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3893304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33772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1250153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363802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7819F551-9708-4809-8745-F15EAD18992A}" type="datetimeFigureOut">
              <a:rPr lang="es-AR" smtClean="0"/>
              <a:t>11/6/2018</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19BDDDA-66EC-45BD-AA81-3B34EE888B9F}" type="slidenum">
              <a:rPr lang="es-AR" smtClean="0"/>
              <a:t>‹Nº›</a:t>
            </a:fld>
            <a:endParaRPr lang="es-AR"/>
          </a:p>
        </p:txBody>
      </p:sp>
    </p:spTree>
    <p:extLst>
      <p:ext uri="{BB962C8B-B14F-4D97-AF65-F5344CB8AC3E}">
        <p14:creationId xmlns:p14="http://schemas.microsoft.com/office/powerpoint/2010/main" val="3188398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150938" y="214313"/>
            <a:ext cx="7804150" cy="59182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3" name="Rectangle 11"/>
          <p:cNvSpPr>
            <a:spLocks noGrp="1" noChangeArrowheads="1"/>
          </p:cNvSpPr>
          <p:nvPr>
            <p:ph type="dt" sz="half" idx="10"/>
          </p:nvPr>
        </p:nvSpPr>
        <p:spPr>
          <a:ln/>
        </p:spPr>
        <p:txBody>
          <a:bodyPr/>
          <a:lstStyle>
            <a:lvl1pPr>
              <a:defRPr/>
            </a:lvl1pPr>
          </a:lstStyle>
          <a:p>
            <a:pPr>
              <a:defRPr/>
            </a:pPr>
            <a:endParaRPr lang="es-CO"/>
          </a:p>
        </p:txBody>
      </p:sp>
      <p:sp>
        <p:nvSpPr>
          <p:cNvPr id="4" name="Rectangle 12"/>
          <p:cNvSpPr>
            <a:spLocks noGrp="1" noChangeArrowheads="1"/>
          </p:cNvSpPr>
          <p:nvPr>
            <p:ph type="ftr" sz="quarter" idx="11"/>
          </p:nvPr>
        </p:nvSpPr>
        <p:spPr>
          <a:ln/>
        </p:spPr>
        <p:txBody>
          <a:bodyPr/>
          <a:lstStyle>
            <a:lvl1pPr>
              <a:defRPr/>
            </a:lvl1pPr>
          </a:lstStyle>
          <a:p>
            <a:pPr>
              <a:defRPr/>
            </a:pPr>
            <a:endParaRPr lang="es-CO"/>
          </a:p>
        </p:txBody>
      </p:sp>
      <p:sp>
        <p:nvSpPr>
          <p:cNvPr id="5" name="Rectangle 13"/>
          <p:cNvSpPr>
            <a:spLocks noGrp="1" noChangeArrowheads="1"/>
          </p:cNvSpPr>
          <p:nvPr>
            <p:ph type="sldNum" sz="quarter" idx="12"/>
          </p:nvPr>
        </p:nvSpPr>
        <p:spPr>
          <a:ln/>
        </p:spPr>
        <p:txBody>
          <a:bodyPr/>
          <a:lstStyle>
            <a:lvl1pPr>
              <a:defRPr/>
            </a:lvl1pPr>
          </a:lstStyle>
          <a:p>
            <a:fld id="{40D7F74F-E037-42FD-B059-213862518B46}" type="slidenum">
              <a:rPr lang="es-CO" altLang="es-AR"/>
              <a:pPr/>
              <a:t>‹Nº›</a:t>
            </a:fld>
            <a:endParaRPr lang="es-CO" altLang="es-AR"/>
          </a:p>
        </p:txBody>
      </p:sp>
    </p:spTree>
    <p:extLst>
      <p:ext uri="{BB962C8B-B14F-4D97-AF65-F5344CB8AC3E}">
        <p14:creationId xmlns:p14="http://schemas.microsoft.com/office/powerpoint/2010/main" val="4004886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6425" cy="1139825"/>
          </a:xfrm>
        </p:spPr>
        <p:txBody>
          <a:bodyPr/>
          <a:lstStyle/>
          <a:p>
            <a:r>
              <a:rPr lang="en-US" smtClean="0"/>
              <a:t>Click to edit Master title style</a:t>
            </a:r>
            <a:endParaRPr lang="en-US"/>
          </a:p>
        </p:txBody>
      </p:sp>
      <p:sp>
        <p:nvSpPr>
          <p:cNvPr id="3" name="Rectangle 3"/>
          <p:cNvSpPr>
            <a:spLocks noGrp="1" noChangeArrowheads="1"/>
          </p:cNvSpPr>
          <p:nvPr>
            <p:ph type="dt" idx="10"/>
          </p:nvPr>
        </p:nvSpPr>
        <p:spPr/>
        <p:txBody>
          <a:bodyPr/>
          <a:lstStyle>
            <a:lvl1pPr>
              <a:defRPr/>
            </a:lvl1pPr>
          </a:lstStyle>
          <a:p>
            <a:pPr>
              <a:defRPr/>
            </a:pPr>
            <a:endParaRPr lang="es-AR"/>
          </a:p>
        </p:txBody>
      </p:sp>
      <p:sp>
        <p:nvSpPr>
          <p:cNvPr id="4" name="Rectangle 4"/>
          <p:cNvSpPr>
            <a:spLocks noGrp="1" noChangeArrowheads="1"/>
          </p:cNvSpPr>
          <p:nvPr>
            <p:ph type="ftr" idx="11"/>
          </p:nvPr>
        </p:nvSpPr>
        <p:spPr/>
        <p:txBody>
          <a:bodyPr/>
          <a:lstStyle>
            <a:lvl1pPr>
              <a:defRPr/>
            </a:lvl1pPr>
          </a:lstStyle>
          <a:p>
            <a:pPr>
              <a:defRPr/>
            </a:pPr>
            <a:endParaRPr lang="es-AR"/>
          </a:p>
        </p:txBody>
      </p:sp>
      <p:sp>
        <p:nvSpPr>
          <p:cNvPr id="5" name="Rectangle 5"/>
          <p:cNvSpPr>
            <a:spLocks noGrp="1" noChangeArrowheads="1"/>
          </p:cNvSpPr>
          <p:nvPr>
            <p:ph type="sldNum" idx="12"/>
          </p:nvPr>
        </p:nvSpPr>
        <p:spPr/>
        <p:txBody>
          <a:bodyPr/>
          <a:lstStyle>
            <a:lvl1pPr>
              <a:defRPr/>
            </a:lvl1pPr>
          </a:lstStyle>
          <a:p>
            <a:fld id="{71BE4BF1-7E2B-4E25-8E8C-51556ADD4C06}" type="slidenum">
              <a:rPr lang="en-GB" altLang="es-AR"/>
              <a:pPr/>
              <a:t>‹Nº›</a:t>
            </a:fld>
            <a:endParaRPr lang="en-GB" altLang="es-AR"/>
          </a:p>
        </p:txBody>
      </p:sp>
    </p:spTree>
    <p:extLst>
      <p:ext uri="{BB962C8B-B14F-4D97-AF65-F5344CB8AC3E}">
        <p14:creationId xmlns:p14="http://schemas.microsoft.com/office/powerpoint/2010/main" val="2847417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6425"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7013" cy="45227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600200"/>
            <a:ext cx="4037012" cy="45227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3"/>
          <p:cNvSpPr>
            <a:spLocks noGrp="1" noChangeArrowheads="1"/>
          </p:cNvSpPr>
          <p:nvPr>
            <p:ph type="dt" idx="10"/>
          </p:nvPr>
        </p:nvSpPr>
        <p:spPr/>
        <p:txBody>
          <a:bodyPr/>
          <a:lstStyle>
            <a:lvl1pPr>
              <a:defRPr/>
            </a:lvl1pPr>
          </a:lstStyle>
          <a:p>
            <a:pPr>
              <a:defRPr/>
            </a:pPr>
            <a:endParaRPr lang="es-AR"/>
          </a:p>
        </p:txBody>
      </p:sp>
      <p:sp>
        <p:nvSpPr>
          <p:cNvPr id="6" name="Rectangle 4"/>
          <p:cNvSpPr>
            <a:spLocks noGrp="1" noChangeArrowheads="1"/>
          </p:cNvSpPr>
          <p:nvPr>
            <p:ph type="ftr" idx="11"/>
          </p:nvPr>
        </p:nvSpPr>
        <p:spPr/>
        <p:txBody>
          <a:bodyPr/>
          <a:lstStyle>
            <a:lvl1pPr>
              <a:defRPr/>
            </a:lvl1pPr>
          </a:lstStyle>
          <a:p>
            <a:pPr>
              <a:defRPr/>
            </a:pPr>
            <a:endParaRPr lang="es-AR"/>
          </a:p>
        </p:txBody>
      </p:sp>
      <p:sp>
        <p:nvSpPr>
          <p:cNvPr id="7" name="Rectangle 5"/>
          <p:cNvSpPr>
            <a:spLocks noGrp="1" noChangeArrowheads="1"/>
          </p:cNvSpPr>
          <p:nvPr>
            <p:ph type="sldNum" idx="12"/>
          </p:nvPr>
        </p:nvSpPr>
        <p:spPr/>
        <p:txBody>
          <a:bodyPr/>
          <a:lstStyle>
            <a:lvl1pPr>
              <a:defRPr/>
            </a:lvl1pPr>
          </a:lstStyle>
          <a:p>
            <a:fld id="{40B6E817-A8D8-4BB4-B008-FF6077FC83E8}" type="slidenum">
              <a:rPr lang="en-GB" altLang="es-AR"/>
              <a:pPr/>
              <a:t>‹Nº›</a:t>
            </a:fld>
            <a:endParaRPr lang="en-GB" altLang="es-AR"/>
          </a:p>
        </p:txBody>
      </p:sp>
    </p:spTree>
    <p:extLst>
      <p:ext uri="{BB962C8B-B14F-4D97-AF65-F5344CB8AC3E}">
        <p14:creationId xmlns:p14="http://schemas.microsoft.com/office/powerpoint/2010/main" val="196934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19F551-9708-4809-8745-F15EAD18992A}" type="datetimeFigureOut">
              <a:rPr lang="es-AR" smtClean="0"/>
              <a:t>11/6/2018</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9BDDDA-66EC-45BD-AA81-3B34EE888B9F}" type="slidenum">
              <a:rPr lang="es-AR" smtClean="0"/>
              <a:t>‹Nº›</a:t>
            </a:fld>
            <a:endParaRPr lang="es-AR"/>
          </a:p>
        </p:txBody>
      </p:sp>
    </p:spTree>
    <p:extLst>
      <p:ext uri="{BB962C8B-B14F-4D97-AF65-F5344CB8AC3E}">
        <p14:creationId xmlns:p14="http://schemas.microsoft.com/office/powerpoint/2010/main" val="2444399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ii.uam.es/~fjgomez/innovacion_docente/cpu/uc.html#Contador%20PC" TargetMode="External"/><Relationship Id="rId2" Type="http://schemas.openxmlformats.org/officeDocument/2006/relationships/hyperlink" Target="http://www.ii.uam.es/~fjgomez/innovacion_docente/cpu/uc.html#Decodificador%20de" TargetMode="External"/><Relationship Id="rId1" Type="http://schemas.openxmlformats.org/officeDocument/2006/relationships/slideLayout" Target="../slideLayouts/slideLayout2.xml"/><Relationship Id="rId4" Type="http://schemas.openxmlformats.org/officeDocument/2006/relationships/hyperlink" Target="http://www.ii.uam.es/~fjgomez/innovacion_docente/cpu/uc.html#Registro%20I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4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4.xml"/><Relationship Id="rId1" Type="http://schemas.openxmlformats.org/officeDocument/2006/relationships/vmlDrawing" Target="../drawings/vmlDrawing7.vml"/><Relationship Id="rId4" Type="http://schemas.openxmlformats.org/officeDocument/2006/relationships/image" Target="../media/image23.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4.xml"/><Relationship Id="rId1" Type="http://schemas.openxmlformats.org/officeDocument/2006/relationships/vmlDrawing" Target="../drawings/vmlDrawing8.vml"/><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9.vml"/><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oleObject" Target="../embeddings/oleObject14.bin"/><Relationship Id="rId4"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vmlDrawing" Target="../drawings/vmlDrawing15.vml"/><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vmlDrawing" Target="../drawings/vmlDrawing17.vml"/><Relationship Id="rId5" Type="http://schemas.openxmlformats.org/officeDocument/2006/relationships/image" Target="../media/image33.png"/><Relationship Id="rId4" Type="http://schemas.openxmlformats.org/officeDocument/2006/relationships/oleObject" Target="../embeddings/oleObject18.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5.png"/></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36.png"/></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22.vml"/><Relationship Id="rId6" Type="http://schemas.openxmlformats.org/officeDocument/2006/relationships/image" Target="../media/image39.png"/><Relationship Id="rId5" Type="http://schemas.openxmlformats.org/officeDocument/2006/relationships/oleObject" Target="../embeddings/oleObject24.bin"/><Relationship Id="rId4" Type="http://schemas.openxmlformats.org/officeDocument/2006/relationships/image" Target="../media/image3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4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2.png"/></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3.png"/></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4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4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46.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47.png"/></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48.png"/></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49.png"/></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50.png"/></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51.png"/></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52.png"/></Relationships>
</file>

<file path=ppt/slides/_rels/slide14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5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54.png"/></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5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39.vml"/><Relationship Id="rId4" Type="http://schemas.openxmlformats.org/officeDocument/2006/relationships/image" Target="../media/image56.png"/></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b="1" i="1" dirty="0" smtClean="0">
                <a:solidFill>
                  <a:srgbClr val="FF0000"/>
                </a:solidFill>
                <a:effectLst>
                  <a:outerShdw blurRad="38100" dist="38100" dir="2700000" algn="tl">
                    <a:srgbClr val="000000">
                      <a:alpha val="43137"/>
                    </a:srgbClr>
                  </a:outerShdw>
                </a:effectLst>
              </a:rPr>
              <a:t>Organización de Computadoras</a:t>
            </a:r>
            <a:endParaRPr lang="es-AR" b="1" i="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1371600" y="4005064"/>
            <a:ext cx="6400800" cy="1752600"/>
          </a:xfrm>
        </p:spPr>
        <p:txBody>
          <a:bodyPr/>
          <a:lstStyle/>
          <a:p>
            <a:r>
              <a:rPr lang="es-ES" dirty="0" smtClean="0"/>
              <a:t>2018</a:t>
            </a:r>
          </a:p>
          <a:p>
            <a:r>
              <a:rPr lang="es-ES" sz="1600" b="1" i="1" dirty="0" smtClean="0">
                <a:solidFill>
                  <a:srgbClr val="0070C0"/>
                </a:solidFill>
                <a:effectLst>
                  <a:outerShdw blurRad="38100" dist="38100" dir="2700000" algn="tl">
                    <a:srgbClr val="000000">
                      <a:alpha val="43137"/>
                    </a:srgbClr>
                  </a:outerShdw>
                </a:effectLst>
              </a:rPr>
              <a:t>Prof. Roberto García</a:t>
            </a:r>
          </a:p>
          <a:p>
            <a:r>
              <a:rPr lang="es-ES" sz="1600" b="1" i="1" dirty="0" smtClean="0">
                <a:solidFill>
                  <a:srgbClr val="0070C0"/>
                </a:solidFill>
                <a:effectLst>
                  <a:outerShdw blurRad="38100" dist="38100" dir="2700000" algn="tl">
                    <a:srgbClr val="000000">
                      <a:alpha val="43137"/>
                    </a:srgbClr>
                  </a:outerShdw>
                </a:effectLst>
              </a:rPr>
              <a:t>JTP Santiago Bianco</a:t>
            </a:r>
            <a:endParaRPr lang="es-AR" sz="1600" b="1" i="1" dirty="0">
              <a:solidFill>
                <a:srgbClr val="0070C0"/>
              </a:solidFill>
              <a:effectLst>
                <a:outerShdw blurRad="38100" dist="38100" dir="2700000" algn="tl">
                  <a:srgbClr val="000000">
                    <a:alpha val="43137"/>
                  </a:srgbClr>
                </a:outerShdw>
              </a:effectLst>
            </a:endParaRPr>
          </a:p>
        </p:txBody>
      </p:sp>
      <p:sp>
        <p:nvSpPr>
          <p:cNvPr id="4" name="Rectángulo 3"/>
          <p:cNvSpPr/>
          <p:nvPr/>
        </p:nvSpPr>
        <p:spPr>
          <a:xfrm>
            <a:off x="2124074" y="5526683"/>
            <a:ext cx="5760293" cy="461665"/>
          </a:xfrm>
          <a:prstGeom prst="rect">
            <a:avLst/>
          </a:prstGeom>
        </p:spPr>
        <p:txBody>
          <a:bodyPr wrap="square">
            <a:spAutoFit/>
          </a:bodyPr>
          <a:lstStyle>
            <a:defPPr>
              <a:defRPr lang="es-E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r>
              <a:rPr lang="es-MX" b="1" i="1" u="sng" dirty="0">
                <a:solidFill>
                  <a:srgbClr val="2B5672"/>
                </a:solidFill>
                <a:effectLst>
                  <a:outerShdw blurRad="38100" dist="38100" dir="2700000" algn="tl">
                    <a:srgbClr val="000000">
                      <a:alpha val="43137"/>
                    </a:srgbClr>
                  </a:outerShdw>
                </a:effectLst>
                <a:latin typeface="HelveticaNeueW01-45Ligh"/>
              </a:rPr>
              <a:t>https://licrgarcia.wixsite.com/misitio</a:t>
            </a:r>
            <a:endParaRPr lang="es-MX"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4930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i="1" u="sng" dirty="0" smtClean="0">
                <a:solidFill>
                  <a:srgbClr val="FF0000"/>
                </a:solidFill>
                <a:effectLst>
                  <a:outerShdw blurRad="38100" dist="38100" dir="2700000" algn="tl">
                    <a:srgbClr val="000000">
                      <a:alpha val="43137"/>
                    </a:srgbClr>
                  </a:outerShdw>
                </a:effectLst>
              </a:rPr>
              <a:t>Bienvenidos</a:t>
            </a:r>
            <a:endParaRPr lang="es-MX" i="1" u="sng" dirty="0">
              <a:solidFill>
                <a:srgbClr val="FF0000"/>
              </a:solidFill>
              <a:effectLst>
                <a:outerShdw blurRad="38100" dist="38100" dir="2700000" algn="tl">
                  <a:srgbClr val="000000">
                    <a:alpha val="43137"/>
                  </a:srgbClr>
                </a:outerShdw>
              </a:effectLst>
            </a:endParaRPr>
          </a:p>
        </p:txBody>
      </p:sp>
      <p:sp>
        <p:nvSpPr>
          <p:cNvPr id="3" name="Marcador de contenido 2"/>
          <p:cNvSpPr>
            <a:spLocks noGrp="1"/>
          </p:cNvSpPr>
          <p:nvPr>
            <p:ph idx="1"/>
          </p:nvPr>
        </p:nvSpPr>
        <p:spPr>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lstStyle/>
          <a:p>
            <a:r>
              <a:rPr lang="es-MX" i="1" dirty="0" smtClean="0">
                <a:solidFill>
                  <a:srgbClr val="002060"/>
                </a:solidFill>
                <a:effectLst>
                  <a:outerShdw blurRad="38100" dist="38100" dir="2700000" algn="tl">
                    <a:srgbClr val="000000">
                      <a:alpha val="43137"/>
                    </a:srgbClr>
                  </a:outerShdw>
                </a:effectLst>
              </a:rPr>
              <a:t>Asistencia</a:t>
            </a:r>
          </a:p>
          <a:p>
            <a:r>
              <a:rPr lang="es-MX" i="1" dirty="0" smtClean="0">
                <a:solidFill>
                  <a:srgbClr val="002060"/>
                </a:solidFill>
                <a:effectLst>
                  <a:outerShdw blurRad="38100" dist="38100" dir="2700000" algn="tl">
                    <a:srgbClr val="000000">
                      <a:alpha val="43137"/>
                    </a:srgbClr>
                  </a:outerShdw>
                </a:effectLst>
              </a:rPr>
              <a:t>Repositorio Campus virtual</a:t>
            </a:r>
          </a:p>
          <a:p>
            <a:pPr lvl="1"/>
            <a:r>
              <a:rPr lang="es-MX" i="1" dirty="0" smtClean="0">
                <a:solidFill>
                  <a:srgbClr val="002060"/>
                </a:solidFill>
                <a:effectLst>
                  <a:outerShdw blurRad="38100" dist="38100" dir="2700000" algn="tl">
                    <a:srgbClr val="000000">
                      <a:alpha val="43137"/>
                    </a:srgbClr>
                  </a:outerShdw>
                </a:effectLst>
              </a:rPr>
              <a:t>Alumnos inscriptos</a:t>
            </a:r>
          </a:p>
          <a:p>
            <a:pPr lvl="1"/>
            <a:r>
              <a:rPr lang="es-MX" i="1" dirty="0" smtClean="0">
                <a:solidFill>
                  <a:srgbClr val="002060"/>
                </a:solidFill>
                <a:effectLst>
                  <a:outerShdw blurRad="38100" dist="38100" dir="2700000" algn="tl">
                    <a:srgbClr val="000000">
                      <a:alpha val="43137"/>
                    </a:srgbClr>
                  </a:outerShdw>
                </a:effectLst>
              </a:rPr>
              <a:t>PPT, Apuntes y bibliografía</a:t>
            </a:r>
          </a:p>
          <a:p>
            <a:pPr lvl="1"/>
            <a:r>
              <a:rPr lang="es-MX" i="1" dirty="0" smtClean="0">
                <a:solidFill>
                  <a:srgbClr val="002060"/>
                </a:solidFill>
                <a:effectLst>
                  <a:outerShdw blurRad="38100" dist="38100" dir="2700000" algn="tl">
                    <a:srgbClr val="000000">
                      <a:alpha val="43137"/>
                    </a:srgbClr>
                  </a:outerShdw>
                </a:effectLst>
              </a:rPr>
              <a:t>Resultados de parciales</a:t>
            </a:r>
          </a:p>
          <a:p>
            <a:r>
              <a:rPr lang="es-MX" i="1" dirty="0" smtClean="0">
                <a:solidFill>
                  <a:srgbClr val="002060"/>
                </a:solidFill>
                <a:effectLst>
                  <a:outerShdw blurRad="38100" dist="38100" dir="2700000" algn="tl">
                    <a:srgbClr val="000000">
                      <a:alpha val="43137"/>
                    </a:srgbClr>
                  </a:outerShdw>
                </a:effectLst>
              </a:rPr>
              <a:t>Evaluaciones en la cursada</a:t>
            </a:r>
          </a:p>
          <a:p>
            <a:r>
              <a:rPr lang="es-MX" i="1" dirty="0" smtClean="0">
                <a:solidFill>
                  <a:srgbClr val="002060"/>
                </a:solidFill>
                <a:effectLst>
                  <a:outerShdw blurRad="38100" dist="38100" dir="2700000" algn="tl">
                    <a:srgbClr val="000000">
                      <a:alpha val="43137"/>
                    </a:srgbClr>
                  </a:outerShdw>
                </a:effectLst>
              </a:rPr>
              <a:t>Revisión de Parciales y Finales (Única fecha)</a:t>
            </a:r>
          </a:p>
          <a:p>
            <a:r>
              <a:rPr lang="es-MX" i="1" dirty="0" smtClean="0">
                <a:solidFill>
                  <a:srgbClr val="002060"/>
                </a:solidFill>
                <a:effectLst>
                  <a:outerShdw blurRad="38100" dist="38100" dir="2700000" algn="tl">
                    <a:srgbClr val="000000">
                      <a:alpha val="43137"/>
                    </a:srgbClr>
                  </a:outerShdw>
                </a:effectLst>
              </a:rPr>
              <a:t>Firma de libretas</a:t>
            </a:r>
          </a:p>
          <a:p>
            <a:endParaRPr lang="es-MX" dirty="0"/>
          </a:p>
        </p:txBody>
      </p:sp>
    </p:spTree>
    <p:extLst>
      <p:ext uri="{BB962C8B-B14F-4D97-AF65-F5344CB8AC3E}">
        <p14:creationId xmlns:p14="http://schemas.microsoft.com/office/powerpoint/2010/main" val="28640565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90600" y="2205038"/>
            <a:ext cx="7772400" cy="933450"/>
          </a:xfrm>
        </p:spPr>
        <p:txBody>
          <a:bodyPr/>
          <a:lstStyle/>
          <a:p>
            <a:pPr algn="ctr" eaLnBrk="1" hangingPunct="1"/>
            <a:r>
              <a:rPr lang="es-ES_tradnl" altLang="es-AR" smtClean="0"/>
              <a:t>Hardware</a:t>
            </a:r>
            <a:endParaRPr lang="es-CO" altLang="es-AR" smtClean="0"/>
          </a:p>
        </p:txBody>
      </p:sp>
      <p:sp>
        <p:nvSpPr>
          <p:cNvPr id="5123" name="Rectangle 2"/>
          <p:cNvSpPr txBox="1">
            <a:spLocks noChangeArrowheads="1"/>
          </p:cNvSpPr>
          <p:nvPr/>
        </p:nvSpPr>
        <p:spPr bwMode="auto">
          <a:xfrm>
            <a:off x="1143000" y="3935413"/>
            <a:ext cx="7772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buFont typeface="Arial" panose="020B0604020202020204" pitchFamily="34" charset="0"/>
              <a:buChar char="•"/>
            </a:pPr>
            <a:r>
              <a:rPr lang="es-ES_tradnl" altLang="es-AR" sz="2400">
                <a:solidFill>
                  <a:schemeClr val="tx2"/>
                </a:solidFill>
              </a:rPr>
              <a:t>Introducción a CPU</a:t>
            </a:r>
          </a:p>
          <a:p>
            <a:pPr eaLnBrk="1" hangingPunct="1">
              <a:buFont typeface="Arial" panose="020B0604020202020204" pitchFamily="34" charset="0"/>
              <a:buChar char="•"/>
            </a:pPr>
            <a:r>
              <a:rPr lang="es-ES_tradnl" altLang="es-AR" sz="2400">
                <a:solidFill>
                  <a:schemeClr val="tx2"/>
                </a:solidFill>
              </a:rPr>
              <a:t>Introducción a Memorias</a:t>
            </a:r>
          </a:p>
          <a:p>
            <a:pPr eaLnBrk="1" hangingPunct="1">
              <a:buFont typeface="Arial" panose="020B0604020202020204" pitchFamily="34" charset="0"/>
              <a:buChar char="•"/>
            </a:pPr>
            <a:r>
              <a:rPr lang="es-ES_tradnl" altLang="es-AR" sz="2400">
                <a:solidFill>
                  <a:schemeClr val="tx2"/>
                </a:solidFill>
              </a:rPr>
              <a:t>Introducción al Almacenamiento Masivo</a:t>
            </a:r>
          </a:p>
          <a:p>
            <a:pPr eaLnBrk="1" hangingPunct="1">
              <a:buFont typeface="Arial" panose="020B0604020202020204" pitchFamily="34" charset="0"/>
              <a:buChar char="•"/>
            </a:pPr>
            <a:r>
              <a:rPr lang="es-ES_tradnl" altLang="es-AR" sz="2400">
                <a:solidFill>
                  <a:schemeClr val="tx2"/>
                </a:solidFill>
              </a:rPr>
              <a:t>Introducción a Redes</a:t>
            </a:r>
            <a:endParaRPr lang="es-CO" altLang="es-AR" sz="2400">
              <a:solidFill>
                <a:schemeClr val="tx2"/>
              </a:solidFill>
            </a:endParaRPr>
          </a:p>
        </p:txBody>
      </p:sp>
    </p:spTree>
    <p:extLst>
      <p:ext uri="{BB962C8B-B14F-4D97-AF65-F5344CB8AC3E}">
        <p14:creationId xmlns:p14="http://schemas.microsoft.com/office/powerpoint/2010/main" val="7311508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pPr algn="ctr" eaLnBrk="1" hangingPunct="1"/>
            <a:r>
              <a:rPr lang="es-ES_tradnl" altLang="es-AR" dirty="0" smtClean="0"/>
              <a:t>LA CPU</a:t>
            </a:r>
            <a:endParaRPr lang="es-CO" altLang="es-AR" dirty="0" smtClean="0"/>
          </a:p>
        </p:txBody>
      </p:sp>
      <p:sp>
        <p:nvSpPr>
          <p:cNvPr id="3" name="CuadroTexto 2"/>
          <p:cNvSpPr txBox="1"/>
          <p:nvPr/>
        </p:nvSpPr>
        <p:spPr>
          <a:xfrm>
            <a:off x="1566800" y="3629923"/>
            <a:ext cx="3475054" cy="2585323"/>
          </a:xfrm>
          <a:prstGeom prst="rect">
            <a:avLst/>
          </a:prstGeom>
          <a:noFill/>
          <a:ln>
            <a:solidFill>
              <a:schemeClr val="accent1"/>
            </a:solidFill>
          </a:ln>
        </p:spPr>
        <p:txBody>
          <a:bodyPr wrap="none" rtlCol="0">
            <a:spAutoFit/>
          </a:bodyPr>
          <a:lstStyle/>
          <a:p>
            <a:pPr lvl="0"/>
            <a:r>
              <a:rPr lang="es-AR" i="1" dirty="0" smtClean="0">
                <a:solidFill>
                  <a:srgbClr val="FF0000"/>
                </a:solidFill>
                <a:effectLst>
                  <a:outerShdw blurRad="38100" dist="38100" dir="2700000" algn="tl">
                    <a:srgbClr val="000000">
                      <a:alpha val="43137"/>
                    </a:srgbClr>
                  </a:outerShdw>
                </a:effectLst>
              </a:rPr>
              <a:t>Concepto de CPU / Funcionamiento</a:t>
            </a:r>
          </a:p>
          <a:p>
            <a:pPr lvl="0"/>
            <a:r>
              <a:rPr lang="es-MX" i="1" dirty="0" smtClean="0">
                <a:solidFill>
                  <a:srgbClr val="FF0000"/>
                </a:solidFill>
                <a:effectLst>
                  <a:outerShdw blurRad="38100" dist="38100" dir="2700000" algn="tl">
                    <a:srgbClr val="000000">
                      <a:alpha val="43137"/>
                    </a:srgbClr>
                  </a:outerShdw>
                </a:effectLst>
              </a:rPr>
              <a:t>Dispositivos que controla</a:t>
            </a:r>
          </a:p>
          <a:p>
            <a:pPr lvl="0"/>
            <a:r>
              <a:rPr lang="es-MX" i="1" dirty="0" smtClean="0">
                <a:solidFill>
                  <a:srgbClr val="FF0000"/>
                </a:solidFill>
                <a:effectLst>
                  <a:outerShdw blurRad="38100" dist="38100" dir="2700000" algn="tl">
                    <a:srgbClr val="000000">
                      <a:alpha val="43137"/>
                    </a:srgbClr>
                  </a:outerShdw>
                </a:effectLst>
              </a:rPr>
              <a:t>Concepto de multiprocesador</a:t>
            </a:r>
          </a:p>
          <a:p>
            <a:pPr lvl="0"/>
            <a:r>
              <a:rPr lang="es-MX" i="1" dirty="0" err="1" smtClean="0">
                <a:solidFill>
                  <a:srgbClr val="FF0000"/>
                </a:solidFill>
                <a:effectLst>
                  <a:outerShdw blurRad="38100" dist="38100" dir="2700000" algn="tl">
                    <a:srgbClr val="000000">
                      <a:alpha val="43137"/>
                    </a:srgbClr>
                  </a:outerShdw>
                </a:effectLst>
              </a:rPr>
              <a:t>Cluster</a:t>
            </a:r>
            <a:r>
              <a:rPr lang="es-MX" i="1" dirty="0" smtClean="0">
                <a:solidFill>
                  <a:srgbClr val="FF0000"/>
                </a:solidFill>
                <a:effectLst>
                  <a:outerShdw blurRad="38100" dist="38100" dir="2700000" algn="tl">
                    <a:srgbClr val="000000">
                      <a:alpha val="43137"/>
                    </a:srgbClr>
                  </a:outerShdw>
                </a:effectLst>
              </a:rPr>
              <a:t> </a:t>
            </a:r>
          </a:p>
          <a:p>
            <a:pPr lvl="0"/>
            <a:r>
              <a:rPr lang="es-MX" i="1" dirty="0" smtClean="0">
                <a:solidFill>
                  <a:srgbClr val="FF0000"/>
                </a:solidFill>
                <a:effectLst>
                  <a:outerShdw blurRad="38100" dist="38100" dir="2700000" algn="tl">
                    <a:srgbClr val="000000">
                      <a:alpha val="43137"/>
                    </a:srgbClr>
                  </a:outerShdw>
                </a:effectLst>
              </a:rPr>
              <a:t>Partes básicas de un procesador.</a:t>
            </a:r>
          </a:p>
          <a:p>
            <a:pPr lvl="0"/>
            <a:r>
              <a:rPr lang="es-MX" i="1" dirty="0" smtClean="0">
                <a:solidFill>
                  <a:srgbClr val="FF0000"/>
                </a:solidFill>
                <a:effectLst>
                  <a:outerShdw blurRad="38100" dist="38100" dir="2700000" algn="tl">
                    <a:srgbClr val="000000">
                      <a:alpha val="43137"/>
                    </a:srgbClr>
                  </a:outerShdw>
                </a:effectLst>
              </a:rPr>
              <a:t>Buses</a:t>
            </a:r>
          </a:p>
          <a:p>
            <a:pPr lvl="0"/>
            <a:r>
              <a:rPr lang="es-MX" i="1" dirty="0" smtClean="0">
                <a:solidFill>
                  <a:srgbClr val="FF0000"/>
                </a:solidFill>
                <a:effectLst>
                  <a:outerShdw blurRad="38100" dist="38100" dir="2700000" algn="tl">
                    <a:srgbClr val="000000">
                      <a:alpha val="43137"/>
                    </a:srgbClr>
                  </a:outerShdw>
                </a:effectLst>
              </a:rPr>
              <a:t>Memorias</a:t>
            </a:r>
            <a:r>
              <a:rPr lang="es-MX" i="1" smtClean="0">
                <a:solidFill>
                  <a:srgbClr val="FF0000"/>
                </a:solidFill>
                <a:effectLst>
                  <a:outerShdw blurRad="38100" dist="38100" dir="2700000" algn="tl">
                    <a:srgbClr val="000000">
                      <a:alpha val="43137"/>
                    </a:srgbClr>
                  </a:outerShdw>
                </a:effectLst>
              </a:rPr>
              <a:t>. </a:t>
            </a:r>
            <a:endParaRPr lang="es-MX" i="1" dirty="0" smtClean="0">
              <a:solidFill>
                <a:srgbClr val="FF0000"/>
              </a:solidFill>
              <a:effectLst>
                <a:outerShdw blurRad="38100" dist="38100" dir="2700000" algn="tl">
                  <a:srgbClr val="000000">
                    <a:alpha val="43137"/>
                  </a:srgbClr>
                </a:outerShdw>
              </a:effectLst>
            </a:endParaRPr>
          </a:p>
          <a:p>
            <a:pPr lvl="0"/>
            <a:endParaRPr lang="es-MX" i="1" dirty="0" smtClean="0">
              <a:solidFill>
                <a:srgbClr val="FF0000"/>
              </a:solidFill>
              <a:effectLst>
                <a:outerShdw blurRad="38100" dist="38100" dir="2700000" algn="tl">
                  <a:srgbClr val="000000">
                    <a:alpha val="43137"/>
                  </a:srgbClr>
                </a:outerShdw>
              </a:effectLst>
            </a:endParaRPr>
          </a:p>
          <a:p>
            <a:pPr lvl="0"/>
            <a:endParaRPr lang="es-MX"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946212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es-CO" altLang="es-AR" b="1" dirty="0" smtClean="0"/>
              <a:t>¿Qué es la CPU?</a:t>
            </a:r>
          </a:p>
        </p:txBody>
      </p:sp>
      <p:sp>
        <p:nvSpPr>
          <p:cNvPr id="7171" name="Rectangle 3"/>
          <p:cNvSpPr>
            <a:spLocks noGrp="1" noChangeArrowheads="1"/>
          </p:cNvSpPr>
          <p:nvPr>
            <p:ph type="body" idx="1"/>
          </p:nvPr>
        </p:nvSpPr>
        <p:spPr>
          <a:xfrm>
            <a:off x="539552" y="1773238"/>
            <a:ext cx="7772400" cy="4679950"/>
          </a:xfrm>
        </p:spPr>
        <p:txBody>
          <a:bodyPr/>
          <a:lstStyle/>
          <a:p>
            <a:pPr algn="just" eaLnBrk="1" hangingPunct="1"/>
            <a:r>
              <a:rPr lang="es-CO" altLang="zh-CN" dirty="0" smtClean="0">
                <a:ea typeface="宋体" panose="02010600030101010101" pitchFamily="2" charset="-122"/>
              </a:rPr>
              <a:t>La unidad central de proceso o CPU -siglas que corresponden a las iniciales en inglés de </a:t>
            </a:r>
            <a:r>
              <a:rPr lang="es-CO" altLang="zh-CN" i="1" dirty="0" smtClean="0">
                <a:ea typeface="宋体" panose="02010600030101010101" pitchFamily="2" charset="-122"/>
              </a:rPr>
              <a:t>Central </a:t>
            </a:r>
            <a:r>
              <a:rPr lang="es-CO" altLang="zh-CN" i="1" dirty="0" err="1" smtClean="0">
                <a:ea typeface="宋体" panose="02010600030101010101" pitchFamily="2" charset="-122"/>
              </a:rPr>
              <a:t>Processing</a:t>
            </a:r>
            <a:r>
              <a:rPr lang="es-CO" altLang="zh-CN" i="1" dirty="0" smtClean="0">
                <a:ea typeface="宋体" panose="02010600030101010101" pitchFamily="2" charset="-122"/>
              </a:rPr>
              <a:t> </a:t>
            </a:r>
            <a:r>
              <a:rPr lang="es-CO" altLang="zh-CN" i="1" dirty="0" err="1" smtClean="0">
                <a:ea typeface="宋体" panose="02010600030101010101" pitchFamily="2" charset="-122"/>
              </a:rPr>
              <a:t>Unit</a:t>
            </a:r>
            <a:r>
              <a:rPr lang="es-CO" altLang="zh-CN" i="1" dirty="0" smtClean="0">
                <a:ea typeface="宋体" panose="02010600030101010101" pitchFamily="2" charset="-122"/>
              </a:rPr>
              <a:t>.</a:t>
            </a:r>
          </a:p>
          <a:p>
            <a:pPr algn="just" eaLnBrk="1" hangingPunct="1"/>
            <a:r>
              <a:rPr lang="es-CO" altLang="zh-CN" i="1" dirty="0" smtClean="0">
                <a:ea typeface="宋体" panose="02010600030101010101" pitchFamily="2" charset="-122"/>
              </a:rPr>
              <a:t>La CPU se encarga de realizar las operaciones de cálculo y también de controlar el flujo de datos entre los diversos elementos que forman un ordenador.</a:t>
            </a:r>
            <a:r>
              <a:rPr lang="es-CO" altLang="zh-CN" dirty="0" smtClean="0">
                <a:ea typeface="宋体" panose="02010600030101010101" pitchFamily="2" charset="-122"/>
              </a:rPr>
              <a:t> </a:t>
            </a:r>
            <a:endParaRPr lang="es-CO" altLang="es-AR" dirty="0" smtClean="0"/>
          </a:p>
        </p:txBody>
      </p:sp>
    </p:spTree>
    <p:extLst>
      <p:ext uri="{BB962C8B-B14F-4D97-AF65-F5344CB8AC3E}">
        <p14:creationId xmlns:p14="http://schemas.microsoft.com/office/powerpoint/2010/main" val="4362590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p:txBody>
          <a:bodyPr/>
          <a:lstStyle/>
          <a:p>
            <a:pPr algn="just" eaLnBrk="1" hangingPunct="1"/>
            <a:r>
              <a:rPr lang="es-CO" altLang="zh-CN" sz="2800" dirty="0" smtClean="0">
                <a:ea typeface="宋体" panose="02010600030101010101" pitchFamily="2" charset="-122"/>
              </a:rPr>
              <a:t>En el microprocesador reside el poder  ejecutivo del ordenador.</a:t>
            </a:r>
          </a:p>
          <a:p>
            <a:pPr algn="just" eaLnBrk="1" hangingPunct="1"/>
            <a:r>
              <a:rPr lang="es-CO" altLang="zh-CN" sz="2800" dirty="0" smtClean="0">
                <a:ea typeface="宋体" panose="02010600030101010101" pitchFamily="2" charset="-122"/>
              </a:rPr>
              <a:t>Puede almacenar en su interior pequeñas cantidades de datos. </a:t>
            </a:r>
          </a:p>
          <a:p>
            <a:pPr algn="just" eaLnBrk="1" hangingPunct="1"/>
            <a:r>
              <a:rPr lang="es-CO" altLang="zh-CN" sz="2800" dirty="0" smtClean="0">
                <a:ea typeface="宋体" panose="02010600030101010101" pitchFamily="2" charset="-122"/>
              </a:rPr>
              <a:t>Cuando la cantidad de datos a procesar es elevada se necesitará de un sistema de almacenamiento asociado al microprocesador, que se denomina memoria principal. </a:t>
            </a:r>
            <a:endParaRPr lang="es-CO" altLang="es-AR" sz="2800" dirty="0" smtClean="0"/>
          </a:p>
        </p:txBody>
      </p:sp>
      <p:sp>
        <p:nvSpPr>
          <p:cNvPr id="3" name="Rectangle 2"/>
          <p:cNvSpPr>
            <a:spLocks noGrp="1" noChangeArrowheads="1"/>
          </p:cNvSpPr>
          <p:nvPr>
            <p:ph type="title"/>
          </p:nvPr>
        </p:nvSpPr>
        <p:spPr>
          <a:xfrm>
            <a:off x="457200" y="274638"/>
            <a:ext cx="8229600" cy="1143000"/>
          </a:xfrm>
        </p:spPr>
        <p:txBody>
          <a:bodyPr/>
          <a:lstStyle/>
          <a:p>
            <a:pPr algn="ctr" eaLnBrk="1" hangingPunct="1"/>
            <a:r>
              <a:rPr lang="es-CO" altLang="es-AR" b="1" dirty="0" smtClean="0"/>
              <a:t>¿Qué es la CPU?</a:t>
            </a:r>
          </a:p>
        </p:txBody>
      </p:sp>
    </p:spTree>
    <p:extLst>
      <p:ext uri="{BB962C8B-B14F-4D97-AF65-F5344CB8AC3E}">
        <p14:creationId xmlns:p14="http://schemas.microsoft.com/office/powerpoint/2010/main" val="3468296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algn="ctr" eaLnBrk="1" hangingPunct="1"/>
            <a:r>
              <a:rPr lang="es-CO" altLang="es-AR" b="1" smtClean="0"/>
              <a:t>Dispositivos controlados por la CPU</a:t>
            </a:r>
          </a:p>
        </p:txBody>
      </p:sp>
      <p:sp>
        <p:nvSpPr>
          <p:cNvPr id="9219" name="Rectangle 3"/>
          <p:cNvSpPr>
            <a:spLocks noGrp="1" noChangeArrowheads="1"/>
          </p:cNvSpPr>
          <p:nvPr>
            <p:ph type="body" idx="1"/>
          </p:nvPr>
        </p:nvSpPr>
        <p:spPr/>
        <p:txBody>
          <a:bodyPr/>
          <a:lstStyle/>
          <a:p>
            <a:pPr algn="just" eaLnBrk="1" hangingPunct="1"/>
            <a:r>
              <a:rPr lang="es-CO" altLang="zh-CN" dirty="0" smtClean="0">
                <a:ea typeface="宋体" panose="02010600030101010101" pitchFamily="2" charset="-122"/>
              </a:rPr>
              <a:t>Los restantes elementos que forman parte del ordenador, y que también son controlados por la CPU, se engloban en los llamados dispositivos periféricos.</a:t>
            </a:r>
          </a:p>
          <a:p>
            <a:pPr marL="715963" indent="357188" algn="just"/>
            <a:r>
              <a:rPr lang="es-ES_tradnl" altLang="zh-CN" dirty="0" smtClean="0">
                <a:solidFill>
                  <a:srgbClr val="FF0000"/>
                </a:solidFill>
                <a:ea typeface="宋体" panose="02010600030101010101" pitchFamily="2" charset="-122"/>
              </a:rPr>
              <a:t>Dispositivos Internos.</a:t>
            </a:r>
          </a:p>
          <a:p>
            <a:pPr marL="715963" indent="357188"/>
            <a:r>
              <a:rPr lang="es-ES_tradnl" altLang="zh-CN" dirty="0" smtClean="0">
                <a:solidFill>
                  <a:srgbClr val="FF0000"/>
                </a:solidFill>
                <a:ea typeface="宋体" panose="02010600030101010101" pitchFamily="2" charset="-122"/>
              </a:rPr>
              <a:t>Dispositivos Externos.</a:t>
            </a:r>
            <a:endParaRPr lang="es-CO" altLang="es-AR" dirty="0" smtClean="0">
              <a:solidFill>
                <a:srgbClr val="FF0000"/>
              </a:solidFill>
            </a:endParaRPr>
          </a:p>
        </p:txBody>
      </p:sp>
    </p:spTree>
    <p:extLst>
      <p:ext uri="{BB962C8B-B14F-4D97-AF65-F5344CB8AC3E}">
        <p14:creationId xmlns:p14="http://schemas.microsoft.com/office/powerpoint/2010/main" val="2870126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eaLnBrk="1" hangingPunct="1"/>
            <a:r>
              <a:rPr lang="es-CO" altLang="zh-CN" smtClean="0">
                <a:ea typeface="宋体" panose="02010600030101010101" pitchFamily="2" charset="-122"/>
              </a:rPr>
              <a:t>CPU multiprocesador </a:t>
            </a:r>
            <a:endParaRPr lang="es-CO" altLang="es-AR" smtClean="0"/>
          </a:p>
        </p:txBody>
      </p:sp>
      <p:sp>
        <p:nvSpPr>
          <p:cNvPr id="10243" name="Rectangle 3"/>
          <p:cNvSpPr>
            <a:spLocks noGrp="1" noChangeArrowheads="1"/>
          </p:cNvSpPr>
          <p:nvPr>
            <p:ph type="body" idx="1"/>
          </p:nvPr>
        </p:nvSpPr>
        <p:spPr/>
        <p:txBody>
          <a:bodyPr/>
          <a:lstStyle/>
          <a:p>
            <a:pPr algn="just" eaLnBrk="1" hangingPunct="1"/>
            <a:r>
              <a:rPr lang="es-ES_tradnl" altLang="es-AR" smtClean="0"/>
              <a:t>En MainFrames pueden utilizarse varios procesadores interconectados procesar datos.</a:t>
            </a:r>
          </a:p>
          <a:p>
            <a:pPr algn="just" eaLnBrk="1" hangingPunct="1"/>
            <a:r>
              <a:rPr lang="es-ES_tradnl" altLang="es-AR" smtClean="0"/>
              <a:t>Un procesador principal y varios procesadores secundarios, para realizar procesos de manera parcial.</a:t>
            </a:r>
          </a:p>
          <a:p>
            <a:pPr algn="just" eaLnBrk="1" hangingPunct="1"/>
            <a:r>
              <a:rPr lang="es-ES_tradnl" altLang="es-AR" smtClean="0"/>
              <a:t>Cluster de procesadores redundantes.</a:t>
            </a:r>
            <a:endParaRPr lang="es-CO" altLang="es-AR" smtClean="0"/>
          </a:p>
        </p:txBody>
      </p:sp>
    </p:spTree>
    <p:extLst>
      <p:ext uri="{BB962C8B-B14F-4D97-AF65-F5344CB8AC3E}">
        <p14:creationId xmlns:p14="http://schemas.microsoft.com/office/powerpoint/2010/main" val="31086714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algn="ctr" eaLnBrk="1" hangingPunct="1"/>
            <a:r>
              <a:rPr lang="es-CO" altLang="es-AR" b="1" smtClean="0"/>
              <a:t>¿Cómo Funciona?</a:t>
            </a:r>
            <a:br>
              <a:rPr lang="es-CO" altLang="es-AR" b="1" smtClean="0"/>
            </a:br>
            <a:endParaRPr lang="es-CO" altLang="es-AR" b="1" smtClean="0"/>
          </a:p>
        </p:txBody>
      </p:sp>
      <p:sp>
        <p:nvSpPr>
          <p:cNvPr id="11267" name="Rectangle 3"/>
          <p:cNvSpPr>
            <a:spLocks noGrp="1" noChangeArrowheads="1"/>
          </p:cNvSpPr>
          <p:nvPr>
            <p:ph type="body" idx="1"/>
          </p:nvPr>
        </p:nvSpPr>
        <p:spPr/>
        <p:txBody>
          <a:bodyPr/>
          <a:lstStyle/>
          <a:p>
            <a:pPr eaLnBrk="1" hangingPunct="1"/>
            <a:r>
              <a:rPr lang="es-CO" altLang="zh-CN" sz="2800" dirty="0" smtClean="0">
                <a:ea typeface="宋体" panose="02010600030101010101" pitchFamily="2" charset="-122"/>
              </a:rPr>
              <a:t>El procesador en términos funcionales es una caja negra que recibe como entrada instrucciones y datos,  produciendo como salida nuevos datos. </a:t>
            </a:r>
          </a:p>
          <a:p>
            <a:pPr eaLnBrk="1" hangingPunct="1"/>
            <a:endParaRPr lang="es-CO" altLang="zh-CN" sz="2800" dirty="0" smtClean="0">
              <a:ea typeface="宋体" panose="02010600030101010101" pitchFamily="2" charset="-122"/>
            </a:endParaRPr>
          </a:p>
          <a:p>
            <a:pPr eaLnBrk="1" hangingPunct="1"/>
            <a:r>
              <a:rPr lang="es-CO" altLang="zh-CN" sz="2800" dirty="0" smtClean="0">
                <a:ea typeface="宋体" panose="02010600030101010101" pitchFamily="2" charset="-122"/>
              </a:rPr>
              <a:t>El procesador sólo será capaz de ejecutar un conjunto básico de instrucciones, cada una de las cuales realiza una operación elemental muy simple. </a:t>
            </a:r>
            <a:endParaRPr lang="es-CO" altLang="es-AR" sz="2800" dirty="0" smtClean="0"/>
          </a:p>
        </p:txBody>
      </p:sp>
    </p:spTree>
    <p:extLst>
      <p:ext uri="{BB962C8B-B14F-4D97-AF65-F5344CB8AC3E}">
        <p14:creationId xmlns:p14="http://schemas.microsoft.com/office/powerpoint/2010/main" val="1656056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pPr algn="ctr" eaLnBrk="1" hangingPunct="1"/>
            <a:r>
              <a:rPr lang="es-CO" altLang="es-AR" sz="4000" b="1" smtClean="0"/>
              <a:t>Relación con otros componentes del procesador</a:t>
            </a:r>
          </a:p>
        </p:txBody>
      </p:sp>
      <p:sp>
        <p:nvSpPr>
          <p:cNvPr id="12291" name="Rectangle 3"/>
          <p:cNvSpPr>
            <a:spLocks noGrp="1" noChangeArrowheads="1"/>
          </p:cNvSpPr>
          <p:nvPr>
            <p:ph type="body" idx="1"/>
          </p:nvPr>
        </p:nvSpPr>
        <p:spPr/>
        <p:txBody>
          <a:bodyPr/>
          <a:lstStyle/>
          <a:p>
            <a:pPr eaLnBrk="1" hangingPunct="1"/>
            <a:r>
              <a:rPr lang="es-ES_tradnl" altLang="es-AR" smtClean="0"/>
              <a:t>Microprocesador </a:t>
            </a:r>
          </a:p>
          <a:p>
            <a:pPr eaLnBrk="1" hangingPunct="1"/>
            <a:r>
              <a:rPr lang="es-ES_tradnl" altLang="es-AR" smtClean="0"/>
              <a:t>Memoria </a:t>
            </a:r>
          </a:p>
          <a:p>
            <a:pPr eaLnBrk="1" hangingPunct="1"/>
            <a:r>
              <a:rPr lang="es-ES_tradnl" altLang="es-AR" smtClean="0"/>
              <a:t>Periféricos</a:t>
            </a:r>
          </a:p>
          <a:p>
            <a:pPr eaLnBrk="1" hangingPunct="1"/>
            <a:endParaRPr lang="es-CO" altLang="es-AR" smtClean="0"/>
          </a:p>
        </p:txBody>
      </p:sp>
    </p:spTree>
    <p:extLst>
      <p:ext uri="{BB962C8B-B14F-4D97-AF65-F5344CB8AC3E}">
        <p14:creationId xmlns:p14="http://schemas.microsoft.com/office/powerpoint/2010/main" val="11876040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eaLnBrk="1" hangingPunct="1"/>
            <a:r>
              <a:rPr lang="es-ES_tradnl" altLang="es-AR" smtClean="0"/>
              <a:t>MICROPROCESADOR</a:t>
            </a:r>
            <a:endParaRPr lang="es-CO" altLang="es-AR" smtClean="0"/>
          </a:p>
        </p:txBody>
      </p:sp>
      <p:sp>
        <p:nvSpPr>
          <p:cNvPr id="13315" name="Rectangle 3"/>
          <p:cNvSpPr>
            <a:spLocks noGrp="1" noChangeArrowheads="1"/>
          </p:cNvSpPr>
          <p:nvPr>
            <p:ph type="body" idx="1"/>
          </p:nvPr>
        </p:nvSpPr>
        <p:spPr/>
        <p:txBody>
          <a:bodyPr/>
          <a:lstStyle/>
          <a:p>
            <a:pPr eaLnBrk="1" hangingPunct="1"/>
            <a:r>
              <a:rPr lang="es-CO" altLang="es-AR" smtClean="0"/>
              <a:t>Realiza todas las operaciones de tratamiento de datos. </a:t>
            </a:r>
          </a:p>
          <a:p>
            <a:pPr eaLnBrk="1" hangingPunct="1"/>
            <a:r>
              <a:rPr lang="es-CO" altLang="es-AR" smtClean="0"/>
              <a:t>Controla el flujo de datos </a:t>
            </a:r>
          </a:p>
          <a:p>
            <a:pPr eaLnBrk="1" hangingPunct="1"/>
            <a:r>
              <a:rPr lang="es-CO" altLang="es-AR" smtClean="0"/>
              <a:t>Gestiona la memoria </a:t>
            </a:r>
          </a:p>
          <a:p>
            <a:pPr eaLnBrk="1" hangingPunct="1"/>
            <a:r>
              <a:rPr lang="es-CO" altLang="es-AR" smtClean="0"/>
              <a:t>Atiende a los dispositivos periféricos. </a:t>
            </a:r>
          </a:p>
          <a:p>
            <a:pPr eaLnBrk="1" hangingPunct="1"/>
            <a:endParaRPr lang="es-CO" altLang="es-AR" smtClean="0"/>
          </a:p>
        </p:txBody>
      </p:sp>
    </p:spTree>
    <p:extLst>
      <p:ext uri="{BB962C8B-B14F-4D97-AF65-F5344CB8AC3E}">
        <p14:creationId xmlns:p14="http://schemas.microsoft.com/office/powerpoint/2010/main" val="13588882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r>
              <a:rPr lang="es-ES_tradnl" altLang="es-AR" smtClean="0"/>
              <a:t>MEMORIA</a:t>
            </a:r>
            <a:endParaRPr lang="es-CO" altLang="es-AR" smtClean="0"/>
          </a:p>
        </p:txBody>
      </p:sp>
      <p:sp>
        <p:nvSpPr>
          <p:cNvPr id="14339" name="Rectangle 3"/>
          <p:cNvSpPr>
            <a:spLocks noGrp="1" noChangeArrowheads="1"/>
          </p:cNvSpPr>
          <p:nvPr>
            <p:ph type="body" idx="1"/>
          </p:nvPr>
        </p:nvSpPr>
        <p:spPr/>
        <p:txBody>
          <a:bodyPr/>
          <a:lstStyle/>
          <a:p>
            <a:pPr algn="just" eaLnBrk="1" hangingPunct="1">
              <a:buSzTx/>
              <a:buFont typeface="Symbol" panose="05050102010706020507" pitchFamily="18" charset="2"/>
              <a:buChar char=""/>
            </a:pPr>
            <a:r>
              <a:rPr lang="es-CO" altLang="es-AR" smtClean="0"/>
              <a:t>Almacena el código (programa que está guardado en memoria)  y los datos que son tratados por el microprocesador. </a:t>
            </a:r>
          </a:p>
          <a:p>
            <a:pPr eaLnBrk="1" hangingPunct="1"/>
            <a:endParaRPr lang="es-CO" altLang="es-AR" smtClean="0"/>
          </a:p>
        </p:txBody>
      </p:sp>
    </p:spTree>
    <p:extLst>
      <p:ext uri="{BB962C8B-B14F-4D97-AF65-F5344CB8AC3E}">
        <p14:creationId xmlns:p14="http://schemas.microsoft.com/office/powerpoint/2010/main" val="1178075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es-ES_tradnl" altLang="es-AR" smtClean="0"/>
              <a:t>PERIFERICOS</a:t>
            </a:r>
            <a:endParaRPr lang="es-CO" altLang="es-AR" smtClean="0"/>
          </a:p>
        </p:txBody>
      </p:sp>
      <p:sp>
        <p:nvSpPr>
          <p:cNvPr id="15363" name="Rectangle 3"/>
          <p:cNvSpPr>
            <a:spLocks noGrp="1" noChangeArrowheads="1"/>
          </p:cNvSpPr>
          <p:nvPr>
            <p:ph type="body" idx="1"/>
          </p:nvPr>
        </p:nvSpPr>
        <p:spPr>
          <a:xfrm>
            <a:off x="755650" y="2133600"/>
            <a:ext cx="7772400" cy="4114800"/>
          </a:xfrm>
        </p:spPr>
        <p:txBody>
          <a:bodyPr/>
          <a:lstStyle/>
          <a:p>
            <a:pPr algn="just" eaLnBrk="1" hangingPunct="1">
              <a:buSzTx/>
              <a:buFont typeface="Symbol" panose="05050102010706020507" pitchFamily="18" charset="2"/>
              <a:buChar char=""/>
            </a:pPr>
            <a:r>
              <a:rPr lang="es-CO" altLang="es-AR" smtClean="0"/>
              <a:t>Conforman el Sistema de Entrada/ Salida del ordenador y son los encargados de proporcionar datos de entrada al procesador, asi como de recibir los datos procesados para su comunicación al mundo exterior. </a:t>
            </a:r>
          </a:p>
          <a:p>
            <a:pPr algn="just" eaLnBrk="1" hangingPunct="1"/>
            <a:endParaRPr lang="es-CO" altLang="es-AR" smtClean="0"/>
          </a:p>
        </p:txBody>
      </p:sp>
    </p:spTree>
    <p:extLst>
      <p:ext uri="{BB962C8B-B14F-4D97-AF65-F5344CB8AC3E}">
        <p14:creationId xmlns:p14="http://schemas.microsoft.com/office/powerpoint/2010/main" val="15959500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descr="dentro_cpu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p:spPr>
      </p:pic>
    </p:spTree>
    <p:extLst>
      <p:ext uri="{BB962C8B-B14F-4D97-AF65-F5344CB8AC3E}">
        <p14:creationId xmlns:p14="http://schemas.microsoft.com/office/powerpoint/2010/main" val="23433507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2057400" y="1676400"/>
            <a:ext cx="5257800" cy="43005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p:txBody>
      </p:sp>
      <p:sp>
        <p:nvSpPr>
          <p:cNvPr id="17411" name="Text Box 8"/>
          <p:cNvSpPr txBox="1">
            <a:spLocks noChangeArrowheads="1"/>
          </p:cNvSpPr>
          <p:nvPr/>
        </p:nvSpPr>
        <p:spPr bwMode="auto">
          <a:xfrm>
            <a:off x="2667000" y="4343400"/>
            <a:ext cx="4038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p:txBody>
      </p:sp>
      <p:sp>
        <p:nvSpPr>
          <p:cNvPr id="17412" name="Text Box 9"/>
          <p:cNvSpPr txBox="1">
            <a:spLocks noChangeArrowheads="1"/>
          </p:cNvSpPr>
          <p:nvPr/>
        </p:nvSpPr>
        <p:spPr bwMode="auto">
          <a:xfrm>
            <a:off x="2743200" y="1828800"/>
            <a:ext cx="3733800" cy="2109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a:p>
            <a:pPr eaLnBrk="1" hangingPunct="1">
              <a:spcBef>
                <a:spcPct val="50000"/>
              </a:spcBef>
            </a:pPr>
            <a:endParaRPr lang="es-ES_tradnl" altLang="es-AR"/>
          </a:p>
        </p:txBody>
      </p:sp>
      <p:sp>
        <p:nvSpPr>
          <p:cNvPr id="17413" name="Text Box 10"/>
          <p:cNvSpPr txBox="1">
            <a:spLocks noChangeArrowheads="1"/>
          </p:cNvSpPr>
          <p:nvPr/>
        </p:nvSpPr>
        <p:spPr bwMode="auto">
          <a:xfrm>
            <a:off x="2743200" y="4191000"/>
            <a:ext cx="3810000" cy="10144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s-ES_tradnl" altLang="es-AR"/>
              <a:t>MEMORIA CENTRAL</a:t>
            </a:r>
          </a:p>
          <a:p>
            <a:pPr algn="ctr" eaLnBrk="1" hangingPunct="1">
              <a:spcBef>
                <a:spcPct val="50000"/>
              </a:spcBef>
            </a:pPr>
            <a:endParaRPr lang="es-ES_tradnl" altLang="es-AR"/>
          </a:p>
        </p:txBody>
      </p:sp>
      <p:sp>
        <p:nvSpPr>
          <p:cNvPr id="17414" name="Text Box 12"/>
          <p:cNvSpPr txBox="1">
            <a:spLocks noChangeArrowheads="1"/>
          </p:cNvSpPr>
          <p:nvPr/>
        </p:nvSpPr>
        <p:spPr bwMode="auto">
          <a:xfrm>
            <a:off x="2895600" y="2514600"/>
            <a:ext cx="1371600" cy="127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endParaRPr lang="es-ES_tradnl" altLang="es-AR" sz="1400"/>
          </a:p>
          <a:p>
            <a:pPr algn="ctr" eaLnBrk="1" hangingPunct="1">
              <a:spcBef>
                <a:spcPct val="50000"/>
              </a:spcBef>
            </a:pPr>
            <a:r>
              <a:rPr lang="es-ES_tradnl" altLang="es-AR" sz="1400"/>
              <a:t>UNIDAD</a:t>
            </a:r>
          </a:p>
          <a:p>
            <a:pPr algn="ctr" eaLnBrk="1" hangingPunct="1">
              <a:spcBef>
                <a:spcPct val="50000"/>
              </a:spcBef>
            </a:pPr>
            <a:r>
              <a:rPr lang="es-ES_tradnl" altLang="es-AR" sz="1400"/>
              <a:t>DE CONTROL</a:t>
            </a:r>
          </a:p>
          <a:p>
            <a:pPr algn="ctr" eaLnBrk="1" hangingPunct="1">
              <a:spcBef>
                <a:spcPct val="50000"/>
              </a:spcBef>
            </a:pPr>
            <a:r>
              <a:rPr lang="es-ES_tradnl" altLang="es-AR" sz="1400"/>
              <a:t>(UC)</a:t>
            </a:r>
          </a:p>
        </p:txBody>
      </p:sp>
      <p:sp>
        <p:nvSpPr>
          <p:cNvPr id="17415" name="Text Box 13"/>
          <p:cNvSpPr txBox="1">
            <a:spLocks noChangeArrowheads="1"/>
          </p:cNvSpPr>
          <p:nvPr/>
        </p:nvSpPr>
        <p:spPr bwMode="auto">
          <a:xfrm>
            <a:off x="4724400" y="2514600"/>
            <a:ext cx="1600200" cy="127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s-ES_tradnl" altLang="es-AR" sz="1400"/>
              <a:t>UNIDAD</a:t>
            </a:r>
          </a:p>
          <a:p>
            <a:pPr algn="ctr" eaLnBrk="1" hangingPunct="1">
              <a:spcBef>
                <a:spcPct val="50000"/>
              </a:spcBef>
            </a:pPr>
            <a:r>
              <a:rPr lang="es-ES_tradnl" altLang="es-AR" sz="1400"/>
              <a:t>ARITMETICO-</a:t>
            </a:r>
          </a:p>
          <a:p>
            <a:pPr algn="ctr" eaLnBrk="1" hangingPunct="1">
              <a:spcBef>
                <a:spcPct val="50000"/>
              </a:spcBef>
            </a:pPr>
            <a:r>
              <a:rPr lang="es-ES_tradnl" altLang="es-AR" sz="1400"/>
              <a:t>LOGICA</a:t>
            </a:r>
          </a:p>
          <a:p>
            <a:pPr algn="ctr" eaLnBrk="1" hangingPunct="1">
              <a:spcBef>
                <a:spcPct val="50000"/>
              </a:spcBef>
            </a:pPr>
            <a:r>
              <a:rPr lang="es-ES_tradnl" altLang="es-AR" sz="1400"/>
              <a:t>(UAL)</a:t>
            </a:r>
          </a:p>
        </p:txBody>
      </p:sp>
      <p:sp>
        <p:nvSpPr>
          <p:cNvPr id="17416" name="Oval 14"/>
          <p:cNvSpPr>
            <a:spLocks noChangeArrowheads="1"/>
          </p:cNvSpPr>
          <p:nvPr/>
        </p:nvSpPr>
        <p:spPr bwMode="auto">
          <a:xfrm>
            <a:off x="7467600" y="4343400"/>
            <a:ext cx="1447800" cy="106680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s-ES_tradnl" altLang="es-AR" sz="1400"/>
              <a:t>PERIFERICOS</a:t>
            </a:r>
          </a:p>
          <a:p>
            <a:pPr algn="ctr" eaLnBrk="1" hangingPunct="1"/>
            <a:r>
              <a:rPr lang="es-ES_tradnl" altLang="es-AR" sz="1400"/>
              <a:t>SALIDA</a:t>
            </a:r>
          </a:p>
        </p:txBody>
      </p:sp>
      <p:sp>
        <p:nvSpPr>
          <p:cNvPr id="17417" name="Oval 15"/>
          <p:cNvSpPr>
            <a:spLocks noChangeArrowheads="1"/>
          </p:cNvSpPr>
          <p:nvPr/>
        </p:nvSpPr>
        <p:spPr bwMode="auto">
          <a:xfrm>
            <a:off x="304800" y="1905000"/>
            <a:ext cx="1676400" cy="99060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s-ES_tradnl" altLang="es-AR" sz="1400"/>
              <a:t>PERIFERICOS</a:t>
            </a:r>
          </a:p>
          <a:p>
            <a:pPr algn="ctr" eaLnBrk="1" hangingPunct="1"/>
            <a:r>
              <a:rPr lang="es-ES_tradnl" altLang="es-AR" sz="1400"/>
              <a:t>ENTRADA</a:t>
            </a:r>
          </a:p>
        </p:txBody>
      </p:sp>
      <p:sp>
        <p:nvSpPr>
          <p:cNvPr id="17418" name="Text Box 16"/>
          <p:cNvSpPr txBox="1">
            <a:spLocks noChangeArrowheads="1"/>
          </p:cNvSpPr>
          <p:nvPr/>
        </p:nvSpPr>
        <p:spPr bwMode="auto">
          <a:xfrm>
            <a:off x="3733800" y="198120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ES_tradnl" altLang="es-AR"/>
              <a:t>PROCESADOR</a:t>
            </a:r>
          </a:p>
        </p:txBody>
      </p:sp>
      <p:sp>
        <p:nvSpPr>
          <p:cNvPr id="17419" name="Text Box 17"/>
          <p:cNvSpPr txBox="1">
            <a:spLocks noChangeArrowheads="1"/>
          </p:cNvSpPr>
          <p:nvPr/>
        </p:nvSpPr>
        <p:spPr bwMode="auto">
          <a:xfrm>
            <a:off x="4343400" y="2819400"/>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ES_tradnl" altLang="es-AR"/>
              <a:t>+</a:t>
            </a:r>
          </a:p>
        </p:txBody>
      </p:sp>
      <p:sp>
        <p:nvSpPr>
          <p:cNvPr id="17420" name="Text Box 18"/>
          <p:cNvSpPr txBox="1">
            <a:spLocks noChangeArrowheads="1"/>
          </p:cNvSpPr>
          <p:nvPr/>
        </p:nvSpPr>
        <p:spPr bwMode="auto">
          <a:xfrm>
            <a:off x="1295400" y="6096000"/>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s-ES_tradnl" altLang="es-AR"/>
              <a:t>UNIDAD CENTRAL DE PROCESO (UCP)</a:t>
            </a:r>
          </a:p>
        </p:txBody>
      </p:sp>
      <p:sp>
        <p:nvSpPr>
          <p:cNvPr id="17421" name="Line 21"/>
          <p:cNvSpPr>
            <a:spLocks noChangeShapeType="1"/>
          </p:cNvSpPr>
          <p:nvPr/>
        </p:nvSpPr>
        <p:spPr bwMode="auto">
          <a:xfrm>
            <a:off x="7315200" y="3048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AR"/>
          </a:p>
        </p:txBody>
      </p:sp>
      <p:sp>
        <p:nvSpPr>
          <p:cNvPr id="17422" name="Line 22"/>
          <p:cNvSpPr>
            <a:spLocks noChangeShapeType="1"/>
          </p:cNvSpPr>
          <p:nvPr/>
        </p:nvSpPr>
        <p:spPr bwMode="auto">
          <a:xfrm>
            <a:off x="8458200" y="3048000"/>
            <a:ext cx="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7423" name="Line 23"/>
          <p:cNvSpPr>
            <a:spLocks noChangeShapeType="1"/>
          </p:cNvSpPr>
          <p:nvPr/>
        </p:nvSpPr>
        <p:spPr bwMode="auto">
          <a:xfrm flipH="1">
            <a:off x="1143000" y="2895600"/>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AR"/>
          </a:p>
        </p:txBody>
      </p:sp>
      <p:sp>
        <p:nvSpPr>
          <p:cNvPr id="17424" name="Line 24"/>
          <p:cNvSpPr>
            <a:spLocks noChangeShapeType="1"/>
          </p:cNvSpPr>
          <p:nvPr/>
        </p:nvSpPr>
        <p:spPr bwMode="auto">
          <a:xfrm>
            <a:off x="1143000" y="3810000"/>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7425" name="Line 26"/>
          <p:cNvSpPr>
            <a:spLocks noChangeShapeType="1"/>
          </p:cNvSpPr>
          <p:nvPr/>
        </p:nvSpPr>
        <p:spPr bwMode="auto">
          <a:xfrm>
            <a:off x="3581400" y="3733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7426" name="Line 27"/>
          <p:cNvSpPr>
            <a:spLocks noChangeShapeType="1"/>
          </p:cNvSpPr>
          <p:nvPr/>
        </p:nvSpPr>
        <p:spPr bwMode="auto">
          <a:xfrm>
            <a:off x="5486400" y="3733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Tree>
    <p:extLst>
      <p:ext uri="{BB962C8B-B14F-4D97-AF65-F5344CB8AC3E}">
        <p14:creationId xmlns:p14="http://schemas.microsoft.com/office/powerpoint/2010/main" val="16845671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19" y="404664"/>
            <a:ext cx="7768597" cy="61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06558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536" y="44624"/>
            <a:ext cx="8229600" cy="422920"/>
          </a:xfrm>
        </p:spPr>
        <p:txBody>
          <a:bodyPr>
            <a:normAutofit/>
          </a:bodyPr>
          <a:lstStyle/>
          <a:p>
            <a:pPr algn="l" eaLnBrk="1" hangingPunct="1"/>
            <a:r>
              <a:rPr lang="es-ES_tradnl" altLang="es-AR" sz="2000" i="1" dirty="0" smtClean="0">
                <a:solidFill>
                  <a:srgbClr val="FF0000"/>
                </a:solidFill>
                <a:effectLst>
                  <a:outerShdw blurRad="38100" dist="38100" dir="2700000" algn="tl">
                    <a:srgbClr val="000000">
                      <a:alpha val="43137"/>
                    </a:srgbClr>
                  </a:outerShdw>
                </a:effectLst>
              </a:rPr>
              <a:t>Introducción a </a:t>
            </a:r>
            <a:r>
              <a:rPr lang="es-ES_tradnl" altLang="es-AR" sz="2000" i="1" dirty="0" err="1" smtClean="0">
                <a:solidFill>
                  <a:srgbClr val="FF0000"/>
                </a:solidFill>
                <a:effectLst>
                  <a:outerShdw blurRad="38100" dist="38100" dir="2700000" algn="tl">
                    <a:srgbClr val="000000">
                      <a:alpha val="43137"/>
                    </a:srgbClr>
                  </a:outerShdw>
                </a:effectLst>
              </a:rPr>
              <a:t>Microcontroladores</a:t>
            </a:r>
            <a:endParaRPr lang="es-CO" altLang="es-AR" sz="2000" i="1" dirty="0" smtClean="0">
              <a:solidFill>
                <a:srgbClr val="FF0000"/>
              </a:solidFill>
              <a:effectLst>
                <a:outerShdw blurRad="38100" dist="38100" dir="2700000" algn="tl">
                  <a:srgbClr val="000000">
                    <a:alpha val="43137"/>
                  </a:srgbClr>
                </a:outerShdw>
              </a:effectLst>
            </a:endParaRPr>
          </a:p>
        </p:txBody>
      </p:sp>
      <p:sp>
        <p:nvSpPr>
          <p:cNvPr id="19459" name="Rectangle 3"/>
          <p:cNvSpPr>
            <a:spLocks noGrp="1" noChangeArrowheads="1"/>
          </p:cNvSpPr>
          <p:nvPr>
            <p:ph type="body" idx="1"/>
          </p:nvPr>
        </p:nvSpPr>
        <p:spPr>
          <a:xfrm>
            <a:off x="539750" y="2122488"/>
            <a:ext cx="8280400" cy="4114800"/>
          </a:xfrm>
        </p:spPr>
        <p:txBody>
          <a:bodyPr/>
          <a:lstStyle/>
          <a:p>
            <a:pPr eaLnBrk="1" hangingPunct="1">
              <a:lnSpc>
                <a:spcPct val="90000"/>
              </a:lnSpc>
            </a:pPr>
            <a:r>
              <a:rPr lang="es-CO" altLang="zh-CN" smtClean="0">
                <a:ea typeface="宋体" panose="02010600030101010101" pitchFamily="2" charset="-122"/>
              </a:rPr>
              <a:t>encargada de realizar el control del proceso, es decir de generar las señales necesarias para activar los componentes de la unidad de tratamiento que actuarán sobre los datos en el instante de tiempo que corresponda. </a:t>
            </a:r>
            <a:br>
              <a:rPr lang="es-CO" altLang="zh-CN" smtClean="0">
                <a:ea typeface="宋体" panose="02010600030101010101" pitchFamily="2" charset="-122"/>
              </a:rPr>
            </a:br>
            <a:r>
              <a:rPr lang="es-CO" altLang="zh-CN" smtClean="0">
                <a:ea typeface="宋体" panose="02010600030101010101" pitchFamily="2" charset="-122"/>
              </a:rPr>
              <a:t/>
            </a:r>
            <a:br>
              <a:rPr lang="es-CO" altLang="zh-CN" smtClean="0">
                <a:ea typeface="宋体" panose="02010600030101010101" pitchFamily="2" charset="-122"/>
              </a:rPr>
            </a:br>
            <a:endParaRPr lang="es-CO" altLang="es-AR" smtClean="0"/>
          </a:p>
        </p:txBody>
      </p:sp>
      <p:pic>
        <p:nvPicPr>
          <p:cNvPr id="19460" name="3 Imagen" descr="http://perso.wanadoo.es/pictob/imagenes/arq16f8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404664"/>
            <a:ext cx="8785225"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Imagen 6" descr="http://perso.wanadoo.es/pictob/imagenes/microc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5475" y="6007100"/>
            <a:ext cx="15097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90748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endParaRPr lang="es-AR" altLang="es-AR" smtClean="0"/>
          </a:p>
        </p:txBody>
      </p:sp>
      <p:sp>
        <p:nvSpPr>
          <p:cNvPr id="20483" name="Rectangle 3"/>
          <p:cNvSpPr>
            <a:spLocks noGrp="1" noChangeArrowheads="1"/>
          </p:cNvSpPr>
          <p:nvPr>
            <p:ph type="body" idx="1"/>
          </p:nvPr>
        </p:nvSpPr>
        <p:spPr/>
        <p:txBody>
          <a:bodyPr/>
          <a:lstStyle/>
          <a:p>
            <a:pPr eaLnBrk="1" hangingPunct="1">
              <a:lnSpc>
                <a:spcPct val="90000"/>
              </a:lnSpc>
            </a:pPr>
            <a:r>
              <a:rPr lang="es-CO" altLang="es-AR" smtClean="0"/>
              <a:t>Para su funcionamiento suele disponer de los siguientes elementos. </a:t>
            </a:r>
            <a:br>
              <a:rPr lang="es-CO" altLang="es-AR" smtClean="0"/>
            </a:br>
            <a:r>
              <a:rPr lang="es-CO" altLang="es-AR" smtClean="0"/>
              <a:t>  </a:t>
            </a:r>
          </a:p>
          <a:p>
            <a:pPr eaLnBrk="1" hangingPunct="1">
              <a:lnSpc>
                <a:spcPct val="90000"/>
              </a:lnSpc>
            </a:pPr>
            <a:r>
              <a:rPr lang="es-CO" altLang="es-AR" smtClean="0">
                <a:hlinkClick r:id="rId2"/>
              </a:rPr>
              <a:t>Decodificador de Instrucciones.</a:t>
            </a:r>
            <a:r>
              <a:rPr lang="es-CO" altLang="es-AR" smtClean="0"/>
              <a:t> </a:t>
            </a:r>
          </a:p>
          <a:p>
            <a:pPr eaLnBrk="1" hangingPunct="1">
              <a:lnSpc>
                <a:spcPct val="90000"/>
              </a:lnSpc>
            </a:pPr>
            <a:r>
              <a:rPr lang="es-CO" altLang="es-AR" smtClean="0">
                <a:hlinkClick r:id="rId3"/>
              </a:rPr>
              <a:t>Registro Contador de Programa (PC) .</a:t>
            </a:r>
            <a:r>
              <a:rPr lang="es-CO" altLang="es-AR" smtClean="0"/>
              <a:t> </a:t>
            </a:r>
          </a:p>
          <a:p>
            <a:pPr eaLnBrk="1" hangingPunct="1">
              <a:lnSpc>
                <a:spcPct val="90000"/>
              </a:lnSpc>
            </a:pPr>
            <a:r>
              <a:rPr lang="es-CO" altLang="zh-CN" smtClean="0">
                <a:ea typeface="宋体" panose="02010600030101010101" pitchFamily="2" charset="-122"/>
                <a:hlinkClick r:id="rId4"/>
              </a:rPr>
              <a:t>Registro de Instrucciones(IR).</a:t>
            </a:r>
            <a:r>
              <a:rPr lang="es-CO" altLang="zh-CN" smtClean="0">
                <a:ea typeface="宋体" panose="02010600030101010101" pitchFamily="2" charset="-122"/>
              </a:rPr>
              <a:t> </a:t>
            </a:r>
            <a:br>
              <a:rPr lang="es-CO" altLang="zh-CN" smtClean="0">
                <a:ea typeface="宋体" panose="02010600030101010101" pitchFamily="2" charset="-122"/>
              </a:rPr>
            </a:br>
            <a:r>
              <a:rPr lang="es-CO" altLang="zh-CN" smtClean="0">
                <a:ea typeface="宋体" panose="02010600030101010101" pitchFamily="2" charset="-122"/>
              </a:rPr>
              <a:t/>
            </a:r>
            <a:br>
              <a:rPr lang="es-CO" altLang="zh-CN" smtClean="0">
                <a:ea typeface="宋体" panose="02010600030101010101" pitchFamily="2" charset="-122"/>
              </a:rPr>
            </a:br>
            <a:endParaRPr lang="es-CO" altLang="es-AR" smtClean="0"/>
          </a:p>
        </p:txBody>
      </p:sp>
    </p:spTree>
    <p:extLst>
      <p:ext uri="{BB962C8B-B14F-4D97-AF65-F5344CB8AC3E}">
        <p14:creationId xmlns:p14="http://schemas.microsoft.com/office/powerpoint/2010/main" val="2128066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pPr algn="ctr" eaLnBrk="1" hangingPunct="1"/>
            <a:r>
              <a:rPr lang="es-ES_tradnl" altLang="es-AR" smtClean="0"/>
              <a:t>DECODIFICADOR DE INSTRUCCIONES</a:t>
            </a:r>
            <a:endParaRPr lang="es-CO" altLang="es-AR" smtClean="0"/>
          </a:p>
        </p:txBody>
      </p:sp>
      <p:sp>
        <p:nvSpPr>
          <p:cNvPr id="21507" name="Rectangle 3"/>
          <p:cNvSpPr>
            <a:spLocks noGrp="1" noChangeArrowheads="1"/>
          </p:cNvSpPr>
          <p:nvPr>
            <p:ph type="body" idx="1"/>
          </p:nvPr>
        </p:nvSpPr>
        <p:spPr/>
        <p:txBody>
          <a:bodyPr/>
          <a:lstStyle/>
          <a:p>
            <a:pPr algn="just" eaLnBrk="1" hangingPunct="1"/>
            <a:r>
              <a:rPr lang="es-CO" altLang="es-AR" smtClean="0"/>
              <a:t>Unidad que interpreta el contenido del registro de instrucciones y permite generar las señales adecuadas para ejecutar la  instrucción. </a:t>
            </a:r>
          </a:p>
        </p:txBody>
      </p:sp>
    </p:spTree>
    <p:extLst>
      <p:ext uri="{BB962C8B-B14F-4D97-AF65-F5344CB8AC3E}">
        <p14:creationId xmlns:p14="http://schemas.microsoft.com/office/powerpoint/2010/main" val="7598079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algn="ctr" eaLnBrk="1" hangingPunct="1"/>
            <a:r>
              <a:rPr lang="es-ES_tradnl" altLang="es-AR" smtClean="0"/>
              <a:t>REGISTRO CONTADOR DE PROGRAMA</a:t>
            </a:r>
            <a:endParaRPr lang="es-CO" altLang="es-AR" smtClean="0"/>
          </a:p>
        </p:txBody>
      </p:sp>
      <p:sp>
        <p:nvSpPr>
          <p:cNvPr id="22531" name="Rectangle 3"/>
          <p:cNvSpPr>
            <a:spLocks noGrp="1" noChangeArrowheads="1"/>
          </p:cNvSpPr>
          <p:nvPr>
            <p:ph type="body" idx="1"/>
          </p:nvPr>
        </p:nvSpPr>
        <p:spPr/>
        <p:txBody>
          <a:bodyPr/>
          <a:lstStyle/>
          <a:p>
            <a:pPr lvl="1" eaLnBrk="1" hangingPunct="1">
              <a:buSzPct val="100000"/>
              <a:buFont typeface="Courier New" panose="02070309020205020404" pitchFamily="49" charset="0"/>
              <a:buChar char="o"/>
            </a:pPr>
            <a:r>
              <a:rPr lang="es-CO" altLang="es-AR" smtClean="0"/>
              <a:t>Guarda la dirección de la siguiente instrucción a ser ejecutada. </a:t>
            </a:r>
          </a:p>
          <a:p>
            <a:pPr eaLnBrk="1" hangingPunct="1"/>
            <a:endParaRPr lang="es-CO" altLang="es-AR" smtClean="0"/>
          </a:p>
        </p:txBody>
      </p:sp>
    </p:spTree>
    <p:extLst>
      <p:ext uri="{BB962C8B-B14F-4D97-AF65-F5344CB8AC3E}">
        <p14:creationId xmlns:p14="http://schemas.microsoft.com/office/powerpoint/2010/main" val="25993950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es-ES_tradnl" altLang="es-AR" smtClean="0"/>
              <a:t>REGISTRO DE INSTRUCCIONES</a:t>
            </a:r>
            <a:endParaRPr lang="es-CO" altLang="es-AR" smtClean="0"/>
          </a:p>
        </p:txBody>
      </p:sp>
      <p:sp>
        <p:nvSpPr>
          <p:cNvPr id="23555" name="Rectangle 3"/>
          <p:cNvSpPr>
            <a:spLocks noGrp="1" noChangeArrowheads="1"/>
          </p:cNvSpPr>
          <p:nvPr>
            <p:ph type="body" idx="1"/>
          </p:nvPr>
        </p:nvSpPr>
        <p:spPr/>
        <p:txBody>
          <a:bodyPr/>
          <a:lstStyle/>
          <a:p>
            <a:pPr lvl="1" eaLnBrk="1" hangingPunct="1">
              <a:buSzPct val="100000"/>
              <a:buFont typeface="Courier New" panose="02070309020205020404" pitchFamily="49" charset="0"/>
              <a:buChar char="o"/>
            </a:pPr>
            <a:r>
              <a:rPr lang="es-CO" altLang="es-AR" smtClean="0"/>
              <a:t>Guarda la instrucción en curso de ejecución. </a:t>
            </a:r>
          </a:p>
          <a:p>
            <a:pPr eaLnBrk="1" hangingPunct="1"/>
            <a:endParaRPr lang="es-CO" altLang="es-AR" smtClean="0"/>
          </a:p>
        </p:txBody>
      </p:sp>
    </p:spTree>
    <p:extLst>
      <p:ext uri="{BB962C8B-B14F-4D97-AF65-F5344CB8AC3E}">
        <p14:creationId xmlns:p14="http://schemas.microsoft.com/office/powerpoint/2010/main" val="4176085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lgn="ctr" eaLnBrk="1" hangingPunct="1"/>
            <a:r>
              <a:rPr lang="es-ES_tradnl" altLang="es-AR" smtClean="0"/>
              <a:t>UNIDAD DE TRATAMIENTO</a:t>
            </a:r>
            <a:endParaRPr lang="es-CO" altLang="es-AR" smtClean="0"/>
          </a:p>
        </p:txBody>
      </p:sp>
      <p:sp>
        <p:nvSpPr>
          <p:cNvPr id="24579" name="Rectangle 3"/>
          <p:cNvSpPr>
            <a:spLocks noGrp="1" noChangeArrowheads="1"/>
          </p:cNvSpPr>
          <p:nvPr>
            <p:ph type="body" idx="1"/>
          </p:nvPr>
        </p:nvSpPr>
        <p:spPr/>
        <p:txBody>
          <a:bodyPr/>
          <a:lstStyle/>
          <a:p>
            <a:pPr algn="just" eaLnBrk="1" hangingPunct="1"/>
            <a:r>
              <a:rPr lang="es-CO" altLang="zh-CN" smtClean="0">
                <a:ea typeface="宋体" panose="02010600030101010101" pitchFamily="2" charset="-122"/>
              </a:rPr>
              <a:t>Es un conjunto de recursos en los cuales son tratados los datos. </a:t>
            </a:r>
          </a:p>
          <a:p>
            <a:pPr algn="just" eaLnBrk="1" hangingPunct="1"/>
            <a:r>
              <a:rPr lang="es-CO" altLang="zh-CN" smtClean="0">
                <a:ea typeface="宋体" panose="02010600030101010101" pitchFamily="2" charset="-122"/>
              </a:rPr>
              <a:t>En estos recursos  se realizan operaciones sobre los datos  y se obtiene un resultado o bien se almacenan resultados intermedios. </a:t>
            </a:r>
            <a:endParaRPr lang="es-CO" altLang="es-AR" smtClean="0"/>
          </a:p>
        </p:txBody>
      </p:sp>
    </p:spTree>
    <p:extLst>
      <p:ext uri="{BB962C8B-B14F-4D97-AF65-F5344CB8AC3E}">
        <p14:creationId xmlns:p14="http://schemas.microsoft.com/office/powerpoint/2010/main" val="13127108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ctr" eaLnBrk="1" hangingPunct="1"/>
            <a:r>
              <a:rPr lang="es-CO" altLang="es-AR" b="1" smtClean="0"/>
              <a:t>Unidad Aritmético Lógica:</a:t>
            </a:r>
          </a:p>
        </p:txBody>
      </p:sp>
      <p:sp>
        <p:nvSpPr>
          <p:cNvPr id="25603" name="Rectangle 3"/>
          <p:cNvSpPr>
            <a:spLocks noGrp="1" noChangeArrowheads="1"/>
          </p:cNvSpPr>
          <p:nvPr>
            <p:ph type="body" idx="1"/>
          </p:nvPr>
        </p:nvSpPr>
        <p:spPr/>
        <p:txBody>
          <a:bodyPr/>
          <a:lstStyle/>
          <a:p>
            <a:pPr algn="just" eaLnBrk="1" hangingPunct="1"/>
            <a:r>
              <a:rPr lang="es-CO" altLang="es-AR" sz="2800" smtClean="0"/>
              <a:t>Es la unidad encargada de realizar las operaciones matemáticas, operaciones lógicas y comparaciones. </a:t>
            </a:r>
          </a:p>
          <a:p>
            <a:pPr algn="just" eaLnBrk="1" hangingPunct="1"/>
            <a:r>
              <a:rPr lang="es-CO" altLang="zh-CN" sz="2800" smtClean="0">
                <a:ea typeface="宋体" panose="02010600030101010101" pitchFamily="2" charset="-122"/>
              </a:rPr>
              <a:t>Internamente esta formada por circuitos lógicos elementales para realizar estas operaciones: sumadores, incrementos, operadores lógicos, desplazamientos, rotaciones, comparaciones.... </a:t>
            </a:r>
            <a:endParaRPr lang="es-CO" altLang="es-AR" sz="2800" smtClean="0"/>
          </a:p>
        </p:txBody>
      </p:sp>
    </p:spTree>
    <p:extLst>
      <p:ext uri="{BB962C8B-B14F-4D97-AF65-F5344CB8AC3E}">
        <p14:creationId xmlns:p14="http://schemas.microsoft.com/office/powerpoint/2010/main" val="26890354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pPr algn="ctr" eaLnBrk="1" hangingPunct="1"/>
            <a:r>
              <a:rPr lang="es-CO" altLang="es-AR" b="1" smtClean="0"/>
              <a:t>Registros en la unidad de tratamiento:</a:t>
            </a:r>
          </a:p>
        </p:txBody>
      </p:sp>
      <p:sp>
        <p:nvSpPr>
          <p:cNvPr id="26627" name="Rectangle 3"/>
          <p:cNvSpPr>
            <a:spLocks noGrp="1" noChangeArrowheads="1"/>
          </p:cNvSpPr>
          <p:nvPr>
            <p:ph type="body" idx="1"/>
          </p:nvPr>
        </p:nvSpPr>
        <p:spPr>
          <a:xfrm>
            <a:off x="755650" y="2205038"/>
            <a:ext cx="7772400" cy="4114800"/>
          </a:xfrm>
        </p:spPr>
        <p:txBody>
          <a:bodyPr/>
          <a:lstStyle/>
          <a:p>
            <a:pPr lvl="1" algn="just" eaLnBrk="1" hangingPunct="1"/>
            <a:r>
              <a:rPr lang="es-CO" altLang="es-AR" b="1" smtClean="0"/>
              <a:t>Acumulador: </a:t>
            </a:r>
            <a:r>
              <a:rPr lang="es-CO" altLang="es-AR" smtClean="0"/>
              <a:t>Almacena los resultados parciales y el resultado final de la operación realizada por la ALU. </a:t>
            </a:r>
          </a:p>
          <a:p>
            <a:pPr lvl="1" algn="just" eaLnBrk="1" hangingPunct="1"/>
            <a:r>
              <a:rPr lang="es-CO" altLang="es-AR" b="1" smtClean="0"/>
              <a:t>Registros de propósito general: </a:t>
            </a:r>
            <a:r>
              <a:rPr lang="es-CO" altLang="es-AR" smtClean="0"/>
              <a:t>Permiten guardar información temporalmente durante la ejecución del programa. </a:t>
            </a:r>
          </a:p>
          <a:p>
            <a:pPr eaLnBrk="1" hangingPunct="1"/>
            <a:endParaRPr lang="es-CO" altLang="es-AR" smtClean="0"/>
          </a:p>
        </p:txBody>
      </p:sp>
    </p:spTree>
    <p:extLst>
      <p:ext uri="{BB962C8B-B14F-4D97-AF65-F5344CB8AC3E}">
        <p14:creationId xmlns:p14="http://schemas.microsoft.com/office/powerpoint/2010/main" val="1796350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
          <p:cNvGraphicFramePr>
            <a:graphicFrameLocks noChangeAspect="1"/>
          </p:cNvGraphicFramePr>
          <p:nvPr/>
        </p:nvGraphicFramePr>
        <p:xfrm>
          <a:off x="900113" y="1603375"/>
          <a:ext cx="7872412" cy="5065713"/>
        </p:xfrm>
        <a:graphic>
          <a:graphicData uri="http://schemas.openxmlformats.org/presentationml/2006/ole">
            <mc:AlternateContent xmlns:mc="http://schemas.openxmlformats.org/markup-compatibility/2006">
              <mc:Choice xmlns:v="urn:schemas-microsoft-com:vml" Requires="v">
                <p:oleObj spid="_x0000_s1100" name="Imagen de mapa de bits" r:id="rId3" imgW="6335009" imgH="4076190" progId="Paint.Picture">
                  <p:embed/>
                </p:oleObj>
              </mc:Choice>
              <mc:Fallback>
                <p:oleObj name="Imagen de mapa de bits" r:id="rId3" imgW="6335009" imgH="4076190" progId="Paint.Picture">
                  <p:embed/>
                  <p:pic>
                    <p:nvPicPr>
                      <p:cNvPr id="0" name=""/>
                      <p:cNvPicPr>
                        <a:picLocks noChangeAspect="1" noChangeArrowheads="1"/>
                      </p:cNvPicPr>
                      <p:nvPr/>
                    </p:nvPicPr>
                    <p:blipFill>
                      <a:blip r:embed="rId4">
                        <a:lum contrast="18000"/>
                        <a:extLst>
                          <a:ext uri="{28A0092B-C50C-407E-A947-70E740481C1C}">
                            <a14:useLocalDpi xmlns:a14="http://schemas.microsoft.com/office/drawing/2010/main" val="0"/>
                          </a:ext>
                        </a:extLst>
                      </a:blip>
                      <a:srcRect/>
                      <a:stretch>
                        <a:fillRect/>
                      </a:stretch>
                    </p:blipFill>
                    <p:spPr bwMode="auto">
                      <a:xfrm>
                        <a:off x="900113" y="1603375"/>
                        <a:ext cx="7872412" cy="506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1" name="Text Box 1027"/>
          <p:cNvSpPr>
            <a:spLocks noGrp="1" noChangeArrowheads="1"/>
          </p:cNvSpPr>
          <p:nvPr>
            <p:ph type="title"/>
          </p:nvPr>
        </p:nvSpPr>
        <p:spPr>
          <a:xfrm>
            <a:off x="1150938" y="519113"/>
            <a:ext cx="7793037" cy="461962"/>
          </a:xfrm>
          <a:noFill/>
        </p:spPr>
        <p:txBody>
          <a:bodyPr>
            <a:spAutoFit/>
          </a:bodyPr>
          <a:lstStyle/>
          <a:p>
            <a:pPr algn="ctr" eaLnBrk="1" hangingPunct="1">
              <a:spcBef>
                <a:spcPct val="50000"/>
              </a:spcBef>
            </a:pPr>
            <a:r>
              <a:rPr lang="es-MX" altLang="es-AR" sz="2400" smtClean="0"/>
              <a:t>Conexión del procesador con otros dispositivos</a:t>
            </a:r>
            <a:endParaRPr lang="es-ES" altLang="es-AR" sz="2400" smtClean="0"/>
          </a:p>
        </p:txBody>
      </p:sp>
    </p:spTree>
    <p:extLst>
      <p:ext uri="{BB962C8B-B14F-4D97-AF65-F5344CB8AC3E}">
        <p14:creationId xmlns:p14="http://schemas.microsoft.com/office/powerpoint/2010/main" val="19991966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5 Marcador de número de diapositiva"/>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00ED169-930C-4536-AB1E-C5FFDB6FFD98}" type="slidenum">
              <a:rPr lang="es-ES" altLang="es-AR"/>
              <a:pPr eaLnBrk="1" hangingPunct="1"/>
              <a:t>26</a:t>
            </a:fld>
            <a:endParaRPr lang="es-ES" altLang="es-AR"/>
          </a:p>
        </p:txBody>
      </p:sp>
      <p:sp>
        <p:nvSpPr>
          <p:cNvPr id="28675" name="Rectangle 2"/>
          <p:cNvSpPr>
            <a:spLocks noGrp="1" noChangeArrowheads="1"/>
          </p:cNvSpPr>
          <p:nvPr>
            <p:ph type="title"/>
          </p:nvPr>
        </p:nvSpPr>
        <p:spPr/>
        <p:txBody>
          <a:bodyPr/>
          <a:lstStyle/>
          <a:p>
            <a:pPr eaLnBrk="1" hangingPunct="1"/>
            <a:r>
              <a:rPr lang="es-ES" altLang="es-AR" sz="2800" smtClean="0"/>
              <a:t>UNIDAD CENTRAL DE PROCESO</a:t>
            </a:r>
          </a:p>
        </p:txBody>
      </p:sp>
      <p:sp>
        <p:nvSpPr>
          <p:cNvPr id="28676" name="Rectangle 3"/>
          <p:cNvSpPr>
            <a:spLocks noGrp="1" noChangeArrowheads="1"/>
          </p:cNvSpPr>
          <p:nvPr>
            <p:ph type="body" idx="1"/>
          </p:nvPr>
        </p:nvSpPr>
        <p:spPr/>
        <p:txBody>
          <a:bodyPr/>
          <a:lstStyle/>
          <a:p>
            <a:pPr eaLnBrk="1" hangingPunct="1"/>
            <a:r>
              <a:rPr lang="es-ES" altLang="es-AR" sz="2000" b="1" u="sng" smtClean="0"/>
              <a:t>La memoria</a:t>
            </a:r>
            <a:r>
              <a:rPr lang="es-ES" altLang="es-AR" sz="2000" smtClean="0"/>
              <a:t>:</a:t>
            </a:r>
          </a:p>
          <a:p>
            <a:pPr lvl="2" eaLnBrk="1" hangingPunct="1"/>
            <a:r>
              <a:rPr lang="es-ES" altLang="es-AR" sz="2000" smtClean="0"/>
              <a:t>Es el elemento encargado de almacenar los datos que van a ser procesados.</a:t>
            </a:r>
          </a:p>
          <a:p>
            <a:pPr lvl="2" eaLnBrk="1" hangingPunct="1"/>
            <a:r>
              <a:rPr lang="es-ES" altLang="es-AR" sz="2000" smtClean="0"/>
              <a:t>El acceso a una determinada posición de memoria se denomina </a:t>
            </a:r>
            <a:r>
              <a:rPr lang="es-ES" altLang="es-AR" sz="2000" b="1" smtClean="0"/>
              <a:t>dirección de memoria</a:t>
            </a:r>
            <a:r>
              <a:rPr lang="es-ES" altLang="es-AR" sz="2000" smtClean="0"/>
              <a:t>.</a:t>
            </a:r>
          </a:p>
          <a:p>
            <a:pPr lvl="2" eaLnBrk="1" hangingPunct="1"/>
            <a:r>
              <a:rPr lang="es-ES" altLang="es-AR" sz="2000" smtClean="0"/>
              <a:t>El tiempo que tarda la Unidad de Control en acceder a cada posición se denomina </a:t>
            </a:r>
            <a:r>
              <a:rPr lang="es-ES" altLang="es-AR" sz="2000" b="1" smtClean="0"/>
              <a:t>tiempo de acceso a memoria.</a:t>
            </a:r>
            <a:r>
              <a:rPr lang="es-ES" altLang="es-AR" sz="2000" smtClean="0"/>
              <a:t> La cantidad de memoria disponible se mide en </a:t>
            </a:r>
            <a:r>
              <a:rPr lang="es-ES" altLang="es-AR" sz="2000" b="1" smtClean="0"/>
              <a:t>Bytes.</a:t>
            </a:r>
          </a:p>
        </p:txBody>
      </p:sp>
      <p:pic>
        <p:nvPicPr>
          <p:cNvPr id="28677" name="Picture 4"/>
          <p:cNvPicPr>
            <a:picLocks noChangeAspect="1" noChangeArrowheads="1"/>
          </p:cNvPicPr>
          <p:nvPr/>
        </p:nvPicPr>
        <p:blipFill>
          <a:blip r:embed="rId2">
            <a:extLst>
              <a:ext uri="{28A0092B-C50C-407E-A947-70E740481C1C}">
                <a14:useLocalDpi xmlns:a14="http://schemas.microsoft.com/office/drawing/2010/main" val="0"/>
              </a:ext>
            </a:extLst>
          </a:blip>
          <a:srcRect t="31140" b="37425"/>
          <a:stretch>
            <a:fillRect/>
          </a:stretch>
        </p:blipFill>
        <p:spPr bwMode="auto">
          <a:xfrm>
            <a:off x="3581400" y="5257800"/>
            <a:ext cx="52578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41642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5 Marcador de número de diapositiva"/>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FE8AF40-81DA-4102-B502-113966F3F43D}" type="slidenum">
              <a:rPr lang="es-ES" altLang="es-AR"/>
              <a:pPr eaLnBrk="1" hangingPunct="1"/>
              <a:t>27</a:t>
            </a:fld>
            <a:endParaRPr lang="es-ES" altLang="es-AR"/>
          </a:p>
        </p:txBody>
      </p:sp>
      <p:sp>
        <p:nvSpPr>
          <p:cNvPr id="29699" name="Rectangle 2"/>
          <p:cNvSpPr>
            <a:spLocks noGrp="1" noChangeArrowheads="1"/>
          </p:cNvSpPr>
          <p:nvPr>
            <p:ph type="title"/>
          </p:nvPr>
        </p:nvSpPr>
        <p:spPr>
          <a:xfrm>
            <a:off x="1752600" y="228600"/>
            <a:ext cx="7772400" cy="1143000"/>
          </a:xfrm>
        </p:spPr>
        <p:txBody>
          <a:bodyPr/>
          <a:lstStyle/>
          <a:p>
            <a:pPr eaLnBrk="1" hangingPunct="1"/>
            <a:r>
              <a:rPr lang="es-ES" altLang="es-AR" sz="2800" smtClean="0"/>
              <a:t>UNIDAD CENTRAL DE PROCESO</a:t>
            </a:r>
          </a:p>
        </p:txBody>
      </p:sp>
      <p:sp>
        <p:nvSpPr>
          <p:cNvPr id="29700" name="Rectangle 3"/>
          <p:cNvSpPr>
            <a:spLocks noGrp="1" noChangeArrowheads="1"/>
          </p:cNvSpPr>
          <p:nvPr>
            <p:ph type="body" idx="1"/>
          </p:nvPr>
        </p:nvSpPr>
        <p:spPr>
          <a:xfrm>
            <a:off x="838200" y="1844675"/>
            <a:ext cx="7772400" cy="4495800"/>
          </a:xfrm>
        </p:spPr>
        <p:txBody>
          <a:bodyPr>
            <a:normAutofit lnSpcReduction="10000"/>
          </a:bodyPr>
          <a:lstStyle/>
          <a:p>
            <a:pPr eaLnBrk="1" hangingPunct="1"/>
            <a:r>
              <a:rPr lang="es-ES" altLang="es-AR" sz="2000" b="1" u="sng" smtClean="0"/>
              <a:t>Tipos de memoria</a:t>
            </a:r>
            <a:r>
              <a:rPr lang="es-ES" altLang="es-AR" sz="2000" smtClean="0"/>
              <a:t>:</a:t>
            </a:r>
          </a:p>
          <a:p>
            <a:pPr lvl="2" eaLnBrk="1" hangingPunct="1"/>
            <a:r>
              <a:rPr lang="es-ES" altLang="es-AR" sz="2000" b="1" u="sng" smtClean="0"/>
              <a:t>Memoria volátil (RAM):	</a:t>
            </a:r>
            <a:r>
              <a:rPr lang="es-ES" altLang="es-AR" sz="2000" smtClean="0"/>
              <a:t>	</a:t>
            </a:r>
          </a:p>
          <a:p>
            <a:pPr lvl="3" eaLnBrk="1" hangingPunct="1"/>
            <a:r>
              <a:rPr lang="es-ES" altLang="es-AR" smtClean="0"/>
              <a:t>Es la memoria disponible en la placa base. (Memoria central o principal o interna).</a:t>
            </a:r>
          </a:p>
          <a:p>
            <a:pPr lvl="3" eaLnBrk="1" hangingPunct="1"/>
            <a:r>
              <a:rPr lang="es-ES" altLang="es-AR" smtClean="0"/>
              <a:t>El almacenamiento es temporal. Primero se carga el sistema operativo y, a continuación, el resto de los programas.</a:t>
            </a:r>
          </a:p>
          <a:p>
            <a:pPr lvl="3" eaLnBrk="1" hangingPunct="1"/>
            <a:r>
              <a:rPr lang="es-ES" altLang="es-AR" smtClean="0"/>
              <a:t>Es muy rápida a la hora de acceder a la información y transferirla.</a:t>
            </a:r>
          </a:p>
          <a:p>
            <a:pPr lvl="3" eaLnBrk="1" hangingPunct="1"/>
            <a:r>
              <a:rPr lang="es-ES" altLang="es-AR" smtClean="0"/>
              <a:t>Los datos almacenados desaparecen al dejar de ser alimentados por una corriente eléctrica.</a:t>
            </a:r>
          </a:p>
          <a:p>
            <a:pPr lvl="3" eaLnBrk="1" hangingPunct="1"/>
            <a:r>
              <a:rPr lang="es-ES" altLang="es-AR" smtClean="0"/>
              <a:t>Actualmente, las computadoras  están equipadas con RAM de varios Gb (Gigabytes) de capacidad. Esta memoria es ampliable.</a:t>
            </a:r>
          </a:p>
          <a:p>
            <a:pPr lvl="3" eaLnBrk="1" hangingPunct="1"/>
            <a:endParaRPr lang="es-ES" altLang="es-AR" smtClean="0"/>
          </a:p>
        </p:txBody>
      </p:sp>
    </p:spTree>
    <p:extLst>
      <p:ext uri="{BB962C8B-B14F-4D97-AF65-F5344CB8AC3E}">
        <p14:creationId xmlns:p14="http://schemas.microsoft.com/office/powerpoint/2010/main" val="36742491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5 Marcador de número de diapositiva"/>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034FB98-51A3-482B-B925-05D8D5A6FB6D}" type="slidenum">
              <a:rPr lang="es-ES" altLang="es-AR"/>
              <a:pPr eaLnBrk="1" hangingPunct="1"/>
              <a:t>28</a:t>
            </a:fld>
            <a:endParaRPr lang="es-ES" altLang="es-AR"/>
          </a:p>
        </p:txBody>
      </p:sp>
      <p:sp>
        <p:nvSpPr>
          <p:cNvPr id="30723" name="Rectangle 2"/>
          <p:cNvSpPr>
            <a:spLocks noGrp="1" noChangeArrowheads="1"/>
          </p:cNvSpPr>
          <p:nvPr>
            <p:ph type="title"/>
          </p:nvPr>
        </p:nvSpPr>
        <p:spPr/>
        <p:txBody>
          <a:bodyPr/>
          <a:lstStyle/>
          <a:p>
            <a:pPr eaLnBrk="1" hangingPunct="1"/>
            <a:r>
              <a:rPr lang="es-ES" altLang="es-AR" sz="2800" smtClean="0"/>
              <a:t>UNIDAD CENTRAL DE PROCESO</a:t>
            </a:r>
          </a:p>
        </p:txBody>
      </p:sp>
      <p:sp>
        <p:nvSpPr>
          <p:cNvPr id="30724" name="Rectangle 3"/>
          <p:cNvSpPr>
            <a:spLocks noGrp="1" noChangeArrowheads="1"/>
          </p:cNvSpPr>
          <p:nvPr>
            <p:ph type="body" idx="1"/>
          </p:nvPr>
        </p:nvSpPr>
        <p:spPr>
          <a:xfrm>
            <a:off x="838200" y="2667000"/>
            <a:ext cx="8001000" cy="3733800"/>
          </a:xfrm>
        </p:spPr>
        <p:txBody>
          <a:bodyPr/>
          <a:lstStyle/>
          <a:p>
            <a:pPr eaLnBrk="1" hangingPunct="1"/>
            <a:r>
              <a:rPr lang="es-ES" altLang="es-AR" sz="2000" b="1" u="sng" smtClean="0"/>
              <a:t>Tipos de memoria</a:t>
            </a:r>
            <a:r>
              <a:rPr lang="es-ES" altLang="es-AR" sz="2000" smtClean="0"/>
              <a:t>:</a:t>
            </a:r>
          </a:p>
          <a:p>
            <a:pPr eaLnBrk="1" hangingPunct="1">
              <a:buFont typeface="Wingdings" panose="05000000000000000000" pitchFamily="2" charset="2"/>
              <a:buNone/>
            </a:pPr>
            <a:endParaRPr lang="es-ES" altLang="es-AR" sz="2000" smtClean="0"/>
          </a:p>
          <a:p>
            <a:pPr lvl="1" eaLnBrk="1" hangingPunct="1"/>
            <a:r>
              <a:rPr lang="es-ES" altLang="es-AR" sz="2000" b="1" u="sng" smtClean="0"/>
              <a:t>Memoria no volátil o estable (ROM):</a:t>
            </a:r>
          </a:p>
          <a:p>
            <a:pPr lvl="2" eaLnBrk="1" hangingPunct="1"/>
            <a:r>
              <a:rPr lang="es-ES" altLang="es-AR" sz="2000" smtClean="0"/>
              <a:t>Permite almacenar información, datos y programas de forma indefinida. Los datos almacenados no desaparecen al dejar de ser alimentados por una corriente eléctrica. (Disco duro, disquetes).</a:t>
            </a:r>
          </a:p>
        </p:txBody>
      </p:sp>
      <p:pic>
        <p:nvPicPr>
          <p:cNvPr id="3072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514600"/>
            <a:ext cx="24098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41080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Marcador de número de diapositiva"/>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CA277FD-2A57-4FD7-B490-801D00DC800F}" type="slidenum">
              <a:rPr lang="es-ES" altLang="es-AR"/>
              <a:pPr eaLnBrk="1" hangingPunct="1"/>
              <a:t>29</a:t>
            </a:fld>
            <a:endParaRPr lang="es-ES" altLang="es-AR"/>
          </a:p>
        </p:txBody>
      </p:sp>
      <p:sp>
        <p:nvSpPr>
          <p:cNvPr id="31747" name="Rectangle 2"/>
          <p:cNvSpPr>
            <a:spLocks noGrp="1" noChangeArrowheads="1"/>
          </p:cNvSpPr>
          <p:nvPr>
            <p:ph type="title"/>
          </p:nvPr>
        </p:nvSpPr>
        <p:spPr/>
        <p:txBody>
          <a:bodyPr/>
          <a:lstStyle/>
          <a:p>
            <a:pPr eaLnBrk="1" hangingPunct="1"/>
            <a:r>
              <a:rPr lang="es-ES" altLang="es-AR" sz="2400" smtClean="0"/>
              <a:t>UNIDADES DE MEDIDA: BITS, BYTES,...</a:t>
            </a:r>
          </a:p>
        </p:txBody>
      </p:sp>
      <p:sp>
        <p:nvSpPr>
          <p:cNvPr id="31748" name="Rectangle 3"/>
          <p:cNvSpPr>
            <a:spLocks noGrp="1" noChangeArrowheads="1"/>
          </p:cNvSpPr>
          <p:nvPr>
            <p:ph type="body" idx="1"/>
          </p:nvPr>
        </p:nvSpPr>
        <p:spPr>
          <a:xfrm>
            <a:off x="914400" y="2667000"/>
            <a:ext cx="8001000" cy="3733800"/>
          </a:xfrm>
        </p:spPr>
        <p:txBody>
          <a:bodyPr/>
          <a:lstStyle/>
          <a:p>
            <a:pPr eaLnBrk="1" hangingPunct="1"/>
            <a:r>
              <a:rPr lang="es-ES" altLang="es-AR" sz="2400" smtClean="0"/>
              <a:t>El ordenador al funcionar con corriente eléctrica almacena los datos y la información en base a un sistema denominado </a:t>
            </a:r>
            <a:r>
              <a:rPr lang="es-ES" altLang="es-AR" sz="2400" b="1" u="sng" smtClean="0"/>
              <a:t>Sistema numérico Binario.</a:t>
            </a:r>
          </a:p>
          <a:p>
            <a:pPr eaLnBrk="1" hangingPunct="1"/>
            <a:r>
              <a:rPr lang="es-ES" altLang="es-AR" sz="2400" smtClean="0"/>
              <a:t>En este sistema los únicos números que hay son:</a:t>
            </a:r>
          </a:p>
          <a:p>
            <a:pPr lvl="1" eaLnBrk="1" hangingPunct="1"/>
            <a:r>
              <a:rPr lang="es-ES" altLang="es-AR" sz="2000" smtClean="0"/>
              <a:t>1 (hay corriente eléctrica).</a:t>
            </a:r>
          </a:p>
          <a:p>
            <a:pPr lvl="1" eaLnBrk="1" hangingPunct="1"/>
            <a:r>
              <a:rPr lang="es-ES" altLang="es-AR" sz="2000" smtClean="0"/>
              <a:t>0 (no hay corriente eléctrica).</a:t>
            </a:r>
          </a:p>
          <a:p>
            <a:pPr eaLnBrk="1" hangingPunct="1"/>
            <a:r>
              <a:rPr lang="es-ES" altLang="es-AR" sz="2400" smtClean="0"/>
              <a:t>Los datos y la información se almacenan en forma de unos y ceros.</a:t>
            </a:r>
          </a:p>
        </p:txBody>
      </p:sp>
      <p:pic>
        <p:nvPicPr>
          <p:cNvPr id="3174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352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5 Marcador de número de diapositiva"/>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E80A42D-766B-4F59-8F3E-44B327F8A124}" type="slidenum">
              <a:rPr lang="es-ES" altLang="es-AR"/>
              <a:pPr eaLnBrk="1" hangingPunct="1"/>
              <a:t>30</a:t>
            </a:fld>
            <a:endParaRPr lang="es-ES" altLang="es-AR"/>
          </a:p>
        </p:txBody>
      </p:sp>
      <p:sp>
        <p:nvSpPr>
          <p:cNvPr id="32771" name="Rectangle 2"/>
          <p:cNvSpPr>
            <a:spLocks noGrp="1" noChangeArrowheads="1"/>
          </p:cNvSpPr>
          <p:nvPr>
            <p:ph type="title"/>
          </p:nvPr>
        </p:nvSpPr>
        <p:spPr/>
        <p:txBody>
          <a:bodyPr/>
          <a:lstStyle/>
          <a:p>
            <a:pPr eaLnBrk="1" hangingPunct="1"/>
            <a:r>
              <a:rPr lang="es-ES" altLang="es-AR" sz="2800" smtClean="0"/>
              <a:t>LOS SLOTS DE EXPANSION</a:t>
            </a:r>
          </a:p>
        </p:txBody>
      </p:sp>
      <p:sp>
        <p:nvSpPr>
          <p:cNvPr id="32772" name="Rectangle 3"/>
          <p:cNvSpPr>
            <a:spLocks noGrp="1" noChangeArrowheads="1"/>
          </p:cNvSpPr>
          <p:nvPr>
            <p:ph type="body" idx="1"/>
          </p:nvPr>
        </p:nvSpPr>
        <p:spPr/>
        <p:txBody>
          <a:bodyPr/>
          <a:lstStyle/>
          <a:p>
            <a:pPr eaLnBrk="1" hangingPunct="1">
              <a:lnSpc>
                <a:spcPct val="90000"/>
              </a:lnSpc>
            </a:pPr>
            <a:r>
              <a:rPr lang="es-ES" altLang="es-AR" sz="2400" smtClean="0"/>
              <a:t>Son ranuras que se encuentran soldadas a la placa base.</a:t>
            </a:r>
          </a:p>
          <a:p>
            <a:pPr eaLnBrk="1" hangingPunct="1">
              <a:lnSpc>
                <a:spcPct val="90000"/>
              </a:lnSpc>
            </a:pPr>
            <a:r>
              <a:rPr lang="es-ES" altLang="es-AR" sz="2400" smtClean="0"/>
              <a:t>En ellas se pueden conectar o “pinchar” </a:t>
            </a:r>
            <a:r>
              <a:rPr lang="es-ES" altLang="es-AR" sz="2400" b="1" u="sng" smtClean="0"/>
              <a:t>tarjetas</a:t>
            </a:r>
            <a:r>
              <a:rPr lang="es-ES" altLang="es-AR" sz="2400" smtClean="0"/>
              <a:t> para aumentar las prestaciones del equipo (tarjetas de video, Comunicaciones, sonido, digitalizadoras...).</a:t>
            </a:r>
          </a:p>
          <a:p>
            <a:pPr eaLnBrk="1" hangingPunct="1">
              <a:lnSpc>
                <a:spcPct val="90000"/>
              </a:lnSpc>
            </a:pPr>
            <a:r>
              <a:rPr lang="es-ES" altLang="es-AR" sz="2400" smtClean="0"/>
              <a:t>Tipos:</a:t>
            </a:r>
          </a:p>
          <a:p>
            <a:pPr lvl="1" eaLnBrk="1" hangingPunct="1">
              <a:lnSpc>
                <a:spcPct val="90000"/>
              </a:lnSpc>
            </a:pPr>
            <a:r>
              <a:rPr lang="es-ES" altLang="es-AR" sz="2000" smtClean="0"/>
              <a:t>ISA</a:t>
            </a:r>
          </a:p>
          <a:p>
            <a:pPr lvl="1" eaLnBrk="1" hangingPunct="1">
              <a:lnSpc>
                <a:spcPct val="90000"/>
              </a:lnSpc>
            </a:pPr>
            <a:r>
              <a:rPr lang="es-ES" altLang="es-AR" sz="2000" smtClean="0"/>
              <a:t>EISA</a:t>
            </a:r>
          </a:p>
          <a:p>
            <a:pPr lvl="1" eaLnBrk="1" hangingPunct="1">
              <a:lnSpc>
                <a:spcPct val="90000"/>
              </a:lnSpc>
            </a:pPr>
            <a:r>
              <a:rPr lang="es-ES" altLang="es-AR" sz="2000" smtClean="0"/>
              <a:t>VESA</a:t>
            </a:r>
          </a:p>
          <a:p>
            <a:pPr lvl="1" eaLnBrk="1" hangingPunct="1">
              <a:lnSpc>
                <a:spcPct val="90000"/>
              </a:lnSpc>
            </a:pPr>
            <a:r>
              <a:rPr lang="es-ES" altLang="es-AR" sz="2000" smtClean="0"/>
              <a:t>PCI</a:t>
            </a:r>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419600"/>
            <a:ext cx="6019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3100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foto_de_CPU_02"/>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p:spPr>
      </p:pic>
    </p:spTree>
    <p:extLst>
      <p:ext uri="{BB962C8B-B14F-4D97-AF65-F5344CB8AC3E}">
        <p14:creationId xmlns:p14="http://schemas.microsoft.com/office/powerpoint/2010/main" val="14089243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Object 2"/>
          <p:cNvGraphicFramePr>
            <a:graphicFrameLocks noChangeAspect="1"/>
          </p:cNvGraphicFramePr>
          <p:nvPr/>
        </p:nvGraphicFramePr>
        <p:xfrm>
          <a:off x="1219200" y="717550"/>
          <a:ext cx="6781800" cy="5988050"/>
        </p:xfrm>
        <a:graphic>
          <a:graphicData uri="http://schemas.openxmlformats.org/presentationml/2006/ole">
            <mc:AlternateContent xmlns:mc="http://schemas.openxmlformats.org/markup-compatibility/2006">
              <mc:Choice xmlns:v="urn:schemas-microsoft-com:vml" Requires="v">
                <p:oleObj spid="_x0000_s2124" name="Imagen de mapa de bits" r:id="rId3" imgW="4723810" imgH="4839375" progId="Paint.Picture">
                  <p:embed/>
                </p:oleObj>
              </mc:Choice>
              <mc:Fallback>
                <p:oleObj name="Imagen de mapa de bits" r:id="rId3" imgW="4723810" imgH="483937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b="13780"/>
                      <a:stretch>
                        <a:fillRect/>
                      </a:stretch>
                    </p:blipFill>
                    <p:spPr bwMode="auto">
                      <a:xfrm>
                        <a:off x="1219200" y="717550"/>
                        <a:ext cx="6781800" cy="598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19" name="Text Box 1027"/>
          <p:cNvSpPr txBox="1">
            <a:spLocks noChangeArrowheads="1"/>
          </p:cNvSpPr>
          <p:nvPr/>
        </p:nvSpPr>
        <p:spPr bwMode="auto">
          <a:xfrm>
            <a:off x="1219200" y="152400"/>
            <a:ext cx="685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a:t>Vista esquemática de comunicación entre dispositivos</a:t>
            </a:r>
            <a:endParaRPr lang="es-ES" altLang="es-AR"/>
          </a:p>
        </p:txBody>
      </p:sp>
    </p:spTree>
    <p:extLst>
      <p:ext uri="{BB962C8B-B14F-4D97-AF65-F5344CB8AC3E}">
        <p14:creationId xmlns:p14="http://schemas.microsoft.com/office/powerpoint/2010/main" val="555927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p:cNvGraphicFramePr>
            <a:graphicFrameLocks noChangeAspect="1"/>
          </p:cNvGraphicFramePr>
          <p:nvPr/>
        </p:nvGraphicFramePr>
        <p:xfrm>
          <a:off x="160338" y="990600"/>
          <a:ext cx="8831262" cy="5308600"/>
        </p:xfrm>
        <a:graphic>
          <a:graphicData uri="http://schemas.openxmlformats.org/presentationml/2006/ole">
            <mc:AlternateContent xmlns:mc="http://schemas.openxmlformats.org/markup-compatibility/2006">
              <mc:Choice xmlns:v="urn:schemas-microsoft-com:vml" Requires="v">
                <p:oleObj spid="_x0000_s3148" name="Imagen de mapa de bits" r:id="rId3" imgW="6876190" imgH="4133333" progId="Paint.Picture">
                  <p:embed/>
                </p:oleObj>
              </mc:Choice>
              <mc:Fallback>
                <p:oleObj name="Imagen de mapa de bits" r:id="rId3" imgW="6876190" imgH="413333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8" y="990600"/>
                        <a:ext cx="8831262" cy="530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3" name="Text Box 5"/>
          <p:cNvSpPr txBox="1">
            <a:spLocks noChangeArrowheads="1"/>
          </p:cNvSpPr>
          <p:nvPr/>
        </p:nvSpPr>
        <p:spPr bwMode="auto">
          <a:xfrm>
            <a:off x="1219200" y="152400"/>
            <a:ext cx="685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a:t>Vista esquemática de comunicación entre dispositivos</a:t>
            </a:r>
            <a:endParaRPr lang="es-ES" altLang="es-AR"/>
          </a:p>
        </p:txBody>
      </p:sp>
    </p:spTree>
    <p:extLst>
      <p:ext uri="{BB962C8B-B14F-4D97-AF65-F5344CB8AC3E}">
        <p14:creationId xmlns:p14="http://schemas.microsoft.com/office/powerpoint/2010/main" val="21687341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3"/>
          <p:cNvSpPr txBox="1">
            <a:spLocks noChangeArrowheads="1"/>
          </p:cNvSpPr>
          <p:nvPr/>
        </p:nvSpPr>
        <p:spPr bwMode="auto">
          <a:xfrm>
            <a:off x="1258888" y="1087438"/>
            <a:ext cx="74279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200"/>
              <a:t>La Unidad Central de Procesamiento:</a:t>
            </a:r>
            <a:endParaRPr lang="es-ES" altLang="es-AR" sz="3200"/>
          </a:p>
        </p:txBody>
      </p:sp>
      <p:sp>
        <p:nvSpPr>
          <p:cNvPr id="32773" name="Text Box 5"/>
          <p:cNvSpPr txBox="1">
            <a:spLocks noChangeArrowheads="1"/>
          </p:cNvSpPr>
          <p:nvPr/>
        </p:nvSpPr>
        <p:spPr bwMode="auto">
          <a:xfrm>
            <a:off x="228600" y="2060575"/>
            <a:ext cx="8458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Generalmente se le llama CPU al cajón de la PC en cuyo interior se montan la mayoría de los dispositivos, pero debe quedar claro que la CPU es un chip de unos pocos centímetros cuadrados.</a:t>
            </a:r>
          </a:p>
        </p:txBody>
      </p:sp>
      <p:sp>
        <p:nvSpPr>
          <p:cNvPr id="32774" name="Text Box 6"/>
          <p:cNvSpPr txBox="1">
            <a:spLocks noChangeArrowheads="1"/>
          </p:cNvSpPr>
          <p:nvPr/>
        </p:nvSpPr>
        <p:spPr bwMode="auto">
          <a:xfrm>
            <a:off x="228600" y="3127375"/>
            <a:ext cx="845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Es la parte del sistema de computación en la que:</a:t>
            </a:r>
          </a:p>
        </p:txBody>
      </p:sp>
      <p:sp>
        <p:nvSpPr>
          <p:cNvPr id="32775" name="Text Box 7"/>
          <p:cNvSpPr txBox="1">
            <a:spLocks noChangeArrowheads="1"/>
          </p:cNvSpPr>
          <p:nvPr/>
        </p:nvSpPr>
        <p:spPr bwMode="auto">
          <a:xfrm>
            <a:off x="228600" y="4416425"/>
            <a:ext cx="3314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La CPU está compuesta por:</a:t>
            </a:r>
          </a:p>
        </p:txBody>
      </p:sp>
      <p:sp>
        <p:nvSpPr>
          <p:cNvPr id="32776" name="Text Box 8"/>
          <p:cNvSpPr txBox="1">
            <a:spLocks noChangeArrowheads="1"/>
          </p:cNvSpPr>
          <p:nvPr/>
        </p:nvSpPr>
        <p:spPr bwMode="auto">
          <a:xfrm>
            <a:off x="762000" y="4703763"/>
            <a:ext cx="4876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a) Una Unidad de Control (UC).</a:t>
            </a:r>
            <a:endParaRPr lang="es-ES" smtClean="0">
              <a:effectLst>
                <a:outerShdw blurRad="38100" dist="38100" dir="2700000" algn="tl">
                  <a:srgbClr val="000000">
                    <a:alpha val="43137"/>
                  </a:srgbClr>
                </a:outerShdw>
              </a:effectLst>
            </a:endParaRPr>
          </a:p>
        </p:txBody>
      </p:sp>
      <p:sp>
        <p:nvSpPr>
          <p:cNvPr id="32777" name="Text Box 9"/>
          <p:cNvSpPr txBox="1">
            <a:spLocks noChangeArrowheads="1"/>
          </p:cNvSpPr>
          <p:nvPr/>
        </p:nvSpPr>
        <p:spPr bwMode="auto">
          <a:xfrm>
            <a:off x="762000" y="5064125"/>
            <a:ext cx="556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b) Una Unidad Aritmética y Lógica (ALU).</a:t>
            </a:r>
          </a:p>
        </p:txBody>
      </p:sp>
      <p:sp>
        <p:nvSpPr>
          <p:cNvPr id="32778" name="Text Box 10"/>
          <p:cNvSpPr txBox="1">
            <a:spLocks noChangeArrowheads="1"/>
          </p:cNvSpPr>
          <p:nvPr/>
        </p:nvSpPr>
        <p:spPr bwMode="auto">
          <a:xfrm>
            <a:off x="762000" y="5378450"/>
            <a:ext cx="6477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c) Varios registros auxiliares para contener: la instrucción que se está ejecutando, los datos que se deben traer de la memoria y el resultado de realizar operaciones aritmético-lógicas, etc.</a:t>
            </a:r>
            <a:endParaRPr lang="es-ES" smtClean="0">
              <a:effectLst>
                <a:outerShdw blurRad="38100" dist="38100" dir="2700000" algn="tl">
                  <a:srgbClr val="000000">
                    <a:alpha val="43137"/>
                  </a:srgbClr>
                </a:outerShdw>
              </a:effectLst>
            </a:endParaRPr>
          </a:p>
        </p:txBody>
      </p:sp>
      <p:sp>
        <p:nvSpPr>
          <p:cNvPr id="32779" name="Text Box 11"/>
          <p:cNvSpPr txBox="1">
            <a:spLocks noChangeArrowheads="1"/>
          </p:cNvSpPr>
          <p:nvPr/>
        </p:nvSpPr>
        <p:spPr bwMode="auto">
          <a:xfrm>
            <a:off x="762000" y="3584575"/>
            <a:ext cx="807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a) Se controlan las demás partes del sistema de computación.</a:t>
            </a:r>
          </a:p>
        </p:txBody>
      </p:sp>
      <p:sp>
        <p:nvSpPr>
          <p:cNvPr id="32780" name="Text Box 12"/>
          <p:cNvSpPr txBox="1">
            <a:spLocks noChangeArrowheads="1"/>
          </p:cNvSpPr>
          <p:nvPr/>
        </p:nvSpPr>
        <p:spPr bwMode="auto">
          <a:xfrm>
            <a:off x="762000" y="4056063"/>
            <a:ext cx="800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b) Se manipulan los datos (símbolos, números y letras).</a:t>
            </a:r>
          </a:p>
        </p:txBody>
      </p:sp>
    </p:spTree>
    <p:extLst>
      <p:ext uri="{BB962C8B-B14F-4D97-AF65-F5344CB8AC3E}">
        <p14:creationId xmlns:p14="http://schemas.microsoft.com/office/powerpoint/2010/main" val="2848453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3"/>
          <p:cNvSpPr txBox="1">
            <a:spLocks noChangeArrowheads="1"/>
          </p:cNvSpPr>
          <p:nvPr/>
        </p:nvSpPr>
        <p:spPr bwMode="auto">
          <a:xfrm>
            <a:off x="1284288" y="1376363"/>
            <a:ext cx="72485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2800"/>
              <a:t>La Unidad de Control (UC):</a:t>
            </a:r>
            <a:endParaRPr lang="es-ES" altLang="es-AR" sz="2800"/>
          </a:p>
        </p:txBody>
      </p:sp>
      <p:sp>
        <p:nvSpPr>
          <p:cNvPr id="33796" name="Text Box 4"/>
          <p:cNvSpPr txBox="1">
            <a:spLocks noChangeArrowheads="1"/>
          </p:cNvSpPr>
          <p:nvPr/>
        </p:nvSpPr>
        <p:spPr bwMode="auto">
          <a:xfrm>
            <a:off x="228600" y="2279650"/>
            <a:ext cx="8610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Coordina y controla las otras partes del sistema de computación: lee un programa almacenado, instrucción por instrucción, y ordena a otros componentes del sistema de computación que realicen las tareas que pide el programa.</a:t>
            </a:r>
            <a:endParaRPr lang="es-ES" smtClean="0">
              <a:effectLst>
                <a:outerShdw blurRad="38100" dist="38100" dir="2700000" algn="tl">
                  <a:srgbClr val="000000">
                    <a:alpha val="43137"/>
                  </a:srgbClr>
                </a:outerShdw>
              </a:effectLst>
            </a:endParaRPr>
          </a:p>
        </p:txBody>
      </p:sp>
      <p:sp>
        <p:nvSpPr>
          <p:cNvPr id="33797" name="Text Box 5"/>
          <p:cNvSpPr txBox="1">
            <a:spLocks noChangeArrowheads="1"/>
          </p:cNvSpPr>
          <p:nvPr/>
        </p:nvSpPr>
        <p:spPr bwMode="auto">
          <a:xfrm>
            <a:off x="228600" y="3317875"/>
            <a:ext cx="861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La serie de operaciones que son necesarias para procesar una sola instrucción de máquina se llama </a:t>
            </a:r>
            <a:r>
              <a:rPr lang="es-MX" u="sng" smtClean="0">
                <a:effectLst>
                  <a:outerShdw blurRad="38100" dist="38100" dir="2700000" algn="tl">
                    <a:srgbClr val="000000">
                      <a:alpha val="43137"/>
                    </a:srgbClr>
                  </a:outerShdw>
                </a:effectLst>
                <a:cs typeface="Times New Roman" charset="0"/>
              </a:rPr>
              <a:t>ciclo de máquina</a:t>
            </a:r>
            <a:r>
              <a:rPr lang="es-MX" smtClean="0">
                <a:effectLst>
                  <a:outerShdw blurRad="38100" dist="38100" dir="2700000" algn="tl">
                    <a:srgbClr val="000000">
                      <a:alpha val="43137"/>
                    </a:srgbClr>
                  </a:outerShdw>
                </a:effectLst>
                <a:cs typeface="Times New Roman" charset="0"/>
              </a:rPr>
              <a:t>.</a:t>
            </a:r>
            <a:endParaRPr lang="es-ES" smtClean="0">
              <a:effectLst>
                <a:outerShdw blurRad="38100" dist="38100" dir="2700000" algn="tl">
                  <a:srgbClr val="000000">
                    <a:alpha val="43137"/>
                  </a:srgbClr>
                </a:outerShdw>
              </a:effectLst>
            </a:endParaRPr>
          </a:p>
        </p:txBody>
      </p:sp>
      <p:sp>
        <p:nvSpPr>
          <p:cNvPr id="33798" name="Text Box 6"/>
          <p:cNvSpPr txBox="1">
            <a:spLocks noChangeArrowheads="1"/>
          </p:cNvSpPr>
          <p:nvPr/>
        </p:nvSpPr>
        <p:spPr bwMode="auto">
          <a:xfrm>
            <a:off x="228600" y="4713288"/>
            <a:ext cx="845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rPr>
              <a:t>El c</a:t>
            </a:r>
            <a:r>
              <a:rPr lang="es-ES" smtClean="0">
                <a:effectLst>
                  <a:outerShdw blurRad="38100" dist="38100" dir="2700000" algn="tl">
                    <a:srgbClr val="000000">
                      <a:alpha val="43137"/>
                    </a:srgbClr>
                  </a:outerShdw>
                </a:effectLst>
              </a:rPr>
              <a:t>iclo de </a:t>
            </a:r>
            <a:r>
              <a:rPr lang="es-MX" smtClean="0">
                <a:effectLst>
                  <a:outerShdw blurRad="38100" dist="38100" dir="2700000" algn="tl">
                    <a:srgbClr val="000000">
                      <a:alpha val="43137"/>
                    </a:srgbClr>
                  </a:outerShdw>
                </a:effectLst>
              </a:rPr>
              <a:t>m</a:t>
            </a:r>
            <a:r>
              <a:rPr lang="es-ES" smtClean="0">
                <a:effectLst>
                  <a:outerShdw blurRad="38100" dist="38100" dir="2700000" algn="tl">
                    <a:srgbClr val="000000">
                      <a:alpha val="43137"/>
                    </a:srgbClr>
                  </a:outerShdw>
                </a:effectLst>
              </a:rPr>
              <a:t>áquina consta de dos partes.</a:t>
            </a:r>
          </a:p>
        </p:txBody>
      </p:sp>
      <p:sp>
        <p:nvSpPr>
          <p:cNvPr id="33799" name="Text Box 7"/>
          <p:cNvSpPr txBox="1">
            <a:spLocks noChangeArrowheads="1"/>
          </p:cNvSpPr>
          <p:nvPr/>
        </p:nvSpPr>
        <p:spPr bwMode="auto">
          <a:xfrm>
            <a:off x="685800" y="5207000"/>
            <a:ext cx="5757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ES" smtClean="0">
                <a:effectLst>
                  <a:outerShdw blurRad="38100" dist="38100" dir="2700000" algn="tl">
                    <a:srgbClr val="000000">
                      <a:alpha val="43137"/>
                    </a:srgbClr>
                  </a:outerShdw>
                </a:effectLst>
              </a:rPr>
              <a:t>a) Ciclo de instrucción.</a:t>
            </a:r>
          </a:p>
        </p:txBody>
      </p:sp>
      <p:sp>
        <p:nvSpPr>
          <p:cNvPr id="33800" name="Text Box 8"/>
          <p:cNvSpPr txBox="1">
            <a:spLocks noChangeArrowheads="1"/>
          </p:cNvSpPr>
          <p:nvPr/>
        </p:nvSpPr>
        <p:spPr bwMode="auto">
          <a:xfrm>
            <a:off x="685800" y="5726113"/>
            <a:ext cx="705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ES" smtClean="0">
                <a:effectLst>
                  <a:outerShdw blurRad="38100" dist="38100" dir="2700000" algn="tl">
                    <a:srgbClr val="000000">
                      <a:alpha val="43137"/>
                    </a:srgbClr>
                  </a:outerShdw>
                </a:effectLst>
              </a:rPr>
              <a:t>b)</a:t>
            </a:r>
            <a:r>
              <a:rPr lang="es-MX" smtClean="0">
                <a:effectLst>
                  <a:outerShdw blurRad="38100" dist="38100" dir="2700000" algn="tl">
                    <a:srgbClr val="000000">
                      <a:alpha val="43137"/>
                    </a:srgbClr>
                  </a:outerShdw>
                </a:effectLst>
              </a:rPr>
              <a:t> </a:t>
            </a:r>
            <a:r>
              <a:rPr lang="es-ES" smtClean="0">
                <a:effectLst>
                  <a:outerShdw blurRad="38100" dist="38100" dir="2700000" algn="tl">
                    <a:srgbClr val="000000">
                      <a:alpha val="43137"/>
                    </a:srgbClr>
                  </a:outerShdw>
                </a:effectLst>
              </a:rPr>
              <a:t>Ciclo de ejecución.</a:t>
            </a:r>
          </a:p>
        </p:txBody>
      </p:sp>
      <p:sp>
        <p:nvSpPr>
          <p:cNvPr id="33801" name="Text Box 9"/>
          <p:cNvSpPr txBox="1">
            <a:spLocks noChangeArrowheads="1"/>
          </p:cNvSpPr>
          <p:nvPr/>
        </p:nvSpPr>
        <p:spPr bwMode="auto">
          <a:xfrm>
            <a:off x="228600" y="4125913"/>
            <a:ext cx="8458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Es el período más breve en el que una computadora puede realizar una instrucción.</a:t>
            </a:r>
            <a:endParaRPr lang="es-ES" smtClean="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010003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026"/>
          <p:cNvSpPr txBox="1">
            <a:spLocks noChangeArrowheads="1"/>
          </p:cNvSpPr>
          <p:nvPr/>
        </p:nvSpPr>
        <p:spPr bwMode="auto">
          <a:xfrm>
            <a:off x="228600" y="2262188"/>
            <a:ext cx="2667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ES" smtClean="0">
                <a:effectLst>
                  <a:outerShdw blurRad="38100" dist="38100" dir="2700000" algn="tl">
                    <a:srgbClr val="000000">
                      <a:alpha val="43137"/>
                    </a:srgbClr>
                  </a:outerShdw>
                </a:effectLst>
              </a:rPr>
              <a:t>a) Ciclo de instrucción:</a:t>
            </a:r>
          </a:p>
        </p:txBody>
      </p:sp>
      <p:sp>
        <p:nvSpPr>
          <p:cNvPr id="38915" name="Text Box 1027"/>
          <p:cNvSpPr txBox="1">
            <a:spLocks noChangeArrowheads="1"/>
          </p:cNvSpPr>
          <p:nvPr/>
        </p:nvSpPr>
        <p:spPr bwMode="auto">
          <a:xfrm>
            <a:off x="1284288" y="1376363"/>
            <a:ext cx="73199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2800"/>
              <a:t>El Ciclo de Máquina:</a:t>
            </a:r>
            <a:endParaRPr lang="es-ES" altLang="es-AR" sz="2800"/>
          </a:p>
        </p:txBody>
      </p:sp>
      <p:sp>
        <p:nvSpPr>
          <p:cNvPr id="35844" name="Text Box 1028"/>
          <p:cNvSpPr txBox="1">
            <a:spLocks noChangeArrowheads="1"/>
          </p:cNvSpPr>
          <p:nvPr/>
        </p:nvSpPr>
        <p:spPr bwMode="auto">
          <a:xfrm>
            <a:off x="228600" y="2643188"/>
            <a:ext cx="8686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mtClean="0">
                <a:effectLst>
                  <a:outerShdw blurRad="38100" dist="38100" dir="2700000" algn="tl">
                    <a:srgbClr val="000000">
                      <a:alpha val="43137"/>
                    </a:srgbClr>
                  </a:outerShdw>
                </a:effectLst>
              </a:rPr>
              <a:t>En este ciclo l</a:t>
            </a:r>
            <a:r>
              <a:rPr lang="es-ES" smtClean="0">
                <a:effectLst>
                  <a:outerShdw blurRad="38100" dist="38100" dir="2700000" algn="tl">
                    <a:srgbClr val="000000">
                      <a:alpha val="43137"/>
                    </a:srgbClr>
                  </a:outerShdw>
                </a:effectLst>
              </a:rPr>
              <a:t>a UC recupera una instrucción de máquina del almacenamiento primario; luego decodifica la instrucción colocando en el Registro de instrucción la parte de la instrucción que indica lo que la ALU debe hacer y en el Registro de dirección la parte que indica la dirección del dato que se usará en esa operación.</a:t>
            </a:r>
          </a:p>
        </p:txBody>
      </p:sp>
      <p:sp>
        <p:nvSpPr>
          <p:cNvPr id="35845" name="Text Box 1029"/>
          <p:cNvSpPr txBox="1">
            <a:spLocks noChangeArrowheads="1"/>
          </p:cNvSpPr>
          <p:nvPr/>
        </p:nvSpPr>
        <p:spPr bwMode="auto">
          <a:xfrm>
            <a:off x="228600" y="3938588"/>
            <a:ext cx="6935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ES" dirty="0" smtClean="0">
                <a:effectLst>
                  <a:outerShdw blurRad="38100" dist="38100" dir="2700000" algn="tl">
                    <a:srgbClr val="000000">
                      <a:alpha val="43137"/>
                    </a:srgbClr>
                  </a:outerShdw>
                </a:effectLst>
              </a:rPr>
              <a:t>b) Ciclo de ejecución.</a:t>
            </a:r>
          </a:p>
        </p:txBody>
      </p:sp>
      <p:sp>
        <p:nvSpPr>
          <p:cNvPr id="35846" name="Text Box 1030"/>
          <p:cNvSpPr txBox="1">
            <a:spLocks noChangeArrowheads="1"/>
          </p:cNvSpPr>
          <p:nvPr/>
        </p:nvSpPr>
        <p:spPr bwMode="auto">
          <a:xfrm>
            <a:off x="228600" y="4348163"/>
            <a:ext cx="8686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ES" smtClean="0">
                <a:effectLst>
                  <a:outerShdw blurRad="38100" dist="38100" dir="2700000" algn="tl">
                    <a:srgbClr val="000000">
                      <a:alpha val="43137"/>
                    </a:srgbClr>
                  </a:outerShdw>
                </a:effectLst>
              </a:rPr>
              <a:t>La UC localiza los datos que se requerirán, en el almacenamiento primario; coloca el dato en un registro de almacenamiento; ordena a la ALU que ejecute la operación deseada; almacena el resultado en el Registro acumulador y por último, coloca el dato del acumulador en el almacenamiento primario.</a:t>
            </a:r>
          </a:p>
        </p:txBody>
      </p:sp>
      <p:sp>
        <p:nvSpPr>
          <p:cNvPr id="35847" name="Text Box 1031"/>
          <p:cNvSpPr txBox="1">
            <a:spLocks noChangeArrowheads="1"/>
          </p:cNvSpPr>
          <p:nvPr/>
        </p:nvSpPr>
        <p:spPr bwMode="auto">
          <a:xfrm>
            <a:off x="228600" y="5811838"/>
            <a:ext cx="868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ES" smtClean="0">
                <a:effectLst>
                  <a:outerShdw blurRad="38100" dist="38100" dir="2700000" algn="tl">
                    <a:srgbClr val="000000">
                      <a:alpha val="43137"/>
                    </a:srgbClr>
                  </a:outerShdw>
                </a:effectLst>
              </a:rPr>
              <a:t>Una vez terminado este ciclo, la UC avanza hacia la siguiente instrucción de programa y la recupera, iniciando nuevamente el ciclo.</a:t>
            </a:r>
          </a:p>
        </p:txBody>
      </p:sp>
    </p:spTree>
    <p:extLst>
      <p:ext uri="{BB962C8B-B14F-4D97-AF65-F5344CB8AC3E}">
        <p14:creationId xmlns:p14="http://schemas.microsoft.com/office/powerpoint/2010/main" val="20862309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403350" y="1316038"/>
            <a:ext cx="7207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200"/>
              <a:t>Ciclo de Máquina</a:t>
            </a:r>
            <a:endParaRPr lang="es-ES" altLang="es-AR" sz="3200"/>
          </a:p>
        </p:txBody>
      </p:sp>
      <p:sp>
        <p:nvSpPr>
          <p:cNvPr id="36867" name="Text Box 3"/>
          <p:cNvSpPr txBox="1">
            <a:spLocks noChangeArrowheads="1"/>
          </p:cNvSpPr>
          <p:nvPr/>
        </p:nvSpPr>
        <p:spPr bwMode="auto">
          <a:xfrm>
            <a:off x="228600" y="2122488"/>
            <a:ext cx="83820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z="1400" u="sng" dirty="0" smtClean="0">
                <a:effectLst>
                  <a:outerShdw blurRad="38100" dist="38100" dir="2700000" algn="tl">
                    <a:srgbClr val="000000">
                      <a:alpha val="43137"/>
                    </a:srgbClr>
                  </a:outerShdw>
                </a:effectLst>
              </a:rPr>
              <a:t>Pasos del ciclo de máquina</a:t>
            </a:r>
            <a:r>
              <a:rPr lang="es-MX" sz="1400" dirty="0" smtClean="0">
                <a:effectLst>
                  <a:outerShdw blurRad="38100" dist="38100" dir="2700000" algn="tl">
                    <a:srgbClr val="000000">
                      <a:alpha val="43137"/>
                    </a:srgbClr>
                  </a:outerShdw>
                </a:effectLst>
              </a:rPr>
              <a:t>. Tiene dos etapas de operación principales: el </a:t>
            </a:r>
            <a:r>
              <a:rPr lang="es-MX" sz="1400" dirty="0" smtClean="0">
                <a:solidFill>
                  <a:srgbClr val="FF0000"/>
                </a:solidFill>
                <a:effectLst>
                  <a:outerShdw blurRad="38100" dist="38100" dir="2700000" algn="tl">
                    <a:srgbClr val="000000">
                      <a:alpha val="43137"/>
                    </a:srgbClr>
                  </a:outerShdw>
                </a:effectLst>
              </a:rPr>
              <a:t>ciclo de instrucción</a:t>
            </a:r>
            <a:r>
              <a:rPr lang="es-MX" sz="1400" dirty="0" smtClean="0">
                <a:effectLst>
                  <a:outerShdw blurRad="38100" dist="38100" dir="2700000" algn="tl">
                    <a:srgbClr val="000000">
                      <a:alpha val="43137"/>
                    </a:srgbClr>
                  </a:outerShdw>
                </a:effectLst>
              </a:rPr>
              <a:t> y el </a:t>
            </a:r>
            <a:r>
              <a:rPr lang="es-MX" sz="1400" dirty="0" smtClean="0">
                <a:solidFill>
                  <a:srgbClr val="FF0000"/>
                </a:solidFill>
                <a:effectLst>
                  <a:outerShdw blurRad="38100" dist="38100" dir="2700000" algn="tl">
                    <a:srgbClr val="000000">
                      <a:alpha val="43137"/>
                    </a:srgbClr>
                  </a:outerShdw>
                </a:effectLst>
              </a:rPr>
              <a:t>ciclo de operación</a:t>
            </a:r>
            <a:r>
              <a:rPr lang="es-MX" sz="1400" dirty="0" smtClean="0">
                <a:effectLst>
                  <a:outerShdw blurRad="38100" dist="38100" dir="2700000" algn="tl">
                    <a:srgbClr val="000000">
                      <a:alpha val="43137"/>
                    </a:srgbClr>
                  </a:outerShdw>
                </a:effectLst>
              </a:rPr>
              <a:t>. Cada ciclo consta de varios pasos que se requieren para procesar una sola instrucción de máquina en la CPU.</a:t>
            </a:r>
            <a:endParaRPr lang="es-ES" sz="1400" dirty="0" smtClean="0">
              <a:effectLst>
                <a:outerShdw blurRad="38100" dist="38100" dir="2700000" algn="tl">
                  <a:srgbClr val="000000">
                    <a:alpha val="43137"/>
                  </a:srgbClr>
                </a:outerShdw>
              </a:effectLst>
            </a:endParaRPr>
          </a:p>
        </p:txBody>
      </p:sp>
      <p:graphicFrame>
        <p:nvGraphicFramePr>
          <p:cNvPr id="39940" name="Object 2"/>
          <p:cNvGraphicFramePr>
            <a:graphicFrameLocks noChangeAspect="1"/>
          </p:cNvGraphicFramePr>
          <p:nvPr/>
        </p:nvGraphicFramePr>
        <p:xfrm>
          <a:off x="1031875" y="2852738"/>
          <a:ext cx="7197725" cy="3671887"/>
        </p:xfrm>
        <a:graphic>
          <a:graphicData uri="http://schemas.openxmlformats.org/presentationml/2006/ole">
            <mc:AlternateContent xmlns:mc="http://schemas.openxmlformats.org/markup-compatibility/2006">
              <mc:Choice xmlns:v="urn:schemas-microsoft-com:vml" Requires="v">
                <p:oleObj spid="_x0000_s4172" name="Imagen de mapa de bits" r:id="rId3" imgW="5477640" imgH="4153480" progId="Paint.Picture">
                  <p:embed/>
                </p:oleObj>
              </mc:Choice>
              <mc:Fallback>
                <p:oleObj name="Imagen de mapa de bits" r:id="rId3" imgW="5477640" imgH="415348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75" y="2852738"/>
                        <a:ext cx="7197725"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54567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228600" y="152400"/>
            <a:ext cx="480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2000"/>
              <a:t>La Unidad Aritmética y Lógica (ALU):</a:t>
            </a:r>
            <a:endParaRPr lang="es-ES" altLang="es-AR" sz="2000"/>
          </a:p>
        </p:txBody>
      </p:sp>
      <p:sp>
        <p:nvSpPr>
          <p:cNvPr id="40963" name="Text Box 3"/>
          <p:cNvSpPr txBox="1">
            <a:spLocks noChangeArrowheads="1"/>
          </p:cNvSpPr>
          <p:nvPr/>
        </p:nvSpPr>
        <p:spPr bwMode="auto">
          <a:xfrm>
            <a:off x="274712" y="1838152"/>
            <a:ext cx="3505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solidFill>
                  <a:srgbClr val="FF0000"/>
                </a:solidFill>
                <a:effectLst>
                  <a:outerShdw blurRad="38100" dist="38100" dir="2700000" algn="tl">
                    <a:srgbClr val="000000">
                      <a:alpha val="43137"/>
                    </a:srgbClr>
                  </a:outerShdw>
                </a:effectLst>
              </a:rPr>
              <a:t>Operaciones aritméticas básicas.</a:t>
            </a:r>
            <a:endParaRPr lang="es-ES" dirty="0" smtClean="0">
              <a:solidFill>
                <a:srgbClr val="FF0000"/>
              </a:solidFill>
              <a:effectLst>
                <a:outerShdw blurRad="38100" dist="38100" dir="2700000" algn="tl">
                  <a:srgbClr val="000000">
                    <a:alpha val="43137"/>
                  </a:srgbClr>
                </a:outerShdw>
              </a:effectLst>
            </a:endParaRPr>
          </a:p>
        </p:txBody>
      </p:sp>
      <p:sp>
        <p:nvSpPr>
          <p:cNvPr id="40964" name="Text Box 4"/>
          <p:cNvSpPr txBox="1">
            <a:spLocks noChangeArrowheads="1"/>
          </p:cNvSpPr>
          <p:nvPr/>
        </p:nvSpPr>
        <p:spPr bwMode="auto">
          <a:xfrm>
            <a:off x="241300" y="2441575"/>
            <a:ext cx="85788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effectLst>
                  <a:outerShdw blurRad="38100" dist="38100" dir="2700000" algn="tl">
                    <a:srgbClr val="000000">
                      <a:alpha val="43137"/>
                    </a:srgbClr>
                  </a:outerShdw>
                </a:effectLst>
              </a:rPr>
              <a:t>También puede realizar </a:t>
            </a:r>
            <a:r>
              <a:rPr lang="es-MX" dirty="0" smtClean="0">
                <a:solidFill>
                  <a:srgbClr val="FF0000"/>
                </a:solidFill>
                <a:effectLst>
                  <a:outerShdw blurRad="38100" dist="38100" dir="2700000" algn="tl">
                    <a:srgbClr val="000000">
                      <a:alpha val="43137"/>
                    </a:srgbClr>
                  </a:outerShdw>
                </a:effectLst>
              </a:rPr>
              <a:t>operaciones de comparación</a:t>
            </a:r>
            <a:r>
              <a:rPr lang="es-MX" dirty="0" smtClean="0">
                <a:effectLst>
                  <a:outerShdw blurRad="38100" dist="38100" dir="2700000" algn="tl">
                    <a:srgbClr val="000000">
                      <a:alpha val="43137"/>
                    </a:srgbClr>
                  </a:outerShdw>
                </a:effectLst>
              </a:rPr>
              <a:t>: </a:t>
            </a:r>
            <a:r>
              <a:rPr lang="es-MX" dirty="0" smtClean="0">
                <a:solidFill>
                  <a:srgbClr val="FF0000"/>
                </a:solidFill>
                <a:effectLst>
                  <a:outerShdw blurRad="38100" dist="38100" dir="2700000" algn="tl">
                    <a:srgbClr val="000000">
                      <a:alpha val="43137"/>
                    </a:srgbClr>
                  </a:outerShdw>
                </a:effectLst>
              </a:rPr>
              <a:t>determinar si un número es mayor que otro</a:t>
            </a:r>
            <a:r>
              <a:rPr lang="es-MX" dirty="0" smtClean="0">
                <a:effectLst>
                  <a:outerShdw blurRad="38100" dist="38100" dir="2700000" algn="tl">
                    <a:srgbClr val="000000">
                      <a:alpha val="43137"/>
                    </a:srgbClr>
                  </a:outerShdw>
                </a:effectLst>
              </a:rPr>
              <a:t>, </a:t>
            </a:r>
            <a:r>
              <a:rPr lang="es-MX" dirty="0" smtClean="0">
                <a:solidFill>
                  <a:srgbClr val="FF0000"/>
                </a:solidFill>
                <a:effectLst>
                  <a:outerShdw blurRad="38100" dist="38100" dir="2700000" algn="tl">
                    <a:srgbClr val="000000">
                      <a:alpha val="43137"/>
                    </a:srgbClr>
                  </a:outerShdw>
                </a:effectLst>
              </a:rPr>
              <a:t>si es menor</a:t>
            </a:r>
            <a:r>
              <a:rPr lang="es-MX" dirty="0" smtClean="0">
                <a:effectLst>
                  <a:outerShdw blurRad="38100" dist="38100" dir="2700000" algn="tl">
                    <a:srgbClr val="000000">
                      <a:alpha val="43137"/>
                    </a:srgbClr>
                  </a:outerShdw>
                </a:effectLst>
              </a:rPr>
              <a:t>, o </a:t>
            </a:r>
            <a:r>
              <a:rPr lang="es-MX" dirty="0" smtClean="0">
                <a:solidFill>
                  <a:srgbClr val="FF0000"/>
                </a:solidFill>
                <a:effectLst>
                  <a:outerShdw blurRad="38100" dist="38100" dir="2700000" algn="tl">
                    <a:srgbClr val="000000">
                      <a:alpha val="43137"/>
                    </a:srgbClr>
                  </a:outerShdw>
                </a:effectLst>
              </a:rPr>
              <a:t>si son iguales</a:t>
            </a:r>
            <a:r>
              <a:rPr lang="es-MX" dirty="0" smtClean="0">
                <a:effectLst>
                  <a:outerShdw blurRad="38100" dist="38100" dir="2700000" algn="tl">
                    <a:srgbClr val="000000">
                      <a:alpha val="43137"/>
                    </a:srgbClr>
                  </a:outerShdw>
                </a:effectLst>
              </a:rPr>
              <a:t>; </a:t>
            </a:r>
            <a:r>
              <a:rPr lang="es-MX" dirty="0" err="1" smtClean="0">
                <a:solidFill>
                  <a:srgbClr val="FF0000"/>
                </a:solidFill>
                <a:effectLst>
                  <a:outerShdw blurRad="38100" dist="38100" dir="2700000" algn="tl">
                    <a:srgbClr val="000000">
                      <a:alpha val="43137"/>
                    </a:srgbClr>
                  </a:outerShdw>
                </a:effectLst>
              </a:rPr>
              <a:t>deteminar</a:t>
            </a:r>
            <a:r>
              <a:rPr lang="es-MX" dirty="0" smtClean="0">
                <a:solidFill>
                  <a:srgbClr val="FF0000"/>
                </a:solidFill>
                <a:effectLst>
                  <a:outerShdw blurRad="38100" dist="38100" dir="2700000" algn="tl">
                    <a:srgbClr val="000000">
                      <a:alpha val="43137"/>
                    </a:srgbClr>
                  </a:outerShdw>
                </a:effectLst>
              </a:rPr>
              <a:t> si un número es igual a cero</a:t>
            </a:r>
            <a:r>
              <a:rPr lang="es-MX" dirty="0" smtClean="0">
                <a:effectLst>
                  <a:outerShdw blurRad="38100" dist="38100" dir="2700000" algn="tl">
                    <a:srgbClr val="000000">
                      <a:alpha val="43137"/>
                    </a:srgbClr>
                  </a:outerShdw>
                </a:effectLst>
              </a:rPr>
              <a:t>.</a:t>
            </a:r>
            <a:endParaRPr lang="es-ES" dirty="0" smtClean="0">
              <a:effectLst>
                <a:outerShdw blurRad="38100" dist="38100" dir="2700000" algn="tl">
                  <a:srgbClr val="000000">
                    <a:alpha val="43137"/>
                  </a:srgbClr>
                </a:outerShdw>
              </a:effectLst>
            </a:endParaRPr>
          </a:p>
        </p:txBody>
      </p:sp>
      <p:sp>
        <p:nvSpPr>
          <p:cNvPr id="40965" name="Text Box 5"/>
          <p:cNvSpPr txBox="1">
            <a:spLocks noChangeArrowheads="1"/>
          </p:cNvSpPr>
          <p:nvPr/>
        </p:nvSpPr>
        <p:spPr bwMode="auto">
          <a:xfrm>
            <a:off x="228600" y="1079501"/>
            <a:ext cx="381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effectLst>
                  <a:outerShdw blurRad="38100" dist="38100" dir="2700000" algn="tl">
                    <a:srgbClr val="000000">
                      <a:alpha val="43137"/>
                    </a:srgbClr>
                  </a:outerShdw>
                </a:effectLst>
              </a:rPr>
              <a:t>Puede realizar operaciones como:</a:t>
            </a:r>
            <a:endParaRPr lang="es-ES" dirty="0" smtClean="0">
              <a:effectLst>
                <a:outerShdw blurRad="38100" dist="38100" dir="2700000" algn="tl">
                  <a:srgbClr val="000000">
                    <a:alpha val="43137"/>
                  </a:srgbClr>
                </a:outerShdw>
              </a:effectLst>
            </a:endParaRPr>
          </a:p>
        </p:txBody>
      </p:sp>
      <p:sp>
        <p:nvSpPr>
          <p:cNvPr id="40966" name="Text Box 6"/>
          <p:cNvSpPr txBox="1">
            <a:spLocks noChangeArrowheads="1"/>
          </p:cNvSpPr>
          <p:nvPr/>
        </p:nvSpPr>
        <p:spPr bwMode="auto">
          <a:xfrm>
            <a:off x="228600" y="3338513"/>
            <a:ext cx="86106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effectLst>
                  <a:outerShdw blurRad="38100" dist="38100" dir="2700000" algn="tl">
                    <a:srgbClr val="000000">
                      <a:alpha val="43137"/>
                    </a:srgbClr>
                  </a:outerShdw>
                </a:effectLst>
              </a:rPr>
              <a:t>Las operaciones aritméticas básica son: sumas, restas, productos, cocientes. Pero todas estas operaciones se basan en procedimientos de comparaciones a nivel de bits, generación de acarreos y corrimientos de registros.</a:t>
            </a:r>
            <a:endParaRPr lang="es-ES" dirty="0" smtClean="0">
              <a:effectLst>
                <a:outerShdw blurRad="38100" dist="38100" dir="2700000" algn="tl">
                  <a:srgbClr val="000000">
                    <a:alpha val="43137"/>
                  </a:srgbClr>
                </a:outerShdw>
              </a:effectLst>
            </a:endParaRPr>
          </a:p>
        </p:txBody>
      </p:sp>
      <p:sp>
        <p:nvSpPr>
          <p:cNvPr id="40967" name="Text Box 7"/>
          <p:cNvSpPr txBox="1">
            <a:spLocks noChangeArrowheads="1"/>
          </p:cNvSpPr>
          <p:nvPr/>
        </p:nvSpPr>
        <p:spPr bwMode="auto">
          <a:xfrm>
            <a:off x="228600" y="4389438"/>
            <a:ext cx="861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solidFill>
                  <a:srgbClr val="FF0000"/>
                </a:solidFill>
                <a:effectLst>
                  <a:outerShdw blurRad="38100" dist="38100" dir="2700000" algn="tl">
                    <a:srgbClr val="000000">
                      <a:alpha val="43137"/>
                    </a:srgbClr>
                  </a:outerShdw>
                </a:effectLst>
              </a:rPr>
              <a:t>Todas sus operaciones las realiza valiéndose de un circuito sumador, es decir, un circuito que básicamente realiza sumas.</a:t>
            </a:r>
            <a:endParaRPr lang="es-ES" dirty="0" smtClean="0">
              <a:solidFill>
                <a:srgbClr val="FF0000"/>
              </a:solidFill>
              <a:effectLst>
                <a:outerShdw blurRad="38100" dist="38100" dir="2700000" algn="tl">
                  <a:srgbClr val="000000">
                    <a:alpha val="43137"/>
                  </a:srgbClr>
                </a:outerShdw>
              </a:effectLst>
            </a:endParaRPr>
          </a:p>
        </p:txBody>
      </p:sp>
      <p:sp>
        <p:nvSpPr>
          <p:cNvPr id="40968" name="Text Box 8"/>
          <p:cNvSpPr txBox="1">
            <a:spLocks noChangeArrowheads="1"/>
          </p:cNvSpPr>
          <p:nvPr/>
        </p:nvSpPr>
        <p:spPr bwMode="auto">
          <a:xfrm>
            <a:off x="228600" y="5153025"/>
            <a:ext cx="8610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rPr>
              <a:t>Aplicando ciertos artificios puede realizar, con solo ese circuito sumador, la demás operaciones.</a:t>
            </a:r>
            <a:endParaRPr lang="es-ES" smtClean="0">
              <a:effectLst>
                <a:outerShdw blurRad="38100" dist="38100" dir="2700000" algn="tl">
                  <a:srgbClr val="000000">
                    <a:alpha val="43137"/>
                  </a:srgbClr>
                </a:outerShdw>
              </a:effectLst>
            </a:endParaRPr>
          </a:p>
        </p:txBody>
      </p:sp>
      <p:sp>
        <p:nvSpPr>
          <p:cNvPr id="40969" name="Text Box 9"/>
          <p:cNvSpPr txBox="1">
            <a:spLocks noChangeArrowheads="1"/>
          </p:cNvSpPr>
          <p:nvPr/>
        </p:nvSpPr>
        <p:spPr bwMode="auto">
          <a:xfrm>
            <a:off x="228600" y="5883275"/>
            <a:ext cx="861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rPr>
              <a:t>La ALU puede trabajar únicamente con números enteros. </a:t>
            </a:r>
            <a:r>
              <a:rPr lang="es-MX" smtClean="0">
                <a:effectLst>
                  <a:outerShdw blurRad="38100" dist="38100" dir="2700000" algn="tl">
                    <a:srgbClr val="000000">
                      <a:alpha val="43137"/>
                    </a:srgbClr>
                  </a:outerShdw>
                </a:effectLst>
                <a:cs typeface="Times New Roman" charset="0"/>
              </a:rPr>
              <a:t>Es de propósito general, está diseñada para manejar números enteros que no son ni muy grandes ni muy pequeños.</a:t>
            </a:r>
            <a:endParaRPr lang="es-ES" smtClean="0">
              <a:effectLst>
                <a:outerShdw blurRad="38100" dist="38100" dir="2700000" algn="tl">
                  <a:srgbClr val="000000">
                    <a:alpha val="43137"/>
                  </a:srgbClr>
                </a:outerShdw>
              </a:effectLst>
              <a:cs typeface="Times New Roman" charset="0"/>
            </a:endParaRPr>
          </a:p>
        </p:txBody>
      </p:sp>
    </p:spTree>
    <p:extLst>
      <p:ext uri="{BB962C8B-B14F-4D97-AF65-F5344CB8AC3E}">
        <p14:creationId xmlns:p14="http://schemas.microsoft.com/office/powerpoint/2010/main" val="11774498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3"/>
          <p:cNvSpPr txBox="1">
            <a:spLocks noChangeArrowheads="1"/>
          </p:cNvSpPr>
          <p:nvPr/>
        </p:nvSpPr>
        <p:spPr bwMode="auto">
          <a:xfrm>
            <a:off x="228600" y="3645024"/>
            <a:ext cx="868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solidFill>
                  <a:srgbClr val="FF0000"/>
                </a:solidFill>
                <a:effectLst>
                  <a:outerShdw blurRad="38100" dist="38100" dir="2700000" algn="tl">
                    <a:srgbClr val="000000">
                      <a:alpha val="43137"/>
                    </a:srgbClr>
                  </a:outerShdw>
                </a:effectLst>
                <a:cs typeface="Times New Roman" charset="0"/>
              </a:rPr>
              <a:t>Antes venía montado sobre la </a:t>
            </a:r>
            <a:r>
              <a:rPr lang="es-MX" dirty="0" err="1" smtClean="0">
                <a:solidFill>
                  <a:srgbClr val="FF0000"/>
                </a:solidFill>
                <a:effectLst>
                  <a:outerShdw blurRad="38100" dist="38100" dir="2700000" algn="tl">
                    <a:srgbClr val="000000">
                      <a:alpha val="43137"/>
                    </a:srgbClr>
                  </a:outerShdw>
                </a:effectLst>
                <a:cs typeface="Times New Roman" charset="0"/>
              </a:rPr>
              <a:t>motherboard</a:t>
            </a:r>
            <a:r>
              <a:rPr lang="es-MX" dirty="0" smtClean="0">
                <a:solidFill>
                  <a:srgbClr val="FF0000"/>
                </a:solidFill>
                <a:effectLst>
                  <a:outerShdw blurRad="38100" dist="38100" dir="2700000" algn="tl">
                    <a:srgbClr val="000000">
                      <a:alpha val="43137"/>
                    </a:srgbClr>
                  </a:outerShdw>
                </a:effectLst>
                <a:cs typeface="Times New Roman" charset="0"/>
              </a:rPr>
              <a:t>. Actualmente viene incorporado dentro de la misma CPU.</a:t>
            </a:r>
          </a:p>
        </p:txBody>
      </p:sp>
      <p:sp>
        <p:nvSpPr>
          <p:cNvPr id="41987" name="Text Box 4"/>
          <p:cNvSpPr txBox="1">
            <a:spLocks noChangeArrowheads="1"/>
          </p:cNvSpPr>
          <p:nvPr/>
        </p:nvSpPr>
        <p:spPr bwMode="auto">
          <a:xfrm>
            <a:off x="228600" y="152400"/>
            <a:ext cx="480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2000" dirty="0">
                <a:solidFill>
                  <a:srgbClr val="FF0000"/>
                </a:solidFill>
              </a:rPr>
              <a:t>El Coprocesador Matemático:</a:t>
            </a:r>
            <a:endParaRPr lang="es-ES" altLang="es-AR" sz="2000" dirty="0">
              <a:solidFill>
                <a:srgbClr val="FF0000"/>
              </a:solidFill>
            </a:endParaRPr>
          </a:p>
        </p:txBody>
      </p:sp>
      <p:sp>
        <p:nvSpPr>
          <p:cNvPr id="38916" name="Text Box 5"/>
          <p:cNvSpPr txBox="1">
            <a:spLocks noChangeArrowheads="1"/>
          </p:cNvSpPr>
          <p:nvPr/>
        </p:nvSpPr>
        <p:spPr bwMode="auto">
          <a:xfrm>
            <a:off x="228600" y="1196752"/>
            <a:ext cx="868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solidFill>
                  <a:srgbClr val="FF0000"/>
                </a:solidFill>
                <a:effectLst>
                  <a:outerShdw blurRad="38100" dist="38100" dir="2700000" algn="tl">
                    <a:srgbClr val="000000">
                      <a:alpha val="43137"/>
                    </a:srgbClr>
                  </a:outerShdw>
                </a:effectLst>
                <a:cs typeface="Times New Roman" charset="0"/>
              </a:rPr>
              <a:t>La ALU no maneja operaciones en punto flotante, forzarla a realizar este tipo de operaciones haría que se bloqueara.</a:t>
            </a:r>
          </a:p>
        </p:txBody>
      </p:sp>
      <p:sp>
        <p:nvSpPr>
          <p:cNvPr id="38917" name="Text Box 6"/>
          <p:cNvSpPr txBox="1">
            <a:spLocks noChangeArrowheads="1"/>
          </p:cNvSpPr>
          <p:nvPr/>
        </p:nvSpPr>
        <p:spPr bwMode="auto">
          <a:xfrm>
            <a:off x="228600" y="2276872"/>
            <a:ext cx="8686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effectLst>
                  <a:outerShdw blurRad="38100" dist="38100" dir="2700000" algn="tl">
                    <a:srgbClr val="000000">
                      <a:alpha val="43137"/>
                    </a:srgbClr>
                  </a:outerShdw>
                </a:effectLst>
                <a:cs typeface="Times New Roman" charset="0"/>
              </a:rPr>
              <a:t>Debido a ello surgió la necesidad de elaborar un circuito especializado que fuera capaz de realizar operaciones matemáticas complicadas en punto flotante con números expresados en notación científica.</a:t>
            </a:r>
            <a:endParaRPr lang="es-ES" dirty="0" smtClean="0">
              <a:effectLst>
                <a:outerShdw blurRad="38100" dist="38100" dir="2700000" algn="tl">
                  <a:srgbClr val="000000">
                    <a:alpha val="43137"/>
                  </a:srgbClr>
                </a:outerShdw>
              </a:effectLst>
            </a:endParaRPr>
          </a:p>
        </p:txBody>
      </p:sp>
      <p:sp>
        <p:nvSpPr>
          <p:cNvPr id="38918" name="Text Box 7"/>
          <p:cNvSpPr txBox="1">
            <a:spLocks noChangeArrowheads="1"/>
          </p:cNvSpPr>
          <p:nvPr/>
        </p:nvSpPr>
        <p:spPr bwMode="auto">
          <a:xfrm>
            <a:off x="228600" y="4714875"/>
            <a:ext cx="868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Software que haga uso del coprocesador matemático:</a:t>
            </a:r>
            <a:endParaRPr lang="es-ES" smtClean="0">
              <a:effectLst>
                <a:outerShdw blurRad="38100" dist="38100" dir="2700000" algn="tl">
                  <a:srgbClr val="000000">
                    <a:alpha val="43137"/>
                  </a:srgbClr>
                </a:outerShdw>
              </a:effectLst>
            </a:endParaRPr>
          </a:p>
        </p:txBody>
      </p:sp>
      <p:sp>
        <p:nvSpPr>
          <p:cNvPr id="38919" name="Text Box 8"/>
          <p:cNvSpPr txBox="1">
            <a:spLocks noChangeArrowheads="1"/>
          </p:cNvSpPr>
          <p:nvPr/>
        </p:nvSpPr>
        <p:spPr bwMode="auto">
          <a:xfrm>
            <a:off x="1447800" y="5108575"/>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smtClean="0">
                <a:effectLst>
                  <a:outerShdw blurRad="38100" dist="38100" dir="2700000" algn="tl">
                    <a:srgbClr val="000000">
                      <a:alpha val="43137"/>
                    </a:srgbClr>
                  </a:outerShdw>
                </a:effectLst>
                <a:cs typeface="Times New Roman" charset="0"/>
              </a:rPr>
              <a:t>Hojas electrónicas</a:t>
            </a:r>
            <a:endParaRPr lang="es-ES" smtClean="0">
              <a:effectLst>
                <a:outerShdw blurRad="38100" dist="38100" dir="2700000" algn="tl">
                  <a:srgbClr val="000000">
                    <a:alpha val="43137"/>
                  </a:srgbClr>
                </a:outerShdw>
              </a:effectLst>
            </a:endParaRPr>
          </a:p>
        </p:txBody>
      </p:sp>
      <p:sp>
        <p:nvSpPr>
          <p:cNvPr id="38920" name="Text Box 9"/>
          <p:cNvSpPr txBox="1">
            <a:spLocks noChangeArrowheads="1"/>
          </p:cNvSpPr>
          <p:nvPr/>
        </p:nvSpPr>
        <p:spPr bwMode="auto">
          <a:xfrm>
            <a:off x="1447800" y="5567363"/>
            <a:ext cx="6869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dirty="0" smtClean="0">
                <a:effectLst>
                  <a:outerShdw blurRad="38100" dist="38100" dir="2700000" algn="tl">
                    <a:srgbClr val="000000">
                      <a:alpha val="43137"/>
                    </a:srgbClr>
                  </a:outerShdw>
                </a:effectLst>
                <a:cs typeface="Times New Roman" charset="0"/>
              </a:rPr>
              <a:t>Programas de diseño CAD </a:t>
            </a:r>
            <a:r>
              <a:rPr lang="en-US" dirty="0" smtClean="0">
                <a:effectLst>
                  <a:outerShdw blurRad="38100" dist="38100" dir="2700000" algn="tl">
                    <a:srgbClr val="000000">
                      <a:alpha val="43137"/>
                    </a:srgbClr>
                  </a:outerShdw>
                </a:effectLst>
                <a:cs typeface="Times New Roman" charset="0"/>
              </a:rPr>
              <a:t>(Computer Aided Design).</a:t>
            </a:r>
            <a:endParaRPr lang="es-ES" dirty="0" smtClean="0">
              <a:effectLst>
                <a:outerShdw blurRad="38100" dist="38100" dir="2700000" algn="tl">
                  <a:srgbClr val="000000">
                    <a:alpha val="43137"/>
                  </a:srgbClr>
                </a:outerShdw>
              </a:effectLst>
            </a:endParaRPr>
          </a:p>
        </p:txBody>
      </p:sp>
      <p:sp>
        <p:nvSpPr>
          <p:cNvPr id="38921" name="Text Box 10"/>
          <p:cNvSpPr txBox="1">
            <a:spLocks noChangeArrowheads="1"/>
          </p:cNvSpPr>
          <p:nvPr/>
        </p:nvSpPr>
        <p:spPr bwMode="auto">
          <a:xfrm>
            <a:off x="228600" y="6086475"/>
            <a:ext cx="830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just" eaLnBrk="1" hangingPunct="1">
              <a:spcBef>
                <a:spcPct val="50000"/>
              </a:spcBef>
              <a:defRPr/>
            </a:pPr>
            <a:r>
              <a:rPr lang="es-MX" i="1" dirty="0" smtClean="0">
                <a:effectLst>
                  <a:outerShdw blurRad="38100" dist="38100" dir="2700000" algn="tl">
                    <a:srgbClr val="000000">
                      <a:alpha val="43137"/>
                    </a:srgbClr>
                  </a:outerShdw>
                </a:effectLst>
                <a:cs typeface="Times New Roman" charset="0"/>
              </a:rPr>
              <a:t>[Estos ni siquiera correrán si un coprocesador no está presente]</a:t>
            </a:r>
            <a:endParaRPr lang="es-ES" i="1" dirty="0" smtClean="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634637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ChangeAspect="1"/>
          </p:cNvGraphicFramePr>
          <p:nvPr/>
        </p:nvGraphicFramePr>
        <p:xfrm>
          <a:off x="388938" y="698500"/>
          <a:ext cx="7916862" cy="4972050"/>
        </p:xfrm>
        <a:graphic>
          <a:graphicData uri="http://schemas.openxmlformats.org/presentationml/2006/ole">
            <mc:AlternateContent xmlns:mc="http://schemas.openxmlformats.org/markup-compatibility/2006">
              <mc:Choice xmlns:v="urn:schemas-microsoft-com:vml" Requires="v">
                <p:oleObj spid="_x0000_s5196" name="Imagen de mapa de bits" r:id="rId3" imgW="7114286" imgH="4466667" progId="Paint.Picture">
                  <p:embed/>
                </p:oleObj>
              </mc:Choice>
              <mc:Fallback>
                <p:oleObj name="Imagen de mapa de bits" r:id="rId3" imgW="7114286" imgH="44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8" y="698500"/>
                        <a:ext cx="7916862"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1" name="Text Box 3"/>
          <p:cNvSpPr txBox="1">
            <a:spLocks noChangeArrowheads="1"/>
          </p:cNvSpPr>
          <p:nvPr/>
        </p:nvSpPr>
        <p:spPr bwMode="auto">
          <a:xfrm>
            <a:off x="3657600" y="5422900"/>
            <a:ext cx="4724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1600"/>
              <a:t>Computadoras más potentes, realizan procesamiento en paralelo. Incorporan varias CPU. El SO debe estar preparado para poder distribuir tareas.</a:t>
            </a:r>
            <a:endParaRPr lang="es-ES" altLang="es-AR" sz="1600"/>
          </a:p>
        </p:txBody>
      </p:sp>
      <p:sp>
        <p:nvSpPr>
          <p:cNvPr id="43012" name="Text Box 4"/>
          <p:cNvSpPr txBox="1">
            <a:spLocks noChangeArrowheads="1"/>
          </p:cNvSpPr>
          <p:nvPr/>
        </p:nvSpPr>
        <p:spPr bwMode="auto">
          <a:xfrm>
            <a:off x="2286000" y="76200"/>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a:t>Procesamiento secuencial y Paralelo</a:t>
            </a:r>
            <a:endParaRPr lang="es-ES" altLang="es-AR"/>
          </a:p>
        </p:txBody>
      </p:sp>
    </p:spTree>
    <p:extLst>
      <p:ext uri="{BB962C8B-B14F-4D97-AF65-F5344CB8AC3E}">
        <p14:creationId xmlns:p14="http://schemas.microsoft.com/office/powerpoint/2010/main" val="25915558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a:xfrm>
            <a:off x="685800" y="2130425"/>
            <a:ext cx="7772400" cy="1470025"/>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Almacenamiento y discos</a:t>
            </a:r>
          </a:p>
        </p:txBody>
      </p:sp>
      <p:sp>
        <p:nvSpPr>
          <p:cNvPr id="2" name="CuadroTexto 1"/>
          <p:cNvSpPr txBox="1"/>
          <p:nvPr/>
        </p:nvSpPr>
        <p:spPr>
          <a:xfrm>
            <a:off x="1566800" y="3629923"/>
            <a:ext cx="6029536" cy="2031325"/>
          </a:xfrm>
          <a:prstGeom prst="rect">
            <a:avLst/>
          </a:prstGeom>
          <a:noFill/>
          <a:ln>
            <a:solidFill>
              <a:schemeClr val="accent1"/>
            </a:solidFill>
          </a:ln>
        </p:spPr>
        <p:txBody>
          <a:bodyPr wrap="none" rtlCol="0">
            <a:spAutoFit/>
          </a:bodyPr>
          <a:lstStyle/>
          <a:p>
            <a:pPr lvl="0"/>
            <a:r>
              <a:rPr lang="es-AR" i="1" dirty="0">
                <a:solidFill>
                  <a:srgbClr val="FF0000"/>
                </a:solidFill>
                <a:effectLst>
                  <a:outerShdw blurRad="38100" dist="38100" dir="2700000" algn="tl">
                    <a:srgbClr val="000000">
                      <a:alpha val="43137"/>
                    </a:srgbClr>
                  </a:outerShdw>
                </a:effectLst>
              </a:rPr>
              <a:t>Capacidad de </a:t>
            </a:r>
            <a:r>
              <a:rPr lang="es-AR" i="1" dirty="0" smtClean="0">
                <a:solidFill>
                  <a:srgbClr val="FF0000"/>
                </a:solidFill>
                <a:effectLst>
                  <a:outerShdw blurRad="38100" dist="38100" dir="2700000" algn="tl">
                    <a:srgbClr val="000000">
                      <a:alpha val="43137"/>
                    </a:srgbClr>
                  </a:outerShdw>
                </a:effectLst>
              </a:rPr>
              <a:t>almacenamiento</a:t>
            </a:r>
          </a:p>
          <a:p>
            <a:pPr lvl="0"/>
            <a:r>
              <a:rPr lang="es-AR" i="1" dirty="0" smtClean="0">
                <a:solidFill>
                  <a:srgbClr val="FF0000"/>
                </a:solidFill>
                <a:effectLst>
                  <a:outerShdw blurRad="38100" dist="38100" dir="2700000" algn="tl">
                    <a:srgbClr val="000000">
                      <a:alpha val="43137"/>
                    </a:srgbClr>
                  </a:outerShdw>
                </a:effectLst>
              </a:rPr>
              <a:t>Cilindro, cabezas, pistas, sectores</a:t>
            </a:r>
            <a:endParaRPr lang="es-MX" i="1" dirty="0">
              <a:solidFill>
                <a:srgbClr val="FF0000"/>
              </a:solidFill>
              <a:effectLst>
                <a:outerShdw blurRad="38100" dist="38100" dir="2700000" algn="tl">
                  <a:srgbClr val="000000">
                    <a:alpha val="43137"/>
                  </a:srgbClr>
                </a:outerShdw>
              </a:effectLst>
            </a:endParaRPr>
          </a:p>
          <a:p>
            <a:pPr lvl="0"/>
            <a:r>
              <a:rPr lang="es-AR" i="1" dirty="0" smtClean="0">
                <a:solidFill>
                  <a:srgbClr val="FF0000"/>
                </a:solidFill>
                <a:effectLst>
                  <a:outerShdw blurRad="38100" dist="38100" dir="2700000" algn="tl">
                    <a:srgbClr val="000000">
                      <a:alpha val="43137"/>
                    </a:srgbClr>
                  </a:outerShdw>
                </a:effectLst>
              </a:rPr>
              <a:t>Tipo </a:t>
            </a:r>
            <a:r>
              <a:rPr lang="es-AR" i="1" dirty="0">
                <a:solidFill>
                  <a:srgbClr val="FF0000"/>
                </a:solidFill>
                <a:effectLst>
                  <a:outerShdw blurRad="38100" dist="38100" dir="2700000" algn="tl">
                    <a:srgbClr val="000000">
                      <a:alpha val="43137"/>
                    </a:srgbClr>
                  </a:outerShdw>
                </a:effectLst>
              </a:rPr>
              <a:t>de unidad (IDE, SCSI)</a:t>
            </a:r>
            <a:endParaRPr lang="es-MX" i="1" dirty="0">
              <a:solidFill>
                <a:srgbClr val="FF0000"/>
              </a:solidFill>
              <a:effectLst>
                <a:outerShdw blurRad="38100" dist="38100" dir="2700000" algn="tl">
                  <a:srgbClr val="000000">
                    <a:alpha val="43137"/>
                  </a:srgbClr>
                </a:outerShdw>
              </a:effectLst>
            </a:endParaRPr>
          </a:p>
          <a:p>
            <a:pPr lvl="0"/>
            <a:r>
              <a:rPr lang="es-AR" i="1" dirty="0" smtClean="0">
                <a:solidFill>
                  <a:srgbClr val="FF0000"/>
                </a:solidFill>
                <a:effectLst>
                  <a:outerShdw blurRad="38100" dist="38100" dir="2700000" algn="tl">
                    <a:srgbClr val="000000">
                      <a:alpha val="43137"/>
                    </a:srgbClr>
                  </a:outerShdw>
                </a:effectLst>
              </a:rPr>
              <a:t>Tiempos (Acceso, Promedio, Latencia, Rotación, Transferencia)</a:t>
            </a:r>
            <a:endParaRPr lang="es-MX" i="1" dirty="0">
              <a:solidFill>
                <a:srgbClr val="FF0000"/>
              </a:solidFill>
              <a:effectLst>
                <a:outerShdw blurRad="38100" dist="38100" dir="2700000" algn="tl">
                  <a:srgbClr val="000000">
                    <a:alpha val="43137"/>
                  </a:srgbClr>
                </a:outerShdw>
              </a:effectLst>
            </a:endParaRPr>
          </a:p>
          <a:p>
            <a:pPr lvl="0"/>
            <a:r>
              <a:rPr lang="es-AR" i="1" dirty="0" smtClean="0">
                <a:solidFill>
                  <a:srgbClr val="FF0000"/>
                </a:solidFill>
                <a:effectLst>
                  <a:outerShdw blurRad="38100" dist="38100" dir="2700000" algn="tl">
                    <a:srgbClr val="000000">
                      <a:alpha val="43137"/>
                    </a:srgbClr>
                  </a:outerShdw>
                </a:effectLst>
              </a:rPr>
              <a:t>Concepto de caché (Tamaño </a:t>
            </a:r>
            <a:r>
              <a:rPr lang="es-AR" i="1" dirty="0">
                <a:solidFill>
                  <a:srgbClr val="FF0000"/>
                </a:solidFill>
                <a:effectLst>
                  <a:outerShdw blurRad="38100" dist="38100" dir="2700000" algn="tl">
                    <a:srgbClr val="000000">
                      <a:alpha val="43137"/>
                    </a:srgbClr>
                  </a:outerShdw>
                </a:effectLst>
              </a:rPr>
              <a:t>y </a:t>
            </a:r>
            <a:r>
              <a:rPr lang="es-AR" i="1" dirty="0" smtClean="0">
                <a:solidFill>
                  <a:srgbClr val="FF0000"/>
                </a:solidFill>
                <a:effectLst>
                  <a:outerShdw blurRad="38100" dist="38100" dir="2700000" algn="tl">
                    <a:srgbClr val="000000">
                      <a:alpha val="43137"/>
                    </a:srgbClr>
                  </a:outerShdw>
                </a:effectLst>
              </a:rPr>
              <a:t>performance)</a:t>
            </a:r>
            <a:endParaRPr lang="es-MX" i="1" dirty="0">
              <a:solidFill>
                <a:srgbClr val="FF0000"/>
              </a:solidFill>
              <a:effectLst>
                <a:outerShdw blurRad="38100" dist="38100" dir="2700000" algn="tl">
                  <a:srgbClr val="000000">
                    <a:alpha val="43137"/>
                  </a:srgbClr>
                </a:outerShdw>
              </a:effectLst>
            </a:endParaRPr>
          </a:p>
          <a:p>
            <a:pPr lvl="0"/>
            <a:r>
              <a:rPr lang="es-AR" i="1" dirty="0">
                <a:solidFill>
                  <a:srgbClr val="FF0000"/>
                </a:solidFill>
                <a:effectLst>
                  <a:outerShdw blurRad="38100" dist="38100" dir="2700000" algn="tl">
                    <a:srgbClr val="000000">
                      <a:alpha val="43137"/>
                    </a:srgbClr>
                  </a:outerShdw>
                </a:effectLst>
              </a:rPr>
              <a:t>Costo por MB almacenado</a:t>
            </a:r>
            <a:endParaRPr lang="es-MX" i="1" dirty="0">
              <a:solidFill>
                <a:srgbClr val="FF0000"/>
              </a:solidFill>
              <a:effectLst>
                <a:outerShdw blurRad="38100" dist="38100" dir="2700000" algn="tl">
                  <a:srgbClr val="000000">
                    <a:alpha val="43137"/>
                  </a:srgbClr>
                </a:outerShdw>
              </a:effectLst>
            </a:endParaRPr>
          </a:p>
          <a:p>
            <a:endParaRPr lang="es-MX"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824208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Discos y almacenamiento</a:t>
            </a:r>
          </a:p>
        </p:txBody>
      </p:sp>
      <p:sp>
        <p:nvSpPr>
          <p:cNvPr id="45059" name="Rectangle 2"/>
          <p:cNvSpPr>
            <a:spLocks noGrp="1" noChangeArrowheads="1"/>
          </p:cNvSpPr>
          <p:nvPr>
            <p:ph idx="1"/>
          </p:nvPr>
        </p:nvSpPr>
        <p:spPr>
          <a:xfrm>
            <a:off x="457200" y="2176463"/>
            <a:ext cx="8229600" cy="2116137"/>
          </a:xfrm>
        </p:spPr>
        <p:txBody>
          <a:bodyPr/>
          <a:lstStyle/>
          <a:p>
            <a:pPr marL="0" indent="0">
              <a:buFont typeface="Wingdings" panose="05000000000000000000" pitchFamily="2" charset="2"/>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n-GB" altLang="es-AR" dirty="0" smtClean="0"/>
              <a:t>Cintas </a:t>
            </a:r>
            <a:r>
              <a:rPr lang="en-GB" altLang="es-AR" dirty="0" err="1" smtClean="0"/>
              <a:t>magnéticas</a:t>
            </a:r>
            <a:endParaRPr lang="en-GB" altLang="es-AR" dirty="0" smtClean="0"/>
          </a:p>
          <a:p>
            <a:pPr marL="0" indent="0">
              <a:buFont typeface="Wingdings" panose="05000000000000000000" pitchFamily="2" charset="2"/>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n-GB" altLang="es-AR" dirty="0" smtClean="0"/>
              <a:t>Discos </a:t>
            </a:r>
            <a:r>
              <a:rPr lang="en-GB" altLang="es-AR" dirty="0" err="1" smtClean="0"/>
              <a:t>magnéticos</a:t>
            </a:r>
            <a:endParaRPr lang="en-GB" altLang="es-AR" dirty="0" smtClean="0"/>
          </a:p>
        </p:txBody>
      </p:sp>
    </p:spTree>
    <p:extLst>
      <p:ext uri="{BB962C8B-B14F-4D97-AF65-F5344CB8AC3E}">
        <p14:creationId xmlns:p14="http://schemas.microsoft.com/office/powerpoint/2010/main" val="31938113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Motivación (1)</a:t>
            </a:r>
            <a:r>
              <a:rPr lang="ar-SA" altLang="es-AR" smtClean="0">
                <a:cs typeface="Arial" panose="020B0604020202020204" pitchFamily="34" charset="0"/>
              </a:rPr>
              <a:t>‏</a:t>
            </a:r>
            <a:endParaRPr lang="en-GB" altLang="es-AR" smtClean="0"/>
          </a:p>
        </p:txBody>
      </p:sp>
      <p:sp>
        <p:nvSpPr>
          <p:cNvPr id="46083" name="Rectangle 2"/>
          <p:cNvSpPr>
            <a:spLocks noGrp="1" noChangeArrowheads="1"/>
          </p:cNvSpPr>
          <p:nvPr>
            <p:ph idx="1"/>
          </p:nvPr>
        </p:nvSpPr>
        <p:spPr>
          <a:xfrm>
            <a:off x="457200" y="2420938"/>
            <a:ext cx="8229600" cy="3705225"/>
          </a:xfrm>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Memoria</a:t>
            </a:r>
            <a:r>
              <a:rPr lang="en-GB" altLang="es-AR" dirty="0" smtClean="0"/>
              <a:t> </a:t>
            </a:r>
            <a:r>
              <a:rPr lang="en-GB" altLang="es-AR" dirty="0" err="1" smtClean="0"/>
              <a:t>volátil</a:t>
            </a:r>
            <a:r>
              <a:rPr lang="en-GB" altLang="es-AR" dirty="0" smtClean="0"/>
              <a:t> se </a:t>
            </a:r>
            <a:r>
              <a:rPr lang="en-GB" altLang="es-AR" dirty="0" err="1" smtClean="0"/>
              <a:t>pierde</a:t>
            </a:r>
            <a:r>
              <a:rPr lang="en-GB" altLang="es-AR" dirty="0" smtClean="0"/>
              <a:t> al </a:t>
            </a:r>
            <a:r>
              <a:rPr lang="en-GB" altLang="es-AR" dirty="0" err="1" smtClean="0"/>
              <a:t>apagarse</a:t>
            </a:r>
            <a:r>
              <a:rPr lang="en-GB" altLang="es-AR" dirty="0" smtClean="0"/>
              <a:t> la </a:t>
            </a:r>
            <a:r>
              <a:rPr lang="en-GB" altLang="es-AR" dirty="0" err="1" smtClean="0"/>
              <a:t>computadora</a:t>
            </a:r>
            <a:endParaRPr lang="en-GB" altLang="es-AR" dirty="0"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Primeros</a:t>
            </a:r>
            <a:r>
              <a:rPr lang="en-GB" altLang="es-AR" dirty="0" smtClean="0"/>
              <a:t> </a:t>
            </a:r>
            <a:r>
              <a:rPr lang="en-GB" altLang="es-AR" dirty="0" err="1" smtClean="0"/>
              <a:t>medios</a:t>
            </a:r>
            <a:r>
              <a:rPr lang="en-GB" altLang="es-AR" dirty="0" smtClean="0"/>
              <a:t> de </a:t>
            </a:r>
            <a:r>
              <a:rPr lang="en-GB" altLang="es-AR" dirty="0" err="1" smtClean="0"/>
              <a:t>almacenamiento</a:t>
            </a:r>
            <a:r>
              <a:rPr lang="en-GB" altLang="es-AR" dirty="0" smtClean="0"/>
              <a:t> </a:t>
            </a:r>
            <a:r>
              <a:rPr lang="en-GB" altLang="es-AR" dirty="0" err="1" smtClean="0"/>
              <a:t>perdurables</a:t>
            </a:r>
            <a:endParaRPr lang="en-GB" altLang="es-AR" dirty="0" smtClean="0"/>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smtClean="0"/>
              <a:t>Cintas </a:t>
            </a:r>
            <a:r>
              <a:rPr lang="en-GB" altLang="es-AR" dirty="0" err="1" smtClean="0"/>
              <a:t>magnéticas</a:t>
            </a:r>
            <a:endParaRPr lang="en-GB" altLang="es-AR" dirty="0" smtClean="0"/>
          </a:p>
        </p:txBody>
      </p:sp>
    </p:spTree>
    <p:extLst>
      <p:ext uri="{BB962C8B-B14F-4D97-AF65-F5344CB8AC3E}">
        <p14:creationId xmlns:p14="http://schemas.microsoft.com/office/powerpoint/2010/main" val="405010385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Cintas Magnéticas</a:t>
            </a:r>
          </a:p>
        </p:txBody>
      </p:sp>
      <p:pic>
        <p:nvPicPr>
          <p:cNvPr id="4710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850" y="1341438"/>
            <a:ext cx="8388350" cy="248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47108" name="Text Box 3"/>
          <p:cNvSpPr txBox="1">
            <a:spLocks noChangeArrowheads="1"/>
          </p:cNvSpPr>
          <p:nvPr/>
        </p:nvSpPr>
        <p:spPr bwMode="auto">
          <a:xfrm>
            <a:off x="755650" y="4005064"/>
            <a:ext cx="7194550" cy="26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Tahoma" panose="020B0604030504040204" pitchFamily="34" charset="0"/>
              </a:defRPr>
            </a:lvl9pPr>
          </a:lstStyle>
          <a:p>
            <a:pPr eaLnBrk="1" hangingPunct="1">
              <a:buFont typeface="Arial" panose="020B0604020202020204" pitchFamily="34" charset="0"/>
              <a:buChar char="•"/>
            </a:pPr>
            <a:r>
              <a:rPr lang="en-GB" altLang="es-AR" sz="2400" dirty="0" smtClean="0">
                <a:solidFill>
                  <a:srgbClr val="000000"/>
                </a:solidFill>
                <a:latin typeface="Arial" panose="020B0604020202020204" pitchFamily="34" charset="0"/>
              </a:rPr>
              <a:t>Baja </a:t>
            </a:r>
            <a:r>
              <a:rPr lang="en-GB" altLang="es-AR" sz="2400" dirty="0" err="1" smtClean="0">
                <a:solidFill>
                  <a:srgbClr val="000000"/>
                </a:solidFill>
                <a:latin typeface="Arial" panose="020B0604020202020204" pitchFamily="34" charset="0"/>
              </a:rPr>
              <a:t>capacidad</a:t>
            </a:r>
            <a:r>
              <a:rPr lang="en-GB" altLang="es-AR" sz="2400" dirty="0" smtClean="0">
                <a:solidFill>
                  <a:srgbClr val="000000"/>
                </a:solidFill>
                <a:latin typeface="Arial" panose="020B0604020202020204" pitchFamily="34" charset="0"/>
              </a:rPr>
              <a:t> de </a:t>
            </a:r>
            <a:r>
              <a:rPr lang="en-GB" altLang="es-AR" sz="2400" dirty="0" err="1" smtClean="0">
                <a:solidFill>
                  <a:srgbClr val="000000"/>
                </a:solidFill>
                <a:latin typeface="Arial" panose="020B0604020202020204" pitchFamily="34" charset="0"/>
              </a:rPr>
              <a:t>almacenamiento</a:t>
            </a:r>
            <a:endParaRPr lang="en-GB" altLang="es-AR" sz="2400" dirty="0">
              <a:solidFill>
                <a:srgbClr val="000000"/>
              </a:solidFill>
              <a:latin typeface="Arial" panose="020B0604020202020204" pitchFamily="34" charset="0"/>
            </a:endParaRPr>
          </a:p>
          <a:p>
            <a:pPr eaLnBrk="1" hangingPunct="1">
              <a:buFont typeface="Arial" panose="020B0604020202020204" pitchFamily="34" charset="0"/>
              <a:buChar char="•"/>
            </a:pPr>
            <a:r>
              <a:rPr lang="en-GB" altLang="es-AR" sz="2400" dirty="0" err="1" smtClean="0">
                <a:solidFill>
                  <a:srgbClr val="000000"/>
                </a:solidFill>
                <a:latin typeface="Arial" panose="020B0604020202020204" pitchFamily="34" charset="0"/>
              </a:rPr>
              <a:t>Tiempo</a:t>
            </a:r>
            <a:r>
              <a:rPr lang="en-GB" altLang="es-AR" sz="2400" dirty="0" smtClean="0">
                <a:solidFill>
                  <a:srgbClr val="000000"/>
                </a:solidFill>
                <a:latin typeface="Arial" panose="020B0604020202020204" pitchFamily="34" charset="0"/>
              </a:rPr>
              <a:t> </a:t>
            </a:r>
            <a:r>
              <a:rPr lang="en-GB" altLang="es-AR" sz="2400" dirty="0" err="1" smtClean="0">
                <a:solidFill>
                  <a:srgbClr val="000000"/>
                </a:solidFill>
                <a:latin typeface="Arial" panose="020B0604020202020204" pitchFamily="34" charset="0"/>
              </a:rPr>
              <a:t>excesivo</a:t>
            </a:r>
            <a:r>
              <a:rPr lang="en-GB" altLang="es-AR" sz="2400" dirty="0" smtClean="0">
                <a:solidFill>
                  <a:srgbClr val="000000"/>
                </a:solidFill>
                <a:latin typeface="Arial" panose="020B0604020202020204" pitchFamily="34" charset="0"/>
              </a:rPr>
              <a:t> para </a:t>
            </a:r>
            <a:r>
              <a:rPr lang="en-GB" altLang="es-AR" sz="2400" dirty="0">
                <a:solidFill>
                  <a:srgbClr val="000000"/>
                </a:solidFill>
                <a:latin typeface="Arial" panose="020B0604020202020204" pitchFamily="34" charset="0"/>
              </a:rPr>
              <a:t>leer/</a:t>
            </a:r>
            <a:r>
              <a:rPr lang="en-GB" altLang="es-AR" sz="2400" dirty="0" err="1">
                <a:solidFill>
                  <a:srgbClr val="000000"/>
                </a:solidFill>
                <a:latin typeface="Arial" panose="020B0604020202020204" pitchFamily="34" charset="0"/>
              </a:rPr>
              <a:t>escribir</a:t>
            </a:r>
            <a:r>
              <a:rPr lang="en-GB" altLang="es-AR" sz="2400" dirty="0">
                <a:solidFill>
                  <a:srgbClr val="000000"/>
                </a:solidFill>
                <a:latin typeface="Arial" panose="020B0604020202020204" pitchFamily="34" charset="0"/>
              </a:rPr>
              <a:t> la </a:t>
            </a:r>
            <a:r>
              <a:rPr lang="en-GB" altLang="es-AR" sz="2400" dirty="0" err="1">
                <a:solidFill>
                  <a:srgbClr val="000000"/>
                </a:solidFill>
                <a:latin typeface="Arial" panose="020B0604020202020204" pitchFamily="34" charset="0"/>
              </a:rPr>
              <a:t>cinta</a:t>
            </a:r>
            <a:r>
              <a:rPr lang="en-GB" altLang="es-AR" sz="2400" dirty="0">
                <a:solidFill>
                  <a:srgbClr val="000000"/>
                </a:solidFill>
                <a:latin typeface="Arial" panose="020B0604020202020204" pitchFamily="34" charset="0"/>
              </a:rPr>
              <a:t> </a:t>
            </a:r>
            <a:r>
              <a:rPr lang="en-GB" altLang="es-AR" sz="2400" dirty="0" err="1">
                <a:solidFill>
                  <a:srgbClr val="000000"/>
                </a:solidFill>
                <a:latin typeface="Arial" panose="020B0604020202020204" pitchFamily="34" charset="0"/>
              </a:rPr>
              <a:t>completa</a:t>
            </a:r>
            <a:endParaRPr lang="en-GB" altLang="es-AR" sz="2400" dirty="0">
              <a:solidFill>
                <a:srgbClr val="000000"/>
              </a:solidFill>
              <a:latin typeface="Arial" panose="020B0604020202020204" pitchFamily="34" charset="0"/>
            </a:endParaRPr>
          </a:p>
          <a:p>
            <a:pPr eaLnBrk="1" hangingPunct="1">
              <a:buFont typeface="Arial" panose="020B0604020202020204" pitchFamily="34" charset="0"/>
              <a:buChar char="•"/>
            </a:pPr>
            <a:r>
              <a:rPr lang="en-GB" altLang="es-AR" sz="2400" dirty="0" err="1">
                <a:solidFill>
                  <a:srgbClr val="000000"/>
                </a:solidFill>
                <a:latin typeface="Arial" panose="020B0604020202020204" pitchFamily="34" charset="0"/>
              </a:rPr>
              <a:t>Interblock</a:t>
            </a:r>
            <a:r>
              <a:rPr lang="en-GB" altLang="es-AR" sz="2400" dirty="0">
                <a:solidFill>
                  <a:srgbClr val="000000"/>
                </a:solidFill>
                <a:latin typeface="Arial" panose="020B0604020202020204" pitchFamily="34" charset="0"/>
              </a:rPr>
              <a:t> gap: </a:t>
            </a:r>
            <a:r>
              <a:rPr lang="en-GB" altLang="es-AR" sz="2400" dirty="0" err="1">
                <a:solidFill>
                  <a:srgbClr val="000000"/>
                </a:solidFill>
                <a:latin typeface="Arial" panose="020B0604020202020204" pitchFamily="34" charset="0"/>
              </a:rPr>
              <a:t>distancia</a:t>
            </a:r>
            <a:r>
              <a:rPr lang="en-GB" altLang="es-AR" sz="2400" dirty="0">
                <a:solidFill>
                  <a:srgbClr val="000000"/>
                </a:solidFill>
                <a:latin typeface="Arial" panose="020B0604020202020204" pitchFamily="34" charset="0"/>
              </a:rPr>
              <a:t> para </a:t>
            </a:r>
            <a:r>
              <a:rPr lang="en-GB" altLang="es-AR" sz="2400" dirty="0" err="1">
                <a:solidFill>
                  <a:srgbClr val="000000"/>
                </a:solidFill>
                <a:latin typeface="Arial" panose="020B0604020202020204" pitchFamily="34" charset="0"/>
              </a:rPr>
              <a:t>frenar</a:t>
            </a:r>
            <a:r>
              <a:rPr lang="en-GB" altLang="es-AR" sz="2400" dirty="0">
                <a:solidFill>
                  <a:srgbClr val="000000"/>
                </a:solidFill>
                <a:latin typeface="Arial" panose="020B0604020202020204" pitchFamily="34" charset="0"/>
              </a:rPr>
              <a:t>/</a:t>
            </a:r>
            <a:r>
              <a:rPr lang="en-GB" altLang="es-AR" sz="2400" dirty="0" err="1">
                <a:solidFill>
                  <a:srgbClr val="000000"/>
                </a:solidFill>
                <a:latin typeface="Arial" panose="020B0604020202020204" pitchFamily="34" charset="0"/>
              </a:rPr>
              <a:t>arrancar</a:t>
            </a:r>
            <a:r>
              <a:rPr lang="en-GB" altLang="es-AR" sz="2400" dirty="0">
                <a:solidFill>
                  <a:srgbClr val="000000"/>
                </a:solidFill>
                <a:latin typeface="Arial" panose="020B0604020202020204" pitchFamily="34" charset="0"/>
              </a:rPr>
              <a:t> la </a:t>
            </a:r>
            <a:r>
              <a:rPr lang="en-GB" altLang="es-AR" sz="2400" dirty="0" err="1">
                <a:solidFill>
                  <a:srgbClr val="000000"/>
                </a:solidFill>
                <a:latin typeface="Arial" panose="020B0604020202020204" pitchFamily="34" charset="0"/>
              </a:rPr>
              <a:t>cinta</a:t>
            </a:r>
            <a:endParaRPr lang="en-GB" altLang="es-AR" sz="2400" dirty="0">
              <a:solidFill>
                <a:srgbClr val="000000"/>
              </a:solidFill>
              <a:latin typeface="Arial" panose="020B0604020202020204" pitchFamily="34" charset="0"/>
            </a:endParaRPr>
          </a:p>
          <a:p>
            <a:pPr eaLnBrk="1" hangingPunct="1">
              <a:buFont typeface="Arial" panose="020B0604020202020204" pitchFamily="34" charset="0"/>
              <a:buChar char="•"/>
            </a:pPr>
            <a:r>
              <a:rPr lang="en-GB" altLang="es-AR" sz="2400" dirty="0" err="1">
                <a:solidFill>
                  <a:srgbClr val="000000"/>
                </a:solidFill>
                <a:latin typeface="Arial" panose="020B0604020202020204" pitchFamily="34" charset="0"/>
              </a:rPr>
              <a:t>Interrecord</a:t>
            </a:r>
            <a:r>
              <a:rPr lang="en-GB" altLang="es-AR" sz="2400" dirty="0">
                <a:solidFill>
                  <a:srgbClr val="000000"/>
                </a:solidFill>
                <a:latin typeface="Arial" panose="020B0604020202020204" pitchFamily="34" charset="0"/>
              </a:rPr>
              <a:t> gap: </a:t>
            </a:r>
            <a:r>
              <a:rPr lang="en-GB" altLang="es-AR" sz="2400" dirty="0" err="1">
                <a:solidFill>
                  <a:srgbClr val="000000"/>
                </a:solidFill>
                <a:latin typeface="Arial" panose="020B0604020202020204" pitchFamily="34" charset="0"/>
              </a:rPr>
              <a:t>distancia</a:t>
            </a:r>
            <a:r>
              <a:rPr lang="en-GB" altLang="es-AR" sz="2400" dirty="0">
                <a:solidFill>
                  <a:srgbClr val="000000"/>
                </a:solidFill>
                <a:latin typeface="Arial" panose="020B0604020202020204" pitchFamily="34" charset="0"/>
              </a:rPr>
              <a:t> para </a:t>
            </a:r>
            <a:r>
              <a:rPr lang="en-GB" altLang="es-AR" sz="2400" dirty="0" err="1">
                <a:solidFill>
                  <a:srgbClr val="000000"/>
                </a:solidFill>
                <a:latin typeface="Arial" panose="020B0604020202020204" pitchFamily="34" charset="0"/>
              </a:rPr>
              <a:t>procesar</a:t>
            </a:r>
            <a:r>
              <a:rPr lang="en-GB" altLang="es-AR" sz="2400" dirty="0">
                <a:solidFill>
                  <a:srgbClr val="000000"/>
                </a:solidFill>
                <a:latin typeface="Arial" panose="020B0604020202020204" pitchFamily="34" charset="0"/>
              </a:rPr>
              <a:t> el </a:t>
            </a:r>
            <a:r>
              <a:rPr lang="en-GB" altLang="es-AR" sz="2400" dirty="0" err="1">
                <a:solidFill>
                  <a:srgbClr val="000000"/>
                </a:solidFill>
                <a:latin typeface="Arial" panose="020B0604020202020204" pitchFamily="34" charset="0"/>
              </a:rPr>
              <a:t>registro</a:t>
            </a:r>
            <a:endParaRPr lang="en-GB" altLang="es-AR" sz="2400" dirty="0">
              <a:solidFill>
                <a:srgbClr val="000000"/>
              </a:solidFill>
              <a:latin typeface="Arial" panose="020B0604020202020204" pitchFamily="34" charset="0"/>
            </a:endParaRPr>
          </a:p>
          <a:p>
            <a:pPr eaLnBrk="1" hangingPunct="1">
              <a:buFont typeface="Arial" panose="020B0604020202020204" pitchFamily="34" charset="0"/>
              <a:buChar char="•"/>
            </a:pPr>
            <a:r>
              <a:rPr lang="en-GB" altLang="es-AR" sz="2400" dirty="0">
                <a:solidFill>
                  <a:srgbClr val="000000"/>
                </a:solidFill>
                <a:latin typeface="Arial" panose="020B0604020202020204" pitchFamily="34" charset="0"/>
              </a:rPr>
              <a:t>Se </a:t>
            </a:r>
            <a:r>
              <a:rPr lang="en-GB" altLang="es-AR" sz="2400" dirty="0" err="1">
                <a:solidFill>
                  <a:srgbClr val="000000"/>
                </a:solidFill>
                <a:latin typeface="Arial" panose="020B0604020202020204" pitchFamily="34" charset="0"/>
              </a:rPr>
              <a:t>tiene</a:t>
            </a:r>
            <a:r>
              <a:rPr lang="en-GB" altLang="es-AR" sz="2400" dirty="0">
                <a:solidFill>
                  <a:srgbClr val="000000"/>
                </a:solidFill>
                <a:latin typeface="Arial" panose="020B0604020202020204" pitchFamily="34" charset="0"/>
              </a:rPr>
              <a:t> </a:t>
            </a:r>
            <a:r>
              <a:rPr lang="en-GB" altLang="es-AR" sz="2400" dirty="0" err="1">
                <a:solidFill>
                  <a:srgbClr val="000000"/>
                </a:solidFill>
                <a:latin typeface="Arial" panose="020B0604020202020204" pitchFamily="34" charset="0"/>
              </a:rPr>
              <a:t>que</a:t>
            </a:r>
            <a:r>
              <a:rPr lang="en-GB" altLang="es-AR" sz="2400" dirty="0">
                <a:solidFill>
                  <a:srgbClr val="000000"/>
                </a:solidFill>
                <a:latin typeface="Arial" panose="020B0604020202020204" pitchFamily="34" charset="0"/>
              </a:rPr>
              <a:t> </a:t>
            </a:r>
            <a:r>
              <a:rPr lang="en-GB" altLang="es-AR" sz="2400" dirty="0" err="1">
                <a:solidFill>
                  <a:srgbClr val="000000"/>
                </a:solidFill>
                <a:latin typeface="Arial" panose="020B0604020202020204" pitchFamily="34" charset="0"/>
              </a:rPr>
              <a:t>transferir</a:t>
            </a:r>
            <a:r>
              <a:rPr lang="en-GB" altLang="es-AR" sz="2400" dirty="0">
                <a:solidFill>
                  <a:srgbClr val="000000"/>
                </a:solidFill>
                <a:latin typeface="Arial" panose="020B0604020202020204" pitchFamily="34" charset="0"/>
              </a:rPr>
              <a:t> un </a:t>
            </a:r>
            <a:r>
              <a:rPr lang="en-GB" altLang="es-AR" sz="2400" dirty="0" err="1">
                <a:solidFill>
                  <a:srgbClr val="000000"/>
                </a:solidFill>
                <a:latin typeface="Arial" panose="020B0604020202020204" pitchFamily="34" charset="0"/>
              </a:rPr>
              <a:t>bloque</a:t>
            </a:r>
            <a:r>
              <a:rPr lang="en-GB" altLang="es-AR" sz="2400" dirty="0">
                <a:solidFill>
                  <a:srgbClr val="000000"/>
                </a:solidFill>
                <a:latin typeface="Arial" panose="020B0604020202020204" pitchFamily="34" charset="0"/>
              </a:rPr>
              <a:t> ENTERO</a:t>
            </a:r>
          </a:p>
        </p:txBody>
      </p:sp>
    </p:spTree>
    <p:extLst>
      <p:ext uri="{BB962C8B-B14F-4D97-AF65-F5344CB8AC3E}">
        <p14:creationId xmlns:p14="http://schemas.microsoft.com/office/powerpoint/2010/main" val="2889567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 magnético</a:t>
            </a:r>
          </a:p>
        </p:txBody>
      </p:sp>
      <p:pic>
        <p:nvPicPr>
          <p:cNvPr id="4813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75" y="1416050"/>
            <a:ext cx="7786688" cy="515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9966985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 Rígido (1)</a:t>
            </a:r>
            <a:r>
              <a:rPr lang="ar-SA" altLang="es-AR" smtClean="0">
                <a:cs typeface="Arial" panose="020B0604020202020204" pitchFamily="34" charset="0"/>
              </a:rPr>
              <a:t>‏</a:t>
            </a:r>
            <a:endParaRPr lang="en-GB" altLang="es-AR" smtClean="0"/>
          </a:p>
        </p:txBody>
      </p:sp>
      <p:pic>
        <p:nvPicPr>
          <p:cNvPr id="5120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350" y="1341438"/>
            <a:ext cx="626427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120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8313" y="4208463"/>
            <a:ext cx="8424862"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9658350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Discos Rígidos</a:t>
            </a:r>
          </a:p>
        </p:txBody>
      </p:sp>
      <p:pic>
        <p:nvPicPr>
          <p:cNvPr id="5222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850" y="1844675"/>
            <a:ext cx="4608513" cy="337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52228" name="Rectangle 3"/>
          <p:cNvSpPr>
            <a:spLocks noChangeArrowheads="1"/>
          </p:cNvSpPr>
          <p:nvPr/>
        </p:nvSpPr>
        <p:spPr bwMode="auto">
          <a:xfrm>
            <a:off x="4500563" y="1927225"/>
            <a:ext cx="424815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39725" indent="-339725"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1pPr>
            <a:lvl2pPr marL="739775" indent="-282575"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2pPr>
            <a:lvl3pPr marL="1143000" indent="-228600"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3pPr>
            <a:lvl4pPr marL="1600200" indent="-228600"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4pPr>
            <a:lvl5pPr marL="2057400" indent="-228600"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5pPr>
            <a:lvl6pPr marL="2514600" indent="-228600" eaLnBrk="0" fontAlgn="base" hangingPunct="0">
              <a:spcBef>
                <a:spcPct val="0"/>
              </a:spcBef>
              <a:spcAft>
                <a:spcPct val="0"/>
              </a:spcAft>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6pPr>
            <a:lvl7pPr marL="2971800" indent="-228600" eaLnBrk="0" fontAlgn="base" hangingPunct="0">
              <a:spcBef>
                <a:spcPct val="0"/>
              </a:spcBef>
              <a:spcAft>
                <a:spcPct val="0"/>
              </a:spcAft>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7pPr>
            <a:lvl8pPr marL="3429000" indent="-228600" eaLnBrk="0" fontAlgn="base" hangingPunct="0">
              <a:spcBef>
                <a:spcPct val="0"/>
              </a:spcBef>
              <a:spcAft>
                <a:spcPct val="0"/>
              </a:spcAft>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8pPr>
            <a:lvl9pPr marL="3886200" indent="-228600" eaLnBrk="0" fontAlgn="base" hangingPunct="0">
              <a:spcBef>
                <a:spcPct val="0"/>
              </a:spcBef>
              <a:spcAft>
                <a:spcPct val="0"/>
              </a:spcAft>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tx1"/>
                </a:solidFill>
                <a:latin typeface="Tahoma" panose="020B0604030504040204" pitchFamily="34" charset="0"/>
              </a:defRPr>
            </a:lvl9pPr>
          </a:lstStyle>
          <a:p>
            <a:pPr eaLnBrk="1" hangingPunct="1">
              <a:spcBef>
                <a:spcPts val="600"/>
              </a:spcBef>
              <a:buFont typeface="Arial" panose="020B0604020202020204" pitchFamily="34" charset="0"/>
              <a:buChar char="•"/>
            </a:pPr>
            <a:r>
              <a:rPr lang="en-GB" altLang="es-AR" sz="2400">
                <a:solidFill>
                  <a:srgbClr val="000000"/>
                </a:solidFill>
              </a:rPr>
              <a:t>Hasta 15000 rpm, media entre 5400 rpm y 7200 rpm</a:t>
            </a:r>
          </a:p>
          <a:p>
            <a:pPr eaLnBrk="1" hangingPunct="1">
              <a:spcBef>
                <a:spcPts val="600"/>
              </a:spcBef>
              <a:buFont typeface="Arial" panose="020B0604020202020204" pitchFamily="34" charset="0"/>
              <a:buChar char="•"/>
            </a:pPr>
            <a:r>
              <a:rPr lang="en-GB" altLang="es-AR" sz="2400">
                <a:solidFill>
                  <a:srgbClr val="000000"/>
                </a:solidFill>
              </a:rPr>
              <a:t>El almacenamiento magnético no está “libre” de errores </a:t>
            </a:r>
          </a:p>
          <a:p>
            <a:pPr lvl="1" eaLnBrk="1" hangingPunct="1">
              <a:spcBef>
                <a:spcPts val="600"/>
              </a:spcBef>
              <a:buFont typeface="Arial" panose="020B0604020202020204" pitchFamily="34" charset="0"/>
              <a:buChar char="–"/>
            </a:pPr>
            <a:r>
              <a:rPr lang="en-GB" altLang="es-AR" sz="2400">
                <a:solidFill>
                  <a:srgbClr val="000000"/>
                </a:solidFill>
              </a:rPr>
              <a:t>Codificación de los datos</a:t>
            </a:r>
          </a:p>
          <a:p>
            <a:pPr lvl="1" eaLnBrk="1" hangingPunct="1">
              <a:spcBef>
                <a:spcPts val="600"/>
              </a:spcBef>
              <a:buFont typeface="Arial" panose="020B0604020202020204" pitchFamily="34" charset="0"/>
              <a:buChar char="–"/>
            </a:pPr>
            <a:r>
              <a:rPr lang="en-GB" altLang="es-AR" sz="2400">
                <a:solidFill>
                  <a:srgbClr val="000000"/>
                </a:solidFill>
              </a:rPr>
              <a:t>Algoritmos de recuperación de errores</a:t>
            </a:r>
          </a:p>
          <a:p>
            <a:pPr eaLnBrk="1" hangingPunct="1">
              <a:spcBef>
                <a:spcPts val="600"/>
              </a:spcBef>
              <a:buFont typeface="Arial" panose="020B0604020202020204" pitchFamily="34" charset="0"/>
              <a:buChar char="•"/>
            </a:pPr>
            <a:r>
              <a:rPr lang="en-GB" altLang="es-AR" sz="2400">
                <a:solidFill>
                  <a:srgbClr val="000000"/>
                </a:solidFill>
              </a:rPr>
              <a:t>Todo esto es realizado por la controladora del disco</a:t>
            </a:r>
          </a:p>
        </p:txBody>
      </p:sp>
    </p:spTree>
    <p:extLst>
      <p:ext uri="{BB962C8B-B14F-4D97-AF65-F5344CB8AC3E}">
        <p14:creationId xmlns:p14="http://schemas.microsoft.com/office/powerpoint/2010/main" val="971815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 rígido - tamaño</a:t>
            </a:r>
          </a:p>
        </p:txBody>
      </p:sp>
      <p:sp>
        <p:nvSpPr>
          <p:cNvPr id="53251" name="Rectangle 2"/>
          <p:cNvSpPr>
            <a:spLocks noGrp="1" noChangeArrowheads="1"/>
          </p:cNvSpPr>
          <p:nvPr>
            <p:ph idx="1"/>
          </p:nvPr>
        </p:nvSpPr>
        <p:spPr>
          <a:xfrm>
            <a:off x="457200" y="2143125"/>
            <a:ext cx="8229600" cy="4525963"/>
          </a:xfrm>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mtClean="0"/>
              <a:t>Cantidad de cabezas (platos*2)</a:t>
            </a:r>
            <a:r>
              <a:rPr lang="ar-SA" altLang="es-AR" smtClean="0">
                <a:cs typeface="Arial" panose="020B0604020202020204" pitchFamily="34" charset="0"/>
              </a:rPr>
              <a:t>‏</a:t>
            </a:r>
            <a:endParaRPr lang="en-GB" altLang="es-AR"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mtClean="0"/>
              <a:t>Cantidad de cilindros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mtClean="0"/>
              <a:t>Pistas por cara</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mtClean="0"/>
              <a:t>Cantidad de pistas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mtClean="0"/>
              <a:t>Cantidad de sectores por pista</a:t>
            </a:r>
          </a:p>
          <a:p>
            <a:pPr>
              <a:buFont typeface="Arial" panose="020B0604020202020204" pitchFamily="34"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s-AR" smtClean="0"/>
          </a:p>
        </p:txBody>
      </p:sp>
    </p:spTree>
    <p:extLst>
      <p:ext uri="{BB962C8B-B14F-4D97-AF65-F5344CB8AC3E}">
        <p14:creationId xmlns:p14="http://schemas.microsoft.com/office/powerpoint/2010/main" val="37927684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 rígido - Tiempos</a:t>
            </a:r>
          </a:p>
        </p:txBody>
      </p:sp>
      <p:sp>
        <p:nvSpPr>
          <p:cNvPr id="54275" name="Rectangle 2"/>
          <p:cNvSpPr>
            <a:spLocks noGrp="1" noChangeArrowheads="1"/>
          </p:cNvSpPr>
          <p:nvPr>
            <p:ph idx="1"/>
          </p:nvPr>
        </p:nvSpPr>
        <p:spPr>
          <a:xfrm>
            <a:off x="457200" y="2071688"/>
            <a:ext cx="8229600" cy="4525962"/>
          </a:xfrm>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Tiempo</a:t>
            </a:r>
            <a:r>
              <a:rPr lang="en-GB" altLang="es-AR" dirty="0" smtClean="0"/>
              <a:t> de </a:t>
            </a:r>
            <a:r>
              <a:rPr lang="en-GB" altLang="es-AR" dirty="0" err="1" smtClean="0"/>
              <a:t>acceso</a:t>
            </a:r>
            <a:r>
              <a:rPr lang="en-GB" altLang="es-AR" dirty="0" smtClean="0"/>
              <a:t> entre </a:t>
            </a:r>
            <a:r>
              <a:rPr lang="en-GB" altLang="es-AR" dirty="0" err="1" smtClean="0"/>
              <a:t>Pistas</a:t>
            </a:r>
            <a:r>
              <a:rPr lang="en-GB" altLang="es-AR" dirty="0" smtClean="0"/>
              <a:t> </a:t>
            </a:r>
            <a:r>
              <a:rPr lang="en-GB" altLang="es-AR" dirty="0" err="1" smtClean="0"/>
              <a:t>adyacentes</a:t>
            </a:r>
            <a:endParaRPr lang="en-GB" altLang="es-AR" dirty="0"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Tiempo</a:t>
            </a:r>
            <a:r>
              <a:rPr lang="en-GB" altLang="es-AR" dirty="0" smtClean="0"/>
              <a:t> </a:t>
            </a:r>
            <a:r>
              <a:rPr lang="en-GB" altLang="es-AR" dirty="0" err="1" smtClean="0"/>
              <a:t>promedio</a:t>
            </a:r>
            <a:r>
              <a:rPr lang="en-GB" altLang="es-AR" dirty="0" smtClean="0"/>
              <a:t> entre </a:t>
            </a:r>
            <a:r>
              <a:rPr lang="en-GB" altLang="es-AR" dirty="0" err="1" smtClean="0"/>
              <a:t>pistas</a:t>
            </a:r>
            <a:endParaRPr lang="en-GB" altLang="es-AR" dirty="0"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Tiempo</a:t>
            </a:r>
            <a:r>
              <a:rPr lang="en-GB" altLang="es-AR" dirty="0" smtClean="0"/>
              <a:t> de </a:t>
            </a:r>
            <a:r>
              <a:rPr lang="en-GB" altLang="es-AR" dirty="0" err="1" smtClean="0"/>
              <a:t>latencia</a:t>
            </a:r>
            <a:r>
              <a:rPr lang="en-GB" altLang="es-AR" dirty="0" smtClean="0"/>
              <a:t> media</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Velocidad</a:t>
            </a:r>
            <a:r>
              <a:rPr lang="en-GB" altLang="es-AR" dirty="0" smtClean="0"/>
              <a:t> de </a:t>
            </a:r>
            <a:r>
              <a:rPr lang="en-GB" altLang="es-AR" dirty="0" err="1" smtClean="0"/>
              <a:t>rotación</a:t>
            </a:r>
            <a:endParaRPr lang="en-GB" altLang="es-AR" dirty="0"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dirty="0" err="1" smtClean="0"/>
              <a:t>Velocidad</a:t>
            </a:r>
            <a:r>
              <a:rPr lang="en-GB" altLang="es-AR" dirty="0" smtClean="0"/>
              <a:t> de </a:t>
            </a:r>
            <a:r>
              <a:rPr lang="en-GB" altLang="es-AR" dirty="0" err="1" smtClean="0"/>
              <a:t>transferencia</a:t>
            </a:r>
            <a:r>
              <a:rPr lang="en-GB" altLang="es-AR" dirty="0" smtClean="0"/>
              <a:t> de la </a:t>
            </a:r>
            <a:r>
              <a:rPr lang="en-GB" altLang="es-AR" dirty="0" err="1" smtClean="0"/>
              <a:t>interfaz</a:t>
            </a:r>
            <a:endParaRPr lang="en-GB" altLang="es-AR" dirty="0" smtClean="0"/>
          </a:p>
          <a:p>
            <a:pPr>
              <a:buFont typeface="Arial" panose="020B0604020202020204" pitchFamily="34"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s-AR" dirty="0" smtClean="0"/>
          </a:p>
        </p:txBody>
      </p:sp>
    </p:spTree>
    <p:extLst>
      <p:ext uri="{BB962C8B-B14F-4D97-AF65-F5344CB8AC3E}">
        <p14:creationId xmlns:p14="http://schemas.microsoft.com/office/powerpoint/2010/main" val="39367456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Discos ópticos</a:t>
            </a:r>
          </a:p>
        </p:txBody>
      </p:sp>
      <p:pic>
        <p:nvPicPr>
          <p:cNvPr id="5529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638300"/>
            <a:ext cx="82296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0081458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Lectura disco óptico</a:t>
            </a:r>
          </a:p>
        </p:txBody>
      </p:sp>
      <p:pic>
        <p:nvPicPr>
          <p:cNvPr id="563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09738"/>
            <a:ext cx="822960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5996181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p:nvPr>
        </p:nvSpPr>
        <p:spPr>
          <a:xfrm>
            <a:off x="457200" y="274638"/>
            <a:ext cx="8229600" cy="11430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s-AR" smtClean="0"/>
              <a:t>Discos ópticos</a:t>
            </a:r>
          </a:p>
        </p:txBody>
      </p:sp>
      <p:sp>
        <p:nvSpPr>
          <p:cNvPr id="57347" name="Rectangle 2"/>
          <p:cNvSpPr>
            <a:spLocks noGrp="1" noChangeArrowheads="1"/>
          </p:cNvSpPr>
          <p:nvPr>
            <p:ph idx="1"/>
          </p:nvPr>
        </p:nvSpPr>
        <p:spPr>
          <a:xfrm>
            <a:off x="457200" y="2071688"/>
            <a:ext cx="8229600" cy="4525962"/>
          </a:xfrm>
        </p:spPr>
        <p:txBody>
          <a:bodyPr/>
          <a:lstStyle/>
          <a:p>
            <a:pPr>
              <a:spcBef>
                <a:spcPts val="7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z="2800" smtClean="0"/>
              <a:t>El motor gira el disco más rápidamente para lograr misma velocidad de lectura </a:t>
            </a:r>
          </a:p>
          <a:p>
            <a:pPr>
              <a:spcBef>
                <a:spcPts val="7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z="2800" smtClean="0"/>
              <a:t>Un sector es identificado por el número de  minutos y segundos de pista que hay entre el y el comienzo del disco. </a:t>
            </a:r>
          </a:p>
          <a:p>
            <a:pPr lvl="1">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z="2400" smtClean="0"/>
              <a:t>Se calibra bajo la asunción que el reproductor procesa 75 sectores por segundo</a:t>
            </a:r>
          </a:p>
          <a:p>
            <a:pPr>
              <a:spcBef>
                <a:spcPts val="7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s-AR" sz="2800" smtClean="0"/>
              <a:t>Para localizar un sector, la cabeza realiza una búsqueda heurística hasta dar con el sector buscado</a:t>
            </a:r>
          </a:p>
        </p:txBody>
      </p:sp>
    </p:spTree>
    <p:extLst>
      <p:ext uri="{BB962C8B-B14F-4D97-AF65-F5344CB8AC3E}">
        <p14:creationId xmlns:p14="http://schemas.microsoft.com/office/powerpoint/2010/main" val="20506046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Redes de Datos</a:t>
            </a:r>
            <a:endParaRPr lang="es-ES" i="1" u="sng" dirty="0">
              <a:solidFill>
                <a:srgbClr val="FF0000"/>
              </a:solidFill>
              <a:effectLst>
                <a:outerShdw blurRad="38100" dist="38100" dir="2700000" algn="tl">
                  <a:srgbClr val="000000">
                    <a:alpha val="43137"/>
                  </a:srgbClr>
                </a:outerShdw>
              </a:effectLst>
            </a:endParaRPr>
          </a:p>
        </p:txBody>
      </p:sp>
      <p:sp>
        <p:nvSpPr>
          <p:cNvPr id="58371"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9365957-CE7D-41B4-BE30-BFB5BC79F16E}" type="slidenum">
              <a:rPr lang="es-ES_tradnl" altLang="es-ES">
                <a:latin typeface="Arial" panose="020B0604020202020204" pitchFamily="34" charset="0"/>
              </a:rPr>
              <a:pPr eaLnBrk="1" hangingPunct="1"/>
              <a:t>53</a:t>
            </a:fld>
            <a:endParaRPr lang="es-ES_tradnl" altLang="es-ES">
              <a:latin typeface="Arial" panose="020B0604020202020204" pitchFamily="34" charset="0"/>
            </a:endParaRPr>
          </a:p>
        </p:txBody>
      </p:sp>
    </p:spTree>
    <p:extLst>
      <p:ext uri="{BB962C8B-B14F-4D97-AF65-F5344CB8AC3E}">
        <p14:creationId xmlns:p14="http://schemas.microsoft.com/office/powerpoint/2010/main" val="40362879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9414D61-EF20-4DB4-8BEA-96D76E6FD4C6}" type="slidenum">
              <a:rPr lang="es-ES_tradnl" altLang="es-ES">
                <a:latin typeface="Arial" panose="020B0604020202020204" pitchFamily="34" charset="0"/>
              </a:rPr>
              <a:pPr eaLnBrk="1" hangingPunct="1"/>
              <a:t>54</a:t>
            </a:fld>
            <a:endParaRPr lang="es-ES_tradnl" altLang="es-ES">
              <a:latin typeface="Arial" panose="020B0604020202020204" pitchFamily="34" charset="0"/>
            </a:endParaRPr>
          </a:p>
        </p:txBody>
      </p:sp>
      <p:sp>
        <p:nvSpPr>
          <p:cNvPr id="13315" name="Rectangle 2"/>
          <p:cNvSpPr>
            <a:spLocks noGrp="1" noChangeArrowheads="1"/>
          </p:cNvSpPr>
          <p:nvPr>
            <p:ph type="title"/>
          </p:nvPr>
        </p:nvSpPr>
        <p:spPr/>
        <p:txBody>
          <a:bodyPr/>
          <a:lstStyle/>
          <a:p>
            <a:pPr eaLnBrk="1" hangingPunct="1">
              <a:defRPr/>
            </a:pPr>
            <a:r>
              <a:rPr lang="es-ES" altLang="es-ES" sz="2800" b="1" i="1" dirty="0" smtClean="0">
                <a:solidFill>
                  <a:schemeClr val="accent6">
                    <a:lumMod val="75000"/>
                  </a:schemeClr>
                </a:solidFill>
                <a:effectLst>
                  <a:outerShdw blurRad="38100" dist="38100" dir="2700000" algn="tl">
                    <a:srgbClr val="000000">
                      <a:alpha val="43137"/>
                    </a:srgbClr>
                  </a:outerShdw>
                </a:effectLst>
              </a:rPr>
              <a:t>REDES DE DATOS</a:t>
            </a:r>
            <a:endParaRPr lang="es-ES_tradnl" altLang="es-ES" sz="2800" b="1" i="1" dirty="0" smtClean="0">
              <a:solidFill>
                <a:schemeClr val="accent6">
                  <a:lumMod val="75000"/>
                </a:schemeClr>
              </a:solidFill>
              <a:effectLst>
                <a:outerShdw blurRad="38100" dist="38100" dir="2700000" algn="tl">
                  <a:srgbClr val="000000">
                    <a:alpha val="43137"/>
                  </a:srgbClr>
                </a:outerShdw>
              </a:effectLst>
            </a:endParaRPr>
          </a:p>
        </p:txBody>
      </p:sp>
      <p:sp>
        <p:nvSpPr>
          <p:cNvPr id="59396" name="Rectangle 3"/>
          <p:cNvSpPr>
            <a:spLocks noGrp="1" noChangeArrowheads="1"/>
          </p:cNvSpPr>
          <p:nvPr>
            <p:ph type="body" idx="1"/>
          </p:nvPr>
        </p:nvSpPr>
        <p:spPr/>
        <p:txBody>
          <a:bodyPr/>
          <a:lstStyle/>
          <a:p>
            <a:pPr marL="0" indent="0" algn="just" eaLnBrk="1" hangingPunct="1">
              <a:buFontTx/>
              <a:buNone/>
            </a:pPr>
            <a:r>
              <a:rPr lang="es-ES_tradnl" altLang="es-ES" smtClean="0"/>
              <a:t> Las redes de datos se desarrollaron como consecuencia de aplicaciones comerciales diseñadas para microcomputadores. </a:t>
            </a:r>
          </a:p>
          <a:p>
            <a:pPr marL="0" indent="0" algn="just" eaLnBrk="1" hangingPunct="1">
              <a:buFontTx/>
              <a:buNone/>
            </a:pPr>
            <a:r>
              <a:rPr lang="es-ES_tradnl" altLang="es-ES" smtClean="0"/>
              <a:t>Los microcomputadores no estaban conectados entre sí, por lo que una manera de compartir datos era con disquettes.</a:t>
            </a:r>
          </a:p>
        </p:txBody>
      </p:sp>
    </p:spTree>
    <p:extLst>
      <p:ext uri="{BB962C8B-B14F-4D97-AF65-F5344CB8AC3E}">
        <p14:creationId xmlns:p14="http://schemas.microsoft.com/office/powerpoint/2010/main" val="124358469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C81755A-4851-45F7-88B6-37A4C1B8FD72}" type="slidenum">
              <a:rPr lang="es-ES_tradnl" altLang="es-ES">
                <a:latin typeface="Arial" panose="020B0604020202020204" pitchFamily="34" charset="0"/>
              </a:rPr>
              <a:pPr eaLnBrk="1" hangingPunct="1"/>
              <a:t>55</a:t>
            </a:fld>
            <a:endParaRPr lang="es-ES_tradnl" altLang="es-ES">
              <a:latin typeface="Arial" panose="020B0604020202020204" pitchFamily="34" charset="0"/>
            </a:endParaRPr>
          </a:p>
        </p:txBody>
      </p:sp>
      <p:sp>
        <p:nvSpPr>
          <p:cNvPr id="14339" name="Rectangle 2"/>
          <p:cNvSpPr>
            <a:spLocks noGrp="1" noChangeArrowheads="1"/>
          </p:cNvSpPr>
          <p:nvPr>
            <p:ph type="title"/>
          </p:nvPr>
        </p:nvSpPr>
        <p:spPr>
          <a:xfrm>
            <a:off x="879475" y="260350"/>
            <a:ext cx="8229600" cy="792163"/>
          </a:xfrm>
        </p:spPr>
        <p:txBody>
          <a:bodyPr/>
          <a:lstStyle/>
          <a:p>
            <a:pPr eaLnBrk="1" hangingPunct="1">
              <a:defRPr/>
            </a:pPr>
            <a:r>
              <a:rPr lang="es-ES" altLang="es-ES" sz="2800" b="1" i="1" dirty="0" smtClean="0">
                <a:solidFill>
                  <a:schemeClr val="accent6">
                    <a:lumMod val="75000"/>
                  </a:schemeClr>
                </a:solidFill>
                <a:effectLst>
                  <a:outerShdw blurRad="38100" dist="38100" dir="2700000" algn="tl">
                    <a:srgbClr val="000000">
                      <a:alpha val="43137"/>
                    </a:srgbClr>
                  </a:outerShdw>
                </a:effectLst>
              </a:rPr>
              <a:t>REDES DE DATOS</a:t>
            </a:r>
            <a:endParaRPr lang="es-ES_tradnl" altLang="es-ES" sz="2800" b="1" i="1" dirty="0" smtClean="0">
              <a:solidFill>
                <a:schemeClr val="accent6">
                  <a:lumMod val="75000"/>
                </a:schemeClr>
              </a:solidFill>
              <a:effectLst>
                <a:outerShdw blurRad="38100" dist="38100" dir="2700000" algn="tl">
                  <a:srgbClr val="000000">
                    <a:alpha val="43137"/>
                  </a:srgbClr>
                </a:outerShdw>
              </a:effectLst>
            </a:endParaRPr>
          </a:p>
        </p:txBody>
      </p:sp>
      <p:sp>
        <p:nvSpPr>
          <p:cNvPr id="60420" name="Rectangle 3"/>
          <p:cNvSpPr>
            <a:spLocks noGrp="1" noChangeArrowheads="1"/>
          </p:cNvSpPr>
          <p:nvPr>
            <p:ph type="body" idx="1"/>
          </p:nvPr>
        </p:nvSpPr>
        <p:spPr/>
        <p:txBody>
          <a:bodyPr/>
          <a:lstStyle/>
          <a:p>
            <a:pPr marL="182563" indent="-182563" algn="just" eaLnBrk="1" hangingPunct="1">
              <a:buFontTx/>
              <a:buNone/>
            </a:pPr>
            <a:r>
              <a:rPr lang="es-ES_tradnl" altLang="es-ES" sz="2800" smtClean="0"/>
              <a:t>Las empresas necesitaban una solución que resolviera con éxito los tres problemas siguientes: </a:t>
            </a:r>
          </a:p>
          <a:p>
            <a:pPr marL="182563" indent="-182563" algn="just" eaLnBrk="1" hangingPunct="1">
              <a:buClr>
                <a:srgbClr val="FF0000"/>
              </a:buClr>
              <a:buFontTx/>
              <a:buAutoNum type="arabicPeriod"/>
            </a:pPr>
            <a:r>
              <a:rPr lang="es-ES_tradnl" altLang="es-ES" sz="2800" smtClean="0"/>
              <a:t>Cómo evitar la duplicación de equipos informáticos y de otros recursos </a:t>
            </a:r>
          </a:p>
          <a:p>
            <a:pPr marL="182563" indent="-182563" algn="just" eaLnBrk="1" hangingPunct="1">
              <a:buClr>
                <a:srgbClr val="FF0000"/>
              </a:buClr>
              <a:buFontTx/>
              <a:buAutoNum type="arabicPeriod"/>
            </a:pPr>
            <a:r>
              <a:rPr lang="es-ES_tradnl" altLang="es-ES" sz="2800" smtClean="0"/>
              <a:t>Cómo comunicarse con eficiencia </a:t>
            </a:r>
          </a:p>
          <a:p>
            <a:pPr marL="182563" indent="-182563" algn="just" eaLnBrk="1" hangingPunct="1">
              <a:buClr>
                <a:srgbClr val="FF0000"/>
              </a:buClr>
              <a:buFontTx/>
              <a:buAutoNum type="arabicPeriod"/>
            </a:pPr>
            <a:r>
              <a:rPr lang="es-ES_tradnl" altLang="es-ES" sz="2800" smtClean="0"/>
              <a:t>Cómo configurar y administrar una red </a:t>
            </a:r>
          </a:p>
        </p:txBody>
      </p:sp>
    </p:spTree>
    <p:extLst>
      <p:ext uri="{BB962C8B-B14F-4D97-AF65-F5344CB8AC3E}">
        <p14:creationId xmlns:p14="http://schemas.microsoft.com/office/powerpoint/2010/main" val="306552731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545CAEB-0820-438A-971C-9A68F2F080DB}" type="slidenum">
              <a:rPr lang="es-ES_tradnl" altLang="es-ES">
                <a:latin typeface="Arial" panose="020B0604020202020204" pitchFamily="34" charset="0"/>
              </a:rPr>
              <a:pPr eaLnBrk="1" hangingPunct="1"/>
              <a:t>56</a:t>
            </a:fld>
            <a:endParaRPr lang="es-ES_tradnl" altLang="es-ES">
              <a:latin typeface="Arial" panose="020B0604020202020204" pitchFamily="34" charset="0"/>
            </a:endParaRPr>
          </a:p>
        </p:txBody>
      </p:sp>
      <p:sp>
        <p:nvSpPr>
          <p:cNvPr id="15363" name="Rectangle 2"/>
          <p:cNvSpPr>
            <a:spLocks noGrp="1" noChangeArrowheads="1"/>
          </p:cNvSpPr>
          <p:nvPr>
            <p:ph type="title"/>
          </p:nvPr>
        </p:nvSpPr>
        <p:spPr>
          <a:xfrm>
            <a:off x="457200" y="260350"/>
            <a:ext cx="8218488" cy="633413"/>
          </a:xfrm>
        </p:spPr>
        <p:txBody>
          <a:bodyPr/>
          <a:lstStyle/>
          <a:p>
            <a:pPr eaLnBrk="1" hangingPunct="1">
              <a:defRPr/>
            </a:pPr>
            <a:r>
              <a:rPr lang="es-ES" altLang="es-ES" sz="2800" b="1" i="1">
                <a:solidFill>
                  <a:schemeClr val="accent6">
                    <a:lumMod val="75000"/>
                  </a:schemeClr>
                </a:solidFill>
                <a:effectLst>
                  <a:outerShdw blurRad="38100" dist="38100" dir="2700000" algn="tl">
                    <a:srgbClr val="000000">
                      <a:alpha val="43137"/>
                    </a:srgbClr>
                  </a:outerShdw>
                </a:effectLst>
              </a:rPr>
              <a:t>REDES DE DATOS</a:t>
            </a:r>
            <a:endParaRPr lang="es-ES_tradnl" altLang="es-ES" sz="2800" b="1" i="1">
              <a:solidFill>
                <a:schemeClr val="accent6">
                  <a:lumMod val="75000"/>
                </a:schemeClr>
              </a:solidFill>
              <a:effectLst>
                <a:outerShdw blurRad="38100" dist="38100" dir="2700000" algn="tl">
                  <a:srgbClr val="000000">
                    <a:alpha val="43137"/>
                  </a:srgbClr>
                </a:outerShdw>
              </a:effectLst>
            </a:endParaRPr>
          </a:p>
        </p:txBody>
      </p:sp>
      <p:sp>
        <p:nvSpPr>
          <p:cNvPr id="61444" name="Rectangle 3"/>
          <p:cNvSpPr>
            <a:spLocks noGrp="1" noChangeArrowheads="1"/>
          </p:cNvSpPr>
          <p:nvPr>
            <p:ph type="body" idx="1"/>
          </p:nvPr>
        </p:nvSpPr>
        <p:spPr>
          <a:xfrm>
            <a:off x="395288" y="2060575"/>
            <a:ext cx="8640762" cy="4321175"/>
          </a:xfrm>
        </p:spPr>
        <p:txBody>
          <a:bodyPr/>
          <a:lstStyle/>
          <a:p>
            <a:pPr marL="0" indent="0" eaLnBrk="1" hangingPunct="1">
              <a:lnSpc>
                <a:spcPct val="80000"/>
              </a:lnSpc>
            </a:pPr>
            <a:r>
              <a:rPr lang="es-ES_tradnl" altLang="es-ES" sz="2400" smtClean="0"/>
              <a:t> Las empresas se dieron cuenta de que la tecnología de networking podía aumentar la productividad y ahorrar gastos.</a:t>
            </a:r>
          </a:p>
          <a:p>
            <a:pPr marL="0" indent="0" eaLnBrk="1" hangingPunct="1">
              <a:lnSpc>
                <a:spcPct val="80000"/>
              </a:lnSpc>
              <a:buFontTx/>
              <a:buNone/>
            </a:pPr>
            <a:endParaRPr lang="es-ES_tradnl" altLang="es-ES" sz="2400" smtClean="0"/>
          </a:p>
          <a:p>
            <a:pPr marL="0" indent="0" eaLnBrk="1" hangingPunct="1">
              <a:lnSpc>
                <a:spcPct val="80000"/>
              </a:lnSpc>
            </a:pPr>
            <a:r>
              <a:rPr lang="es-ES_tradnl" altLang="es-ES" sz="2400" smtClean="0"/>
              <a:t> A principios de la década de 1980 networking se expandió enormemente, aun cuando en sus inicios su desarrollo fue desorganizado.</a:t>
            </a:r>
          </a:p>
          <a:p>
            <a:pPr marL="0" indent="0" eaLnBrk="1" hangingPunct="1">
              <a:lnSpc>
                <a:spcPct val="80000"/>
              </a:lnSpc>
              <a:buFontTx/>
              <a:buNone/>
            </a:pPr>
            <a:endParaRPr lang="es-ES_tradnl" altLang="es-ES" sz="2400" smtClean="0"/>
          </a:p>
          <a:p>
            <a:pPr marL="0" indent="0" eaLnBrk="1" hangingPunct="1">
              <a:lnSpc>
                <a:spcPct val="80000"/>
              </a:lnSpc>
            </a:pPr>
            <a:r>
              <a:rPr lang="es-ES_tradnl" altLang="es-ES" sz="2400" smtClean="0"/>
              <a:t> A mediados de la década de 1980, las tecnologías de red que habían emergido se habían creado con implementaciones de hardware y software distintas. </a:t>
            </a:r>
          </a:p>
          <a:p>
            <a:pPr marL="0" indent="0" eaLnBrk="1" hangingPunct="1">
              <a:lnSpc>
                <a:spcPct val="80000"/>
              </a:lnSpc>
            </a:pPr>
            <a:r>
              <a:rPr lang="es-ES_tradnl" altLang="es-ES" sz="2400" smtClean="0"/>
              <a:t>Muchas de estas tecnologías de red no eran compatibles entre sí.</a:t>
            </a:r>
          </a:p>
        </p:txBody>
      </p:sp>
    </p:spTree>
    <p:extLst>
      <p:ext uri="{BB962C8B-B14F-4D97-AF65-F5344CB8AC3E}">
        <p14:creationId xmlns:p14="http://schemas.microsoft.com/office/powerpoint/2010/main" val="228021636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59BA5C-BB0F-4B2A-91B7-6D34302E5A49}" type="slidenum">
              <a:rPr lang="es-ES_tradnl" altLang="es-ES">
                <a:latin typeface="Arial" panose="020B0604020202020204" pitchFamily="34" charset="0"/>
              </a:rPr>
              <a:pPr eaLnBrk="1" hangingPunct="1"/>
              <a:t>57</a:t>
            </a:fld>
            <a:endParaRPr lang="es-ES_tradnl" altLang="es-ES">
              <a:latin typeface="Arial" panose="020B0604020202020204" pitchFamily="34" charset="0"/>
            </a:endParaRPr>
          </a:p>
        </p:txBody>
      </p:sp>
      <p:sp>
        <p:nvSpPr>
          <p:cNvPr id="16387" name="Rectangle 2"/>
          <p:cNvSpPr>
            <a:spLocks noGrp="1" noChangeArrowheads="1"/>
          </p:cNvSpPr>
          <p:nvPr>
            <p:ph type="title"/>
          </p:nvPr>
        </p:nvSpPr>
        <p:spPr/>
        <p:txBody>
          <a:bodyPr/>
          <a:lstStyle/>
          <a:p>
            <a:pPr eaLnBrk="1" hangingPunct="1">
              <a:defRPr/>
            </a:pPr>
            <a:r>
              <a:rPr lang="es-ES" altLang="es-ES" sz="2800" b="1" i="1">
                <a:solidFill>
                  <a:schemeClr val="accent6">
                    <a:lumMod val="75000"/>
                  </a:schemeClr>
                </a:solidFill>
                <a:effectLst>
                  <a:outerShdw blurRad="38100" dist="38100" dir="2700000" algn="tl">
                    <a:srgbClr val="000000">
                      <a:alpha val="43137"/>
                    </a:srgbClr>
                  </a:outerShdw>
                </a:effectLst>
              </a:rPr>
              <a:t>REDES DE DATOS</a:t>
            </a:r>
            <a:endParaRPr lang="es-ES_tradnl" altLang="es-ES" sz="2800" b="1" i="1">
              <a:solidFill>
                <a:schemeClr val="accent6">
                  <a:lumMod val="75000"/>
                </a:schemeClr>
              </a:solidFill>
              <a:effectLst>
                <a:outerShdw blurRad="38100" dist="38100" dir="2700000" algn="tl">
                  <a:srgbClr val="000000">
                    <a:alpha val="43137"/>
                  </a:srgbClr>
                </a:outerShdw>
              </a:effectLst>
            </a:endParaRPr>
          </a:p>
        </p:txBody>
      </p:sp>
      <p:sp>
        <p:nvSpPr>
          <p:cNvPr id="8196" name="Rectangle 3"/>
          <p:cNvSpPr>
            <a:spLocks noGrp="1" noChangeArrowheads="1"/>
          </p:cNvSpPr>
          <p:nvPr>
            <p:ph type="body" idx="1"/>
          </p:nvPr>
        </p:nvSpPr>
        <p:spPr>
          <a:xfrm>
            <a:off x="395288" y="2027238"/>
            <a:ext cx="8291512" cy="4281487"/>
          </a:xfrm>
        </p:spPr>
        <p:txBody>
          <a:bodyPr/>
          <a:lstStyle/>
          <a:p>
            <a:pPr algn="just" eaLnBrk="1" hangingPunct="1">
              <a:defRPr/>
            </a:pPr>
            <a:r>
              <a:rPr lang="es-ES_tradnl" altLang="es-ES" sz="2800" dirty="0" smtClean="0"/>
              <a:t>Una de las primeras soluciones fue la creación de los estándares de </a:t>
            </a:r>
            <a:r>
              <a:rPr lang="es-ES_tradnl" altLang="es-ES" sz="2800" dirty="0" smtClean="0">
                <a:solidFill>
                  <a:srgbClr val="FF0000"/>
                </a:solidFill>
                <a:effectLst>
                  <a:outerShdw blurRad="38100" dist="38100" dir="2700000" algn="tl">
                    <a:srgbClr val="000000">
                      <a:alpha val="43137"/>
                    </a:srgbClr>
                  </a:outerShdw>
                </a:effectLst>
              </a:rPr>
              <a:t>Red de área local</a:t>
            </a:r>
            <a:r>
              <a:rPr lang="es-ES_tradnl" altLang="es-ES" sz="2800" dirty="0" smtClean="0"/>
              <a:t> (LAN - Local </a:t>
            </a:r>
            <a:r>
              <a:rPr lang="es-ES_tradnl" altLang="es-ES" sz="2800" dirty="0" err="1" smtClean="0"/>
              <a:t>Area</a:t>
            </a:r>
            <a:r>
              <a:rPr lang="es-ES_tradnl" altLang="es-ES" sz="2800" dirty="0" smtClean="0"/>
              <a:t> Network, en inglés). </a:t>
            </a:r>
          </a:p>
          <a:p>
            <a:pPr algn="just" eaLnBrk="1" hangingPunct="1">
              <a:defRPr/>
            </a:pPr>
            <a:endParaRPr lang="es-ES_tradnl" altLang="es-ES" sz="2800" dirty="0" smtClean="0"/>
          </a:p>
          <a:p>
            <a:pPr algn="just" eaLnBrk="1" hangingPunct="1">
              <a:defRPr/>
            </a:pPr>
            <a:r>
              <a:rPr lang="es-ES_tradnl" altLang="es-ES" sz="2800" dirty="0" smtClean="0"/>
              <a:t>En un sistema LAN, cada departamento de la empresa era una especie de isla electrónica. A medida que el uso de los computadores en las empresas aumentaba, pronto resultó obvio que incluso las </a:t>
            </a:r>
            <a:r>
              <a:rPr lang="es-ES_tradnl" altLang="es-ES" sz="2800" dirty="0" smtClean="0">
                <a:effectLst>
                  <a:outerShdw blurRad="38100" dist="38100" dir="2700000" algn="tl">
                    <a:srgbClr val="000000">
                      <a:alpha val="43137"/>
                    </a:srgbClr>
                  </a:outerShdw>
                </a:effectLst>
              </a:rPr>
              <a:t>LAN no eran suficientes. </a:t>
            </a:r>
          </a:p>
        </p:txBody>
      </p:sp>
    </p:spTree>
    <p:extLst>
      <p:ext uri="{BB962C8B-B14F-4D97-AF65-F5344CB8AC3E}">
        <p14:creationId xmlns:p14="http://schemas.microsoft.com/office/powerpoint/2010/main" val="12839027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F221563-B2ED-4D8E-B8D6-4F7F4B06C714}" type="slidenum">
              <a:rPr lang="es-ES_tradnl" altLang="es-ES">
                <a:latin typeface="Arial" panose="020B0604020202020204" pitchFamily="34" charset="0"/>
              </a:rPr>
              <a:pPr eaLnBrk="1" hangingPunct="1"/>
              <a:t>58</a:t>
            </a:fld>
            <a:endParaRPr lang="es-ES_tradnl" altLang="es-ES">
              <a:latin typeface="Arial" panose="020B0604020202020204" pitchFamily="34" charset="0"/>
            </a:endParaRPr>
          </a:p>
        </p:txBody>
      </p:sp>
      <p:sp>
        <p:nvSpPr>
          <p:cNvPr id="17411"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REDES DE DATOS</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220" name="Rectangle 3"/>
          <p:cNvSpPr>
            <a:spLocks noGrp="1" noChangeArrowheads="1"/>
          </p:cNvSpPr>
          <p:nvPr>
            <p:ph type="body" idx="1"/>
          </p:nvPr>
        </p:nvSpPr>
        <p:spPr/>
        <p:txBody>
          <a:bodyPr/>
          <a:lstStyle/>
          <a:p>
            <a:pPr marL="0" indent="0" algn="just" eaLnBrk="1" hangingPunct="1">
              <a:lnSpc>
                <a:spcPct val="90000"/>
              </a:lnSpc>
              <a:defRPr/>
            </a:pPr>
            <a:r>
              <a:rPr lang="es-ES_tradnl" altLang="es-ES" sz="2800" dirty="0" smtClean="0"/>
              <a:t>Se necesitaba transferir datos rápidamente y con eficiencia, no solamente dentro de una misma empresa sino también de una empresa a otra.</a:t>
            </a:r>
          </a:p>
          <a:p>
            <a:pPr marL="0" indent="0" algn="just" eaLnBrk="1" hangingPunct="1">
              <a:lnSpc>
                <a:spcPct val="90000"/>
              </a:lnSpc>
              <a:defRPr/>
            </a:pPr>
            <a:r>
              <a:rPr lang="es-ES_tradnl" altLang="es-ES" sz="2800" dirty="0" smtClean="0"/>
              <a:t>  La solución fue la creación de </a:t>
            </a:r>
            <a:r>
              <a:rPr lang="es-ES_tradnl" altLang="es-ES" sz="2800" i="1" dirty="0" smtClean="0">
                <a:solidFill>
                  <a:srgbClr val="FF0000"/>
                </a:solidFill>
                <a:effectLst>
                  <a:outerShdw blurRad="38100" dist="38100" dir="2700000" algn="tl">
                    <a:srgbClr val="000000">
                      <a:alpha val="43137"/>
                    </a:srgbClr>
                  </a:outerShdw>
                </a:effectLst>
              </a:rPr>
              <a:t>redes de área metropolitana (MAN)</a:t>
            </a:r>
            <a:r>
              <a:rPr lang="es-ES_tradnl" altLang="es-ES" sz="2800" dirty="0" smtClean="0"/>
              <a:t> y </a:t>
            </a:r>
            <a:r>
              <a:rPr lang="es-ES_tradnl" altLang="es-ES" sz="2800" i="1" dirty="0" smtClean="0">
                <a:solidFill>
                  <a:srgbClr val="FF0000"/>
                </a:solidFill>
                <a:effectLst>
                  <a:outerShdw blurRad="38100" dist="38100" dir="2700000" algn="tl">
                    <a:srgbClr val="000000">
                      <a:alpha val="43137"/>
                    </a:srgbClr>
                  </a:outerShdw>
                </a:effectLst>
              </a:rPr>
              <a:t>redes de área amplia (WAN). </a:t>
            </a:r>
          </a:p>
          <a:p>
            <a:pPr marL="0" indent="0" algn="just" eaLnBrk="1" hangingPunct="1">
              <a:lnSpc>
                <a:spcPct val="90000"/>
              </a:lnSpc>
              <a:defRPr/>
            </a:pPr>
            <a:r>
              <a:rPr lang="es-ES_tradnl" altLang="es-ES" sz="2800" dirty="0" smtClean="0"/>
              <a:t>Como las WAN podían conectar redes de usuarios dentro de áreas geográficas extensas, permitieron que las empresas se comunicaran entre sí.</a:t>
            </a:r>
          </a:p>
        </p:txBody>
      </p:sp>
    </p:spTree>
    <p:extLst>
      <p:ext uri="{BB962C8B-B14F-4D97-AF65-F5344CB8AC3E}">
        <p14:creationId xmlns:p14="http://schemas.microsoft.com/office/powerpoint/2010/main" val="306842346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C4CA0C3-3DDA-44A6-AEEC-6D932320A1FB}" type="slidenum">
              <a:rPr lang="es-ES_tradnl" altLang="es-ES">
                <a:latin typeface="Arial" panose="020B0604020202020204" pitchFamily="34" charset="0"/>
              </a:rPr>
              <a:pPr eaLnBrk="1" hangingPunct="1"/>
              <a:t>59</a:t>
            </a:fld>
            <a:endParaRPr lang="es-ES_tradnl" altLang="es-ES">
              <a:latin typeface="Arial" panose="020B0604020202020204" pitchFamily="34" charset="0"/>
            </a:endParaRPr>
          </a:p>
        </p:txBody>
      </p:sp>
      <p:sp>
        <p:nvSpPr>
          <p:cNvPr id="18437" name="Rectangle 4"/>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EJEMPLO DE REDES DE DATOS</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64516" name="Object 3"/>
          <p:cNvGraphicFramePr>
            <a:graphicFrameLocks noGrp="1" noChangeAspect="1"/>
          </p:cNvGraphicFramePr>
          <p:nvPr>
            <p:ph idx="1"/>
            <p:extLst>
              <p:ext uri="{D42A27DB-BD31-4B8C-83A1-F6EECF244321}">
                <p14:modId xmlns:p14="http://schemas.microsoft.com/office/powerpoint/2010/main" val="2357296926"/>
              </p:ext>
            </p:extLst>
          </p:nvPr>
        </p:nvGraphicFramePr>
        <p:xfrm>
          <a:off x="539750" y="1484784"/>
          <a:ext cx="7993063" cy="4775200"/>
        </p:xfrm>
        <a:graphic>
          <a:graphicData uri="http://schemas.openxmlformats.org/presentationml/2006/ole">
            <mc:AlternateContent xmlns:mc="http://schemas.openxmlformats.org/markup-compatibility/2006">
              <mc:Choice xmlns:v="urn:schemas-microsoft-com:vml" Requires="v">
                <p:oleObj spid="_x0000_s6221" name="Imagen de mapa de bits" r:id="rId3" imgW="5257143" imgH="3962953" progId="Paint.Picture">
                  <p:embed/>
                </p:oleObj>
              </mc:Choice>
              <mc:Fallback>
                <p:oleObj name="Imagen de mapa de bits" r:id="rId3" imgW="5257143" imgH="396295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484784"/>
                        <a:ext cx="7993063" cy="477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586179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3BE97C7-1B38-4C26-A963-B9CE01332D9D}" type="slidenum">
              <a:rPr lang="es-ES_tradnl" altLang="es-ES">
                <a:latin typeface="Arial" panose="020B0604020202020204" pitchFamily="34" charset="0"/>
              </a:rPr>
              <a:pPr eaLnBrk="1" hangingPunct="1"/>
              <a:t>60</a:t>
            </a:fld>
            <a:endParaRPr lang="es-ES_tradnl" altLang="es-ES">
              <a:latin typeface="Arial" panose="020B0604020202020204" pitchFamily="34" charset="0"/>
            </a:endParaRPr>
          </a:p>
        </p:txBody>
      </p:sp>
      <p:sp>
        <p:nvSpPr>
          <p:cNvPr id="24579"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NETWORKING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24580" name="Rectangle 3"/>
          <p:cNvSpPr>
            <a:spLocks noGrp="1" noChangeArrowheads="1"/>
          </p:cNvSpPr>
          <p:nvPr>
            <p:ph type="body" idx="1"/>
          </p:nvPr>
        </p:nvSpPr>
        <p:spPr/>
        <p:txBody>
          <a:bodyPr/>
          <a:lstStyle/>
          <a:p>
            <a:pPr marL="0" indent="0" algn="just" eaLnBrk="1" hangingPunct="1">
              <a:defRPr/>
            </a:pPr>
            <a:r>
              <a:rPr lang="es-ES_tradnl" altLang="es-ES" sz="2800" dirty="0" smtClean="0"/>
              <a:t>Los equipos que se conectan de forma directa a un segmento de red se denominan </a:t>
            </a:r>
            <a:r>
              <a:rPr lang="es-ES_tradnl" altLang="es-ES" sz="2800" dirty="0" smtClean="0">
                <a:solidFill>
                  <a:srgbClr val="FF0000"/>
                </a:solidFill>
              </a:rPr>
              <a:t>dispositivos</a:t>
            </a:r>
            <a:r>
              <a:rPr lang="es-ES_tradnl" altLang="es-ES" sz="2800" dirty="0" smtClean="0"/>
              <a:t>.</a:t>
            </a:r>
          </a:p>
          <a:p>
            <a:pPr marL="0" indent="0" algn="just" eaLnBrk="1" hangingPunct="1">
              <a:defRPr/>
            </a:pPr>
            <a:r>
              <a:rPr lang="es-ES_tradnl" altLang="es-ES" sz="2800" dirty="0" smtClean="0"/>
              <a:t>Se clasifican en dos grandes grupos:</a:t>
            </a:r>
          </a:p>
          <a:p>
            <a:pPr marL="830263" lvl="1" algn="just" eaLnBrk="1" hangingPunct="1">
              <a:defRPr/>
            </a:pPr>
            <a:r>
              <a:rPr lang="es-ES_tradnl" altLang="es-ES" sz="2400" i="1" u="sng" dirty="0" smtClean="0">
                <a:solidFill>
                  <a:srgbClr val="FF0000"/>
                </a:solidFill>
                <a:effectLst>
                  <a:outerShdw blurRad="38100" dist="38100" dir="2700000" algn="tl">
                    <a:srgbClr val="000000">
                      <a:alpha val="43137"/>
                    </a:srgbClr>
                  </a:outerShdw>
                </a:effectLst>
              </a:rPr>
              <a:t>Dispositivos de usuario final:</a:t>
            </a:r>
            <a:r>
              <a:rPr lang="es-ES_tradnl" altLang="es-ES" sz="2400" dirty="0" smtClean="0"/>
              <a:t> computadores, impresoras, escáneres, y demás dispositivos que brindan servicios directamente al usuario.</a:t>
            </a:r>
          </a:p>
          <a:p>
            <a:pPr marL="830263" lvl="1" algn="just" eaLnBrk="1" hangingPunct="1">
              <a:defRPr/>
            </a:pPr>
            <a:r>
              <a:rPr lang="es-ES_tradnl" altLang="es-ES" sz="2400" i="1" u="sng" dirty="0" smtClean="0">
                <a:solidFill>
                  <a:srgbClr val="FF0000"/>
                </a:solidFill>
                <a:effectLst>
                  <a:outerShdw blurRad="38100" dist="38100" dir="2700000" algn="tl">
                    <a:srgbClr val="000000">
                      <a:alpha val="43137"/>
                    </a:srgbClr>
                  </a:outerShdw>
                </a:effectLst>
              </a:rPr>
              <a:t>Dispositivos de red:</a:t>
            </a:r>
            <a:r>
              <a:rPr lang="es-ES_tradnl" altLang="es-ES" sz="2400" dirty="0" smtClean="0"/>
              <a:t> son todos aquellos que </a:t>
            </a:r>
            <a:r>
              <a:rPr lang="es-ES_tradnl" altLang="es-ES" sz="2400" dirty="0" smtClean="0">
                <a:solidFill>
                  <a:srgbClr val="FF0000"/>
                </a:solidFill>
              </a:rPr>
              <a:t>conectan entre sí a los dispositivos</a:t>
            </a:r>
            <a:r>
              <a:rPr lang="es-ES_tradnl" altLang="es-ES" sz="2400" dirty="0" smtClean="0"/>
              <a:t> de usuario final, posibilitando su intercomunicación. </a:t>
            </a:r>
          </a:p>
        </p:txBody>
      </p:sp>
    </p:spTree>
    <p:extLst>
      <p:ext uri="{BB962C8B-B14F-4D97-AF65-F5344CB8AC3E}">
        <p14:creationId xmlns:p14="http://schemas.microsoft.com/office/powerpoint/2010/main" val="197091661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9971B0D-A339-4EB9-9447-482221006E55}" type="slidenum">
              <a:rPr lang="es-ES_tradnl" altLang="es-ES">
                <a:latin typeface="Arial" panose="020B0604020202020204" pitchFamily="34" charset="0"/>
              </a:rPr>
              <a:pPr eaLnBrk="1" hangingPunct="1"/>
              <a:t>61</a:t>
            </a:fld>
            <a:endParaRPr lang="es-ES_tradnl" altLang="es-ES">
              <a:latin typeface="Arial" panose="020B0604020202020204" pitchFamily="34" charset="0"/>
            </a:endParaRPr>
          </a:p>
        </p:txBody>
      </p:sp>
      <p:sp>
        <p:nvSpPr>
          <p:cNvPr id="25603" name="Rectangle 2"/>
          <p:cNvSpPr>
            <a:spLocks noGrp="1" noChangeArrowheads="1"/>
          </p:cNvSpPr>
          <p:nvPr>
            <p:ph type="title"/>
          </p:nvPr>
        </p:nvSpPr>
        <p:spPr>
          <a:xfrm>
            <a:off x="457200" y="-26988"/>
            <a:ext cx="8226425" cy="1139826"/>
          </a:xfrm>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NETWORKING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25604" name="Rectangle 3"/>
          <p:cNvSpPr>
            <a:spLocks noGrp="1" noChangeArrowheads="1"/>
          </p:cNvSpPr>
          <p:nvPr>
            <p:ph type="body" sz="half" idx="1"/>
          </p:nvPr>
        </p:nvSpPr>
        <p:spPr>
          <a:xfrm>
            <a:off x="457200" y="2060575"/>
            <a:ext cx="4037013" cy="4062413"/>
          </a:xfrm>
        </p:spPr>
        <p:txBody>
          <a:bodyPr/>
          <a:lstStyle/>
          <a:p>
            <a:pPr marL="0" indent="0" eaLnBrk="1" hangingPunct="1">
              <a:buFontTx/>
              <a:buNone/>
              <a:defRPr/>
            </a:pPr>
            <a:r>
              <a:rPr lang="es-ES_tradnl" altLang="es-ES" sz="2800" dirty="0" smtClean="0"/>
              <a:t>Los </a:t>
            </a:r>
            <a:r>
              <a:rPr lang="es-ES_tradnl" altLang="es-ES" sz="2800" dirty="0" smtClean="0">
                <a:solidFill>
                  <a:srgbClr val="FF0000"/>
                </a:solidFill>
              </a:rPr>
              <a:t>dispositivos de usuario</a:t>
            </a:r>
            <a:r>
              <a:rPr lang="es-ES_tradnl" altLang="es-ES" sz="2800" dirty="0" smtClean="0"/>
              <a:t> final que conectan a los usuarios con la red también se conocen con el nombre de </a:t>
            </a:r>
            <a:r>
              <a:rPr lang="es-ES_tradnl" altLang="es-ES" sz="2800" i="1" u="sng" dirty="0" smtClean="0">
                <a:solidFill>
                  <a:srgbClr val="FF0000"/>
                </a:solidFill>
                <a:effectLst>
                  <a:outerShdw blurRad="38100" dist="38100" dir="2700000" algn="tl">
                    <a:srgbClr val="000000">
                      <a:alpha val="43137"/>
                    </a:srgbClr>
                  </a:outerShdw>
                </a:effectLst>
              </a:rPr>
              <a:t>host</a:t>
            </a:r>
            <a:r>
              <a:rPr lang="es-ES_tradnl" altLang="es-ES" sz="2800" dirty="0" smtClean="0"/>
              <a:t>. </a:t>
            </a:r>
          </a:p>
          <a:p>
            <a:pPr marL="0" indent="0" eaLnBrk="1" hangingPunct="1">
              <a:buFontTx/>
              <a:buNone/>
              <a:defRPr/>
            </a:pPr>
            <a:r>
              <a:rPr lang="es-ES_tradnl" altLang="es-ES" sz="2800" dirty="0" smtClean="0"/>
              <a:t>Estos dispositivos permiten a los usuarios compartir, crear y obtener información.</a:t>
            </a:r>
          </a:p>
        </p:txBody>
      </p:sp>
      <p:graphicFrame>
        <p:nvGraphicFramePr>
          <p:cNvPr id="66565" name="Object 4"/>
          <p:cNvGraphicFramePr>
            <a:graphicFrameLocks noGrp="1" noChangeAspect="1"/>
          </p:cNvGraphicFramePr>
          <p:nvPr>
            <p:ph sz="half" idx="2"/>
          </p:nvPr>
        </p:nvGraphicFramePr>
        <p:xfrm>
          <a:off x="4648200" y="2409825"/>
          <a:ext cx="4038600" cy="2906713"/>
        </p:xfrm>
        <a:graphic>
          <a:graphicData uri="http://schemas.openxmlformats.org/presentationml/2006/ole">
            <mc:AlternateContent xmlns:mc="http://schemas.openxmlformats.org/markup-compatibility/2006">
              <mc:Choice xmlns:v="urn:schemas-microsoft-com:vml" Requires="v">
                <p:oleObj spid="_x0000_s7245" name="Imagen de mapa de bits" r:id="rId3" imgW="4352381" imgH="3134162" progId="Paint.Picture">
                  <p:embed/>
                </p:oleObj>
              </mc:Choice>
              <mc:Fallback>
                <p:oleObj name="Imagen de mapa de bits" r:id="rId3" imgW="4352381" imgH="313416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409825"/>
                        <a:ext cx="4038600" cy="290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005163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0C7D10B-D0DE-4A68-98AA-BC36287DFD13}" type="slidenum">
              <a:rPr lang="es-ES_tradnl" altLang="es-ES">
                <a:latin typeface="Arial" panose="020B0604020202020204" pitchFamily="34" charset="0"/>
              </a:rPr>
              <a:pPr eaLnBrk="1" hangingPunct="1"/>
              <a:t>62</a:t>
            </a:fld>
            <a:endParaRPr lang="es-ES_tradnl" altLang="es-ES">
              <a:latin typeface="Arial" panose="020B0604020202020204" pitchFamily="34" charset="0"/>
            </a:endParaRPr>
          </a:p>
        </p:txBody>
      </p:sp>
      <p:sp>
        <p:nvSpPr>
          <p:cNvPr id="26627"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NETWORKING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26628" name="Rectangle 3"/>
          <p:cNvSpPr>
            <a:spLocks noGrp="1" noChangeArrowheads="1"/>
          </p:cNvSpPr>
          <p:nvPr>
            <p:ph type="body" sz="half" idx="1"/>
          </p:nvPr>
        </p:nvSpPr>
        <p:spPr>
          <a:xfrm>
            <a:off x="457200" y="2103438"/>
            <a:ext cx="4037013" cy="4062412"/>
          </a:xfrm>
        </p:spPr>
        <p:txBody>
          <a:bodyPr/>
          <a:lstStyle/>
          <a:p>
            <a:pPr marL="0" indent="0" eaLnBrk="1" hangingPunct="1">
              <a:buFontTx/>
              <a:buNone/>
              <a:defRPr/>
            </a:pPr>
            <a:r>
              <a:rPr lang="es-ES_tradnl" altLang="es-ES" sz="2400" dirty="0" smtClean="0"/>
              <a:t>Los dispositivos host están físicamente conectados con los medios de red mediante una </a:t>
            </a:r>
            <a:r>
              <a:rPr lang="es-ES_tradnl" altLang="es-ES" sz="2400" i="1" u="sng" dirty="0" smtClean="0">
                <a:solidFill>
                  <a:srgbClr val="FF0000"/>
                </a:solidFill>
                <a:effectLst>
                  <a:outerShdw blurRad="38100" dist="38100" dir="2700000" algn="tl">
                    <a:srgbClr val="000000">
                      <a:alpha val="43137"/>
                    </a:srgbClr>
                  </a:outerShdw>
                </a:effectLst>
              </a:rPr>
              <a:t>tarjeta de interfaz de red (NIC)</a:t>
            </a:r>
            <a:r>
              <a:rPr lang="es-ES_tradnl" altLang="es-ES" sz="2400" dirty="0" smtClean="0"/>
              <a:t>. </a:t>
            </a:r>
          </a:p>
          <a:p>
            <a:pPr marL="0" indent="0" eaLnBrk="1" hangingPunct="1">
              <a:buFontTx/>
              <a:buNone/>
              <a:defRPr/>
            </a:pPr>
            <a:r>
              <a:rPr lang="es-ES_tradnl" altLang="es-ES" sz="2400" dirty="0" smtClean="0"/>
              <a:t>Utilizan esta conexión para realizar las tareas de envío de correo electrónico, impresión de documentos, escaneado de imágenes o acceso a bases de datos. </a:t>
            </a:r>
          </a:p>
        </p:txBody>
      </p:sp>
      <p:graphicFrame>
        <p:nvGraphicFramePr>
          <p:cNvPr id="67589" name="Object 4"/>
          <p:cNvGraphicFramePr>
            <a:graphicFrameLocks noGrp="1" noChangeAspect="1"/>
          </p:cNvGraphicFramePr>
          <p:nvPr>
            <p:ph sz="half" idx="2"/>
          </p:nvPr>
        </p:nvGraphicFramePr>
        <p:xfrm>
          <a:off x="4648200" y="2393950"/>
          <a:ext cx="4038600" cy="2936875"/>
        </p:xfrm>
        <a:graphic>
          <a:graphicData uri="http://schemas.openxmlformats.org/presentationml/2006/ole">
            <mc:AlternateContent xmlns:mc="http://schemas.openxmlformats.org/markup-compatibility/2006">
              <mc:Choice xmlns:v="urn:schemas-microsoft-com:vml" Requires="v">
                <p:oleObj spid="_x0000_s8268" name="Imagen de mapa de bits" r:id="rId3" imgW="4401164" imgH="3200000" progId="Paint.Picture">
                  <p:embed/>
                </p:oleObj>
              </mc:Choice>
              <mc:Fallback>
                <p:oleObj name="Imagen de mapa de bits" r:id="rId3" imgW="4401164" imgH="32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393950"/>
                        <a:ext cx="4038600" cy="293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7183346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E8D16D5-E823-43BF-9EB7-6717CA0D39DB}" type="slidenum">
              <a:rPr lang="es-ES_tradnl" altLang="es-ES">
                <a:latin typeface="Arial" panose="020B0604020202020204" pitchFamily="34" charset="0"/>
              </a:rPr>
              <a:pPr eaLnBrk="1" hangingPunct="1"/>
              <a:t>63</a:t>
            </a:fld>
            <a:endParaRPr lang="es-ES_tradnl" altLang="es-ES">
              <a:latin typeface="Arial" panose="020B0604020202020204" pitchFamily="34" charset="0"/>
            </a:endParaRPr>
          </a:p>
        </p:txBody>
      </p:sp>
      <p:sp>
        <p:nvSpPr>
          <p:cNvPr id="27651"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NETWORKING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27652" name="Rectangle 3"/>
          <p:cNvSpPr>
            <a:spLocks noGrp="1" noChangeArrowheads="1"/>
          </p:cNvSpPr>
          <p:nvPr>
            <p:ph type="body" sz="half" idx="1"/>
          </p:nvPr>
        </p:nvSpPr>
        <p:spPr>
          <a:xfrm>
            <a:off x="457200" y="2027238"/>
            <a:ext cx="4114800" cy="4281487"/>
          </a:xfrm>
        </p:spPr>
        <p:txBody>
          <a:bodyPr>
            <a:normAutofit lnSpcReduction="10000"/>
          </a:bodyPr>
          <a:lstStyle/>
          <a:p>
            <a:pPr marL="0" indent="0" eaLnBrk="1" hangingPunct="1">
              <a:lnSpc>
                <a:spcPct val="80000"/>
              </a:lnSpc>
              <a:defRPr/>
            </a:pPr>
            <a:r>
              <a:rPr lang="es-ES_tradnl" altLang="es-ES" sz="2400" dirty="0" smtClean="0"/>
              <a:t>Un NIC es una placa de circuito impreso que se coloca en la ranura de expansión de un bus de la </a:t>
            </a:r>
            <a:r>
              <a:rPr lang="es-ES_tradnl" altLang="es-ES" sz="2400" dirty="0" err="1" smtClean="0"/>
              <a:t>motherboard</a:t>
            </a:r>
            <a:r>
              <a:rPr lang="es-ES_tradnl" altLang="es-ES" sz="2400" dirty="0" smtClean="0"/>
              <a:t> de un computador, </a:t>
            </a:r>
          </a:p>
          <a:p>
            <a:pPr marL="0" indent="0" eaLnBrk="1" hangingPunct="1">
              <a:lnSpc>
                <a:spcPct val="80000"/>
              </a:lnSpc>
              <a:defRPr/>
            </a:pPr>
            <a:r>
              <a:rPr lang="es-ES_tradnl" altLang="es-ES" sz="2400" dirty="0" smtClean="0"/>
              <a:t>También se denomina </a:t>
            </a:r>
            <a:r>
              <a:rPr lang="es-ES_tradnl" altLang="es-ES" sz="2400" i="1" u="sng" dirty="0" smtClean="0">
                <a:solidFill>
                  <a:srgbClr val="FF0000"/>
                </a:solidFill>
                <a:effectLst>
                  <a:outerShdw blurRad="38100" dist="38100" dir="2700000" algn="tl">
                    <a:srgbClr val="000000">
                      <a:alpha val="43137"/>
                    </a:srgbClr>
                  </a:outerShdw>
                </a:effectLst>
              </a:rPr>
              <a:t>adaptador de red</a:t>
            </a:r>
            <a:r>
              <a:rPr lang="es-ES_tradnl" altLang="es-ES" sz="2400" dirty="0" smtClean="0"/>
              <a:t>. </a:t>
            </a:r>
          </a:p>
          <a:p>
            <a:pPr marL="0" indent="0" eaLnBrk="1" hangingPunct="1">
              <a:lnSpc>
                <a:spcPct val="80000"/>
              </a:lnSpc>
              <a:defRPr/>
            </a:pPr>
            <a:r>
              <a:rPr lang="es-ES_tradnl" altLang="es-ES" sz="2400" dirty="0" smtClean="0"/>
              <a:t>Cada NIC individual tiene un código único, denominado </a:t>
            </a:r>
            <a:r>
              <a:rPr lang="es-ES_tradnl" altLang="es-ES" sz="2400" i="1" u="sng" dirty="0" smtClean="0">
                <a:solidFill>
                  <a:srgbClr val="FF0000"/>
                </a:solidFill>
                <a:effectLst>
                  <a:outerShdw blurRad="38100" dist="38100" dir="2700000" algn="tl">
                    <a:srgbClr val="000000">
                      <a:alpha val="43137"/>
                    </a:srgbClr>
                  </a:outerShdw>
                </a:effectLst>
              </a:rPr>
              <a:t>dirección de control de acceso al medio (MAC)</a:t>
            </a:r>
            <a:r>
              <a:rPr lang="es-ES_tradnl" altLang="es-ES" sz="2400" dirty="0" smtClean="0"/>
              <a:t>. </a:t>
            </a:r>
          </a:p>
          <a:p>
            <a:pPr marL="0" indent="0" eaLnBrk="1" hangingPunct="1">
              <a:lnSpc>
                <a:spcPct val="80000"/>
              </a:lnSpc>
              <a:defRPr/>
            </a:pPr>
            <a:r>
              <a:rPr lang="es-ES_tradnl" altLang="es-ES" sz="2400" dirty="0" smtClean="0"/>
              <a:t>Esta dirección se utiliza para controlar el acceso del host al medio.</a:t>
            </a:r>
          </a:p>
        </p:txBody>
      </p:sp>
      <p:graphicFrame>
        <p:nvGraphicFramePr>
          <p:cNvPr id="68613" name="Object 4"/>
          <p:cNvGraphicFramePr>
            <a:graphicFrameLocks noGrp="1" noChangeAspect="1"/>
          </p:cNvGraphicFramePr>
          <p:nvPr>
            <p:ph sz="half" idx="2"/>
          </p:nvPr>
        </p:nvGraphicFramePr>
        <p:xfrm>
          <a:off x="4648200" y="2327275"/>
          <a:ext cx="4038600" cy="3070225"/>
        </p:xfrm>
        <a:graphic>
          <a:graphicData uri="http://schemas.openxmlformats.org/presentationml/2006/ole">
            <mc:AlternateContent xmlns:mc="http://schemas.openxmlformats.org/markup-compatibility/2006">
              <mc:Choice xmlns:v="urn:schemas-microsoft-com:vml" Requires="v">
                <p:oleObj spid="_x0000_s9293" name="Imagen de mapa de bits" r:id="rId3" imgW="4486901" imgH="3409524" progId="Paint.Picture">
                  <p:embed/>
                </p:oleObj>
              </mc:Choice>
              <mc:Fallback>
                <p:oleObj name="Imagen de mapa de bits" r:id="rId3" imgW="4486901" imgH="340952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327275"/>
                        <a:ext cx="4038600" cy="307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2136540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7582E1E-F09B-40BB-B14F-F40DB0BE0A42}" type="slidenum">
              <a:rPr lang="es-ES_tradnl" altLang="es-ES">
                <a:latin typeface="Arial" panose="020B0604020202020204" pitchFamily="34" charset="0"/>
              </a:rPr>
              <a:pPr eaLnBrk="1" hangingPunct="1"/>
              <a:t>64</a:t>
            </a:fld>
            <a:endParaRPr lang="es-ES_tradnl" altLang="es-ES">
              <a:latin typeface="Arial" panose="020B0604020202020204" pitchFamily="34" charset="0"/>
            </a:endParaRPr>
          </a:p>
        </p:txBody>
      </p:sp>
      <p:sp>
        <p:nvSpPr>
          <p:cNvPr id="28675" name="Rectangle 2"/>
          <p:cNvSpPr>
            <a:spLocks noGrp="1" noChangeArrowheads="1"/>
          </p:cNvSpPr>
          <p:nvPr>
            <p:ph type="title"/>
          </p:nvPr>
        </p:nvSpPr>
        <p:spPr>
          <a:xfrm>
            <a:off x="457200" y="188913"/>
            <a:ext cx="8229600" cy="1143000"/>
          </a:xfrm>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DEL USUARIO FINAL</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69636" name="Object 3"/>
          <p:cNvGraphicFramePr>
            <a:graphicFrameLocks noGrp="1" noChangeAspect="1"/>
          </p:cNvGraphicFramePr>
          <p:nvPr>
            <p:ph idx="1"/>
          </p:nvPr>
        </p:nvGraphicFramePr>
        <p:xfrm>
          <a:off x="3995738" y="1412875"/>
          <a:ext cx="4752975" cy="3902075"/>
        </p:xfrm>
        <a:graphic>
          <a:graphicData uri="http://schemas.openxmlformats.org/presentationml/2006/ole">
            <mc:AlternateContent xmlns:mc="http://schemas.openxmlformats.org/markup-compatibility/2006">
              <mc:Choice xmlns:v="urn:schemas-microsoft-com:vml" Requires="v">
                <p:oleObj spid="_x0000_s10316" name="Imagen de mapa de bits" r:id="rId3" imgW="5266667" imgH="3524742" progId="Paint.Picture">
                  <p:embed/>
                </p:oleObj>
              </mc:Choice>
              <mc:Fallback>
                <p:oleObj name="Imagen de mapa de bits" r:id="rId3" imgW="5266667" imgH="352474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1412875"/>
                        <a:ext cx="4752975" cy="390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9637" name="Text Box 7"/>
          <p:cNvSpPr txBox="1">
            <a:spLocks noChangeArrowheads="1"/>
          </p:cNvSpPr>
          <p:nvPr/>
        </p:nvSpPr>
        <p:spPr bwMode="auto">
          <a:xfrm>
            <a:off x="468313" y="1628775"/>
            <a:ext cx="2663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es-CL" altLang="es-ES">
              <a:latin typeface="Arial" panose="020B0604020202020204" pitchFamily="34" charset="0"/>
            </a:endParaRPr>
          </a:p>
        </p:txBody>
      </p:sp>
      <p:sp>
        <p:nvSpPr>
          <p:cNvPr id="69638" name="Text Box 9"/>
          <p:cNvSpPr txBox="1">
            <a:spLocks noChangeArrowheads="1"/>
          </p:cNvSpPr>
          <p:nvPr/>
        </p:nvSpPr>
        <p:spPr bwMode="auto">
          <a:xfrm>
            <a:off x="323850" y="2133600"/>
            <a:ext cx="3671888"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ES_tradnl" altLang="es-ES" sz="2400">
                <a:latin typeface="Arial" panose="020B0604020202020204" pitchFamily="34" charset="0"/>
              </a:rPr>
              <a:t>No existen símbolos estandarizados para los dispositivos de usuario final en la industria de networking.   </a:t>
            </a:r>
          </a:p>
        </p:txBody>
      </p:sp>
    </p:spTree>
    <p:extLst>
      <p:ext uri="{BB962C8B-B14F-4D97-AF65-F5344CB8AC3E}">
        <p14:creationId xmlns:p14="http://schemas.microsoft.com/office/powerpoint/2010/main" val="32439650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1E03DE0-AD25-4928-9D90-70675FE9549D}" type="slidenum">
              <a:rPr lang="es-ES_tradnl" altLang="es-ES">
                <a:latin typeface="Arial" panose="020B0604020202020204" pitchFamily="34" charset="0"/>
              </a:rPr>
              <a:pPr eaLnBrk="1" hangingPunct="1"/>
              <a:t>65</a:t>
            </a:fld>
            <a:endParaRPr lang="es-ES_tradnl" altLang="es-ES">
              <a:latin typeface="Arial" panose="020B0604020202020204" pitchFamily="34" charset="0"/>
            </a:endParaRPr>
          </a:p>
        </p:txBody>
      </p:sp>
      <p:sp>
        <p:nvSpPr>
          <p:cNvPr id="29699"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NETWORKING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29700" name="Rectangle 3"/>
          <p:cNvSpPr>
            <a:spLocks noGrp="1" noChangeArrowheads="1"/>
          </p:cNvSpPr>
          <p:nvPr>
            <p:ph type="body" idx="1"/>
          </p:nvPr>
        </p:nvSpPr>
        <p:spPr>
          <a:xfrm>
            <a:off x="457200" y="1998663"/>
            <a:ext cx="8229600" cy="4525962"/>
          </a:xfrm>
        </p:spPr>
        <p:txBody>
          <a:bodyPr/>
          <a:lstStyle/>
          <a:p>
            <a:pPr marL="0" indent="0" algn="just" eaLnBrk="1" hangingPunct="1">
              <a:buFontTx/>
              <a:buNone/>
              <a:defRPr/>
            </a:pPr>
            <a:r>
              <a:rPr lang="es-ES_tradnl" altLang="es-ES" sz="2600" dirty="0" smtClean="0"/>
              <a:t>Los dispositivos de red son los que transportan los datos que deben transferirse entre dispositivos de usuario final.   </a:t>
            </a:r>
          </a:p>
          <a:p>
            <a:pPr marL="0" indent="0" algn="just" eaLnBrk="1" hangingPunct="1">
              <a:buFontTx/>
              <a:buNone/>
              <a:defRPr/>
            </a:pPr>
            <a:r>
              <a:rPr lang="es-ES_tradnl" altLang="es-ES" sz="2600" dirty="0" smtClean="0"/>
              <a:t>Los dispositivos de red proporcionan el tendido de las conexiones de cable, la concentración de conexiones, la conversión de los formatos de datos y la administración de transferencia de datos. </a:t>
            </a:r>
          </a:p>
          <a:p>
            <a:pPr marL="0" indent="0" algn="just" eaLnBrk="1" hangingPunct="1">
              <a:buFontTx/>
              <a:buNone/>
              <a:defRPr/>
            </a:pPr>
            <a:r>
              <a:rPr lang="es-ES_tradnl" altLang="es-ES" sz="2600" dirty="0" smtClean="0"/>
              <a:t>Algunos ejemplos de dispositivos que ejecutan estas funciones son los repetidores, </a:t>
            </a:r>
            <a:r>
              <a:rPr lang="es-ES_tradnl" altLang="es-ES" sz="2600" i="1" u="sng" dirty="0" err="1" smtClean="0">
                <a:solidFill>
                  <a:srgbClr val="FF0000"/>
                </a:solidFill>
                <a:effectLst>
                  <a:outerShdw blurRad="38100" dist="38100" dir="2700000" algn="tl">
                    <a:srgbClr val="000000">
                      <a:alpha val="43137"/>
                    </a:srgbClr>
                  </a:outerShdw>
                </a:effectLst>
              </a:rPr>
              <a:t>hubs</a:t>
            </a:r>
            <a:r>
              <a:rPr lang="es-ES_tradnl" altLang="es-ES" sz="2600" i="1" u="sng" dirty="0" smtClean="0">
                <a:solidFill>
                  <a:srgbClr val="FF0000"/>
                </a:solidFill>
                <a:effectLst>
                  <a:outerShdw blurRad="38100" dist="38100" dir="2700000" algn="tl">
                    <a:srgbClr val="000000">
                      <a:alpha val="43137"/>
                    </a:srgbClr>
                  </a:outerShdw>
                </a:effectLst>
              </a:rPr>
              <a:t>, puentes, </a:t>
            </a:r>
            <a:r>
              <a:rPr lang="es-ES_tradnl" altLang="es-ES" sz="2600" i="1" u="sng" dirty="0" err="1" smtClean="0">
                <a:solidFill>
                  <a:srgbClr val="FF0000"/>
                </a:solidFill>
                <a:effectLst>
                  <a:outerShdw blurRad="38100" dist="38100" dir="2700000" algn="tl">
                    <a:srgbClr val="000000">
                      <a:alpha val="43137"/>
                    </a:srgbClr>
                  </a:outerShdw>
                </a:effectLst>
              </a:rPr>
              <a:t>switches</a:t>
            </a:r>
            <a:r>
              <a:rPr lang="es-ES_tradnl" altLang="es-ES" sz="2600" i="1" u="sng" dirty="0" smtClean="0">
                <a:solidFill>
                  <a:srgbClr val="FF0000"/>
                </a:solidFill>
                <a:effectLst>
                  <a:outerShdw blurRad="38100" dist="38100" dir="2700000" algn="tl">
                    <a:srgbClr val="000000">
                      <a:alpha val="43137"/>
                    </a:srgbClr>
                  </a:outerShdw>
                </a:effectLst>
              </a:rPr>
              <a:t> y </a:t>
            </a:r>
            <a:r>
              <a:rPr lang="es-ES_tradnl" altLang="es-ES" sz="2600" i="1" u="sng" dirty="0" err="1" smtClean="0">
                <a:solidFill>
                  <a:srgbClr val="FF0000"/>
                </a:solidFill>
                <a:effectLst>
                  <a:outerShdw blurRad="38100" dist="38100" dir="2700000" algn="tl">
                    <a:srgbClr val="000000">
                      <a:alpha val="43137"/>
                    </a:srgbClr>
                  </a:outerShdw>
                </a:effectLst>
              </a:rPr>
              <a:t>routers</a:t>
            </a:r>
            <a:r>
              <a:rPr lang="es-ES_tradnl" altLang="es-ES" sz="2800" dirty="0" smtClean="0"/>
              <a:t> </a:t>
            </a:r>
          </a:p>
        </p:txBody>
      </p:sp>
    </p:spTree>
    <p:extLst>
      <p:ext uri="{BB962C8B-B14F-4D97-AF65-F5344CB8AC3E}">
        <p14:creationId xmlns:p14="http://schemas.microsoft.com/office/powerpoint/2010/main" val="1233837412"/>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A951D16-A2F0-4A28-B4AA-AA35BD5601D3}" type="slidenum">
              <a:rPr lang="es-ES_tradnl" altLang="es-ES">
                <a:latin typeface="Arial" panose="020B0604020202020204" pitchFamily="34" charset="0"/>
              </a:rPr>
              <a:pPr eaLnBrk="1" hangingPunct="1"/>
              <a:t>66</a:t>
            </a:fld>
            <a:endParaRPr lang="es-ES_tradnl" altLang="es-ES">
              <a:latin typeface="Arial" panose="020B0604020202020204" pitchFamily="34" charset="0"/>
            </a:endParaRPr>
          </a:p>
        </p:txBody>
      </p:sp>
      <p:sp>
        <p:nvSpPr>
          <p:cNvPr id="30723" name="Rectangle 4"/>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DISPOSITIVOS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71684" name="Object 3"/>
          <p:cNvGraphicFramePr>
            <a:graphicFrameLocks noGrp="1" noChangeAspect="1"/>
          </p:cNvGraphicFramePr>
          <p:nvPr>
            <p:ph idx="1"/>
          </p:nvPr>
        </p:nvGraphicFramePr>
        <p:xfrm>
          <a:off x="1258888" y="1644650"/>
          <a:ext cx="6769100" cy="4532313"/>
        </p:xfrm>
        <a:graphic>
          <a:graphicData uri="http://schemas.openxmlformats.org/presentationml/2006/ole">
            <mc:AlternateContent xmlns:mc="http://schemas.openxmlformats.org/markup-compatibility/2006">
              <mc:Choice xmlns:v="urn:schemas-microsoft-com:vml" Requires="v">
                <p:oleObj spid="_x0000_s11340" name="Imagen de mapa de bits" r:id="rId3" imgW="5477640" imgH="3666667" progId="Paint.Picture">
                  <p:embed/>
                </p:oleObj>
              </mc:Choice>
              <mc:Fallback>
                <p:oleObj name="Imagen de mapa de bits" r:id="rId3" imgW="5477640" imgH="36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644650"/>
                        <a:ext cx="6769100" cy="453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9401850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DE6EA2B-50BE-4C01-808B-8C9E8540BCB1}" type="slidenum">
              <a:rPr lang="es-ES_tradnl" altLang="es-ES">
                <a:latin typeface="Arial" panose="020B0604020202020204" pitchFamily="34" charset="0"/>
              </a:rPr>
              <a:pPr eaLnBrk="1" hangingPunct="1"/>
              <a:t>67</a:t>
            </a:fld>
            <a:endParaRPr lang="es-ES_tradnl" altLang="es-ES">
              <a:latin typeface="Arial" panose="020B0604020202020204" pitchFamily="34" charset="0"/>
            </a:endParaRPr>
          </a:p>
        </p:txBody>
      </p:sp>
      <p:sp>
        <p:nvSpPr>
          <p:cNvPr id="31747" name="Rectangle 2"/>
          <p:cNvSpPr>
            <a:spLocks noGrp="1" noChangeArrowheads="1"/>
          </p:cNvSpPr>
          <p:nvPr>
            <p:ph type="title"/>
          </p:nvPr>
        </p:nvSpPr>
        <p:spPr>
          <a:xfrm>
            <a:off x="457200" y="260350"/>
            <a:ext cx="8229600" cy="1143000"/>
          </a:xfrm>
        </p:spPr>
        <p:txBody>
          <a:bodyPr/>
          <a:lstStyle/>
          <a:p>
            <a:pPr eaLnBrk="1" hangingPunct="1">
              <a:defRPr/>
            </a:pPr>
            <a:r>
              <a:rPr lang="es-ES" altLang="es-ES" sz="2800" b="1" i="1" u="sng" dirty="0">
                <a:solidFill>
                  <a:schemeClr val="accent6">
                    <a:lumMod val="75000"/>
                  </a:schemeClr>
                </a:solidFill>
                <a:effectLst>
                  <a:outerShdw blurRad="38100" dist="38100" dir="2700000" algn="tl">
                    <a:srgbClr val="000000">
                      <a:alpha val="43137"/>
                    </a:srgbClr>
                  </a:outerShdw>
                </a:effectLst>
              </a:rPr>
              <a:t>REPETIDOR</a:t>
            </a:r>
            <a:endParaRPr lang="es-ES_tradnl" altLang="es-ES" sz="2800" b="1" i="1" u="sng" dirty="0">
              <a:solidFill>
                <a:schemeClr val="accent6">
                  <a:lumMod val="75000"/>
                </a:schemeClr>
              </a:solidFill>
              <a:effectLst>
                <a:outerShdw blurRad="38100" dist="38100" dir="2700000" algn="tl">
                  <a:srgbClr val="000000">
                    <a:alpha val="43137"/>
                  </a:srgbClr>
                </a:outerShdw>
              </a:effectLst>
            </a:endParaRPr>
          </a:p>
        </p:txBody>
      </p:sp>
      <p:sp>
        <p:nvSpPr>
          <p:cNvPr id="31748" name="Rectangle 3"/>
          <p:cNvSpPr>
            <a:spLocks noGrp="1" noChangeArrowheads="1"/>
          </p:cNvSpPr>
          <p:nvPr>
            <p:ph type="body" idx="1"/>
          </p:nvPr>
        </p:nvSpPr>
        <p:spPr/>
        <p:txBody>
          <a:bodyPr/>
          <a:lstStyle/>
          <a:p>
            <a:pPr marL="0" indent="0" algn="just" eaLnBrk="1" hangingPunct="1">
              <a:buFontTx/>
              <a:buNone/>
              <a:defRPr/>
            </a:pPr>
            <a:r>
              <a:rPr lang="es-ES_tradnl" altLang="es-ES" i="1" u="sng" dirty="0" smtClean="0">
                <a:solidFill>
                  <a:srgbClr val="FF0000"/>
                </a:solidFill>
                <a:effectLst>
                  <a:outerShdw blurRad="38100" dist="38100" dir="2700000" algn="tl">
                    <a:srgbClr val="000000">
                      <a:alpha val="43137"/>
                    </a:srgbClr>
                  </a:outerShdw>
                </a:effectLst>
              </a:rPr>
              <a:t>Un repetidor</a:t>
            </a:r>
            <a:r>
              <a:rPr lang="es-ES_tradnl" altLang="es-ES" dirty="0" smtClean="0"/>
              <a:t> es un dispositivo de red que se utiliza para regenerar una señal. </a:t>
            </a:r>
          </a:p>
          <a:p>
            <a:pPr marL="0" indent="0" algn="just" eaLnBrk="1" hangingPunct="1">
              <a:buFontTx/>
              <a:buNone/>
              <a:defRPr/>
            </a:pPr>
            <a:r>
              <a:rPr lang="es-ES_tradnl" altLang="es-ES" dirty="0" smtClean="0"/>
              <a:t>Los repetidores regeneran señales analógicas o digitales que se distorsionan a causa de pérdidas en la transmisión producidas por la atenuación. </a:t>
            </a:r>
          </a:p>
          <a:p>
            <a:pPr marL="0" indent="0" algn="just" eaLnBrk="1" hangingPunct="1">
              <a:buFontTx/>
              <a:buNone/>
              <a:defRPr/>
            </a:pPr>
            <a:r>
              <a:rPr lang="es-ES_tradnl" altLang="es-ES" dirty="0" smtClean="0"/>
              <a:t>Un repetidor </a:t>
            </a:r>
            <a:r>
              <a:rPr lang="es-ES_tradnl" altLang="es-ES" i="1" u="sng" dirty="0" smtClean="0">
                <a:solidFill>
                  <a:srgbClr val="FF0000"/>
                </a:solidFill>
                <a:effectLst>
                  <a:outerShdw blurRad="38100" dist="38100" dir="2700000" algn="tl">
                    <a:srgbClr val="000000">
                      <a:alpha val="43137"/>
                    </a:srgbClr>
                  </a:outerShdw>
                </a:effectLst>
              </a:rPr>
              <a:t>no toma decisiones inteligentes</a:t>
            </a:r>
            <a:r>
              <a:rPr lang="es-ES_tradnl" altLang="es-ES" dirty="0" smtClean="0"/>
              <a:t> acerca del envío de paquetes como lo hace un </a:t>
            </a:r>
            <a:r>
              <a:rPr lang="es-ES_tradnl" altLang="es-ES" dirty="0" err="1" smtClean="0"/>
              <a:t>router</a:t>
            </a:r>
            <a:r>
              <a:rPr lang="es-ES_tradnl" altLang="es-ES" dirty="0" smtClean="0"/>
              <a:t> o puente. </a:t>
            </a:r>
          </a:p>
        </p:txBody>
      </p:sp>
    </p:spTree>
    <p:extLst>
      <p:ext uri="{BB962C8B-B14F-4D97-AF65-F5344CB8AC3E}">
        <p14:creationId xmlns:p14="http://schemas.microsoft.com/office/powerpoint/2010/main" val="316866006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9436917-FAD7-4CF8-95F6-6A20FC5F9B9C}" type="slidenum">
              <a:rPr lang="es-ES_tradnl" altLang="es-ES">
                <a:latin typeface="Arial" panose="020B0604020202020204" pitchFamily="34" charset="0"/>
              </a:rPr>
              <a:pPr eaLnBrk="1" hangingPunct="1"/>
              <a:t>68</a:t>
            </a:fld>
            <a:endParaRPr lang="es-ES_tradnl" altLang="es-ES">
              <a:latin typeface="Arial" panose="020B0604020202020204" pitchFamily="34" charset="0"/>
            </a:endParaRPr>
          </a:p>
        </p:txBody>
      </p:sp>
      <p:sp>
        <p:nvSpPr>
          <p:cNvPr id="32771" name="Rectangle 4"/>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REPETIDOR</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73732" name="Object 3"/>
          <p:cNvGraphicFramePr>
            <a:graphicFrameLocks noGrp="1" noChangeAspect="1"/>
          </p:cNvGraphicFramePr>
          <p:nvPr>
            <p:ph idx="1"/>
            <p:extLst>
              <p:ext uri="{D42A27DB-BD31-4B8C-83A1-F6EECF244321}">
                <p14:modId xmlns:p14="http://schemas.microsoft.com/office/powerpoint/2010/main" val="3441484289"/>
              </p:ext>
            </p:extLst>
          </p:nvPr>
        </p:nvGraphicFramePr>
        <p:xfrm>
          <a:off x="611560" y="1417638"/>
          <a:ext cx="7848872" cy="4873625"/>
        </p:xfrm>
        <a:graphic>
          <a:graphicData uri="http://schemas.openxmlformats.org/presentationml/2006/ole">
            <mc:AlternateContent xmlns:mc="http://schemas.openxmlformats.org/markup-compatibility/2006">
              <mc:Choice xmlns:v="urn:schemas-microsoft-com:vml" Requires="v">
                <p:oleObj spid="_x0000_s12365" name="Imagen de mapa de bits" r:id="rId3" imgW="4933333" imgH="3371429" progId="Paint.Picture">
                  <p:embed/>
                </p:oleObj>
              </mc:Choice>
              <mc:Fallback>
                <p:oleObj name="Imagen de mapa de bits" r:id="rId3" imgW="4933333" imgH="3371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417638"/>
                        <a:ext cx="7848872" cy="48736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723875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B62316C-47E8-434E-894D-6ACEF633FCFB}" type="slidenum">
              <a:rPr lang="es-ES_tradnl" altLang="es-ES">
                <a:latin typeface="Arial" panose="020B0604020202020204" pitchFamily="34" charset="0"/>
              </a:rPr>
              <a:pPr eaLnBrk="1" hangingPunct="1"/>
              <a:t>69</a:t>
            </a:fld>
            <a:endParaRPr lang="es-ES_tradnl" altLang="es-ES">
              <a:latin typeface="Arial" panose="020B0604020202020204" pitchFamily="34" charset="0"/>
            </a:endParaRPr>
          </a:p>
        </p:txBody>
      </p:sp>
      <p:sp>
        <p:nvSpPr>
          <p:cNvPr id="33795" name="Rectangle 2"/>
          <p:cNvSpPr>
            <a:spLocks noGrp="1" noChangeArrowheads="1"/>
          </p:cNvSpPr>
          <p:nvPr>
            <p:ph type="title"/>
          </p:nvPr>
        </p:nvSpPr>
        <p:spPr/>
        <p:txBody>
          <a:bodyPr/>
          <a:lstStyle/>
          <a:p>
            <a:pPr eaLnBrk="1" hangingPunct="1">
              <a:defRPr/>
            </a:pPr>
            <a:r>
              <a:rPr lang="es-ES" altLang="es-ES" sz="2800" b="1" i="1" u="sng" dirty="0">
                <a:solidFill>
                  <a:schemeClr val="accent6">
                    <a:lumMod val="75000"/>
                  </a:schemeClr>
                </a:solidFill>
                <a:effectLst>
                  <a:outerShdw blurRad="38100" dist="38100" dir="2700000" algn="tl">
                    <a:srgbClr val="000000">
                      <a:alpha val="43137"/>
                    </a:srgbClr>
                  </a:outerShdw>
                </a:effectLst>
              </a:rPr>
              <a:t>HUB</a:t>
            </a:r>
            <a:endParaRPr lang="es-ES_tradnl" altLang="es-ES" sz="2800" b="1" i="1" u="sng" dirty="0">
              <a:solidFill>
                <a:schemeClr val="accent6">
                  <a:lumMod val="75000"/>
                </a:schemeClr>
              </a:solidFill>
              <a:effectLst>
                <a:outerShdw blurRad="38100" dist="38100" dir="2700000" algn="tl">
                  <a:srgbClr val="000000">
                    <a:alpha val="43137"/>
                  </a:srgbClr>
                </a:outerShdw>
              </a:effectLst>
            </a:endParaRPr>
          </a:p>
        </p:txBody>
      </p:sp>
      <p:sp>
        <p:nvSpPr>
          <p:cNvPr id="33796" name="Rectangle 3"/>
          <p:cNvSpPr>
            <a:spLocks noGrp="1" noChangeArrowheads="1"/>
          </p:cNvSpPr>
          <p:nvPr>
            <p:ph type="body" idx="1"/>
          </p:nvPr>
        </p:nvSpPr>
        <p:spPr/>
        <p:txBody>
          <a:bodyPr/>
          <a:lstStyle/>
          <a:p>
            <a:pPr marL="0" indent="0" algn="just" eaLnBrk="1" hangingPunct="1">
              <a:buFontTx/>
              <a:buNone/>
              <a:defRPr/>
            </a:pPr>
            <a:r>
              <a:rPr lang="es-ES_tradnl" altLang="es-ES" i="1" u="sng" dirty="0" smtClean="0">
                <a:solidFill>
                  <a:srgbClr val="FF0000"/>
                </a:solidFill>
                <a:effectLst>
                  <a:outerShdw blurRad="38100" dist="38100" dir="2700000" algn="tl">
                    <a:srgbClr val="000000">
                      <a:alpha val="43137"/>
                    </a:srgbClr>
                  </a:outerShdw>
                </a:effectLst>
              </a:rPr>
              <a:t>Los </a:t>
            </a:r>
            <a:r>
              <a:rPr lang="es-ES_tradnl" altLang="es-ES" i="1" u="sng" dirty="0" err="1" smtClean="0">
                <a:solidFill>
                  <a:srgbClr val="FF0000"/>
                </a:solidFill>
                <a:effectLst>
                  <a:outerShdw blurRad="38100" dist="38100" dir="2700000" algn="tl">
                    <a:srgbClr val="000000">
                      <a:alpha val="43137"/>
                    </a:srgbClr>
                  </a:outerShdw>
                </a:effectLst>
              </a:rPr>
              <a:t>hubs</a:t>
            </a:r>
            <a:r>
              <a:rPr lang="es-ES_tradnl" altLang="es-ES" dirty="0" smtClean="0"/>
              <a:t> concentran las conexiones. </a:t>
            </a:r>
          </a:p>
          <a:p>
            <a:pPr marL="0" indent="0" algn="just" eaLnBrk="1" hangingPunct="1">
              <a:buFontTx/>
              <a:buNone/>
              <a:defRPr/>
            </a:pPr>
            <a:r>
              <a:rPr lang="es-ES_tradnl" altLang="es-ES" dirty="0" smtClean="0"/>
              <a:t>En otras palabras, </a:t>
            </a:r>
            <a:r>
              <a:rPr lang="es-ES_tradnl" altLang="es-ES" i="1" u="sng" dirty="0" smtClean="0">
                <a:effectLst>
                  <a:outerShdw blurRad="38100" dist="38100" dir="2700000" algn="tl">
                    <a:srgbClr val="000000">
                      <a:alpha val="43137"/>
                    </a:srgbClr>
                  </a:outerShdw>
                </a:effectLst>
              </a:rPr>
              <a:t>permiten que la red trate un grupo de hosts como si fuera una sola unidad</a:t>
            </a:r>
            <a:r>
              <a:rPr lang="es-ES_tradnl" altLang="es-ES" dirty="0" smtClean="0"/>
              <a:t>. </a:t>
            </a:r>
          </a:p>
          <a:p>
            <a:pPr marL="0" indent="0" algn="just" eaLnBrk="1" hangingPunct="1">
              <a:buFontTx/>
              <a:buNone/>
              <a:defRPr/>
            </a:pPr>
            <a:r>
              <a:rPr lang="es-ES_tradnl" altLang="es-ES" dirty="0" smtClean="0"/>
              <a:t>Esto sucede de manera pasiva, sin interferir en la transmisión de datos. </a:t>
            </a:r>
          </a:p>
          <a:p>
            <a:pPr marL="0" indent="0" algn="just" eaLnBrk="1" hangingPunct="1">
              <a:buFontTx/>
              <a:buNone/>
              <a:defRPr/>
            </a:pPr>
            <a:r>
              <a:rPr lang="es-ES_tradnl" altLang="es-ES" dirty="0" smtClean="0"/>
              <a:t>Los </a:t>
            </a:r>
            <a:r>
              <a:rPr lang="es-ES_tradnl" altLang="es-ES" dirty="0" err="1" smtClean="0"/>
              <a:t>hubs</a:t>
            </a:r>
            <a:r>
              <a:rPr lang="es-ES_tradnl" altLang="es-ES" dirty="0" smtClean="0"/>
              <a:t> activos no sólo concentran hosts, sino que además regeneran señales. </a:t>
            </a:r>
          </a:p>
        </p:txBody>
      </p:sp>
    </p:spTree>
    <p:extLst>
      <p:ext uri="{BB962C8B-B14F-4D97-AF65-F5344CB8AC3E}">
        <p14:creationId xmlns:p14="http://schemas.microsoft.com/office/powerpoint/2010/main" val="190797156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C47E745-9207-4256-9DD0-79CB098661EA}" type="slidenum">
              <a:rPr lang="es-ES_tradnl" altLang="es-ES">
                <a:latin typeface="Arial" panose="020B0604020202020204" pitchFamily="34" charset="0"/>
              </a:rPr>
              <a:pPr eaLnBrk="1" hangingPunct="1"/>
              <a:t>70</a:t>
            </a:fld>
            <a:endParaRPr lang="es-ES_tradnl" altLang="es-ES">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PUENTE</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34820" name="Rectangle 3"/>
          <p:cNvSpPr>
            <a:spLocks noGrp="1" noChangeArrowheads="1"/>
          </p:cNvSpPr>
          <p:nvPr>
            <p:ph type="body" idx="1"/>
          </p:nvPr>
        </p:nvSpPr>
        <p:spPr/>
        <p:txBody>
          <a:bodyPr/>
          <a:lstStyle/>
          <a:p>
            <a:pPr marL="0" indent="0" algn="just" eaLnBrk="1" hangingPunct="1">
              <a:buFontTx/>
              <a:buNone/>
              <a:defRPr/>
            </a:pPr>
            <a:r>
              <a:rPr lang="es-ES_tradnl" altLang="es-ES" sz="2800" dirty="0" smtClean="0"/>
              <a:t>Los puentes </a:t>
            </a:r>
            <a:r>
              <a:rPr lang="es-ES_tradnl" altLang="es-ES" sz="2800" i="1" u="sng" dirty="0" smtClean="0">
                <a:solidFill>
                  <a:srgbClr val="FF0000"/>
                </a:solidFill>
                <a:effectLst>
                  <a:outerShdw blurRad="38100" dist="38100" dir="2700000" algn="tl">
                    <a:srgbClr val="000000">
                      <a:alpha val="43137"/>
                    </a:srgbClr>
                  </a:outerShdw>
                </a:effectLst>
              </a:rPr>
              <a:t>convierten los formatos</a:t>
            </a:r>
            <a:r>
              <a:rPr lang="es-ES_tradnl" altLang="es-ES" sz="2800" dirty="0" smtClean="0"/>
              <a:t> de transmisión de datos de la red además de </a:t>
            </a:r>
            <a:r>
              <a:rPr lang="es-ES_tradnl" altLang="es-ES" sz="2800" i="1" u="sng" dirty="0" smtClean="0">
                <a:solidFill>
                  <a:srgbClr val="FF0000"/>
                </a:solidFill>
                <a:effectLst>
                  <a:outerShdw blurRad="38100" dist="38100" dir="2700000" algn="tl">
                    <a:srgbClr val="000000">
                      <a:alpha val="43137"/>
                    </a:srgbClr>
                  </a:outerShdw>
                </a:effectLst>
              </a:rPr>
              <a:t>realizar la administración básica</a:t>
            </a:r>
            <a:r>
              <a:rPr lang="es-ES_tradnl" altLang="es-ES" sz="2800" dirty="0" smtClean="0"/>
              <a:t> de la transmisión de datos.   </a:t>
            </a:r>
          </a:p>
          <a:p>
            <a:pPr marL="0" indent="0" algn="just" eaLnBrk="1" hangingPunct="1">
              <a:buFontTx/>
              <a:buNone/>
              <a:defRPr/>
            </a:pPr>
            <a:r>
              <a:rPr lang="es-ES_tradnl" altLang="es-ES" sz="2800" dirty="0" smtClean="0"/>
              <a:t>Los puentes, tal como su nombre lo indica, proporcionan las conexiones entre LAN. </a:t>
            </a:r>
          </a:p>
          <a:p>
            <a:pPr marL="0" indent="0" algn="just" eaLnBrk="1" hangingPunct="1">
              <a:buFontTx/>
              <a:buNone/>
              <a:defRPr/>
            </a:pPr>
            <a:r>
              <a:rPr lang="es-ES_tradnl" altLang="es-ES" sz="2800" dirty="0" smtClean="0"/>
              <a:t>Los puentes no sólo conectan las LAN, sino que además verifican los datos para determinar si les corresponde o no cruzar el puente. Esto aumenta la eficiencia de cada parte de la red. </a:t>
            </a:r>
          </a:p>
        </p:txBody>
      </p:sp>
    </p:spTree>
    <p:extLst>
      <p:ext uri="{BB962C8B-B14F-4D97-AF65-F5344CB8AC3E}">
        <p14:creationId xmlns:p14="http://schemas.microsoft.com/office/powerpoint/2010/main" val="397868718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76718E7-6E7F-41F5-AF81-52049DBB214A}" type="slidenum">
              <a:rPr lang="es-ES_tradnl" altLang="es-ES">
                <a:latin typeface="Arial" panose="020B0604020202020204" pitchFamily="34" charset="0"/>
              </a:rPr>
              <a:pPr eaLnBrk="1" hangingPunct="1"/>
              <a:t>71</a:t>
            </a:fld>
            <a:endParaRPr lang="es-ES_tradnl" altLang="es-ES">
              <a:latin typeface="Arial" panose="020B0604020202020204" pitchFamily="34" charset="0"/>
            </a:endParaRPr>
          </a:p>
        </p:txBody>
      </p:sp>
      <p:sp>
        <p:nvSpPr>
          <p:cNvPr id="35843" name="Rectangle 4"/>
          <p:cNvSpPr>
            <a:spLocks noGrp="1" noChangeArrowheads="1"/>
          </p:cNvSpPr>
          <p:nvPr>
            <p:ph type="title"/>
          </p:nvPr>
        </p:nvSpPr>
        <p:spPr/>
        <p:txBody>
          <a:bodyPr/>
          <a:lstStyle/>
          <a:p>
            <a:pPr eaLnBrk="1" hangingPunct="1">
              <a:defRPr/>
            </a:pPr>
            <a:r>
              <a:rPr lang="es-ES" altLang="es-ES" sz="2800" b="1" i="1" u="sng" dirty="0">
                <a:solidFill>
                  <a:schemeClr val="accent6">
                    <a:lumMod val="75000"/>
                  </a:schemeClr>
                </a:solidFill>
                <a:effectLst>
                  <a:outerShdw blurRad="38100" dist="38100" dir="2700000" algn="tl">
                    <a:srgbClr val="000000">
                      <a:alpha val="43137"/>
                    </a:srgbClr>
                  </a:outerShdw>
                </a:effectLst>
              </a:rPr>
              <a:t>PUENTE</a:t>
            </a:r>
            <a:endParaRPr lang="es-ES_tradnl" altLang="es-ES" sz="2800" b="1" i="1" u="sng" dirty="0">
              <a:solidFill>
                <a:schemeClr val="accent6">
                  <a:lumMod val="75000"/>
                </a:schemeClr>
              </a:solidFill>
              <a:effectLst>
                <a:outerShdw blurRad="38100" dist="38100" dir="2700000" algn="tl">
                  <a:srgbClr val="000000">
                    <a:alpha val="43137"/>
                  </a:srgbClr>
                </a:outerShdw>
              </a:effectLst>
            </a:endParaRPr>
          </a:p>
        </p:txBody>
      </p:sp>
      <p:graphicFrame>
        <p:nvGraphicFramePr>
          <p:cNvPr id="76804" name="Object 3"/>
          <p:cNvGraphicFramePr>
            <a:graphicFrameLocks noGrp="1" noChangeAspect="1"/>
          </p:cNvGraphicFramePr>
          <p:nvPr>
            <p:ph idx="1"/>
          </p:nvPr>
        </p:nvGraphicFramePr>
        <p:xfrm>
          <a:off x="1258888" y="1927225"/>
          <a:ext cx="6481762" cy="3786188"/>
        </p:xfrm>
        <a:graphic>
          <a:graphicData uri="http://schemas.openxmlformats.org/presentationml/2006/ole">
            <mc:AlternateContent xmlns:mc="http://schemas.openxmlformats.org/markup-compatibility/2006">
              <mc:Choice xmlns:v="urn:schemas-microsoft-com:vml" Requires="v">
                <p:oleObj spid="_x0000_s13434" name="Imagen de mapa de bits" r:id="rId3" imgW="5315692" imgH="3104762" progId="Paint.Picture">
                  <p:embed/>
                </p:oleObj>
              </mc:Choice>
              <mc:Fallback>
                <p:oleObj name="Imagen de mapa de bits" r:id="rId3" imgW="5315692" imgH="310476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927225"/>
                        <a:ext cx="6481762" cy="3786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CuadroTexto 1"/>
          <p:cNvSpPr txBox="1"/>
          <p:nvPr/>
        </p:nvSpPr>
        <p:spPr>
          <a:xfrm>
            <a:off x="2987824" y="4221088"/>
            <a:ext cx="2842638" cy="369332"/>
          </a:xfrm>
          <a:prstGeom prst="rect">
            <a:avLst/>
          </a:prstGeom>
          <a:noFill/>
        </p:spPr>
        <p:txBody>
          <a:bodyPr wrap="none" rtlCol="0">
            <a:spAutoFit/>
          </a:bodyPr>
          <a:lstStyle/>
          <a:p>
            <a:r>
              <a:rPr lang="es-ES" dirty="0" err="1" smtClean="0">
                <a:solidFill>
                  <a:srgbClr val="FF0000"/>
                </a:solidFill>
              </a:rPr>
              <a:t>Hub</a:t>
            </a:r>
            <a:r>
              <a:rPr lang="es-ES" dirty="0" smtClean="0">
                <a:solidFill>
                  <a:srgbClr val="FF0000"/>
                </a:solidFill>
              </a:rPr>
              <a:t>              Puente         </a:t>
            </a:r>
            <a:r>
              <a:rPr lang="es-ES" dirty="0" err="1" smtClean="0">
                <a:solidFill>
                  <a:srgbClr val="FF0000"/>
                </a:solidFill>
              </a:rPr>
              <a:t>Hub</a:t>
            </a:r>
            <a:endParaRPr lang="es-ES" dirty="0">
              <a:solidFill>
                <a:srgbClr val="FF0000"/>
              </a:solidFill>
            </a:endParaRPr>
          </a:p>
        </p:txBody>
      </p:sp>
      <p:sp>
        <p:nvSpPr>
          <p:cNvPr id="3" name="CuadroTexto 2"/>
          <p:cNvSpPr txBox="1"/>
          <p:nvPr/>
        </p:nvSpPr>
        <p:spPr>
          <a:xfrm>
            <a:off x="1652832" y="3068960"/>
            <a:ext cx="614912" cy="369332"/>
          </a:xfrm>
          <a:prstGeom prst="rect">
            <a:avLst/>
          </a:prstGeom>
          <a:noFill/>
        </p:spPr>
        <p:txBody>
          <a:bodyPr wrap="none" rtlCol="0">
            <a:spAutoFit/>
          </a:bodyPr>
          <a:lstStyle/>
          <a:p>
            <a:r>
              <a:rPr lang="es-ES" dirty="0" smtClean="0"/>
              <a:t>Host</a:t>
            </a:r>
            <a:endParaRPr lang="es-ES" dirty="0"/>
          </a:p>
        </p:txBody>
      </p:sp>
      <p:sp>
        <p:nvSpPr>
          <p:cNvPr id="7" name="CuadroTexto 6"/>
          <p:cNvSpPr txBox="1"/>
          <p:nvPr/>
        </p:nvSpPr>
        <p:spPr>
          <a:xfrm>
            <a:off x="1652832" y="3995772"/>
            <a:ext cx="614912" cy="369332"/>
          </a:xfrm>
          <a:prstGeom prst="rect">
            <a:avLst/>
          </a:prstGeom>
          <a:noFill/>
        </p:spPr>
        <p:txBody>
          <a:bodyPr wrap="none" rtlCol="0">
            <a:spAutoFit/>
          </a:bodyPr>
          <a:lstStyle/>
          <a:p>
            <a:r>
              <a:rPr lang="es-ES" dirty="0" smtClean="0"/>
              <a:t>Host</a:t>
            </a:r>
            <a:endParaRPr lang="es-ES" dirty="0"/>
          </a:p>
        </p:txBody>
      </p:sp>
      <p:sp>
        <p:nvSpPr>
          <p:cNvPr id="8" name="CuadroTexto 7"/>
          <p:cNvSpPr txBox="1"/>
          <p:nvPr/>
        </p:nvSpPr>
        <p:spPr>
          <a:xfrm>
            <a:off x="1619672" y="5229200"/>
            <a:ext cx="614912" cy="369332"/>
          </a:xfrm>
          <a:prstGeom prst="rect">
            <a:avLst/>
          </a:prstGeom>
          <a:noFill/>
        </p:spPr>
        <p:txBody>
          <a:bodyPr wrap="none" rtlCol="0">
            <a:spAutoFit/>
          </a:bodyPr>
          <a:lstStyle/>
          <a:p>
            <a:r>
              <a:rPr lang="es-ES" dirty="0" smtClean="0"/>
              <a:t>Host</a:t>
            </a:r>
            <a:endParaRPr lang="es-ES" dirty="0"/>
          </a:p>
        </p:txBody>
      </p:sp>
      <p:graphicFrame>
        <p:nvGraphicFramePr>
          <p:cNvPr id="9" name="Object 3"/>
          <p:cNvGraphicFramePr>
            <a:graphicFrameLocks noChangeAspect="1"/>
          </p:cNvGraphicFramePr>
          <p:nvPr>
            <p:extLst>
              <p:ext uri="{D42A27DB-BD31-4B8C-83A1-F6EECF244321}">
                <p14:modId xmlns:p14="http://schemas.microsoft.com/office/powerpoint/2010/main" val="493802327"/>
              </p:ext>
            </p:extLst>
          </p:nvPr>
        </p:nvGraphicFramePr>
        <p:xfrm>
          <a:off x="1115616" y="2060848"/>
          <a:ext cx="6481762" cy="3786188"/>
        </p:xfrm>
        <a:graphic>
          <a:graphicData uri="http://schemas.openxmlformats.org/presentationml/2006/ole">
            <mc:AlternateContent xmlns:mc="http://schemas.openxmlformats.org/markup-compatibility/2006">
              <mc:Choice xmlns:v="urn:schemas-microsoft-com:vml" Requires="v">
                <p:oleObj spid="_x0000_s13435" name="Imagen de mapa de bits" r:id="rId5" imgW="5315692" imgH="3104762" progId="Paint.Picture">
                  <p:embed/>
                </p:oleObj>
              </mc:Choice>
              <mc:Fallback>
                <p:oleObj name="Imagen de mapa de bits" r:id="rId5" imgW="5315692" imgH="310476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2060848"/>
                        <a:ext cx="6481762" cy="3786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uadroTexto 9"/>
          <p:cNvSpPr txBox="1"/>
          <p:nvPr/>
        </p:nvSpPr>
        <p:spPr>
          <a:xfrm>
            <a:off x="1509560" y="3202583"/>
            <a:ext cx="614912" cy="369332"/>
          </a:xfrm>
          <a:prstGeom prst="rect">
            <a:avLst/>
          </a:prstGeom>
          <a:noFill/>
        </p:spPr>
        <p:txBody>
          <a:bodyPr wrap="none" rtlCol="0">
            <a:spAutoFit/>
          </a:bodyPr>
          <a:lstStyle/>
          <a:p>
            <a:r>
              <a:rPr lang="es-ES" dirty="0" smtClean="0"/>
              <a:t>Host</a:t>
            </a:r>
            <a:endParaRPr lang="es-ES" dirty="0"/>
          </a:p>
        </p:txBody>
      </p:sp>
      <p:sp>
        <p:nvSpPr>
          <p:cNvPr id="11" name="CuadroTexto 10"/>
          <p:cNvSpPr txBox="1"/>
          <p:nvPr/>
        </p:nvSpPr>
        <p:spPr>
          <a:xfrm>
            <a:off x="1509560" y="4129395"/>
            <a:ext cx="614912" cy="369332"/>
          </a:xfrm>
          <a:prstGeom prst="rect">
            <a:avLst/>
          </a:prstGeom>
          <a:noFill/>
        </p:spPr>
        <p:txBody>
          <a:bodyPr wrap="none" rtlCol="0">
            <a:spAutoFit/>
          </a:bodyPr>
          <a:lstStyle/>
          <a:p>
            <a:r>
              <a:rPr lang="es-ES" dirty="0" smtClean="0"/>
              <a:t>Host</a:t>
            </a:r>
            <a:endParaRPr lang="es-ES" dirty="0"/>
          </a:p>
        </p:txBody>
      </p:sp>
      <p:sp>
        <p:nvSpPr>
          <p:cNvPr id="12" name="CuadroTexto 11"/>
          <p:cNvSpPr txBox="1"/>
          <p:nvPr/>
        </p:nvSpPr>
        <p:spPr>
          <a:xfrm>
            <a:off x="1476400" y="5362823"/>
            <a:ext cx="614912" cy="369332"/>
          </a:xfrm>
          <a:prstGeom prst="rect">
            <a:avLst/>
          </a:prstGeom>
          <a:noFill/>
        </p:spPr>
        <p:txBody>
          <a:bodyPr wrap="none" rtlCol="0">
            <a:spAutoFit/>
          </a:bodyPr>
          <a:lstStyle/>
          <a:p>
            <a:r>
              <a:rPr lang="es-ES" dirty="0" smtClean="0"/>
              <a:t>Host</a:t>
            </a:r>
            <a:endParaRPr lang="es-ES" dirty="0"/>
          </a:p>
        </p:txBody>
      </p:sp>
      <p:sp>
        <p:nvSpPr>
          <p:cNvPr id="13" name="CuadroTexto 12"/>
          <p:cNvSpPr txBox="1"/>
          <p:nvPr/>
        </p:nvSpPr>
        <p:spPr>
          <a:xfrm>
            <a:off x="6549376" y="3212976"/>
            <a:ext cx="614912" cy="369332"/>
          </a:xfrm>
          <a:prstGeom prst="rect">
            <a:avLst/>
          </a:prstGeom>
          <a:noFill/>
        </p:spPr>
        <p:txBody>
          <a:bodyPr wrap="none" rtlCol="0">
            <a:spAutoFit/>
          </a:bodyPr>
          <a:lstStyle/>
          <a:p>
            <a:r>
              <a:rPr lang="es-ES" dirty="0" smtClean="0"/>
              <a:t>Host</a:t>
            </a:r>
            <a:endParaRPr lang="es-ES" dirty="0"/>
          </a:p>
        </p:txBody>
      </p:sp>
      <p:sp>
        <p:nvSpPr>
          <p:cNvPr id="14" name="CuadroTexto 13"/>
          <p:cNvSpPr txBox="1"/>
          <p:nvPr/>
        </p:nvSpPr>
        <p:spPr>
          <a:xfrm>
            <a:off x="6549376" y="4139788"/>
            <a:ext cx="614912" cy="369332"/>
          </a:xfrm>
          <a:prstGeom prst="rect">
            <a:avLst/>
          </a:prstGeom>
          <a:noFill/>
        </p:spPr>
        <p:txBody>
          <a:bodyPr wrap="none" rtlCol="0">
            <a:spAutoFit/>
          </a:bodyPr>
          <a:lstStyle/>
          <a:p>
            <a:r>
              <a:rPr lang="es-ES" dirty="0" smtClean="0"/>
              <a:t>Host</a:t>
            </a:r>
            <a:endParaRPr lang="es-ES" dirty="0"/>
          </a:p>
        </p:txBody>
      </p:sp>
      <p:sp>
        <p:nvSpPr>
          <p:cNvPr id="15" name="CuadroTexto 14"/>
          <p:cNvSpPr txBox="1"/>
          <p:nvPr/>
        </p:nvSpPr>
        <p:spPr>
          <a:xfrm>
            <a:off x="6516216" y="5373216"/>
            <a:ext cx="614912" cy="369332"/>
          </a:xfrm>
          <a:prstGeom prst="rect">
            <a:avLst/>
          </a:prstGeom>
          <a:noFill/>
        </p:spPr>
        <p:txBody>
          <a:bodyPr wrap="none" rtlCol="0">
            <a:spAutoFit/>
          </a:bodyPr>
          <a:lstStyle/>
          <a:p>
            <a:r>
              <a:rPr lang="es-ES" dirty="0" smtClean="0"/>
              <a:t>Host</a:t>
            </a:r>
            <a:endParaRPr lang="es-ES" dirty="0"/>
          </a:p>
        </p:txBody>
      </p:sp>
      <p:sp>
        <p:nvSpPr>
          <p:cNvPr id="16" name="CuadroTexto 15"/>
          <p:cNvSpPr txBox="1"/>
          <p:nvPr/>
        </p:nvSpPr>
        <p:spPr>
          <a:xfrm>
            <a:off x="2660944" y="4139788"/>
            <a:ext cx="3160032" cy="369332"/>
          </a:xfrm>
          <a:prstGeom prst="rect">
            <a:avLst/>
          </a:prstGeom>
          <a:noFill/>
        </p:spPr>
        <p:txBody>
          <a:bodyPr wrap="none" rtlCol="0">
            <a:spAutoFit/>
          </a:bodyPr>
          <a:lstStyle/>
          <a:p>
            <a:r>
              <a:rPr lang="es-ES" dirty="0" err="1" smtClean="0"/>
              <a:t>Hub</a:t>
            </a:r>
            <a:r>
              <a:rPr lang="es-ES" dirty="0" smtClean="0"/>
              <a:t>                 Puente            </a:t>
            </a:r>
            <a:r>
              <a:rPr lang="es-ES" dirty="0" err="1" smtClean="0"/>
              <a:t>Hub</a:t>
            </a:r>
            <a:endParaRPr lang="es-ES" dirty="0"/>
          </a:p>
        </p:txBody>
      </p:sp>
    </p:spTree>
    <p:extLst>
      <p:ext uri="{BB962C8B-B14F-4D97-AF65-F5344CB8AC3E}">
        <p14:creationId xmlns:p14="http://schemas.microsoft.com/office/powerpoint/2010/main" val="19475132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D238DDA-DF77-4A72-AD2C-DC79352401BF}" type="slidenum">
              <a:rPr lang="es-ES_tradnl" altLang="es-ES">
                <a:latin typeface="Arial" panose="020B0604020202020204" pitchFamily="34" charset="0"/>
              </a:rPr>
              <a:pPr eaLnBrk="1" hangingPunct="1"/>
              <a:t>72</a:t>
            </a:fld>
            <a:endParaRPr lang="es-ES_tradnl" altLang="es-ES">
              <a:latin typeface="Arial" panose="020B0604020202020204" pitchFamily="34" charset="0"/>
            </a:endParaRPr>
          </a:p>
        </p:txBody>
      </p:sp>
      <p:sp>
        <p:nvSpPr>
          <p:cNvPr id="36867" name="Rectangle 2"/>
          <p:cNvSpPr>
            <a:spLocks noGrp="1" noChangeArrowheads="1"/>
          </p:cNvSpPr>
          <p:nvPr>
            <p:ph type="title"/>
          </p:nvPr>
        </p:nvSpPr>
        <p:spPr/>
        <p:txBody>
          <a:bodyPr/>
          <a:lstStyle/>
          <a:p>
            <a:pPr eaLnBrk="1" hangingPunct="1">
              <a:defRPr/>
            </a:pPr>
            <a:r>
              <a:rPr lang="es-ES" altLang="es-ES" sz="2800" b="1" i="1" u="sng" dirty="0">
                <a:solidFill>
                  <a:schemeClr val="accent6">
                    <a:lumMod val="75000"/>
                  </a:schemeClr>
                </a:solidFill>
                <a:effectLst>
                  <a:outerShdw blurRad="38100" dist="38100" dir="2700000" algn="tl">
                    <a:srgbClr val="000000">
                      <a:alpha val="43137"/>
                    </a:srgbClr>
                  </a:outerShdw>
                </a:effectLst>
              </a:rPr>
              <a:t>SWITCH</a:t>
            </a:r>
            <a:endParaRPr lang="es-ES_tradnl" altLang="es-ES" sz="2800" b="1" i="1" u="sng" dirty="0">
              <a:solidFill>
                <a:schemeClr val="accent6">
                  <a:lumMod val="75000"/>
                </a:schemeClr>
              </a:solidFill>
              <a:effectLst>
                <a:outerShdw blurRad="38100" dist="38100" dir="2700000" algn="tl">
                  <a:srgbClr val="000000">
                    <a:alpha val="43137"/>
                  </a:srgbClr>
                </a:outerShdw>
              </a:effectLst>
            </a:endParaRPr>
          </a:p>
        </p:txBody>
      </p:sp>
      <p:sp>
        <p:nvSpPr>
          <p:cNvPr id="36868" name="Rectangle 3"/>
          <p:cNvSpPr>
            <a:spLocks noGrp="1" noChangeArrowheads="1"/>
          </p:cNvSpPr>
          <p:nvPr>
            <p:ph type="body" idx="1"/>
          </p:nvPr>
        </p:nvSpPr>
        <p:spPr/>
        <p:txBody>
          <a:bodyPr/>
          <a:lstStyle/>
          <a:p>
            <a:pPr marL="0" indent="0" eaLnBrk="1" hangingPunct="1">
              <a:lnSpc>
                <a:spcPct val="90000"/>
              </a:lnSpc>
              <a:buFontTx/>
              <a:buNone/>
              <a:defRPr/>
            </a:pPr>
            <a:r>
              <a:rPr lang="es-ES_tradnl" altLang="es-ES" sz="2400" dirty="0" smtClean="0"/>
              <a:t>Los </a:t>
            </a:r>
            <a:r>
              <a:rPr lang="es-ES_tradnl" altLang="es-ES" sz="2400" dirty="0" err="1" smtClean="0"/>
              <a:t>switches</a:t>
            </a:r>
            <a:r>
              <a:rPr lang="es-ES_tradnl" altLang="es-ES" sz="2400" dirty="0" smtClean="0"/>
              <a:t> de grupos de trabajo </a:t>
            </a:r>
            <a:r>
              <a:rPr lang="es-ES_tradnl" altLang="es-ES" sz="2400" i="1" u="sng" dirty="0" smtClean="0">
                <a:effectLst>
                  <a:outerShdw blurRad="38100" dist="38100" dir="2700000" algn="tl">
                    <a:srgbClr val="000000">
                      <a:alpha val="43137"/>
                    </a:srgbClr>
                  </a:outerShdw>
                </a:effectLst>
              </a:rPr>
              <a:t>agregan inteligencia a la administración de transferencia de datos</a:t>
            </a:r>
            <a:r>
              <a:rPr lang="es-ES_tradnl" altLang="es-ES" sz="2400" dirty="0" smtClean="0"/>
              <a:t>.   </a:t>
            </a:r>
          </a:p>
          <a:p>
            <a:pPr marL="0" indent="0" eaLnBrk="1" hangingPunct="1">
              <a:lnSpc>
                <a:spcPct val="90000"/>
              </a:lnSpc>
              <a:buFontTx/>
              <a:buNone/>
              <a:defRPr/>
            </a:pPr>
            <a:endParaRPr lang="es-ES_tradnl" altLang="es-ES" sz="2400" dirty="0" smtClean="0"/>
          </a:p>
          <a:p>
            <a:pPr marL="0" indent="0" eaLnBrk="1" hangingPunct="1">
              <a:lnSpc>
                <a:spcPct val="90000"/>
              </a:lnSpc>
              <a:buFontTx/>
              <a:buNone/>
              <a:defRPr/>
            </a:pPr>
            <a:r>
              <a:rPr lang="es-ES_tradnl" altLang="es-ES" sz="2400" dirty="0" smtClean="0"/>
              <a:t>No sólo son capaces de determinar si los datos deben permanecer o no en una LAN, sino que pueden transferir los datos únicamente a la conexión que necesita esos datos. </a:t>
            </a:r>
          </a:p>
          <a:p>
            <a:pPr marL="0" indent="0" eaLnBrk="1" hangingPunct="1">
              <a:lnSpc>
                <a:spcPct val="90000"/>
              </a:lnSpc>
              <a:buFontTx/>
              <a:buNone/>
              <a:defRPr/>
            </a:pPr>
            <a:endParaRPr lang="es-ES_tradnl" altLang="es-ES" sz="2400" dirty="0" smtClean="0"/>
          </a:p>
          <a:p>
            <a:pPr marL="0" indent="0" eaLnBrk="1" hangingPunct="1">
              <a:lnSpc>
                <a:spcPct val="90000"/>
              </a:lnSpc>
              <a:buFontTx/>
              <a:buNone/>
              <a:defRPr/>
            </a:pPr>
            <a:r>
              <a:rPr lang="es-ES_tradnl" altLang="es-ES" sz="2400" dirty="0" smtClean="0"/>
              <a:t>Otra diferencia entre un puente y un </a:t>
            </a:r>
            <a:r>
              <a:rPr lang="es-ES_tradnl" altLang="es-ES" sz="2400" dirty="0" err="1" smtClean="0"/>
              <a:t>switch</a:t>
            </a:r>
            <a:r>
              <a:rPr lang="es-ES_tradnl" altLang="es-ES" sz="2400" dirty="0" smtClean="0"/>
              <a:t> es que </a:t>
            </a:r>
            <a:r>
              <a:rPr lang="es-ES_tradnl" altLang="es-ES" sz="2400" u="sng" dirty="0" smtClean="0">
                <a:solidFill>
                  <a:srgbClr val="FF0000"/>
                </a:solidFill>
              </a:rPr>
              <a:t>un </a:t>
            </a:r>
            <a:r>
              <a:rPr lang="es-ES_tradnl" altLang="es-ES" sz="2400" u="sng" dirty="0" err="1" smtClean="0">
                <a:solidFill>
                  <a:srgbClr val="FF0000"/>
                </a:solidFill>
              </a:rPr>
              <a:t>switch</a:t>
            </a:r>
            <a:r>
              <a:rPr lang="es-ES_tradnl" altLang="es-ES" sz="2400" u="sng" dirty="0" smtClean="0">
                <a:solidFill>
                  <a:srgbClr val="FF0000"/>
                </a:solidFill>
              </a:rPr>
              <a:t> no convierte formatos de transmisión de datos.</a:t>
            </a:r>
            <a:r>
              <a:rPr lang="es-ES_tradnl" altLang="es-ES" sz="2400" dirty="0" smtClean="0"/>
              <a:t> </a:t>
            </a:r>
          </a:p>
        </p:txBody>
      </p:sp>
    </p:spTree>
    <p:extLst>
      <p:ext uri="{BB962C8B-B14F-4D97-AF65-F5344CB8AC3E}">
        <p14:creationId xmlns:p14="http://schemas.microsoft.com/office/powerpoint/2010/main" val="90573164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5CD5BB4-7A45-45DA-8313-4DDDA21747D0}" type="slidenum">
              <a:rPr lang="es-ES_tradnl" altLang="es-ES">
                <a:latin typeface="Arial" panose="020B0604020202020204" pitchFamily="34" charset="0"/>
              </a:rPr>
              <a:pPr eaLnBrk="1" hangingPunct="1"/>
              <a:t>73</a:t>
            </a:fld>
            <a:endParaRPr lang="es-ES_tradnl" altLang="es-ES">
              <a:latin typeface="Arial" panose="020B0604020202020204" pitchFamily="34" charset="0"/>
            </a:endParaRPr>
          </a:p>
        </p:txBody>
      </p:sp>
      <p:sp>
        <p:nvSpPr>
          <p:cNvPr id="37891" name="Rectangle 2"/>
          <p:cNvSpPr>
            <a:spLocks noGrp="1" noChangeArrowheads="1"/>
          </p:cNvSpPr>
          <p:nvPr>
            <p:ph type="title"/>
          </p:nvPr>
        </p:nvSpPr>
        <p:spPr/>
        <p:txBody>
          <a:bodyPr/>
          <a:lstStyle/>
          <a:p>
            <a:pPr eaLnBrk="1" hangingPunct="1">
              <a:defRPr/>
            </a:pPr>
            <a:r>
              <a:rPr lang="es-ES" altLang="es-ES" sz="2800" b="1" i="1" u="sng" dirty="0">
                <a:solidFill>
                  <a:schemeClr val="accent6">
                    <a:lumMod val="75000"/>
                  </a:schemeClr>
                </a:solidFill>
                <a:effectLst>
                  <a:outerShdw blurRad="38100" dist="38100" dir="2700000" algn="tl">
                    <a:srgbClr val="000000">
                      <a:alpha val="43137"/>
                    </a:srgbClr>
                  </a:outerShdw>
                </a:effectLst>
              </a:rPr>
              <a:t>SWITCH</a:t>
            </a:r>
            <a:endParaRPr lang="es-ES_tradnl" altLang="es-ES" sz="2800" b="1" i="1" u="sng" dirty="0">
              <a:solidFill>
                <a:schemeClr val="accent6">
                  <a:lumMod val="75000"/>
                </a:schemeClr>
              </a:solidFill>
              <a:effectLst>
                <a:outerShdw blurRad="38100" dist="38100" dir="2700000" algn="tl">
                  <a:srgbClr val="000000">
                    <a:alpha val="43137"/>
                  </a:srgbClr>
                </a:outerShdw>
              </a:effectLst>
            </a:endParaRPr>
          </a:p>
        </p:txBody>
      </p:sp>
      <p:graphicFrame>
        <p:nvGraphicFramePr>
          <p:cNvPr id="78852" name="Object 3"/>
          <p:cNvGraphicFramePr>
            <a:graphicFrameLocks noGrp="1" noChangeAspect="1"/>
          </p:cNvGraphicFramePr>
          <p:nvPr>
            <p:ph idx="1"/>
          </p:nvPr>
        </p:nvGraphicFramePr>
        <p:xfrm>
          <a:off x="1476375" y="1557338"/>
          <a:ext cx="6408738" cy="4741862"/>
        </p:xfrm>
        <a:graphic>
          <a:graphicData uri="http://schemas.openxmlformats.org/presentationml/2006/ole">
            <mc:AlternateContent xmlns:mc="http://schemas.openxmlformats.org/markup-compatibility/2006">
              <mc:Choice xmlns:v="urn:schemas-microsoft-com:vml" Requires="v">
                <p:oleObj spid="_x0000_s14413" name="Imagen de mapa de bits" r:id="rId3" imgW="4982270" imgH="3685714" progId="Paint.Picture">
                  <p:embed/>
                </p:oleObj>
              </mc:Choice>
              <mc:Fallback>
                <p:oleObj name="Imagen de mapa de bits" r:id="rId3" imgW="4982270" imgH="368571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557338"/>
                        <a:ext cx="6408738" cy="474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CuadroTexto 1"/>
          <p:cNvSpPr txBox="1"/>
          <p:nvPr/>
        </p:nvSpPr>
        <p:spPr>
          <a:xfrm>
            <a:off x="4283968" y="4365104"/>
            <a:ext cx="936104" cy="369332"/>
          </a:xfrm>
          <a:prstGeom prst="rect">
            <a:avLst/>
          </a:prstGeom>
          <a:noFill/>
        </p:spPr>
        <p:txBody>
          <a:bodyPr wrap="square" rtlCol="0">
            <a:spAutoFit/>
          </a:bodyPr>
          <a:lstStyle/>
          <a:p>
            <a:r>
              <a:rPr lang="es-ES" dirty="0" smtClean="0"/>
              <a:t>SWITCH</a:t>
            </a:r>
            <a:endParaRPr lang="es-ES" dirty="0"/>
          </a:p>
        </p:txBody>
      </p:sp>
    </p:spTree>
    <p:extLst>
      <p:ext uri="{BB962C8B-B14F-4D97-AF65-F5344CB8AC3E}">
        <p14:creationId xmlns:p14="http://schemas.microsoft.com/office/powerpoint/2010/main" val="39325866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C5B1A25-38EE-4CAE-BBDE-A90D55E219A6}" type="slidenum">
              <a:rPr lang="es-ES_tradnl" altLang="es-ES">
                <a:latin typeface="Arial" panose="020B0604020202020204" pitchFamily="34" charset="0"/>
              </a:rPr>
              <a:pPr eaLnBrk="1" hangingPunct="1"/>
              <a:t>74</a:t>
            </a:fld>
            <a:endParaRPr lang="es-ES_tradnl" altLang="es-ES">
              <a:latin typeface="Arial" panose="020B0604020202020204" pitchFamily="34" charset="0"/>
            </a:endParaRPr>
          </a:p>
        </p:txBody>
      </p:sp>
      <p:sp>
        <p:nvSpPr>
          <p:cNvPr id="38915" name="Rectangle 5"/>
          <p:cNvSpPr>
            <a:spLocks noGrp="1" noChangeArrowheads="1"/>
          </p:cNvSpPr>
          <p:nvPr>
            <p:ph type="title"/>
          </p:nvPr>
        </p:nvSpPr>
        <p:spPr/>
        <p:txBody>
          <a:bodyPr/>
          <a:lstStyle/>
          <a:p>
            <a:pPr eaLnBrk="1" hangingPunct="1">
              <a:defRPr/>
            </a:pPr>
            <a:r>
              <a:rPr lang="es-ES" altLang="es-ES" sz="2800" b="1" i="1" u="sng" dirty="0" smtClean="0">
                <a:solidFill>
                  <a:schemeClr val="accent6">
                    <a:lumMod val="75000"/>
                  </a:schemeClr>
                </a:solidFill>
                <a:effectLst>
                  <a:outerShdw blurRad="38100" dist="38100" dir="2700000" algn="tl">
                    <a:srgbClr val="000000">
                      <a:alpha val="43137"/>
                    </a:srgbClr>
                  </a:outerShdw>
                </a:effectLst>
              </a:rPr>
              <a:t>ROUTER</a:t>
            </a:r>
            <a:endParaRPr lang="es-ES_tradnl" altLang="es-ES" sz="2800" b="1" i="1" u="sng" dirty="0" smtClean="0">
              <a:solidFill>
                <a:schemeClr val="accent6">
                  <a:lumMod val="75000"/>
                </a:schemeClr>
              </a:solidFill>
              <a:effectLst>
                <a:outerShdw blurRad="38100" dist="38100" dir="2700000" algn="tl">
                  <a:srgbClr val="000000">
                    <a:alpha val="43137"/>
                  </a:srgbClr>
                </a:outerShdw>
              </a:effectLst>
            </a:endParaRPr>
          </a:p>
        </p:txBody>
      </p:sp>
      <p:sp>
        <p:nvSpPr>
          <p:cNvPr id="38916" name="Rectangle 3"/>
          <p:cNvSpPr>
            <a:spLocks noGrp="1" noChangeArrowheads="1"/>
          </p:cNvSpPr>
          <p:nvPr>
            <p:ph type="body" sz="half" idx="1"/>
          </p:nvPr>
        </p:nvSpPr>
        <p:spPr>
          <a:xfrm>
            <a:off x="395288" y="1989138"/>
            <a:ext cx="5184775" cy="4032250"/>
          </a:xfrm>
        </p:spPr>
        <p:txBody>
          <a:bodyPr/>
          <a:lstStyle/>
          <a:p>
            <a:pPr marL="0" indent="0" eaLnBrk="1" hangingPunct="1">
              <a:lnSpc>
                <a:spcPct val="90000"/>
              </a:lnSpc>
              <a:buFontTx/>
              <a:buNone/>
              <a:defRPr/>
            </a:pPr>
            <a:r>
              <a:rPr lang="es-ES_tradnl" altLang="es-ES" sz="2000" dirty="0" smtClean="0"/>
              <a:t>Los </a:t>
            </a:r>
            <a:r>
              <a:rPr lang="es-ES_tradnl" altLang="es-ES" sz="2000" dirty="0" err="1" smtClean="0"/>
              <a:t>routers</a:t>
            </a:r>
            <a:r>
              <a:rPr lang="es-ES_tradnl" altLang="es-ES" sz="2000" dirty="0" smtClean="0"/>
              <a:t> poseen todas las capacidades indicadas anteriormente.  </a:t>
            </a:r>
          </a:p>
          <a:p>
            <a:pPr marL="0" indent="0" eaLnBrk="1" hangingPunct="1">
              <a:lnSpc>
                <a:spcPct val="90000"/>
              </a:lnSpc>
              <a:buFontTx/>
              <a:buNone/>
              <a:defRPr/>
            </a:pPr>
            <a:r>
              <a:rPr lang="es-ES_tradnl" altLang="es-ES" sz="2000" dirty="0" smtClean="0"/>
              <a:t>Pueden regenerar señales, concentrar múltiples conexiones, convertir formatos de transmisión de datos, y manejar transferencias de datos.</a:t>
            </a:r>
          </a:p>
          <a:p>
            <a:pPr marL="0" indent="0" eaLnBrk="1" hangingPunct="1">
              <a:lnSpc>
                <a:spcPct val="90000"/>
              </a:lnSpc>
              <a:buFontTx/>
              <a:buNone/>
              <a:defRPr/>
            </a:pPr>
            <a:r>
              <a:rPr lang="es-ES_tradnl" altLang="es-ES" sz="2000" dirty="0" smtClean="0"/>
              <a:t>Pueden conectarse a una WAN, lo que les permite conectar LAN que se encuentran separadas por grandes distancias.</a:t>
            </a:r>
          </a:p>
          <a:p>
            <a:pPr marL="0" indent="0" eaLnBrk="1" hangingPunct="1">
              <a:lnSpc>
                <a:spcPct val="90000"/>
              </a:lnSpc>
              <a:buFontTx/>
              <a:buNone/>
              <a:defRPr/>
            </a:pPr>
            <a:r>
              <a:rPr lang="es-ES_tradnl" altLang="es-ES" sz="2000" i="1" dirty="0" smtClean="0">
                <a:solidFill>
                  <a:srgbClr val="FF0000"/>
                </a:solidFill>
                <a:effectLst>
                  <a:outerShdw blurRad="38100" dist="38100" dir="2700000" algn="tl">
                    <a:srgbClr val="000000">
                      <a:alpha val="43137"/>
                    </a:srgbClr>
                  </a:outerShdw>
                </a:effectLst>
              </a:rPr>
              <a:t>Ninguno de los demás dispositivos puede proporcionar este tipo de conexión.</a:t>
            </a:r>
          </a:p>
        </p:txBody>
      </p:sp>
      <p:graphicFrame>
        <p:nvGraphicFramePr>
          <p:cNvPr id="79877" name="Object 4"/>
          <p:cNvGraphicFramePr>
            <a:graphicFrameLocks noGrp="1" noChangeAspect="1"/>
          </p:cNvGraphicFramePr>
          <p:nvPr>
            <p:ph sz="half" idx="2"/>
          </p:nvPr>
        </p:nvGraphicFramePr>
        <p:xfrm>
          <a:off x="5508625" y="2828925"/>
          <a:ext cx="2840038" cy="2066925"/>
        </p:xfrm>
        <a:graphic>
          <a:graphicData uri="http://schemas.openxmlformats.org/presentationml/2006/ole">
            <mc:AlternateContent xmlns:mc="http://schemas.openxmlformats.org/markup-compatibility/2006">
              <mc:Choice xmlns:v="urn:schemas-microsoft-com:vml" Requires="v">
                <p:oleObj spid="_x0000_s15436" name="Imagen de mapa de bits" r:id="rId3" imgW="3362794" imgH="2066667" progId="Paint.Picture">
                  <p:embed/>
                </p:oleObj>
              </mc:Choice>
              <mc:Fallback>
                <p:oleObj name="Imagen de mapa de bits" r:id="rId3" imgW="3362794" imgH="20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828925"/>
                        <a:ext cx="2840038"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6297609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Topología de Red</a:t>
            </a:r>
            <a:endParaRPr lang="es-ES" i="1" u="sng" dirty="0">
              <a:solidFill>
                <a:srgbClr val="FF0000"/>
              </a:solidFill>
              <a:effectLst>
                <a:outerShdw blurRad="38100" dist="38100" dir="2700000" algn="tl">
                  <a:srgbClr val="000000">
                    <a:alpha val="43137"/>
                  </a:srgbClr>
                </a:outerShdw>
              </a:effectLst>
            </a:endParaRPr>
          </a:p>
        </p:txBody>
      </p:sp>
      <p:sp>
        <p:nvSpPr>
          <p:cNvPr id="80899" name="Subtítulo 2"/>
          <p:cNvSpPr>
            <a:spLocks noGrp="1"/>
          </p:cNvSpPr>
          <p:nvPr>
            <p:ph type="subTitle" idx="1"/>
          </p:nvPr>
        </p:nvSpPr>
        <p:spPr/>
        <p:txBody>
          <a:bodyPr/>
          <a:lstStyle/>
          <a:p>
            <a:endParaRPr lang="es-ES" altLang="es-ES" smtClean="0"/>
          </a:p>
        </p:txBody>
      </p:sp>
      <p:sp>
        <p:nvSpPr>
          <p:cNvPr id="8090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72359E3-0F81-41D3-8120-708D06812F72}" type="slidenum">
              <a:rPr lang="es-ES_tradnl" altLang="es-ES">
                <a:latin typeface="Arial" panose="020B0604020202020204" pitchFamily="34" charset="0"/>
              </a:rPr>
              <a:pPr eaLnBrk="1" hangingPunct="1"/>
              <a:t>75</a:t>
            </a:fld>
            <a:endParaRPr lang="es-ES_tradnl" altLang="es-ES">
              <a:latin typeface="Arial" panose="020B0604020202020204" pitchFamily="34" charset="0"/>
            </a:endParaRPr>
          </a:p>
        </p:txBody>
      </p:sp>
    </p:spTree>
    <p:extLst>
      <p:ext uri="{BB962C8B-B14F-4D97-AF65-F5344CB8AC3E}">
        <p14:creationId xmlns:p14="http://schemas.microsoft.com/office/powerpoint/2010/main" val="189000295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7FBCAAD-5DCE-4621-8F95-45FD5CB3DB2D}" type="slidenum">
              <a:rPr lang="es-ES_tradnl" altLang="es-ES">
                <a:latin typeface="Arial" panose="020B0604020202020204" pitchFamily="34" charset="0"/>
              </a:rPr>
              <a:pPr eaLnBrk="1" hangingPunct="1"/>
              <a:t>76</a:t>
            </a:fld>
            <a:endParaRPr lang="es-ES_tradnl" altLang="es-ES">
              <a:latin typeface="Arial" panose="020B0604020202020204" pitchFamily="34" charset="0"/>
            </a:endParaRPr>
          </a:p>
        </p:txBody>
      </p:sp>
      <p:sp>
        <p:nvSpPr>
          <p:cNvPr id="39939"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39940" name="Rectangle 3"/>
          <p:cNvSpPr>
            <a:spLocks noGrp="1" noChangeArrowheads="1"/>
          </p:cNvSpPr>
          <p:nvPr>
            <p:ph type="body" idx="1"/>
          </p:nvPr>
        </p:nvSpPr>
        <p:spPr/>
        <p:txBody>
          <a:bodyPr/>
          <a:lstStyle/>
          <a:p>
            <a:pPr marL="0" indent="0" eaLnBrk="1" hangingPunct="1">
              <a:buFontTx/>
              <a:buNone/>
              <a:defRPr/>
            </a:pPr>
            <a:r>
              <a:rPr lang="es-ES_tradnl" altLang="es-ES" dirty="0" smtClean="0"/>
              <a:t>La </a:t>
            </a:r>
            <a:r>
              <a:rPr lang="es-ES_tradnl" altLang="es-ES" u="sng" dirty="0" smtClean="0">
                <a:solidFill>
                  <a:srgbClr val="00B050"/>
                </a:solidFill>
                <a:effectLst>
                  <a:outerShdw blurRad="38100" dist="38100" dir="2700000" algn="tl">
                    <a:srgbClr val="000000">
                      <a:alpha val="43137"/>
                    </a:srgbClr>
                  </a:outerShdw>
                </a:effectLst>
              </a:rPr>
              <a:t>topología de red</a:t>
            </a:r>
            <a:r>
              <a:rPr lang="es-ES_tradnl" altLang="es-ES" dirty="0" smtClean="0"/>
              <a:t> define la </a:t>
            </a:r>
            <a:r>
              <a:rPr lang="es-ES_tradnl" altLang="es-ES" i="1" u="sng" dirty="0" smtClean="0">
                <a:solidFill>
                  <a:srgbClr val="FF0000"/>
                </a:solidFill>
              </a:rPr>
              <a:t>estructura de una red, cables o medios</a:t>
            </a:r>
            <a:r>
              <a:rPr lang="es-ES_tradnl" altLang="es-ES" dirty="0" smtClean="0"/>
              <a:t>.</a:t>
            </a:r>
          </a:p>
          <a:p>
            <a:pPr marL="0" indent="0" eaLnBrk="1" hangingPunct="1">
              <a:buFontTx/>
              <a:buNone/>
              <a:defRPr/>
            </a:pPr>
            <a:r>
              <a:rPr lang="es-ES_tradnl" altLang="es-ES" dirty="0" smtClean="0"/>
              <a:t>La otra parte es la </a:t>
            </a:r>
            <a:r>
              <a:rPr lang="es-ES_tradnl" altLang="es-ES" i="1" u="sng" dirty="0" smtClean="0">
                <a:solidFill>
                  <a:srgbClr val="00B050"/>
                </a:solidFill>
                <a:effectLst>
                  <a:outerShdw blurRad="38100" dist="38100" dir="2700000" algn="tl">
                    <a:srgbClr val="000000">
                      <a:alpha val="43137"/>
                    </a:srgbClr>
                  </a:outerShdw>
                </a:effectLst>
              </a:rPr>
              <a:t>topología lógica</a:t>
            </a:r>
            <a:r>
              <a:rPr lang="es-ES_tradnl" altLang="es-ES" dirty="0" smtClean="0"/>
              <a:t>, que define </a:t>
            </a:r>
            <a:r>
              <a:rPr lang="es-ES_tradnl" altLang="es-ES" i="1" u="sng" dirty="0" smtClean="0">
                <a:solidFill>
                  <a:srgbClr val="FF0000"/>
                </a:solidFill>
                <a:effectLst>
                  <a:outerShdw blurRad="38100" dist="38100" dir="2700000" algn="tl">
                    <a:srgbClr val="000000">
                      <a:alpha val="43137"/>
                    </a:srgbClr>
                  </a:outerShdw>
                </a:effectLst>
              </a:rPr>
              <a:t>la forma en que los hosts acceden a los medios para enviar datos</a:t>
            </a:r>
            <a:r>
              <a:rPr lang="es-ES_tradnl" altLang="es-ES" dirty="0" smtClean="0"/>
              <a:t>. </a:t>
            </a:r>
          </a:p>
          <a:p>
            <a:pPr marL="0" indent="0" eaLnBrk="1" hangingPunct="1">
              <a:buFontTx/>
              <a:buNone/>
              <a:defRPr/>
            </a:pPr>
            <a:r>
              <a:rPr lang="es-ES_tradnl" altLang="es-ES" dirty="0" smtClean="0"/>
              <a:t>Las topologías físicas más comúnmente usadas son las siguientes:    </a:t>
            </a:r>
          </a:p>
        </p:txBody>
      </p:sp>
    </p:spTree>
    <p:extLst>
      <p:ext uri="{BB962C8B-B14F-4D97-AF65-F5344CB8AC3E}">
        <p14:creationId xmlns:p14="http://schemas.microsoft.com/office/powerpoint/2010/main" val="10304433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99B5A0F-8CC7-4EBD-A838-740AAFAEE9D5}" type="slidenum">
              <a:rPr lang="es-ES_tradnl" altLang="es-ES">
                <a:latin typeface="Arial" panose="020B0604020202020204" pitchFamily="34" charset="0"/>
              </a:rPr>
              <a:pPr eaLnBrk="1" hangingPunct="1"/>
              <a:t>77</a:t>
            </a:fld>
            <a:endParaRPr lang="es-ES_tradnl" altLang="es-ES">
              <a:latin typeface="Arial" panose="020B0604020202020204" pitchFamily="34" charset="0"/>
            </a:endParaRPr>
          </a:p>
        </p:txBody>
      </p:sp>
      <p:sp>
        <p:nvSpPr>
          <p:cNvPr id="40963"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82948" name="Object 3"/>
          <p:cNvGraphicFramePr>
            <a:graphicFrameLocks noGrp="1" noChangeAspect="1"/>
          </p:cNvGraphicFramePr>
          <p:nvPr>
            <p:ph idx="1"/>
          </p:nvPr>
        </p:nvGraphicFramePr>
        <p:xfrm>
          <a:off x="1187450" y="1874838"/>
          <a:ext cx="6985000" cy="4867275"/>
        </p:xfrm>
        <a:graphic>
          <a:graphicData uri="http://schemas.openxmlformats.org/presentationml/2006/ole">
            <mc:AlternateContent xmlns:mc="http://schemas.openxmlformats.org/markup-compatibility/2006">
              <mc:Choice xmlns:v="urn:schemas-microsoft-com:vml" Requires="v">
                <p:oleObj spid="_x0000_s16460" name="Imagen de mapa de bits" r:id="rId3" imgW="5372850" imgH="3742857" progId="Paint.Picture">
                  <p:embed/>
                </p:oleObj>
              </mc:Choice>
              <mc:Fallback>
                <p:oleObj name="Imagen de mapa de bits" r:id="rId3" imgW="5372850" imgH="374285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874838"/>
                        <a:ext cx="6985000" cy="486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5591844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20B11FB-D14C-4EE4-934F-5BC26B48923C}" type="slidenum">
              <a:rPr lang="es-ES_tradnl" altLang="es-ES">
                <a:latin typeface="Arial" panose="020B0604020202020204" pitchFamily="34" charset="0"/>
              </a:rPr>
              <a:pPr eaLnBrk="1" hangingPunct="1"/>
              <a:t>78</a:t>
            </a:fld>
            <a:endParaRPr lang="es-ES_tradnl" altLang="es-ES">
              <a:latin typeface="Arial" panose="020B0604020202020204" pitchFamily="34" charset="0"/>
            </a:endParaRPr>
          </a:p>
        </p:txBody>
      </p:sp>
      <p:sp>
        <p:nvSpPr>
          <p:cNvPr id="41987"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41988" name="Rectangle 3"/>
          <p:cNvSpPr>
            <a:spLocks noGrp="1" noChangeArrowheads="1"/>
          </p:cNvSpPr>
          <p:nvPr>
            <p:ph type="body" idx="1"/>
          </p:nvPr>
        </p:nvSpPr>
        <p:spPr/>
        <p:txBody>
          <a:bodyPr/>
          <a:lstStyle/>
          <a:p>
            <a:pPr algn="just" eaLnBrk="1" hangingPunct="1">
              <a:lnSpc>
                <a:spcPct val="90000"/>
              </a:lnSpc>
              <a:defRPr/>
            </a:pPr>
            <a:r>
              <a:rPr lang="es-ES_tradnl" altLang="es-ES" sz="2400" dirty="0" smtClean="0"/>
              <a:t>Una </a:t>
            </a:r>
            <a:r>
              <a:rPr lang="es-ES_tradnl" altLang="es-ES" sz="2400" i="1" u="sng" dirty="0" smtClean="0">
                <a:solidFill>
                  <a:srgbClr val="FF0000"/>
                </a:solidFill>
                <a:effectLst>
                  <a:outerShdw blurRad="38100" dist="38100" dir="2700000" algn="tl">
                    <a:srgbClr val="000000">
                      <a:alpha val="43137"/>
                    </a:srgbClr>
                  </a:outerShdw>
                </a:effectLst>
              </a:rPr>
              <a:t>topología de bus</a:t>
            </a:r>
            <a:r>
              <a:rPr lang="es-ES_tradnl" altLang="es-ES" sz="2400" dirty="0" smtClean="0"/>
              <a:t> usa un solo cable que debe terminarse en ambos extremos. Todos los hosts se conectan directamente a este cable. </a:t>
            </a:r>
          </a:p>
          <a:p>
            <a:pPr algn="just" eaLnBrk="1" hangingPunct="1">
              <a:lnSpc>
                <a:spcPct val="90000"/>
              </a:lnSpc>
              <a:defRPr/>
            </a:pPr>
            <a:r>
              <a:rPr lang="es-ES_tradnl" altLang="es-ES" sz="2400" dirty="0" smtClean="0"/>
              <a:t>La </a:t>
            </a:r>
            <a:r>
              <a:rPr lang="es-ES_tradnl" altLang="es-ES" sz="2400" i="1" u="sng" dirty="0" smtClean="0">
                <a:solidFill>
                  <a:srgbClr val="FF0000"/>
                </a:solidFill>
                <a:effectLst>
                  <a:outerShdw blurRad="38100" dist="38100" dir="2700000" algn="tl">
                    <a:srgbClr val="000000">
                      <a:alpha val="43137"/>
                    </a:srgbClr>
                  </a:outerShdw>
                </a:effectLst>
              </a:rPr>
              <a:t>topología de anillo</a:t>
            </a:r>
            <a:r>
              <a:rPr lang="es-ES_tradnl" altLang="es-ES" sz="2400" dirty="0" smtClean="0"/>
              <a:t> conecta un host con el siguiente y al último host con el primero. Esto crea un anillo físico de cable. </a:t>
            </a:r>
          </a:p>
          <a:p>
            <a:pPr algn="just" eaLnBrk="1" hangingPunct="1">
              <a:lnSpc>
                <a:spcPct val="90000"/>
              </a:lnSpc>
              <a:defRPr/>
            </a:pPr>
            <a:r>
              <a:rPr lang="es-ES_tradnl" altLang="es-ES" sz="2400" dirty="0" smtClean="0"/>
              <a:t>La </a:t>
            </a:r>
            <a:r>
              <a:rPr lang="es-ES_tradnl" altLang="es-ES" sz="2400" i="1" u="sng" dirty="0" smtClean="0">
                <a:solidFill>
                  <a:srgbClr val="FF0000"/>
                </a:solidFill>
                <a:effectLst>
                  <a:outerShdw blurRad="38100" dist="38100" dir="2700000" algn="tl">
                    <a:srgbClr val="000000">
                      <a:alpha val="43137"/>
                    </a:srgbClr>
                  </a:outerShdw>
                </a:effectLst>
              </a:rPr>
              <a:t>topología en estrella</a:t>
            </a:r>
            <a:r>
              <a:rPr lang="es-ES_tradnl" altLang="es-ES" sz="2400" dirty="0" smtClean="0"/>
              <a:t> conecta todos los cables con un punto central de concentración. </a:t>
            </a:r>
          </a:p>
          <a:p>
            <a:pPr algn="just" eaLnBrk="1" hangingPunct="1">
              <a:lnSpc>
                <a:spcPct val="90000"/>
              </a:lnSpc>
              <a:defRPr/>
            </a:pPr>
            <a:r>
              <a:rPr lang="es-ES_tradnl" altLang="es-ES" sz="2400" dirty="0" smtClean="0"/>
              <a:t>Una </a:t>
            </a:r>
            <a:r>
              <a:rPr lang="es-ES_tradnl" altLang="es-ES" sz="2400" i="1" u="sng" dirty="0" smtClean="0">
                <a:solidFill>
                  <a:srgbClr val="FF0000"/>
                </a:solidFill>
                <a:effectLst>
                  <a:outerShdw blurRad="38100" dist="38100" dir="2700000" algn="tl">
                    <a:srgbClr val="000000">
                      <a:alpha val="43137"/>
                    </a:srgbClr>
                  </a:outerShdw>
                </a:effectLst>
              </a:rPr>
              <a:t>topología en estrella extendida</a:t>
            </a:r>
            <a:r>
              <a:rPr lang="es-ES_tradnl" altLang="es-ES" sz="2400" dirty="0" smtClean="0"/>
              <a:t> conecta estrellas individuales entre sí mediante la conexión de </a:t>
            </a:r>
            <a:r>
              <a:rPr lang="es-ES_tradnl" altLang="es-ES" sz="2400" dirty="0" err="1" smtClean="0"/>
              <a:t>hubs</a:t>
            </a:r>
            <a:r>
              <a:rPr lang="es-ES_tradnl" altLang="es-ES" sz="2400" dirty="0" smtClean="0"/>
              <a:t> o </a:t>
            </a:r>
            <a:r>
              <a:rPr lang="es-ES_tradnl" altLang="es-ES" sz="2400" dirty="0" err="1" smtClean="0"/>
              <a:t>switches</a:t>
            </a:r>
            <a:r>
              <a:rPr lang="es-ES_tradnl" altLang="es-ES" sz="2400" dirty="0" smtClean="0"/>
              <a:t>. Esta topología puede extender el alcance y la cobertura de la red. </a:t>
            </a:r>
          </a:p>
        </p:txBody>
      </p:sp>
    </p:spTree>
    <p:extLst>
      <p:ext uri="{BB962C8B-B14F-4D97-AF65-F5344CB8AC3E}">
        <p14:creationId xmlns:p14="http://schemas.microsoft.com/office/powerpoint/2010/main" val="362481345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7457196-C204-499C-B2E4-AE1042D8ACF5}" type="slidenum">
              <a:rPr lang="es-ES_tradnl" altLang="es-ES">
                <a:latin typeface="Arial" panose="020B0604020202020204" pitchFamily="34" charset="0"/>
              </a:rPr>
              <a:pPr eaLnBrk="1" hangingPunct="1"/>
              <a:t>79</a:t>
            </a:fld>
            <a:endParaRPr lang="es-ES_tradnl" altLang="es-ES">
              <a:latin typeface="Arial" panose="020B0604020202020204" pitchFamily="34" charset="0"/>
            </a:endParaRPr>
          </a:p>
        </p:txBody>
      </p:sp>
      <p:sp>
        <p:nvSpPr>
          <p:cNvPr id="43011"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43012" name="Rectangle 3"/>
          <p:cNvSpPr>
            <a:spLocks noGrp="1" noChangeArrowheads="1"/>
          </p:cNvSpPr>
          <p:nvPr>
            <p:ph type="body" idx="1"/>
          </p:nvPr>
        </p:nvSpPr>
        <p:spPr/>
        <p:txBody>
          <a:bodyPr/>
          <a:lstStyle/>
          <a:p>
            <a:pPr algn="just" eaLnBrk="1" hangingPunct="1">
              <a:lnSpc>
                <a:spcPct val="90000"/>
              </a:lnSpc>
              <a:defRPr/>
            </a:pPr>
            <a:r>
              <a:rPr lang="es-ES_tradnl" altLang="es-ES" sz="2400" dirty="0" smtClean="0"/>
              <a:t>Una </a:t>
            </a:r>
            <a:r>
              <a:rPr lang="es-ES_tradnl" altLang="es-ES" sz="2400" i="1" u="sng" dirty="0" smtClean="0">
                <a:solidFill>
                  <a:srgbClr val="FF0000"/>
                </a:solidFill>
                <a:effectLst>
                  <a:outerShdw blurRad="38100" dist="38100" dir="2700000" algn="tl">
                    <a:srgbClr val="000000">
                      <a:alpha val="43137"/>
                    </a:srgbClr>
                  </a:outerShdw>
                </a:effectLst>
              </a:rPr>
              <a:t>topología jerárquica</a:t>
            </a:r>
            <a:r>
              <a:rPr lang="es-ES_tradnl" altLang="es-ES" sz="2400" dirty="0" smtClean="0"/>
              <a:t> es similar a una estrella extendida. Pero en lugar de conectar los </a:t>
            </a:r>
            <a:r>
              <a:rPr lang="es-ES_tradnl" altLang="es-ES" sz="2400" dirty="0" err="1" smtClean="0"/>
              <a:t>hubs</a:t>
            </a:r>
            <a:r>
              <a:rPr lang="es-ES_tradnl" altLang="es-ES" sz="2400" dirty="0" smtClean="0"/>
              <a:t> o </a:t>
            </a:r>
            <a:r>
              <a:rPr lang="es-ES_tradnl" altLang="es-ES" sz="2400" dirty="0" err="1" smtClean="0"/>
              <a:t>switches</a:t>
            </a:r>
            <a:r>
              <a:rPr lang="es-ES_tradnl" altLang="es-ES" sz="2400" dirty="0" smtClean="0"/>
              <a:t> entre sí, el sistema se conecta con un computador que controla el tráfico de la topología. </a:t>
            </a:r>
          </a:p>
          <a:p>
            <a:pPr algn="just" eaLnBrk="1" hangingPunct="1">
              <a:lnSpc>
                <a:spcPct val="90000"/>
              </a:lnSpc>
              <a:defRPr/>
            </a:pPr>
            <a:r>
              <a:rPr lang="es-ES_tradnl" altLang="es-ES" sz="2400" dirty="0" smtClean="0"/>
              <a:t>La </a:t>
            </a:r>
            <a:r>
              <a:rPr lang="es-ES_tradnl" altLang="es-ES" sz="2400" i="1" u="sng" dirty="0" smtClean="0">
                <a:solidFill>
                  <a:srgbClr val="FF0000"/>
                </a:solidFill>
                <a:effectLst>
                  <a:outerShdw blurRad="38100" dist="38100" dir="2700000" algn="tl">
                    <a:srgbClr val="000000">
                      <a:alpha val="43137"/>
                    </a:srgbClr>
                  </a:outerShdw>
                </a:effectLst>
              </a:rPr>
              <a:t>topología de malla</a:t>
            </a:r>
            <a:r>
              <a:rPr lang="es-ES_tradnl" altLang="es-ES" sz="2400" dirty="0" smtClean="0"/>
              <a:t> se implementa para proporcionar la mayor protección posible para evitar una interrupción del servicio. El uso de una topología de malla en los sistemas de control en red de una planta nuclear sería un ejemplo excelente. Como se puede observar en el gráfico, cada host tiene sus propias conexiones con los demás hosts. Aunque la Internet cuenta con múltiples rutas hacia cualquier ubicación, no adopta la topología de malla completa. </a:t>
            </a:r>
          </a:p>
        </p:txBody>
      </p:sp>
    </p:spTree>
    <p:extLst>
      <p:ext uri="{BB962C8B-B14F-4D97-AF65-F5344CB8AC3E}">
        <p14:creationId xmlns:p14="http://schemas.microsoft.com/office/powerpoint/2010/main" val="411943742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81DF75E-87CB-40C4-A4AF-E860BA122446}" type="slidenum">
              <a:rPr lang="es-ES_tradnl" altLang="es-ES">
                <a:latin typeface="Arial" panose="020B0604020202020204" pitchFamily="34" charset="0"/>
              </a:rPr>
              <a:pPr eaLnBrk="1" hangingPunct="1"/>
              <a:t>80</a:t>
            </a:fld>
            <a:endParaRPr lang="es-ES_tradnl" altLang="es-ES">
              <a:latin typeface="Arial" panose="020B0604020202020204" pitchFamily="34" charset="0"/>
            </a:endParaRPr>
          </a:p>
        </p:txBody>
      </p:sp>
      <p:sp>
        <p:nvSpPr>
          <p:cNvPr id="44035"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44036" name="Rectangle 3"/>
          <p:cNvSpPr>
            <a:spLocks noGrp="1" noChangeArrowheads="1"/>
          </p:cNvSpPr>
          <p:nvPr>
            <p:ph type="body" idx="1"/>
          </p:nvPr>
        </p:nvSpPr>
        <p:spPr/>
        <p:txBody>
          <a:bodyPr/>
          <a:lstStyle/>
          <a:p>
            <a:pPr algn="just" eaLnBrk="1" hangingPunct="1">
              <a:defRPr/>
            </a:pPr>
            <a:r>
              <a:rPr lang="es-ES_tradnl" altLang="es-ES" sz="2400" dirty="0" smtClean="0"/>
              <a:t>La </a:t>
            </a:r>
            <a:r>
              <a:rPr lang="es-ES_tradnl" altLang="es-ES" sz="2400" i="1" u="sng" dirty="0" smtClean="0">
                <a:solidFill>
                  <a:srgbClr val="FF0000"/>
                </a:solidFill>
                <a:effectLst>
                  <a:outerShdw blurRad="38100" dist="38100" dir="2700000" algn="tl">
                    <a:srgbClr val="000000">
                      <a:alpha val="43137"/>
                    </a:srgbClr>
                  </a:outerShdw>
                </a:effectLst>
              </a:rPr>
              <a:t>topología lógica</a:t>
            </a:r>
            <a:r>
              <a:rPr lang="es-ES_tradnl" altLang="es-ES" sz="2400" dirty="0" smtClean="0"/>
              <a:t> de una red es la forma en que los host se comunican a través del medio. </a:t>
            </a:r>
          </a:p>
          <a:p>
            <a:pPr algn="just" eaLnBrk="1" hangingPunct="1">
              <a:defRPr/>
            </a:pPr>
            <a:r>
              <a:rPr lang="es-ES_tradnl" altLang="es-ES" sz="2400" dirty="0" smtClean="0"/>
              <a:t>Los dos tipos más comunes de topologías lógicas son </a:t>
            </a:r>
            <a:r>
              <a:rPr lang="es-ES_tradnl" altLang="es-ES" sz="2400" u="sng" dirty="0" err="1" smtClean="0">
                <a:solidFill>
                  <a:srgbClr val="FF0000"/>
                </a:solidFill>
                <a:effectLst>
                  <a:outerShdw blurRad="38100" dist="38100" dir="2700000" algn="tl">
                    <a:srgbClr val="000000">
                      <a:alpha val="43137"/>
                    </a:srgbClr>
                  </a:outerShdw>
                </a:effectLst>
              </a:rPr>
              <a:t>broadcast</a:t>
            </a:r>
            <a:r>
              <a:rPr lang="es-ES_tradnl" altLang="es-ES" sz="2400" dirty="0" smtClean="0"/>
              <a:t> y </a:t>
            </a:r>
            <a:r>
              <a:rPr lang="es-ES_tradnl" altLang="es-ES" sz="2400" u="sng" dirty="0" smtClean="0">
                <a:solidFill>
                  <a:srgbClr val="FF0000"/>
                </a:solidFill>
                <a:effectLst>
                  <a:outerShdw blurRad="38100" dist="38100" dir="2700000" algn="tl">
                    <a:srgbClr val="000000">
                      <a:alpha val="43137"/>
                    </a:srgbClr>
                  </a:outerShdw>
                </a:effectLst>
              </a:rPr>
              <a:t>transmisión de </a:t>
            </a:r>
            <a:r>
              <a:rPr lang="es-ES_tradnl" altLang="es-ES" sz="2400" u="sng" dirty="0" err="1" smtClean="0">
                <a:solidFill>
                  <a:srgbClr val="FF0000"/>
                </a:solidFill>
                <a:effectLst>
                  <a:outerShdw blurRad="38100" dist="38100" dir="2700000" algn="tl">
                    <a:srgbClr val="000000">
                      <a:alpha val="43137"/>
                    </a:srgbClr>
                  </a:outerShdw>
                </a:effectLst>
              </a:rPr>
              <a:t>tokens</a:t>
            </a:r>
            <a:r>
              <a:rPr lang="es-ES_tradnl" altLang="es-ES" sz="2400" dirty="0" smtClean="0"/>
              <a:t>. </a:t>
            </a:r>
          </a:p>
          <a:p>
            <a:pPr algn="just" eaLnBrk="1" hangingPunct="1">
              <a:defRPr/>
            </a:pPr>
            <a:r>
              <a:rPr lang="es-ES_tradnl" altLang="es-ES" sz="2400" dirty="0" smtClean="0"/>
              <a:t>La </a:t>
            </a:r>
            <a:r>
              <a:rPr lang="es-ES_tradnl" altLang="es-ES" sz="2400" u="sng" dirty="0" smtClean="0">
                <a:solidFill>
                  <a:srgbClr val="FF0000"/>
                </a:solidFill>
                <a:effectLst>
                  <a:outerShdw blurRad="38100" dist="38100" dir="2700000" algn="tl">
                    <a:srgbClr val="000000">
                      <a:alpha val="43137"/>
                    </a:srgbClr>
                  </a:outerShdw>
                </a:effectLst>
              </a:rPr>
              <a:t>topología </a:t>
            </a:r>
            <a:r>
              <a:rPr lang="es-ES_tradnl" altLang="es-ES" sz="2400" u="sng" dirty="0" err="1" smtClean="0">
                <a:solidFill>
                  <a:srgbClr val="FF0000"/>
                </a:solidFill>
                <a:effectLst>
                  <a:outerShdw blurRad="38100" dist="38100" dir="2700000" algn="tl">
                    <a:srgbClr val="000000">
                      <a:alpha val="43137"/>
                    </a:srgbClr>
                  </a:outerShdw>
                </a:effectLst>
              </a:rPr>
              <a:t>broadcast</a:t>
            </a:r>
            <a:r>
              <a:rPr lang="es-ES_tradnl" altLang="es-ES" sz="2400" dirty="0" smtClean="0"/>
              <a:t>  significa que cada host envía sus datos hacia todos los demás hosts del medio de red. No existe una orden que las estaciones deban seguir para utilizar la red. Es por orden de llegada. Ethernet funciona así.</a:t>
            </a:r>
          </a:p>
        </p:txBody>
      </p:sp>
    </p:spTree>
    <p:extLst>
      <p:ext uri="{BB962C8B-B14F-4D97-AF65-F5344CB8AC3E}">
        <p14:creationId xmlns:p14="http://schemas.microsoft.com/office/powerpoint/2010/main" val="21637408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018604B-A974-4CB2-BB8D-389C10734E3C}" type="slidenum">
              <a:rPr lang="es-ES_tradnl" altLang="es-ES">
                <a:latin typeface="Arial" panose="020B0604020202020204" pitchFamily="34" charset="0"/>
              </a:rPr>
              <a:pPr eaLnBrk="1" hangingPunct="1"/>
              <a:t>81</a:t>
            </a:fld>
            <a:endParaRPr lang="es-ES_tradnl" altLang="es-ES">
              <a:latin typeface="Arial" panose="020B0604020202020204" pitchFamily="34" charset="0"/>
            </a:endParaRPr>
          </a:p>
        </p:txBody>
      </p:sp>
      <p:sp>
        <p:nvSpPr>
          <p:cNvPr id="45059"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45060" name="Rectangle 3"/>
          <p:cNvSpPr>
            <a:spLocks noGrp="1" noChangeArrowheads="1"/>
          </p:cNvSpPr>
          <p:nvPr>
            <p:ph type="body" idx="1"/>
          </p:nvPr>
        </p:nvSpPr>
        <p:spPr/>
        <p:txBody>
          <a:bodyPr/>
          <a:lstStyle/>
          <a:p>
            <a:pPr marL="0" indent="0" algn="just" eaLnBrk="1" hangingPunct="1">
              <a:lnSpc>
                <a:spcPct val="90000"/>
              </a:lnSpc>
              <a:buFontTx/>
              <a:buNone/>
              <a:defRPr/>
            </a:pPr>
            <a:r>
              <a:rPr lang="es-ES_tradnl" altLang="es-ES" sz="2400" dirty="0" smtClean="0"/>
              <a:t>La </a:t>
            </a:r>
            <a:r>
              <a:rPr lang="es-ES_tradnl" altLang="es-ES" sz="2400" u="sng" dirty="0" smtClean="0">
                <a:solidFill>
                  <a:srgbClr val="FF0000"/>
                </a:solidFill>
                <a:effectLst>
                  <a:outerShdw blurRad="38100" dist="38100" dir="2700000" algn="tl">
                    <a:srgbClr val="000000">
                      <a:alpha val="43137"/>
                    </a:srgbClr>
                  </a:outerShdw>
                </a:effectLst>
              </a:rPr>
              <a:t>transmisión de </a:t>
            </a:r>
            <a:r>
              <a:rPr lang="es-ES_tradnl" altLang="es-ES" sz="2400" u="sng" dirty="0" err="1" smtClean="0">
                <a:solidFill>
                  <a:srgbClr val="FF0000"/>
                </a:solidFill>
                <a:effectLst>
                  <a:outerShdw blurRad="38100" dist="38100" dir="2700000" algn="tl">
                    <a:srgbClr val="000000">
                      <a:alpha val="43137"/>
                    </a:srgbClr>
                  </a:outerShdw>
                </a:effectLst>
              </a:rPr>
              <a:t>tokens</a:t>
            </a:r>
            <a:r>
              <a:rPr lang="es-ES_tradnl" altLang="es-ES" sz="2400" dirty="0" smtClean="0"/>
              <a:t> controla el acceso a la red mediante la transmisión de un </a:t>
            </a:r>
            <a:r>
              <a:rPr lang="es-ES_tradnl" altLang="es-ES" sz="2400" dirty="0" err="1" smtClean="0"/>
              <a:t>token</a:t>
            </a:r>
            <a:r>
              <a:rPr lang="es-ES_tradnl" altLang="es-ES" sz="2400" dirty="0" smtClean="0"/>
              <a:t> electrónico a cada host de forma secuencial. </a:t>
            </a:r>
          </a:p>
          <a:p>
            <a:pPr marL="0" indent="0" algn="just" eaLnBrk="1" hangingPunct="1">
              <a:lnSpc>
                <a:spcPct val="90000"/>
              </a:lnSpc>
              <a:buFontTx/>
              <a:buNone/>
              <a:defRPr/>
            </a:pPr>
            <a:r>
              <a:rPr lang="es-ES_tradnl" altLang="es-ES" sz="2400" dirty="0" smtClean="0"/>
              <a:t>Cuando un host recibe el </a:t>
            </a:r>
            <a:r>
              <a:rPr lang="es-ES_tradnl" altLang="es-ES" sz="2400" dirty="0" err="1" smtClean="0"/>
              <a:t>token</a:t>
            </a:r>
            <a:r>
              <a:rPr lang="es-ES_tradnl" altLang="es-ES" sz="2400" dirty="0" smtClean="0"/>
              <a:t>, ese host puede enviar datos a través de la red. </a:t>
            </a:r>
          </a:p>
          <a:p>
            <a:pPr marL="0" indent="0" algn="just" eaLnBrk="1" hangingPunct="1">
              <a:lnSpc>
                <a:spcPct val="90000"/>
              </a:lnSpc>
              <a:buFontTx/>
              <a:buNone/>
              <a:defRPr/>
            </a:pPr>
            <a:r>
              <a:rPr lang="es-ES_tradnl" altLang="es-ES" sz="2400" dirty="0" smtClean="0"/>
              <a:t>Si el host no tiene ningún dato para enviar, transmite el </a:t>
            </a:r>
            <a:r>
              <a:rPr lang="es-ES_tradnl" altLang="es-ES" sz="2400" dirty="0" err="1" smtClean="0"/>
              <a:t>token</a:t>
            </a:r>
            <a:r>
              <a:rPr lang="es-ES_tradnl" altLang="es-ES" sz="2400" dirty="0" smtClean="0"/>
              <a:t> al siguiente host y el proceso se vuelve a repetir. </a:t>
            </a:r>
          </a:p>
          <a:p>
            <a:pPr marL="0" indent="0" algn="just" eaLnBrk="1" hangingPunct="1">
              <a:lnSpc>
                <a:spcPct val="90000"/>
              </a:lnSpc>
              <a:buFontTx/>
              <a:buNone/>
              <a:defRPr/>
            </a:pPr>
            <a:r>
              <a:rPr lang="es-ES_tradnl" altLang="es-ES" sz="2400" dirty="0" smtClean="0"/>
              <a:t>Dos ejemplos de redes que utilizan la transmisión de </a:t>
            </a:r>
            <a:r>
              <a:rPr lang="es-ES_tradnl" altLang="es-ES" sz="2400" dirty="0" err="1" smtClean="0"/>
              <a:t>tokens</a:t>
            </a:r>
            <a:r>
              <a:rPr lang="es-ES_tradnl" altLang="es-ES" sz="2400" dirty="0" smtClean="0"/>
              <a:t> son </a:t>
            </a:r>
            <a:r>
              <a:rPr lang="es-ES_tradnl" altLang="es-ES" sz="2400" i="1" u="sng" dirty="0" err="1" smtClean="0">
                <a:effectLst>
                  <a:outerShdw blurRad="38100" dist="38100" dir="2700000" algn="tl">
                    <a:srgbClr val="000000">
                      <a:alpha val="43137"/>
                    </a:srgbClr>
                  </a:outerShdw>
                </a:effectLst>
              </a:rPr>
              <a:t>Token</a:t>
            </a:r>
            <a:r>
              <a:rPr lang="es-ES_tradnl" altLang="es-ES" sz="2400" i="1" u="sng" dirty="0" smtClean="0">
                <a:effectLst>
                  <a:outerShdw blurRad="38100" dist="38100" dir="2700000" algn="tl">
                    <a:srgbClr val="000000">
                      <a:alpha val="43137"/>
                    </a:srgbClr>
                  </a:outerShdw>
                </a:effectLst>
              </a:rPr>
              <a:t> Ring</a:t>
            </a:r>
            <a:r>
              <a:rPr lang="es-ES_tradnl" altLang="es-ES" sz="2400" dirty="0" smtClean="0"/>
              <a:t> y la </a:t>
            </a:r>
            <a:r>
              <a:rPr lang="es-ES_tradnl" altLang="es-ES" sz="2400" i="1" u="sng" dirty="0" smtClean="0">
                <a:effectLst>
                  <a:outerShdw blurRad="38100" dist="38100" dir="2700000" algn="tl">
                    <a:srgbClr val="000000">
                      <a:alpha val="43137"/>
                    </a:srgbClr>
                  </a:outerShdw>
                </a:effectLst>
              </a:rPr>
              <a:t>Interfaz de datos distribuida por fibra</a:t>
            </a:r>
            <a:r>
              <a:rPr lang="es-ES_tradnl" altLang="es-ES" sz="2400" dirty="0" smtClean="0"/>
              <a:t> (FDDI). </a:t>
            </a:r>
            <a:r>
              <a:rPr lang="es-ES_tradnl" altLang="es-ES" sz="2400" dirty="0" err="1" smtClean="0"/>
              <a:t>Arcnet</a:t>
            </a:r>
            <a:r>
              <a:rPr lang="es-ES_tradnl" altLang="es-ES" sz="2400" dirty="0" smtClean="0"/>
              <a:t> es una variación de </a:t>
            </a:r>
            <a:r>
              <a:rPr lang="es-ES_tradnl" altLang="es-ES" sz="2400" dirty="0" err="1" smtClean="0"/>
              <a:t>Token</a:t>
            </a:r>
            <a:r>
              <a:rPr lang="es-ES_tradnl" altLang="es-ES" sz="2400" dirty="0" smtClean="0"/>
              <a:t> Ring y FDDI. </a:t>
            </a:r>
            <a:r>
              <a:rPr lang="es-ES_tradnl" altLang="es-ES" sz="2400" dirty="0" err="1" smtClean="0"/>
              <a:t>Arcnet</a:t>
            </a:r>
            <a:r>
              <a:rPr lang="es-ES_tradnl" altLang="es-ES" sz="2400" dirty="0" smtClean="0"/>
              <a:t> es la transmisión de </a:t>
            </a:r>
            <a:r>
              <a:rPr lang="es-ES_tradnl" altLang="es-ES" sz="2400" dirty="0" err="1" smtClean="0"/>
              <a:t>tokens</a:t>
            </a:r>
            <a:r>
              <a:rPr lang="es-ES_tradnl" altLang="es-ES" sz="2400" dirty="0" smtClean="0"/>
              <a:t> en una topología de bus. </a:t>
            </a:r>
          </a:p>
        </p:txBody>
      </p:sp>
    </p:spTree>
    <p:extLst>
      <p:ext uri="{BB962C8B-B14F-4D97-AF65-F5344CB8AC3E}">
        <p14:creationId xmlns:p14="http://schemas.microsoft.com/office/powerpoint/2010/main" val="411360699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B6B4540-684F-4E79-A7E3-835D5307B2D1}" type="slidenum">
              <a:rPr lang="es-ES_tradnl" altLang="es-ES">
                <a:latin typeface="Arial" panose="020B0604020202020204" pitchFamily="34" charset="0"/>
              </a:rPr>
              <a:pPr eaLnBrk="1" hangingPunct="1"/>
              <a:t>82</a:t>
            </a:fld>
            <a:endParaRPr lang="es-ES_tradnl" altLang="es-ES">
              <a:latin typeface="Arial" panose="020B0604020202020204" pitchFamily="34" charset="0"/>
            </a:endParaRPr>
          </a:p>
        </p:txBody>
      </p:sp>
      <p:sp>
        <p:nvSpPr>
          <p:cNvPr id="46083" name="Rectangle 5"/>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TOPOLOGIA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46084" name="Rectangle 3"/>
          <p:cNvSpPr>
            <a:spLocks noGrp="1" noChangeArrowheads="1"/>
          </p:cNvSpPr>
          <p:nvPr>
            <p:ph type="body" sz="half" idx="1"/>
          </p:nvPr>
        </p:nvSpPr>
        <p:spPr>
          <a:xfrm>
            <a:off x="468313" y="1989138"/>
            <a:ext cx="3382962" cy="4752975"/>
          </a:xfrm>
        </p:spPr>
        <p:txBody>
          <a:bodyPr/>
          <a:lstStyle/>
          <a:p>
            <a:pPr marL="0" indent="0" eaLnBrk="1" hangingPunct="1">
              <a:lnSpc>
                <a:spcPct val="80000"/>
              </a:lnSpc>
              <a:buFontTx/>
              <a:buNone/>
              <a:defRPr/>
            </a:pPr>
            <a:r>
              <a:rPr lang="es-ES_tradnl" altLang="es-ES" sz="2400" dirty="0" smtClean="0"/>
              <a:t>El diagrama en la Figura   muestra diferentes topologías conectadas mediante dispositivos de red. </a:t>
            </a:r>
          </a:p>
          <a:p>
            <a:pPr marL="0" indent="0" eaLnBrk="1" hangingPunct="1">
              <a:lnSpc>
                <a:spcPct val="80000"/>
              </a:lnSpc>
              <a:buFontTx/>
              <a:buNone/>
              <a:defRPr/>
            </a:pPr>
            <a:r>
              <a:rPr lang="es-ES_tradnl" altLang="es-ES" sz="2400" dirty="0" smtClean="0"/>
              <a:t>Muestra una LAN de </a:t>
            </a:r>
            <a:r>
              <a:rPr lang="es-ES_tradnl" altLang="es-ES" sz="2400" i="1" dirty="0" smtClean="0">
                <a:solidFill>
                  <a:srgbClr val="FF0000"/>
                </a:solidFill>
                <a:effectLst>
                  <a:outerShdw blurRad="38100" dist="38100" dir="2700000" algn="tl">
                    <a:srgbClr val="000000">
                      <a:alpha val="43137"/>
                    </a:srgbClr>
                  </a:outerShdw>
                </a:effectLst>
              </a:rPr>
              <a:t>complejidad moderada</a:t>
            </a:r>
            <a:r>
              <a:rPr lang="es-ES_tradnl" altLang="es-ES" sz="2400" dirty="0" smtClean="0"/>
              <a:t> que es típica de una escuela o de una pequeña empresa. </a:t>
            </a:r>
          </a:p>
          <a:p>
            <a:pPr marL="0" indent="0" eaLnBrk="1" hangingPunct="1">
              <a:lnSpc>
                <a:spcPct val="80000"/>
              </a:lnSpc>
              <a:buFontTx/>
              <a:buNone/>
              <a:defRPr/>
            </a:pPr>
            <a:r>
              <a:rPr lang="es-ES_tradnl" altLang="es-ES" sz="2400" dirty="0" smtClean="0"/>
              <a:t>Tiene muchos símbolos, y describe varios conceptos de </a:t>
            </a:r>
            <a:r>
              <a:rPr lang="es-ES_tradnl" altLang="es-ES" sz="2400" dirty="0" err="1" smtClean="0"/>
              <a:t>networking</a:t>
            </a:r>
            <a:r>
              <a:rPr lang="es-ES_tradnl" altLang="es-ES" sz="2400" dirty="0" smtClean="0"/>
              <a:t> que lleva cierto tiempo aprender. </a:t>
            </a:r>
          </a:p>
        </p:txBody>
      </p:sp>
      <p:graphicFrame>
        <p:nvGraphicFramePr>
          <p:cNvPr id="88069" name="Object 4"/>
          <p:cNvGraphicFramePr>
            <a:graphicFrameLocks noGrp="1" noChangeAspect="1"/>
          </p:cNvGraphicFramePr>
          <p:nvPr>
            <p:ph sz="half" idx="2"/>
          </p:nvPr>
        </p:nvGraphicFramePr>
        <p:xfrm>
          <a:off x="3778250" y="1879600"/>
          <a:ext cx="5365750" cy="3873500"/>
        </p:xfrm>
        <a:graphic>
          <a:graphicData uri="http://schemas.openxmlformats.org/presentationml/2006/ole">
            <mc:AlternateContent xmlns:mc="http://schemas.openxmlformats.org/markup-compatibility/2006">
              <mc:Choice xmlns:v="urn:schemas-microsoft-com:vml" Requires="v">
                <p:oleObj spid="_x0000_s17484" name="Imagen de mapa de bits" r:id="rId4" imgW="5144218" imgH="3924848" progId="Paint.Picture">
                  <p:embed/>
                </p:oleObj>
              </mc:Choice>
              <mc:Fallback>
                <p:oleObj name="Imagen de mapa de bits" r:id="rId4" imgW="5144218" imgH="392484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8250" y="1879600"/>
                        <a:ext cx="5365750" cy="387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8370561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TCP/IP</a:t>
            </a:r>
            <a:endParaRPr lang="es-ES" i="1" u="sng" dirty="0">
              <a:solidFill>
                <a:srgbClr val="FF0000"/>
              </a:solidFill>
              <a:effectLst>
                <a:outerShdw blurRad="38100" dist="38100" dir="2700000" algn="tl">
                  <a:srgbClr val="000000">
                    <a:alpha val="43137"/>
                  </a:srgbClr>
                </a:outerShdw>
              </a:effectLst>
            </a:endParaRPr>
          </a:p>
        </p:txBody>
      </p:sp>
      <p:sp>
        <p:nvSpPr>
          <p:cNvPr id="89091" name="Subtítulo 2"/>
          <p:cNvSpPr>
            <a:spLocks noGrp="1"/>
          </p:cNvSpPr>
          <p:nvPr>
            <p:ph type="subTitle" idx="1"/>
          </p:nvPr>
        </p:nvSpPr>
        <p:spPr/>
        <p:txBody>
          <a:bodyPr/>
          <a:lstStyle/>
          <a:p>
            <a:endParaRPr lang="es-ES" altLang="es-ES" smtClean="0"/>
          </a:p>
        </p:txBody>
      </p:sp>
      <p:sp>
        <p:nvSpPr>
          <p:cNvPr id="8909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54216C6-F6B8-47F4-A1EC-957D641D5F73}" type="slidenum">
              <a:rPr lang="es-ES_tradnl" altLang="es-ES">
                <a:latin typeface="Arial" panose="020B0604020202020204" pitchFamily="34" charset="0"/>
              </a:rPr>
              <a:pPr eaLnBrk="1" hangingPunct="1"/>
              <a:t>83</a:t>
            </a:fld>
            <a:endParaRPr lang="es-ES_tradnl" altLang="es-ES">
              <a:latin typeface="Arial" panose="020B0604020202020204" pitchFamily="34" charset="0"/>
            </a:endParaRPr>
          </a:p>
        </p:txBody>
      </p:sp>
    </p:spTree>
    <p:extLst>
      <p:ext uri="{BB962C8B-B14F-4D97-AF65-F5344CB8AC3E}">
        <p14:creationId xmlns:p14="http://schemas.microsoft.com/office/powerpoint/2010/main" val="254986684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7A73821-8382-4B42-90C6-0D9BAAF92779}" type="slidenum">
              <a:rPr lang="es-ES_tradnl" altLang="es-ES">
                <a:latin typeface="Arial" panose="020B0604020202020204" pitchFamily="34" charset="0"/>
              </a:rPr>
              <a:pPr eaLnBrk="1" hangingPunct="1"/>
              <a:t>84</a:t>
            </a:fld>
            <a:endParaRPr lang="es-ES_tradnl" altLang="es-ES">
              <a:latin typeface="Arial" panose="020B0604020202020204" pitchFamily="34" charset="0"/>
            </a:endParaRPr>
          </a:p>
        </p:txBody>
      </p:sp>
      <p:sp>
        <p:nvSpPr>
          <p:cNvPr id="3075" name="Rectangle 2"/>
          <p:cNvSpPr>
            <a:spLocks noGrp="1" noChangeArrowheads="1"/>
          </p:cNvSpPr>
          <p:nvPr>
            <p:ph type="ctrTitle"/>
          </p:nvPr>
        </p:nvSpPr>
        <p:spPr>
          <a:xfrm>
            <a:off x="611188" y="404813"/>
            <a:ext cx="7772400" cy="1470025"/>
          </a:xfrm>
        </p:spPr>
        <p:txBody>
          <a:bodyPr anchor="ct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CONEXIÓN A INTERNET</a:t>
            </a:r>
            <a:br>
              <a:rPr lang="es-ES" altLang="es-ES" sz="2800" b="1" i="1" u="sng">
                <a:solidFill>
                  <a:schemeClr val="accent6">
                    <a:lumMod val="75000"/>
                  </a:schemeClr>
                </a:solidFill>
                <a:effectLst>
                  <a:outerShdw blurRad="38100" dist="38100" dir="2700000" algn="tl">
                    <a:srgbClr val="000000">
                      <a:alpha val="43137"/>
                    </a:srgbClr>
                  </a:outerShdw>
                </a:effectLst>
              </a:rPr>
            </a:br>
            <a:r>
              <a:rPr lang="es-ES" altLang="es-ES" sz="2800" b="1" i="1" u="sng">
                <a:solidFill>
                  <a:schemeClr val="accent6">
                    <a:lumMod val="75000"/>
                  </a:schemeClr>
                </a:solidFill>
                <a:effectLst>
                  <a:outerShdw blurRad="38100" dist="38100" dir="2700000" algn="tl">
                    <a:srgbClr val="000000">
                      <a:alpha val="43137"/>
                    </a:srgbClr>
                  </a:outerShdw>
                </a:effectLst>
              </a:rPr>
              <a:t>PROTOCOLO TCP/IP</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0116" name="Rectangle 3"/>
          <p:cNvSpPr>
            <a:spLocks noGrp="1" noChangeArrowheads="1"/>
          </p:cNvSpPr>
          <p:nvPr>
            <p:ph type="subTitle" idx="1"/>
          </p:nvPr>
        </p:nvSpPr>
        <p:spPr>
          <a:xfrm>
            <a:off x="684213" y="2133600"/>
            <a:ext cx="7704137" cy="3240088"/>
          </a:xfrm>
        </p:spPr>
        <p:txBody>
          <a:bodyPr/>
          <a:lstStyle/>
          <a:p>
            <a:pPr algn="just" eaLnBrk="1" hangingPunct="1">
              <a:buFontTx/>
              <a:buChar char="•"/>
            </a:pPr>
            <a:r>
              <a:rPr lang="es-ES_tradnl" altLang="es-ES" sz="2800" smtClean="0"/>
              <a:t> Es un conjunto de reglas desarrollados para permitir que los computadores que cooperan entre sí puedan compartir recursos a través de una red.</a:t>
            </a:r>
          </a:p>
          <a:p>
            <a:pPr algn="just" eaLnBrk="1" hangingPunct="1">
              <a:buFontTx/>
              <a:buChar char="•"/>
            </a:pPr>
            <a:r>
              <a:rPr lang="es-ES_tradnl" altLang="es-ES" sz="2800" smtClean="0"/>
              <a:t> Para habilitar TCP/IP en la estación de trabajo, ésta debe configurarse utilizando las herramientas del sistema operativo.</a:t>
            </a:r>
          </a:p>
        </p:txBody>
      </p:sp>
    </p:spTree>
    <p:extLst>
      <p:ext uri="{BB962C8B-B14F-4D97-AF65-F5344CB8AC3E}">
        <p14:creationId xmlns:p14="http://schemas.microsoft.com/office/powerpoint/2010/main" val="345394043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4EA9DBC-3B99-4247-9D2B-E172A56F4D02}" type="slidenum">
              <a:rPr lang="es-ES_tradnl" altLang="es-ES">
                <a:latin typeface="Arial" panose="020B0604020202020204" pitchFamily="34" charset="0"/>
              </a:rPr>
              <a:pPr eaLnBrk="1" hangingPunct="1"/>
              <a:t>85</a:t>
            </a:fld>
            <a:endParaRPr lang="es-ES_tradnl" altLang="es-ES">
              <a:latin typeface="Arial" panose="020B0604020202020204" pitchFamily="34" charset="0"/>
            </a:endParaRPr>
          </a:p>
        </p:txBody>
      </p:sp>
      <p:sp>
        <p:nvSpPr>
          <p:cNvPr id="4099" name="Rectangle 2"/>
          <p:cNvSpPr>
            <a:spLocks noGrp="1" noChangeArrowheads="1"/>
          </p:cNvSpPr>
          <p:nvPr>
            <p:ph type="title"/>
          </p:nvPr>
        </p:nvSpPr>
        <p:spPr>
          <a:xfrm>
            <a:off x="457200" y="274638"/>
            <a:ext cx="8218488" cy="777875"/>
          </a:xfrm>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CONECTIVIDAD CON PING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1140" name="Rectangle 3"/>
          <p:cNvSpPr>
            <a:spLocks noGrp="1" noChangeArrowheads="1"/>
          </p:cNvSpPr>
          <p:nvPr>
            <p:ph type="body" idx="1"/>
          </p:nvPr>
        </p:nvSpPr>
        <p:spPr>
          <a:xfrm>
            <a:off x="457200" y="2133600"/>
            <a:ext cx="8218488" cy="3992563"/>
          </a:xfrm>
        </p:spPr>
        <p:txBody>
          <a:bodyPr/>
          <a:lstStyle/>
          <a:p>
            <a:pPr algn="just" eaLnBrk="1" hangingPunct="1">
              <a:lnSpc>
                <a:spcPct val="80000"/>
              </a:lnSpc>
            </a:pPr>
            <a:r>
              <a:rPr lang="es-ES_tradnl" altLang="es-ES" sz="2000" smtClean="0"/>
              <a:t>Ping es un programa básico que verifica que una dirección IP particular existe y puede aceptar solicitudes. El acrónimo computacional ping es la sigla para Packet Internet or Inter-Network Groper. El nombre se ajustó para coincidir el término usado en la jerga de submarinos para el sonido de un pulso de sonar que retorna desde un objeto sumergido. </a:t>
            </a:r>
          </a:p>
          <a:p>
            <a:pPr algn="just" eaLnBrk="1" hangingPunct="1">
              <a:lnSpc>
                <a:spcPct val="80000"/>
              </a:lnSpc>
            </a:pPr>
            <a:r>
              <a:rPr lang="es-ES_tradnl" altLang="es-ES" sz="2000" smtClean="0"/>
              <a:t>El comando </a:t>
            </a:r>
            <a:r>
              <a:rPr lang="es-ES_tradnl" altLang="es-ES" sz="2000" b="1" smtClean="0"/>
              <a:t>ping</a:t>
            </a:r>
            <a:r>
              <a:rPr lang="es-ES_tradnl" altLang="es-ES" sz="2000" smtClean="0"/>
              <a:t> funciona enviando paquetes IP especiales, llamados datagramas de petición de eco ICMP (Internet Control Message Protocol/Protocolo de mensajes de control de Internet) a un destino específico. Cada paquete que se envía es una petición de respuesta. La pantalla de respuesta de un ping contiene la proporción de éxito y el tiempo de ida y vuelta del envío hacia llegar a su destino. A partir de esta información, es posible determinar si existe conectividad a un destino.</a:t>
            </a:r>
          </a:p>
        </p:txBody>
      </p:sp>
    </p:spTree>
    <p:extLst>
      <p:ext uri="{BB962C8B-B14F-4D97-AF65-F5344CB8AC3E}">
        <p14:creationId xmlns:p14="http://schemas.microsoft.com/office/powerpoint/2010/main" val="2445084434"/>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11220CD-633D-4BF3-AC29-E81D2E0A2496}" type="slidenum">
              <a:rPr lang="es-ES_tradnl" altLang="es-ES">
                <a:latin typeface="Arial" panose="020B0604020202020204" pitchFamily="34" charset="0"/>
              </a:rPr>
              <a:pPr eaLnBrk="1" hangingPunct="1"/>
              <a:t>86</a:t>
            </a:fld>
            <a:endParaRPr lang="es-ES_tradnl" altLang="es-ES">
              <a:latin typeface="Arial" panose="020B0604020202020204" pitchFamily="34" charset="0"/>
            </a:endParaRPr>
          </a:p>
        </p:txBody>
      </p:sp>
      <p:sp>
        <p:nvSpPr>
          <p:cNvPr id="5123" name="Rectangle 2"/>
          <p:cNvSpPr>
            <a:spLocks noGrp="1" noChangeArrowheads="1"/>
          </p:cNvSpPr>
          <p:nvPr>
            <p:ph type="title"/>
          </p:nvPr>
        </p:nvSpPr>
        <p:spPr>
          <a:xfrm>
            <a:off x="457200" y="274638"/>
            <a:ext cx="8218488" cy="850900"/>
          </a:xfrm>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COMANDOS PING</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2164" name="Rectangle 3"/>
          <p:cNvSpPr>
            <a:spLocks noGrp="1" noChangeArrowheads="1"/>
          </p:cNvSpPr>
          <p:nvPr>
            <p:ph type="body" idx="1"/>
          </p:nvPr>
        </p:nvSpPr>
        <p:spPr>
          <a:xfrm>
            <a:off x="457200" y="2060575"/>
            <a:ext cx="8291513" cy="4248150"/>
          </a:xfrm>
        </p:spPr>
        <p:txBody>
          <a:bodyPr/>
          <a:lstStyle/>
          <a:p>
            <a:pPr algn="just" eaLnBrk="1" hangingPunct="1">
              <a:lnSpc>
                <a:spcPct val="80000"/>
              </a:lnSpc>
            </a:pPr>
            <a:r>
              <a:rPr lang="es-ES_tradnl" altLang="es-ES" sz="2000" smtClean="0"/>
              <a:t>El comando </a:t>
            </a:r>
            <a:r>
              <a:rPr lang="es-ES_tradnl" altLang="es-ES" sz="2000" b="1" smtClean="0"/>
              <a:t>ping</a:t>
            </a:r>
            <a:r>
              <a:rPr lang="es-ES_tradnl" altLang="es-ES" sz="2000" smtClean="0"/>
              <a:t> se utiliza para probar la función de transmisión/recepción de la NIC, la configuración TCP/IP y la conectividad de red. Se pueden ejecutar los siguientes tipos de comando ping: </a:t>
            </a:r>
          </a:p>
          <a:p>
            <a:pPr algn="just" eaLnBrk="1" hangingPunct="1">
              <a:lnSpc>
                <a:spcPct val="80000"/>
              </a:lnSpc>
            </a:pPr>
            <a:r>
              <a:rPr lang="es-ES_tradnl" altLang="es-ES" sz="2000" b="1" smtClean="0"/>
              <a:t>ping </a:t>
            </a:r>
            <a:r>
              <a:rPr lang="es-ES_tradnl" altLang="es-ES" sz="2000" i="1" smtClean="0"/>
              <a:t>127.0.0.1</a:t>
            </a:r>
            <a:r>
              <a:rPr lang="es-ES_tradnl" altLang="es-ES" sz="2000" smtClean="0"/>
              <a:t>: Este es un tipo especial de ping que se conoce como prueba interna de loopback. Se usa para verificar la configuración de red TCP/IP.   </a:t>
            </a:r>
          </a:p>
          <a:p>
            <a:pPr algn="just" eaLnBrk="1" hangingPunct="1">
              <a:lnSpc>
                <a:spcPct val="80000"/>
              </a:lnSpc>
            </a:pPr>
            <a:r>
              <a:rPr lang="es-ES_tradnl" altLang="es-ES" sz="2000" b="1" smtClean="0"/>
              <a:t>ping </a:t>
            </a:r>
            <a:r>
              <a:rPr lang="es-ES_tradnl" altLang="es-ES" sz="2000" i="1" smtClean="0"/>
              <a:t>direcciónc IP del computador host</a:t>
            </a:r>
            <a:r>
              <a:rPr lang="es-ES_tradnl" altLang="es-ES" sz="2000" smtClean="0"/>
              <a:t>: Un ping a un PC host verifica la configuración de la dirección TCP/IP para el host local y la conectividad al host. </a:t>
            </a:r>
          </a:p>
          <a:p>
            <a:pPr algn="just" eaLnBrk="1" hangingPunct="1">
              <a:lnSpc>
                <a:spcPct val="80000"/>
              </a:lnSpc>
            </a:pPr>
            <a:r>
              <a:rPr lang="es-ES_tradnl" altLang="es-ES" sz="2000" b="1" smtClean="0"/>
              <a:t>ping </a:t>
            </a:r>
            <a:r>
              <a:rPr lang="es-ES_tradnl" altLang="es-ES" sz="2000" i="1" smtClean="0"/>
              <a:t>dirección IP de gateway por defecto</a:t>
            </a:r>
            <a:r>
              <a:rPr lang="es-ES_tradnl" altLang="es-ES" sz="2000" smtClean="0"/>
              <a:t>: Un ping al gateway por defecto verifica si se puede alcanzar el router que conecta la red local a las demás redes. </a:t>
            </a:r>
          </a:p>
          <a:p>
            <a:pPr algn="just" eaLnBrk="1" hangingPunct="1">
              <a:lnSpc>
                <a:spcPct val="80000"/>
              </a:lnSpc>
            </a:pPr>
            <a:r>
              <a:rPr lang="es-ES_tradnl" altLang="es-ES" sz="2000" b="1" smtClean="0"/>
              <a:t>ping </a:t>
            </a:r>
            <a:r>
              <a:rPr lang="es-ES_tradnl" altLang="es-ES" sz="2000" i="1" smtClean="0"/>
              <a:t>dirección IP de destino remoto</a:t>
            </a:r>
            <a:r>
              <a:rPr lang="es-ES_tradnl" altLang="es-ES" sz="2000" smtClean="0"/>
              <a:t>: Un ping a un destino remoto verifica la conectividad a un host remoto. </a:t>
            </a:r>
          </a:p>
          <a:p>
            <a:pPr eaLnBrk="1" hangingPunct="1">
              <a:lnSpc>
                <a:spcPct val="80000"/>
              </a:lnSpc>
            </a:pPr>
            <a:endParaRPr lang="es-ES_tradnl" altLang="es-ES" sz="2000" smtClean="0"/>
          </a:p>
        </p:txBody>
      </p:sp>
    </p:spTree>
    <p:extLst>
      <p:ext uri="{BB962C8B-B14F-4D97-AF65-F5344CB8AC3E}">
        <p14:creationId xmlns:p14="http://schemas.microsoft.com/office/powerpoint/2010/main" val="1787781668"/>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544DEBF7-E469-4E8B-BBDD-C59355434751}" type="slidenum">
              <a:rPr lang="es-ES_tradnl" altLang="es-ES">
                <a:latin typeface="Arial" panose="020B0604020202020204" pitchFamily="34" charset="0"/>
              </a:rPr>
              <a:pPr eaLnBrk="1" hangingPunct="1"/>
              <a:t>87</a:t>
            </a:fld>
            <a:endParaRPr lang="es-ES_tradnl" altLang="es-ES">
              <a:latin typeface="Arial" panose="020B0604020202020204" pitchFamily="34" charset="0"/>
            </a:endParaRPr>
          </a:p>
        </p:txBody>
      </p:sp>
      <p:sp>
        <p:nvSpPr>
          <p:cNvPr id="6147" name="Rectangle 4"/>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PING 127.0.0.1</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graphicFrame>
        <p:nvGraphicFramePr>
          <p:cNvPr id="93188" name="Object 3"/>
          <p:cNvGraphicFramePr>
            <a:graphicFrameLocks noGrp="1" noChangeAspect="1"/>
          </p:cNvGraphicFramePr>
          <p:nvPr>
            <p:ph idx="1"/>
          </p:nvPr>
        </p:nvGraphicFramePr>
        <p:xfrm>
          <a:off x="144463" y="1844675"/>
          <a:ext cx="8820150" cy="4813300"/>
        </p:xfrm>
        <a:graphic>
          <a:graphicData uri="http://schemas.openxmlformats.org/presentationml/2006/ole">
            <mc:AlternateContent xmlns:mc="http://schemas.openxmlformats.org/markup-compatibility/2006">
              <mc:Choice xmlns:v="urn:schemas-microsoft-com:vml" Requires="v">
                <p:oleObj spid="_x0000_s18508" name="Imagen de mapa de bits" r:id="rId3" imgW="5619048" imgH="3067478" progId="Paint.Picture">
                  <p:embed/>
                </p:oleObj>
              </mc:Choice>
              <mc:Fallback>
                <p:oleObj name="Imagen de mapa de bits" r:id="rId3" imgW="5619048" imgH="306747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463" y="1844675"/>
                        <a:ext cx="8820150" cy="481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58581086"/>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5A6E025-6711-4005-8FAE-09C95808977E}" type="slidenum">
              <a:rPr lang="es-ES_tradnl" altLang="es-ES">
                <a:latin typeface="Arial" panose="020B0604020202020204" pitchFamily="34" charset="0"/>
              </a:rPr>
              <a:pPr eaLnBrk="1" hangingPunct="1"/>
              <a:t>88</a:t>
            </a:fld>
            <a:endParaRPr lang="es-ES_tradnl" altLang="es-ES">
              <a:latin typeface="Arial" panose="020B0604020202020204" pitchFamily="34" charset="0"/>
            </a:endParaRPr>
          </a:p>
        </p:txBody>
      </p:sp>
      <p:sp>
        <p:nvSpPr>
          <p:cNvPr id="7171"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DIRECCIONES IP Y MASCARAS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7172" name="Rectangle 3"/>
          <p:cNvSpPr>
            <a:spLocks noGrp="1" noChangeArrowheads="1"/>
          </p:cNvSpPr>
          <p:nvPr>
            <p:ph type="body" idx="1"/>
          </p:nvPr>
        </p:nvSpPr>
        <p:spPr/>
        <p:txBody>
          <a:bodyPr/>
          <a:lstStyle/>
          <a:p>
            <a:pPr algn="just" eaLnBrk="1" hangingPunct="1">
              <a:defRPr/>
            </a:pPr>
            <a:r>
              <a:rPr lang="es-ES_tradnl" altLang="es-ES" dirty="0" smtClean="0"/>
              <a:t>Las direcciones binarias de 32 bits que se usan en Internet para identificar un computador en la red se denominan </a:t>
            </a:r>
            <a:r>
              <a:rPr lang="es-ES_tradnl" altLang="es-ES" i="1" u="sng" dirty="0" smtClean="0">
                <a:solidFill>
                  <a:schemeClr val="accent6">
                    <a:lumMod val="75000"/>
                  </a:schemeClr>
                </a:solidFill>
                <a:effectLst>
                  <a:outerShdw blurRad="38100" dist="38100" dir="2700000" algn="tl">
                    <a:srgbClr val="000000">
                      <a:alpha val="43137"/>
                    </a:srgbClr>
                  </a:outerShdw>
                </a:effectLst>
              </a:rPr>
              <a:t>direcciones de Protocolo Internet (IP)</a:t>
            </a:r>
            <a:r>
              <a:rPr lang="es-ES_tradnl" altLang="es-ES" dirty="0" smtClean="0"/>
              <a:t>.   </a:t>
            </a:r>
          </a:p>
          <a:p>
            <a:pPr algn="just" eaLnBrk="1" hangingPunct="1">
              <a:defRPr/>
            </a:pPr>
            <a:r>
              <a:rPr lang="es-ES_tradnl" altLang="es-ES" dirty="0" smtClean="0"/>
              <a:t>Algunos de los bits del </a:t>
            </a:r>
            <a:r>
              <a:rPr lang="es-ES_tradnl" altLang="es-ES" i="1" dirty="0" smtClean="0">
                <a:solidFill>
                  <a:schemeClr val="accent6">
                    <a:lumMod val="75000"/>
                  </a:schemeClr>
                </a:solidFill>
                <a:effectLst>
                  <a:outerShdw blurRad="38100" dist="38100" dir="2700000" algn="tl">
                    <a:srgbClr val="000000">
                      <a:alpha val="43137"/>
                    </a:srgbClr>
                  </a:outerShdw>
                </a:effectLst>
              </a:rPr>
              <a:t>lado izquierdo representan la red</a:t>
            </a:r>
            <a:r>
              <a:rPr lang="es-ES_tradnl" altLang="es-ES" dirty="0" smtClean="0"/>
              <a:t> y </a:t>
            </a:r>
            <a:r>
              <a:rPr lang="es-ES_tradnl" altLang="es-ES" i="1" dirty="0" smtClean="0">
                <a:effectLst>
                  <a:outerShdw blurRad="38100" dist="38100" dir="2700000" algn="tl">
                    <a:srgbClr val="000000">
                      <a:alpha val="43137"/>
                    </a:srgbClr>
                  </a:outerShdw>
                </a:effectLst>
              </a:rPr>
              <a:t>los </a:t>
            </a:r>
            <a:r>
              <a:rPr lang="es-ES_tradnl" altLang="es-ES" i="1" dirty="0" smtClean="0">
                <a:solidFill>
                  <a:schemeClr val="accent6">
                    <a:lumMod val="75000"/>
                  </a:schemeClr>
                </a:solidFill>
                <a:effectLst>
                  <a:outerShdw blurRad="38100" dist="38100" dir="2700000" algn="tl">
                    <a:srgbClr val="000000">
                      <a:alpha val="43137"/>
                    </a:srgbClr>
                  </a:outerShdw>
                </a:effectLst>
              </a:rPr>
              <a:t>restantes el computador o host</a:t>
            </a:r>
            <a:r>
              <a:rPr lang="es-ES_tradnl" altLang="es-ES" dirty="0" smtClean="0"/>
              <a:t>.</a:t>
            </a:r>
          </a:p>
        </p:txBody>
      </p:sp>
    </p:spTree>
    <p:extLst>
      <p:ext uri="{BB962C8B-B14F-4D97-AF65-F5344CB8AC3E}">
        <p14:creationId xmlns:p14="http://schemas.microsoft.com/office/powerpoint/2010/main" val="11818707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7BDD312-82B1-4D9F-A438-7F3335F79DC7}" type="slidenum">
              <a:rPr lang="es-ES_tradnl" altLang="es-ES">
                <a:latin typeface="Arial" panose="020B0604020202020204" pitchFamily="34" charset="0"/>
              </a:rPr>
              <a:pPr eaLnBrk="1" hangingPunct="1"/>
              <a:t>89</a:t>
            </a:fld>
            <a:endParaRPr lang="es-ES_tradnl" altLang="es-ES">
              <a:latin typeface="Arial" panose="020B0604020202020204" pitchFamily="34" charset="0"/>
            </a:endParaRPr>
          </a:p>
        </p:txBody>
      </p:sp>
      <p:sp>
        <p:nvSpPr>
          <p:cNvPr id="8195"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DIRECCIONES IP Y MASCARAS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8196" name="Rectangle 3"/>
          <p:cNvSpPr>
            <a:spLocks noGrp="1" noChangeArrowheads="1"/>
          </p:cNvSpPr>
          <p:nvPr>
            <p:ph type="body" idx="1"/>
          </p:nvPr>
        </p:nvSpPr>
        <p:spPr>
          <a:xfrm>
            <a:off x="457200" y="1806575"/>
            <a:ext cx="8229600" cy="4113213"/>
          </a:xfrm>
        </p:spPr>
        <p:txBody>
          <a:bodyPr/>
          <a:lstStyle/>
          <a:p>
            <a:pPr algn="just" eaLnBrk="1" hangingPunct="1">
              <a:lnSpc>
                <a:spcPct val="90000"/>
              </a:lnSpc>
              <a:defRPr/>
            </a:pPr>
            <a:r>
              <a:rPr lang="es-ES_tradnl" altLang="es-ES" dirty="0" smtClean="0"/>
              <a:t>Para informarle al computador cuántos bits son de red se usa un segundo número de 32 bits denominado </a:t>
            </a:r>
            <a:r>
              <a:rPr lang="es-ES_tradnl" altLang="es-ES" i="1" dirty="0" smtClean="0">
                <a:solidFill>
                  <a:schemeClr val="accent6">
                    <a:lumMod val="75000"/>
                  </a:schemeClr>
                </a:solidFill>
                <a:effectLst>
                  <a:outerShdw blurRad="38100" dist="38100" dir="2700000" algn="tl">
                    <a:srgbClr val="000000">
                      <a:alpha val="43137"/>
                    </a:srgbClr>
                  </a:outerShdw>
                </a:effectLst>
              </a:rPr>
              <a:t>máscara de subred.</a:t>
            </a:r>
            <a:r>
              <a:rPr lang="es-ES_tradnl" altLang="es-ES" dirty="0" smtClean="0"/>
              <a:t> </a:t>
            </a:r>
          </a:p>
          <a:p>
            <a:pPr algn="just" eaLnBrk="1" hangingPunct="1">
              <a:lnSpc>
                <a:spcPct val="90000"/>
              </a:lnSpc>
              <a:defRPr/>
            </a:pPr>
            <a:r>
              <a:rPr lang="es-ES_tradnl" altLang="es-ES" dirty="0" smtClean="0"/>
              <a:t>Ejemplo :</a:t>
            </a:r>
          </a:p>
          <a:p>
            <a:pPr algn="just" eaLnBrk="1" hangingPunct="1">
              <a:lnSpc>
                <a:spcPct val="90000"/>
              </a:lnSpc>
              <a:buFontTx/>
              <a:buNone/>
              <a:defRPr/>
            </a:pPr>
            <a:r>
              <a:rPr lang="es-ES_tradnl" altLang="es-ES" dirty="0" smtClean="0"/>
              <a:t>   IP </a:t>
            </a:r>
            <a:r>
              <a:rPr lang="es-ES_tradnl" altLang="es-ES" dirty="0" smtClean="0">
                <a:solidFill>
                  <a:srgbClr val="FF0000"/>
                </a:solidFill>
              </a:rPr>
              <a:t>143.127</a:t>
            </a:r>
            <a:r>
              <a:rPr lang="es-ES_tradnl" altLang="es-ES" dirty="0" smtClean="0"/>
              <a:t>.</a:t>
            </a:r>
            <a:r>
              <a:rPr lang="es-ES_tradnl" altLang="es-ES" dirty="0" smtClean="0">
                <a:solidFill>
                  <a:srgbClr val="00B050"/>
                </a:solidFill>
              </a:rPr>
              <a:t>1.103</a:t>
            </a:r>
          </a:p>
          <a:p>
            <a:pPr algn="just" eaLnBrk="1" hangingPunct="1">
              <a:lnSpc>
                <a:spcPct val="90000"/>
              </a:lnSpc>
              <a:buFontTx/>
              <a:buNone/>
              <a:defRPr/>
            </a:pPr>
            <a:r>
              <a:rPr lang="es-ES_tradnl" altLang="es-ES" dirty="0" smtClean="0"/>
              <a:t>   máscara subred 255.255.0.0</a:t>
            </a:r>
          </a:p>
          <a:p>
            <a:pPr algn="just" eaLnBrk="1" hangingPunct="1">
              <a:lnSpc>
                <a:spcPct val="90000"/>
              </a:lnSpc>
              <a:buFontTx/>
              <a:buNone/>
              <a:defRPr/>
            </a:pPr>
            <a:r>
              <a:rPr lang="es-ES_tradnl" altLang="es-ES" dirty="0" smtClean="0"/>
              <a:t>   </a:t>
            </a:r>
            <a:r>
              <a:rPr lang="es-ES_tradnl" altLang="es-ES" dirty="0" smtClean="0">
                <a:solidFill>
                  <a:srgbClr val="FF0000"/>
                </a:solidFill>
              </a:rPr>
              <a:t>la parte de red es 143.127</a:t>
            </a:r>
          </a:p>
          <a:p>
            <a:pPr algn="just" eaLnBrk="1" hangingPunct="1">
              <a:lnSpc>
                <a:spcPct val="90000"/>
              </a:lnSpc>
              <a:buFontTx/>
              <a:buNone/>
              <a:defRPr/>
            </a:pPr>
            <a:r>
              <a:rPr lang="es-ES_tradnl" altLang="es-ES" dirty="0" smtClean="0"/>
              <a:t>	</a:t>
            </a:r>
            <a:r>
              <a:rPr lang="es-ES_tradnl" altLang="es-ES" dirty="0" smtClean="0">
                <a:solidFill>
                  <a:srgbClr val="00B050"/>
                </a:solidFill>
              </a:rPr>
              <a:t>la parte de host es 1.103</a:t>
            </a:r>
          </a:p>
        </p:txBody>
      </p:sp>
    </p:spTree>
    <p:extLst>
      <p:ext uri="{BB962C8B-B14F-4D97-AF65-F5344CB8AC3E}">
        <p14:creationId xmlns:p14="http://schemas.microsoft.com/office/powerpoint/2010/main" val="350724184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2E7B8DB-A37C-454C-A34E-A3E98D54970C}" type="slidenum">
              <a:rPr lang="es-ES_tradnl" altLang="es-ES">
                <a:latin typeface="Arial" panose="020B0604020202020204" pitchFamily="34" charset="0"/>
              </a:rPr>
              <a:pPr eaLnBrk="1" hangingPunct="1"/>
              <a:t>90</a:t>
            </a:fld>
            <a:endParaRPr lang="es-ES_tradnl" altLang="es-ES">
              <a:latin typeface="Arial" panose="020B0604020202020204" pitchFamily="34" charset="0"/>
            </a:endParaRPr>
          </a:p>
        </p:txBody>
      </p:sp>
      <p:sp>
        <p:nvSpPr>
          <p:cNvPr id="96259" name="Rectangle 2"/>
          <p:cNvSpPr>
            <a:spLocks noGrp="1" noChangeArrowheads="1"/>
          </p:cNvSpPr>
          <p:nvPr>
            <p:ph type="title"/>
          </p:nvPr>
        </p:nvSpPr>
        <p:spPr>
          <a:xfrm>
            <a:off x="457200" y="274638"/>
            <a:ext cx="8218488" cy="777875"/>
          </a:xfrm>
        </p:spPr>
        <p:txBody>
          <a:bodyPr/>
          <a:lstStyle/>
          <a:p>
            <a:pPr eaLnBrk="1" hangingPunct="1"/>
            <a:r>
              <a:rPr lang="es-ES" altLang="es-ES" sz="2800" b="1" smtClean="0"/>
              <a:t>DIRECCIONES IP Y MASCARAS DE RED</a:t>
            </a:r>
            <a:endParaRPr lang="es-ES_tradnl" altLang="es-ES" sz="2800" b="1" smtClean="0"/>
          </a:p>
        </p:txBody>
      </p:sp>
      <p:sp>
        <p:nvSpPr>
          <p:cNvPr id="9220" name="Rectangle 3"/>
          <p:cNvSpPr>
            <a:spLocks noGrp="1" noChangeArrowheads="1"/>
          </p:cNvSpPr>
          <p:nvPr>
            <p:ph type="body" idx="1"/>
          </p:nvPr>
        </p:nvSpPr>
        <p:spPr>
          <a:xfrm>
            <a:off x="395288" y="1989138"/>
            <a:ext cx="8208962" cy="4824412"/>
          </a:xfrm>
        </p:spPr>
        <p:txBody>
          <a:bodyPr/>
          <a:lstStyle/>
          <a:p>
            <a:pPr marL="0" indent="0" algn="just" eaLnBrk="1" hangingPunct="1">
              <a:lnSpc>
                <a:spcPct val="80000"/>
              </a:lnSpc>
              <a:defRPr/>
            </a:pPr>
            <a:r>
              <a:rPr lang="es-ES_tradnl" altLang="es-ES" sz="2400" dirty="0" smtClean="0"/>
              <a:t>La ejecución de una operación AND booleana de la dirección IP 10.34.23.134 y la máscara de subred 255.0.0.0 da como resultado la dirección de red de este host: </a:t>
            </a:r>
          </a:p>
          <a:p>
            <a:pPr marL="0" indent="0" eaLnBrk="1" hangingPunct="1">
              <a:lnSpc>
                <a:spcPct val="80000"/>
              </a:lnSpc>
              <a:buFontTx/>
              <a:buNone/>
              <a:defRPr/>
            </a:pPr>
            <a:r>
              <a:rPr lang="es-ES_tradnl" altLang="es-ES" sz="2400" dirty="0" smtClean="0">
                <a:solidFill>
                  <a:srgbClr val="00B050"/>
                </a:solidFill>
              </a:rPr>
              <a:t>00001010</a:t>
            </a:r>
            <a:r>
              <a:rPr lang="es-ES_tradnl" altLang="es-ES" sz="2400" dirty="0" smtClean="0"/>
              <a:t>.</a:t>
            </a:r>
            <a:r>
              <a:rPr lang="es-ES_tradnl" altLang="es-ES" sz="2400" dirty="0" smtClean="0">
                <a:solidFill>
                  <a:srgbClr val="FF0000"/>
                </a:solidFill>
              </a:rPr>
              <a:t>00100010</a:t>
            </a:r>
            <a:r>
              <a:rPr lang="es-ES_tradnl" altLang="es-ES" sz="2400" dirty="0" smtClean="0"/>
              <a:t>.</a:t>
            </a:r>
            <a:r>
              <a:rPr lang="es-ES_tradnl" altLang="es-ES" sz="2400" dirty="0" smtClean="0">
                <a:solidFill>
                  <a:schemeClr val="accent6">
                    <a:lumMod val="60000"/>
                    <a:lumOff val="40000"/>
                  </a:schemeClr>
                </a:solidFill>
              </a:rPr>
              <a:t>00010111</a:t>
            </a:r>
            <a:r>
              <a:rPr lang="es-ES_tradnl" altLang="es-ES" sz="2400" dirty="0" smtClean="0"/>
              <a:t>.</a:t>
            </a:r>
            <a:r>
              <a:rPr lang="es-ES_tradnl" altLang="es-ES" sz="2400" dirty="0" smtClean="0">
                <a:solidFill>
                  <a:srgbClr val="00B0F0"/>
                </a:solidFill>
              </a:rPr>
              <a:t>10000110 </a:t>
            </a:r>
            <a:r>
              <a:rPr lang="es-ES_tradnl" altLang="es-ES" sz="2400" dirty="0" smtClean="0"/>
              <a:t>(</a:t>
            </a:r>
            <a:r>
              <a:rPr lang="es-ES_tradnl" altLang="es-ES" sz="2400" dirty="0" smtClean="0">
                <a:solidFill>
                  <a:srgbClr val="00B050"/>
                </a:solidFill>
              </a:rPr>
              <a:t>10</a:t>
            </a:r>
            <a:r>
              <a:rPr lang="es-ES_tradnl" altLang="es-ES" sz="2400" dirty="0" smtClean="0"/>
              <a:t>.</a:t>
            </a:r>
            <a:r>
              <a:rPr lang="es-ES_tradnl" altLang="es-ES" sz="2400" dirty="0" smtClean="0">
                <a:solidFill>
                  <a:srgbClr val="FF0000"/>
                </a:solidFill>
              </a:rPr>
              <a:t>34</a:t>
            </a:r>
            <a:r>
              <a:rPr lang="es-ES_tradnl" altLang="es-ES" sz="2400" dirty="0" smtClean="0"/>
              <a:t>.</a:t>
            </a:r>
            <a:r>
              <a:rPr lang="es-ES_tradnl" altLang="es-ES" sz="2400" dirty="0" smtClean="0">
                <a:solidFill>
                  <a:schemeClr val="accent6">
                    <a:lumMod val="60000"/>
                    <a:lumOff val="40000"/>
                  </a:schemeClr>
                </a:solidFill>
              </a:rPr>
              <a:t>23</a:t>
            </a:r>
            <a:r>
              <a:rPr lang="es-ES_tradnl" altLang="es-ES" sz="2400" dirty="0" smtClean="0"/>
              <a:t>.</a:t>
            </a:r>
            <a:r>
              <a:rPr lang="es-ES_tradnl" altLang="es-ES" sz="2400" dirty="0" smtClean="0">
                <a:solidFill>
                  <a:srgbClr val="00B0F0"/>
                </a:solidFill>
              </a:rPr>
              <a:t>134</a:t>
            </a:r>
            <a:r>
              <a:rPr lang="es-ES_tradnl" altLang="es-ES" sz="2400" dirty="0" smtClean="0"/>
              <a:t>)</a:t>
            </a:r>
            <a:endParaRPr lang="es-ES_tradnl" altLang="es-ES" sz="2400" dirty="0"/>
          </a:p>
          <a:p>
            <a:pPr marL="0" indent="0" eaLnBrk="1" hangingPunct="1">
              <a:lnSpc>
                <a:spcPct val="80000"/>
              </a:lnSpc>
              <a:buFontTx/>
              <a:buNone/>
              <a:defRPr/>
            </a:pPr>
            <a:r>
              <a:rPr lang="es-ES_tradnl" altLang="es-ES" sz="2400" u="sng" dirty="0" smtClean="0">
                <a:solidFill>
                  <a:srgbClr val="00B050"/>
                </a:solidFill>
              </a:rPr>
              <a:t>11111111</a:t>
            </a:r>
            <a:r>
              <a:rPr lang="es-ES_tradnl" altLang="es-ES" sz="2400" u="sng" dirty="0" smtClean="0"/>
              <a:t>.</a:t>
            </a:r>
            <a:r>
              <a:rPr lang="es-ES_tradnl" altLang="es-ES" sz="2400" u="sng" dirty="0" smtClean="0">
                <a:solidFill>
                  <a:srgbClr val="FF0000"/>
                </a:solidFill>
              </a:rPr>
              <a:t>00000000</a:t>
            </a:r>
            <a:r>
              <a:rPr lang="es-ES_tradnl" altLang="es-ES" sz="2400" u="sng" dirty="0" smtClean="0"/>
              <a:t>.</a:t>
            </a:r>
            <a:r>
              <a:rPr lang="es-ES_tradnl" altLang="es-ES" sz="2400" u="sng" dirty="0" smtClean="0">
                <a:solidFill>
                  <a:schemeClr val="accent6">
                    <a:lumMod val="60000"/>
                    <a:lumOff val="40000"/>
                  </a:schemeClr>
                </a:solidFill>
              </a:rPr>
              <a:t>00000000</a:t>
            </a:r>
            <a:r>
              <a:rPr lang="es-ES_tradnl" altLang="es-ES" sz="2400" u="sng" dirty="0" smtClean="0"/>
              <a:t>.</a:t>
            </a:r>
            <a:r>
              <a:rPr lang="es-ES_tradnl" altLang="es-ES" sz="2400" u="sng" dirty="0" smtClean="0">
                <a:solidFill>
                  <a:srgbClr val="00B0F0"/>
                </a:solidFill>
              </a:rPr>
              <a:t>00000000</a:t>
            </a:r>
            <a:r>
              <a:rPr lang="es-ES_tradnl" altLang="es-ES" sz="2400" u="sng" dirty="0" smtClean="0"/>
              <a:t> (</a:t>
            </a:r>
            <a:r>
              <a:rPr lang="es-ES_tradnl" altLang="es-ES" sz="2400" dirty="0" smtClean="0">
                <a:solidFill>
                  <a:srgbClr val="00B050"/>
                </a:solidFill>
              </a:rPr>
              <a:t>255</a:t>
            </a:r>
            <a:r>
              <a:rPr lang="es-ES_tradnl" altLang="es-ES" sz="2400" dirty="0" smtClean="0"/>
              <a:t>.</a:t>
            </a:r>
            <a:r>
              <a:rPr lang="es-ES_tradnl" altLang="es-ES" sz="2400" dirty="0" smtClean="0">
                <a:solidFill>
                  <a:srgbClr val="FF0000"/>
                </a:solidFill>
              </a:rPr>
              <a:t>0</a:t>
            </a:r>
            <a:r>
              <a:rPr lang="es-ES_tradnl" altLang="es-ES" sz="2400" dirty="0" smtClean="0"/>
              <a:t>.</a:t>
            </a:r>
            <a:r>
              <a:rPr lang="es-ES_tradnl" altLang="es-ES" sz="2400" dirty="0" smtClean="0">
                <a:solidFill>
                  <a:schemeClr val="accent6">
                    <a:lumMod val="60000"/>
                    <a:lumOff val="40000"/>
                  </a:schemeClr>
                </a:solidFill>
              </a:rPr>
              <a:t>0</a:t>
            </a:r>
            <a:r>
              <a:rPr lang="es-ES_tradnl" altLang="es-ES" sz="2400" dirty="0" smtClean="0"/>
              <a:t>.</a:t>
            </a:r>
            <a:r>
              <a:rPr lang="es-ES_tradnl" altLang="es-ES" sz="2400" dirty="0" smtClean="0">
                <a:solidFill>
                  <a:srgbClr val="00B0F0"/>
                </a:solidFill>
              </a:rPr>
              <a:t>0</a:t>
            </a:r>
            <a:r>
              <a:rPr lang="es-ES_tradnl" altLang="es-ES" sz="2400" dirty="0" smtClean="0"/>
              <a:t>) 00001010.00000000.00000000.00000000 </a:t>
            </a:r>
          </a:p>
          <a:p>
            <a:pPr marL="0" indent="0" eaLnBrk="1" hangingPunct="1">
              <a:lnSpc>
                <a:spcPct val="80000"/>
              </a:lnSpc>
              <a:defRPr/>
            </a:pPr>
            <a:endParaRPr lang="es-ES_tradnl" altLang="es-ES" sz="2400" dirty="0" smtClean="0"/>
          </a:p>
          <a:p>
            <a:pPr marL="0" indent="0" eaLnBrk="1" hangingPunct="1">
              <a:lnSpc>
                <a:spcPct val="80000"/>
              </a:lnSpc>
              <a:defRPr/>
            </a:pPr>
            <a:r>
              <a:rPr lang="es-ES_tradnl" altLang="es-ES" sz="2400" dirty="0" smtClean="0"/>
              <a:t>00001010.00100010.00010111.10000110 </a:t>
            </a:r>
            <a:r>
              <a:rPr lang="es-ES_tradnl" altLang="es-ES" sz="2400" u="sng" dirty="0" smtClean="0"/>
              <a:t>11111111.11111111.00000000.00000000</a:t>
            </a:r>
            <a:r>
              <a:rPr lang="es-ES_tradnl" altLang="es-ES" sz="2400" dirty="0" smtClean="0"/>
              <a:t> 00001010.00100010.00000000.00000000 </a:t>
            </a:r>
          </a:p>
          <a:p>
            <a:pPr marL="0" indent="0" algn="just" eaLnBrk="1" hangingPunct="1">
              <a:lnSpc>
                <a:spcPct val="80000"/>
              </a:lnSpc>
              <a:buFontTx/>
              <a:buNone/>
              <a:defRPr/>
            </a:pPr>
            <a:r>
              <a:rPr lang="es-ES_tradnl" altLang="es-ES" sz="2400" dirty="0" smtClean="0"/>
              <a:t>Convirtiendo el resultado a una notación decimal separada por puntos, se obtiene 10.0.0.0 que es la parte de red de la dirección IP cuando se utiliza la máscara 255.0.0.0. </a:t>
            </a:r>
          </a:p>
          <a:p>
            <a:pPr marL="0" indent="0" algn="just" eaLnBrk="1" hangingPunct="1">
              <a:lnSpc>
                <a:spcPct val="80000"/>
              </a:lnSpc>
              <a:defRPr/>
            </a:pPr>
            <a:endParaRPr lang="es-ES_tradnl" altLang="es-ES" sz="2400" dirty="0" smtClean="0"/>
          </a:p>
        </p:txBody>
      </p:sp>
    </p:spTree>
    <p:extLst>
      <p:ext uri="{BB962C8B-B14F-4D97-AF65-F5344CB8AC3E}">
        <p14:creationId xmlns:p14="http://schemas.microsoft.com/office/powerpoint/2010/main" val="475102369"/>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6D4629A-CB38-48FF-A0CF-797A93C44DA8}" type="slidenum">
              <a:rPr lang="es-ES_tradnl" altLang="es-ES">
                <a:latin typeface="Arial" panose="020B0604020202020204" pitchFamily="34" charset="0"/>
              </a:rPr>
              <a:pPr eaLnBrk="1" hangingPunct="1"/>
              <a:t>91</a:t>
            </a:fld>
            <a:endParaRPr lang="es-ES_tradnl" altLang="es-ES">
              <a:latin typeface="Arial" panose="020B0604020202020204" pitchFamily="34" charset="0"/>
            </a:endParaRPr>
          </a:p>
        </p:txBody>
      </p:sp>
      <p:sp>
        <p:nvSpPr>
          <p:cNvPr id="10243"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DIRECCIONES IP Y MASCARAS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7284" name="Rectangle 3"/>
          <p:cNvSpPr>
            <a:spLocks noGrp="1" noChangeArrowheads="1"/>
          </p:cNvSpPr>
          <p:nvPr>
            <p:ph type="body" idx="1"/>
          </p:nvPr>
        </p:nvSpPr>
        <p:spPr/>
        <p:txBody>
          <a:bodyPr/>
          <a:lstStyle/>
          <a:p>
            <a:pPr marL="0" indent="0" algn="just" eaLnBrk="1" hangingPunct="1">
              <a:buFontTx/>
              <a:buNone/>
            </a:pPr>
            <a:r>
              <a:rPr lang="es-ES_tradnl" altLang="es-ES" sz="2400" smtClean="0"/>
              <a:t>La conversión de la dirección IP 10.34.23.134 en números binarios daría como resultado lo siguiente: </a:t>
            </a:r>
          </a:p>
          <a:p>
            <a:pPr marL="0" indent="0" algn="just" eaLnBrk="1" hangingPunct="1">
              <a:buFontTx/>
              <a:buNone/>
            </a:pPr>
            <a:endParaRPr lang="es-ES_tradnl" altLang="es-ES" sz="2400" smtClean="0"/>
          </a:p>
          <a:p>
            <a:pPr marL="0" indent="0" eaLnBrk="1" hangingPunct="1">
              <a:buFontTx/>
              <a:buNone/>
            </a:pPr>
            <a:r>
              <a:rPr lang="es-ES_tradnl" altLang="es-ES" sz="2400" smtClean="0"/>
              <a:t>   00001010.00100010.00010111.10000110</a:t>
            </a:r>
          </a:p>
        </p:txBody>
      </p:sp>
    </p:spTree>
    <p:extLst>
      <p:ext uri="{BB962C8B-B14F-4D97-AF65-F5344CB8AC3E}">
        <p14:creationId xmlns:p14="http://schemas.microsoft.com/office/powerpoint/2010/main" val="2246082677"/>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C262A62-D5B9-4144-B941-7AD2F8C3E91B}" type="slidenum">
              <a:rPr lang="es-ES_tradnl" altLang="es-ES">
                <a:latin typeface="Arial" panose="020B0604020202020204" pitchFamily="34" charset="0"/>
              </a:rPr>
              <a:pPr eaLnBrk="1" hangingPunct="1"/>
              <a:t>92</a:t>
            </a:fld>
            <a:endParaRPr lang="es-ES_tradnl" altLang="es-ES">
              <a:latin typeface="Arial" panose="020B0604020202020204" pitchFamily="34" charset="0"/>
            </a:endParaRPr>
          </a:p>
        </p:txBody>
      </p:sp>
      <p:sp>
        <p:nvSpPr>
          <p:cNvPr id="12291" name="Rectangle 2"/>
          <p:cNvSpPr>
            <a:spLocks noGrp="1" noChangeArrowheads="1"/>
          </p:cNvSpPr>
          <p:nvPr>
            <p:ph type="title"/>
          </p:nvPr>
        </p:nvSpPr>
        <p:spPr/>
        <p:txBody>
          <a:bodyPr/>
          <a:lstStyle/>
          <a:p>
            <a:pPr eaLnBrk="1" hangingPunct="1">
              <a:defRPr/>
            </a:pPr>
            <a:r>
              <a:rPr lang="es-ES" altLang="es-ES" sz="2800" b="1" i="1" u="sng">
                <a:solidFill>
                  <a:schemeClr val="accent6">
                    <a:lumMod val="75000"/>
                  </a:schemeClr>
                </a:solidFill>
                <a:effectLst>
                  <a:outerShdw blurRad="38100" dist="38100" dir="2700000" algn="tl">
                    <a:srgbClr val="000000">
                      <a:alpha val="43137"/>
                    </a:srgbClr>
                  </a:outerShdw>
                </a:effectLst>
              </a:rPr>
              <a:t>DIRECCIONES IP Y MASCARAS DE RED</a:t>
            </a:r>
            <a:endParaRPr lang="es-ES_tradnl" altLang="es-ES" sz="2800" b="1" i="1" u="sng">
              <a:solidFill>
                <a:schemeClr val="accent6">
                  <a:lumMod val="75000"/>
                </a:schemeClr>
              </a:solidFill>
              <a:effectLst>
                <a:outerShdw blurRad="38100" dist="38100" dir="2700000" algn="tl">
                  <a:srgbClr val="000000">
                    <a:alpha val="43137"/>
                  </a:srgbClr>
                </a:outerShdw>
              </a:effectLst>
            </a:endParaRPr>
          </a:p>
        </p:txBody>
      </p:sp>
      <p:sp>
        <p:nvSpPr>
          <p:cNvPr id="98308" name="Rectangle 3"/>
          <p:cNvSpPr>
            <a:spLocks noGrp="1" noChangeArrowheads="1"/>
          </p:cNvSpPr>
          <p:nvPr>
            <p:ph type="body" idx="1"/>
          </p:nvPr>
        </p:nvSpPr>
        <p:spPr/>
        <p:txBody>
          <a:bodyPr/>
          <a:lstStyle/>
          <a:p>
            <a:pPr algn="just" eaLnBrk="1" hangingPunct="1"/>
            <a:r>
              <a:rPr lang="es-ES_tradnl" altLang="es-ES" sz="2800" smtClean="0"/>
              <a:t>La ejecución de una operación AND booleana de la dirección IP 10.34.23.134 y la máscara de subred 255.255.0.0 da como resultado la dirección de red de este host:</a:t>
            </a:r>
          </a:p>
          <a:p>
            <a:pPr algn="just" eaLnBrk="1" hangingPunct="1"/>
            <a:r>
              <a:rPr lang="es-ES_tradnl" altLang="es-ES" sz="2800" smtClean="0"/>
              <a:t>Convirtiendo el resultado a una notación decimal separada por puntos, se obtiene 10.34.0.0 que es la parte de red de la dirección IP cuando se utiliza la máscara 255.255.0.0. </a:t>
            </a:r>
          </a:p>
        </p:txBody>
      </p:sp>
    </p:spTree>
    <p:extLst>
      <p:ext uri="{BB962C8B-B14F-4D97-AF65-F5344CB8AC3E}">
        <p14:creationId xmlns:p14="http://schemas.microsoft.com/office/powerpoint/2010/main" val="4114537709"/>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eaLnBrk="1" hangingPunct="1">
              <a:defRPr/>
            </a:pPr>
            <a:r>
              <a:rPr lang="es-ES" i="1" u="sng" dirty="0" smtClean="0">
                <a:solidFill>
                  <a:srgbClr val="FF0000"/>
                </a:solidFill>
                <a:effectLst>
                  <a:outerShdw blurRad="38100" dist="38100" dir="2700000" algn="tl">
                    <a:srgbClr val="000000">
                      <a:alpha val="43137"/>
                    </a:srgbClr>
                  </a:outerShdw>
                </a:effectLst>
              </a:rPr>
              <a:t>Protocolos de Red</a:t>
            </a:r>
          </a:p>
        </p:txBody>
      </p:sp>
      <p:sp>
        <p:nvSpPr>
          <p:cNvPr id="99331"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1C84B4B-547F-465F-9E58-683F3EDD506B}" type="slidenum">
              <a:rPr lang="es-ES_tradnl" altLang="es-ES">
                <a:latin typeface="Arial" panose="020B0604020202020204" pitchFamily="34" charset="0"/>
              </a:rPr>
              <a:pPr eaLnBrk="1" hangingPunct="1"/>
              <a:t>93</a:t>
            </a:fld>
            <a:endParaRPr lang="es-ES_tradnl" altLang="es-ES">
              <a:latin typeface="Arial" panose="020B0604020202020204" pitchFamily="34" charset="0"/>
            </a:endParaRPr>
          </a:p>
        </p:txBody>
      </p:sp>
      <p:sp>
        <p:nvSpPr>
          <p:cNvPr id="7" name="Subtítulo 2"/>
          <p:cNvSpPr txBox="1">
            <a:spLocks/>
          </p:cNvSpPr>
          <p:nvPr/>
        </p:nvSpPr>
        <p:spPr bwMode="auto">
          <a:xfrm>
            <a:off x="1295400" y="3754438"/>
            <a:ext cx="6858000"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fontAlgn="base">
              <a:spcBef>
                <a:spcPct val="20000"/>
              </a:spcBef>
              <a:spcAft>
                <a:spcPct val="0"/>
              </a:spcAft>
              <a:buNone/>
              <a:defRPr sz="2400" kern="1200">
                <a:solidFill>
                  <a:schemeClr val="tx1"/>
                </a:solidFill>
                <a:latin typeface="+mn-lt"/>
                <a:ea typeface="+mn-ea"/>
                <a:cs typeface="+mn-cs"/>
              </a:defRPr>
            </a:lvl1pPr>
            <a:lvl2pPr marL="457200" indent="0" algn="ctr" rtl="0" fontAlgn="base">
              <a:spcBef>
                <a:spcPct val="20000"/>
              </a:spcBef>
              <a:spcAft>
                <a:spcPct val="0"/>
              </a:spcAft>
              <a:buNone/>
              <a:defRPr sz="2000" kern="1200">
                <a:solidFill>
                  <a:schemeClr val="tx1"/>
                </a:solidFill>
                <a:latin typeface="+mn-lt"/>
                <a:ea typeface="+mn-ea"/>
                <a:cs typeface="+mn-cs"/>
              </a:defRPr>
            </a:lvl2pPr>
            <a:lvl3pPr marL="914400" indent="0" algn="ctr" rtl="0" fontAlgn="base">
              <a:spcBef>
                <a:spcPct val="20000"/>
              </a:spcBef>
              <a:spcAft>
                <a:spcPct val="0"/>
              </a:spcAft>
              <a:buNone/>
              <a:defRPr sz="1800" kern="1200">
                <a:solidFill>
                  <a:schemeClr val="tx1"/>
                </a:solidFill>
                <a:latin typeface="+mn-lt"/>
                <a:ea typeface="+mn-ea"/>
                <a:cs typeface="+mn-cs"/>
              </a:defRPr>
            </a:lvl3pPr>
            <a:lvl4pPr marL="1371600" indent="0" algn="ctr" rtl="0" fontAlgn="base">
              <a:spcBef>
                <a:spcPct val="20000"/>
              </a:spcBef>
              <a:spcAft>
                <a:spcPct val="0"/>
              </a:spcAft>
              <a:buNone/>
              <a:defRPr sz="1600" kern="1200">
                <a:solidFill>
                  <a:schemeClr val="tx1"/>
                </a:solidFill>
                <a:latin typeface="+mn-lt"/>
                <a:ea typeface="+mn-ea"/>
                <a:cs typeface="+mn-cs"/>
              </a:defRPr>
            </a:lvl4pPr>
            <a:lvl5pPr marL="1828800" indent="0" algn="ctr" rtl="0" fontAlgn="base">
              <a:spcBef>
                <a:spcPct val="20000"/>
              </a:spcBef>
              <a:spcAft>
                <a:spcPct val="0"/>
              </a:spcAft>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defRPr/>
            </a:pPr>
            <a:r>
              <a:rPr lang="es-ES" sz="1200" i="1" dirty="0" smtClean="0">
                <a:solidFill>
                  <a:schemeClr val="accent6">
                    <a:lumMod val="75000"/>
                  </a:schemeClr>
                </a:solidFill>
                <a:effectLst>
                  <a:outerShdw blurRad="38100" dist="38100" dir="2700000" algn="tl">
                    <a:srgbClr val="000000">
                      <a:alpha val="43137"/>
                    </a:srgbClr>
                  </a:outerShdw>
                </a:effectLst>
              </a:rPr>
              <a:t>El presente PPT ha sido desarrollado tomando como base el material de Introducción a la ingeniería de </a:t>
            </a:r>
            <a:r>
              <a:rPr lang="es-ES" sz="1200" i="1" dirty="0" err="1" smtClean="0">
                <a:solidFill>
                  <a:schemeClr val="accent6">
                    <a:lumMod val="75000"/>
                  </a:schemeClr>
                </a:solidFill>
                <a:effectLst>
                  <a:outerShdw blurRad="38100" dist="38100" dir="2700000" algn="tl">
                    <a:srgbClr val="000000">
                      <a:alpha val="43137"/>
                    </a:srgbClr>
                  </a:outerShdw>
                </a:effectLst>
              </a:rPr>
              <a:t>Networking</a:t>
            </a:r>
            <a:r>
              <a:rPr lang="es-ES" sz="1200" i="1" dirty="0" smtClean="0">
                <a:solidFill>
                  <a:schemeClr val="accent6">
                    <a:lumMod val="75000"/>
                  </a:schemeClr>
                </a:solidFill>
                <a:effectLst>
                  <a:outerShdw blurRad="38100" dist="38100" dir="2700000" algn="tl">
                    <a:srgbClr val="000000">
                      <a:alpha val="43137"/>
                    </a:srgbClr>
                  </a:outerShdw>
                </a:effectLst>
              </a:rPr>
              <a:t> CISCO (Extractos Curso CNNA1). </a:t>
            </a:r>
          </a:p>
        </p:txBody>
      </p:sp>
    </p:spTree>
    <p:extLst>
      <p:ext uri="{BB962C8B-B14F-4D97-AF65-F5344CB8AC3E}">
        <p14:creationId xmlns:p14="http://schemas.microsoft.com/office/powerpoint/2010/main" val="163263880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06E4463-CFE9-4259-92B7-9D58B8D15F68}" type="slidenum">
              <a:rPr lang="es-ES_tradnl" altLang="es-ES">
                <a:latin typeface="Arial" panose="020B0604020202020204" pitchFamily="34" charset="0"/>
              </a:rPr>
              <a:pPr eaLnBrk="1" hangingPunct="1"/>
              <a:t>94</a:t>
            </a:fld>
            <a:endParaRPr lang="es-ES_tradnl" altLang="es-ES">
              <a:latin typeface="Arial" panose="020B0604020202020204" pitchFamily="34" charset="0"/>
            </a:endParaRPr>
          </a:p>
        </p:txBody>
      </p:sp>
      <p:sp>
        <p:nvSpPr>
          <p:cNvPr id="100355" name="Rectangle 2"/>
          <p:cNvSpPr>
            <a:spLocks noGrp="1" noChangeArrowheads="1"/>
          </p:cNvSpPr>
          <p:nvPr>
            <p:ph type="ctrTitle"/>
          </p:nvPr>
        </p:nvSpPr>
        <p:spPr>
          <a:xfrm>
            <a:off x="611188" y="549275"/>
            <a:ext cx="7777162" cy="792163"/>
          </a:xfrm>
        </p:spPr>
        <p:txBody>
          <a:bodyPr anchor="ctr"/>
          <a:lstStyle/>
          <a:p>
            <a:pPr eaLnBrk="1" hangingPunct="1"/>
            <a:r>
              <a:rPr lang="es-ES" altLang="es-ES" sz="2400" b="1" smtClean="0"/>
              <a:t>PROTOCOLOS DE RED</a:t>
            </a:r>
            <a:endParaRPr lang="es-ES_tradnl" altLang="es-ES" sz="2400" b="1" smtClean="0"/>
          </a:p>
        </p:txBody>
      </p:sp>
      <p:sp>
        <p:nvSpPr>
          <p:cNvPr id="4100" name="Rectangle 3"/>
          <p:cNvSpPr>
            <a:spLocks noGrp="1" noChangeArrowheads="1"/>
          </p:cNvSpPr>
          <p:nvPr>
            <p:ph type="subTitle" idx="1"/>
          </p:nvPr>
        </p:nvSpPr>
        <p:spPr>
          <a:xfrm>
            <a:off x="468313" y="1557338"/>
            <a:ext cx="8135937" cy="4248150"/>
          </a:xfrm>
        </p:spPr>
        <p:txBody>
          <a:bodyPr>
            <a:normAutofit lnSpcReduction="10000"/>
          </a:bodyPr>
          <a:lstStyle/>
          <a:p>
            <a:pPr algn="just" eaLnBrk="1" hangingPunct="1">
              <a:lnSpc>
                <a:spcPct val="90000"/>
              </a:lnSpc>
              <a:defRPr/>
            </a:pPr>
            <a:r>
              <a:rPr lang="es-ES_tradnl" altLang="es-ES" sz="2400" dirty="0" smtClean="0"/>
              <a:t>Los conjuntos de protocolos son colecciones de protocolos que posibilitan la comunicación de red </a:t>
            </a:r>
            <a:r>
              <a:rPr lang="es-ES_tradnl" altLang="es-ES" sz="2400" i="1" u="sng" dirty="0" smtClean="0">
                <a:solidFill>
                  <a:srgbClr val="FF0000"/>
                </a:solidFill>
                <a:effectLst>
                  <a:outerShdw blurRad="38100" dist="38100" dir="2700000" algn="tl">
                    <a:srgbClr val="000000">
                      <a:alpha val="43137"/>
                    </a:srgbClr>
                  </a:outerShdw>
                </a:effectLst>
              </a:rPr>
              <a:t>desde un host, a través de la red, hacia otro host</a:t>
            </a:r>
            <a:r>
              <a:rPr lang="es-ES_tradnl" altLang="es-ES" sz="2400" dirty="0" smtClean="0"/>
              <a:t>. </a:t>
            </a:r>
          </a:p>
          <a:p>
            <a:pPr algn="just" eaLnBrk="1" hangingPunct="1">
              <a:lnSpc>
                <a:spcPct val="90000"/>
              </a:lnSpc>
              <a:defRPr/>
            </a:pPr>
            <a:r>
              <a:rPr lang="es-ES_tradnl" altLang="es-ES" sz="2400" dirty="0" smtClean="0"/>
              <a:t>Un protocolo es una descripción formal de un conjunto de reglas y convenciones que rigen un aspecto particular de cómo los dispositivos de una red se comunican entre sí.</a:t>
            </a:r>
          </a:p>
          <a:p>
            <a:pPr algn="just" eaLnBrk="1" hangingPunct="1">
              <a:lnSpc>
                <a:spcPct val="90000"/>
              </a:lnSpc>
              <a:defRPr/>
            </a:pPr>
            <a:r>
              <a:rPr lang="es-ES_tradnl" altLang="es-ES" sz="2400" dirty="0" smtClean="0"/>
              <a:t>Los protocolos determinan el </a:t>
            </a:r>
            <a:r>
              <a:rPr lang="es-ES_tradnl" altLang="es-ES" sz="2400" i="1" u="sng" dirty="0">
                <a:solidFill>
                  <a:srgbClr val="FF0000"/>
                </a:solidFill>
                <a:effectLst>
                  <a:outerShdw blurRad="38100" dist="38100" dir="2700000" algn="tl">
                    <a:srgbClr val="000000">
                      <a:alpha val="43137"/>
                    </a:srgbClr>
                  </a:outerShdw>
                </a:effectLst>
              </a:rPr>
              <a:t>formato</a:t>
            </a:r>
            <a:r>
              <a:rPr lang="es-ES_tradnl" altLang="es-ES" sz="2400" dirty="0" smtClean="0"/>
              <a:t>, la </a:t>
            </a:r>
            <a:r>
              <a:rPr lang="es-ES_tradnl" altLang="es-ES" sz="2400" i="1" u="sng" dirty="0">
                <a:solidFill>
                  <a:srgbClr val="FF0000"/>
                </a:solidFill>
                <a:effectLst>
                  <a:outerShdw blurRad="38100" dist="38100" dir="2700000" algn="tl">
                    <a:srgbClr val="000000">
                      <a:alpha val="43137"/>
                    </a:srgbClr>
                  </a:outerShdw>
                </a:effectLst>
              </a:rPr>
              <a:t>sincronización</a:t>
            </a:r>
            <a:r>
              <a:rPr lang="es-ES_tradnl" altLang="es-ES" sz="2400" dirty="0" smtClean="0"/>
              <a:t>, la </a:t>
            </a:r>
            <a:r>
              <a:rPr lang="es-ES_tradnl" altLang="es-ES" sz="2400" i="1" u="sng" dirty="0">
                <a:solidFill>
                  <a:srgbClr val="FF0000"/>
                </a:solidFill>
                <a:effectLst>
                  <a:outerShdw blurRad="38100" dist="38100" dir="2700000" algn="tl">
                    <a:srgbClr val="000000">
                      <a:alpha val="43137"/>
                    </a:srgbClr>
                  </a:outerShdw>
                </a:effectLst>
              </a:rPr>
              <a:t>secuenciación</a:t>
            </a:r>
            <a:r>
              <a:rPr lang="es-ES_tradnl" altLang="es-ES" sz="2400" dirty="0" smtClean="0"/>
              <a:t> y el </a:t>
            </a:r>
            <a:r>
              <a:rPr lang="es-ES_tradnl" altLang="es-ES" sz="2400" i="1" u="sng" dirty="0">
                <a:solidFill>
                  <a:srgbClr val="FF0000"/>
                </a:solidFill>
                <a:effectLst>
                  <a:outerShdw blurRad="38100" dist="38100" dir="2700000" algn="tl">
                    <a:srgbClr val="000000">
                      <a:alpha val="43137"/>
                    </a:srgbClr>
                  </a:outerShdw>
                </a:effectLst>
              </a:rPr>
              <a:t>control de errores</a:t>
            </a:r>
            <a:r>
              <a:rPr lang="es-ES_tradnl" altLang="es-ES" sz="2400" dirty="0" smtClean="0"/>
              <a:t> en la comunicación de datos. </a:t>
            </a:r>
          </a:p>
          <a:p>
            <a:pPr algn="just" eaLnBrk="1" hangingPunct="1">
              <a:lnSpc>
                <a:spcPct val="90000"/>
              </a:lnSpc>
              <a:defRPr/>
            </a:pPr>
            <a:r>
              <a:rPr lang="es-ES_tradnl" altLang="es-ES" sz="2400" dirty="0" smtClean="0"/>
              <a:t>Sin protocolos, el computador no puede armar o reconstruir el formato original del flujo de bits entrantes desde otro computador. </a:t>
            </a:r>
          </a:p>
        </p:txBody>
      </p:sp>
    </p:spTree>
    <p:extLst>
      <p:ext uri="{BB962C8B-B14F-4D97-AF65-F5344CB8AC3E}">
        <p14:creationId xmlns:p14="http://schemas.microsoft.com/office/powerpoint/2010/main" val="203154950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D2B6270-6AD1-4F70-AD45-AC4D150932B9}" type="slidenum">
              <a:rPr lang="es-ES_tradnl" altLang="es-ES">
                <a:latin typeface="Arial" panose="020B0604020202020204" pitchFamily="34" charset="0"/>
              </a:rPr>
              <a:pPr eaLnBrk="1" hangingPunct="1"/>
              <a:t>95</a:t>
            </a:fld>
            <a:endParaRPr lang="es-ES_tradnl" altLang="es-ES">
              <a:latin typeface="Arial" panose="020B0604020202020204" pitchFamily="34" charset="0"/>
            </a:endParaRPr>
          </a:p>
        </p:txBody>
      </p:sp>
      <p:sp>
        <p:nvSpPr>
          <p:cNvPr id="101379" name="Rectangle 2"/>
          <p:cNvSpPr>
            <a:spLocks noGrp="1" noChangeArrowheads="1"/>
          </p:cNvSpPr>
          <p:nvPr>
            <p:ph type="title"/>
          </p:nvPr>
        </p:nvSpPr>
        <p:spPr>
          <a:xfrm>
            <a:off x="468313" y="0"/>
            <a:ext cx="8229600" cy="1143000"/>
          </a:xfrm>
        </p:spPr>
        <p:txBody>
          <a:bodyPr/>
          <a:lstStyle/>
          <a:p>
            <a:pPr eaLnBrk="1" hangingPunct="1"/>
            <a:r>
              <a:rPr lang="es-ES" altLang="es-ES" sz="2400" b="1" smtClean="0"/>
              <a:t>PROTOCOLOS DE RED</a:t>
            </a:r>
            <a:endParaRPr lang="es-ES_tradnl" altLang="es-ES" sz="2400" b="1" smtClean="0"/>
          </a:p>
        </p:txBody>
      </p:sp>
      <p:sp>
        <p:nvSpPr>
          <p:cNvPr id="5124" name="Rectangle 3"/>
          <p:cNvSpPr>
            <a:spLocks noGrp="1" noChangeArrowheads="1"/>
          </p:cNvSpPr>
          <p:nvPr>
            <p:ph type="body" idx="1"/>
          </p:nvPr>
        </p:nvSpPr>
        <p:spPr>
          <a:xfrm>
            <a:off x="468313" y="1998663"/>
            <a:ext cx="8229600" cy="4525962"/>
          </a:xfrm>
        </p:spPr>
        <p:txBody>
          <a:bodyPr>
            <a:normAutofit lnSpcReduction="10000"/>
          </a:bodyPr>
          <a:lstStyle/>
          <a:p>
            <a:pPr marL="0" indent="0" eaLnBrk="1" hangingPunct="1">
              <a:lnSpc>
                <a:spcPct val="80000"/>
              </a:lnSpc>
              <a:buFontTx/>
              <a:buNone/>
              <a:defRPr/>
            </a:pPr>
            <a:r>
              <a:rPr lang="es-ES_tradnl" altLang="es-ES" sz="2000" dirty="0" smtClean="0"/>
              <a:t>Los protocolos controlan todos los aspectos de la comunicación de datos, que incluye lo siguiente: </a:t>
            </a:r>
          </a:p>
          <a:p>
            <a:pPr lvl="2" eaLnBrk="1" hangingPunct="1">
              <a:lnSpc>
                <a:spcPct val="80000"/>
              </a:lnSpc>
              <a:defRPr/>
            </a:pPr>
            <a:r>
              <a:rPr lang="es-ES_tradnl" altLang="es-ES" sz="2000" dirty="0" smtClean="0"/>
              <a:t>Cómo se construye la red física </a:t>
            </a:r>
          </a:p>
          <a:p>
            <a:pPr lvl="2" eaLnBrk="1" hangingPunct="1">
              <a:lnSpc>
                <a:spcPct val="80000"/>
              </a:lnSpc>
              <a:defRPr/>
            </a:pPr>
            <a:r>
              <a:rPr lang="es-ES_tradnl" altLang="es-ES" sz="2000" dirty="0" smtClean="0"/>
              <a:t>Cómo los computadores se conectan a la red </a:t>
            </a:r>
          </a:p>
          <a:p>
            <a:pPr lvl="2" eaLnBrk="1" hangingPunct="1">
              <a:lnSpc>
                <a:spcPct val="80000"/>
              </a:lnSpc>
              <a:defRPr/>
            </a:pPr>
            <a:r>
              <a:rPr lang="es-ES_tradnl" altLang="es-ES" sz="2000" dirty="0" smtClean="0"/>
              <a:t>Cómo se formatean los datos para su transmisión </a:t>
            </a:r>
          </a:p>
          <a:p>
            <a:pPr lvl="2" eaLnBrk="1" hangingPunct="1">
              <a:lnSpc>
                <a:spcPct val="80000"/>
              </a:lnSpc>
              <a:defRPr/>
            </a:pPr>
            <a:r>
              <a:rPr lang="es-ES_tradnl" altLang="es-ES" sz="2000" dirty="0" smtClean="0"/>
              <a:t>Cómo se envían los datos </a:t>
            </a:r>
          </a:p>
          <a:p>
            <a:pPr lvl="2" eaLnBrk="1" hangingPunct="1">
              <a:lnSpc>
                <a:spcPct val="80000"/>
              </a:lnSpc>
              <a:defRPr/>
            </a:pPr>
            <a:r>
              <a:rPr lang="es-ES_tradnl" altLang="es-ES" sz="2000" dirty="0" smtClean="0"/>
              <a:t>Cómo se manejan los errores</a:t>
            </a:r>
            <a:r>
              <a:rPr lang="es-ES_tradnl" altLang="es-ES" sz="1200" dirty="0" smtClean="0"/>
              <a:t> </a:t>
            </a:r>
          </a:p>
          <a:p>
            <a:pPr algn="just" eaLnBrk="1" hangingPunct="1">
              <a:lnSpc>
                <a:spcPct val="80000"/>
              </a:lnSpc>
              <a:buFontTx/>
              <a:buNone/>
              <a:defRPr/>
            </a:pPr>
            <a:endParaRPr lang="es-ES_tradnl" altLang="es-ES" sz="2000" dirty="0" smtClean="0"/>
          </a:p>
          <a:p>
            <a:pPr marL="0" indent="0" algn="just" eaLnBrk="1" hangingPunct="1">
              <a:lnSpc>
                <a:spcPct val="80000"/>
              </a:lnSpc>
              <a:buFontTx/>
              <a:buNone/>
              <a:defRPr/>
            </a:pPr>
            <a:r>
              <a:rPr lang="es-ES_tradnl" altLang="es-ES" sz="2000" dirty="0"/>
              <a:t>Estas normas de red son creadas y administradas por una serie de diferentes organizaciones y comités. </a:t>
            </a:r>
            <a:endParaRPr lang="es-ES_tradnl" altLang="es-ES" sz="2000" dirty="0" smtClean="0"/>
          </a:p>
          <a:p>
            <a:pPr marL="0" indent="0" algn="just" eaLnBrk="1" hangingPunct="1">
              <a:lnSpc>
                <a:spcPct val="80000"/>
              </a:lnSpc>
              <a:buFontTx/>
              <a:buNone/>
              <a:defRPr/>
            </a:pPr>
            <a:r>
              <a:rPr lang="es-ES_tradnl" altLang="es-ES" sz="2000" dirty="0" smtClean="0"/>
              <a:t>Entre </a:t>
            </a:r>
            <a:r>
              <a:rPr lang="es-ES_tradnl" altLang="es-ES" sz="2000" dirty="0"/>
              <a:t>ellos se </a:t>
            </a:r>
            <a:r>
              <a:rPr lang="es-ES_tradnl" altLang="es-ES" sz="2000" dirty="0" smtClean="0"/>
              <a:t>incluyen: </a:t>
            </a:r>
          </a:p>
          <a:p>
            <a:pPr marL="0" indent="0" algn="just" eaLnBrk="1" hangingPunct="1">
              <a:lnSpc>
                <a:spcPct val="80000"/>
              </a:lnSpc>
              <a:buFontTx/>
              <a:buNone/>
              <a:defRPr/>
            </a:pPr>
            <a:r>
              <a:rPr lang="es-ES_tradnl" altLang="es-ES" sz="2000" i="1" dirty="0" smtClean="0">
                <a:solidFill>
                  <a:srgbClr val="FF0000"/>
                </a:solidFill>
                <a:effectLst>
                  <a:outerShdw blurRad="38100" dist="38100" dir="2700000" algn="tl">
                    <a:srgbClr val="000000">
                      <a:alpha val="43137"/>
                    </a:srgbClr>
                  </a:outerShdw>
                </a:effectLst>
              </a:rPr>
              <a:t>Instituto </a:t>
            </a:r>
            <a:r>
              <a:rPr lang="es-ES_tradnl" altLang="es-ES" sz="2000" i="1" dirty="0">
                <a:solidFill>
                  <a:srgbClr val="FF0000"/>
                </a:solidFill>
                <a:effectLst>
                  <a:outerShdw blurRad="38100" dist="38100" dir="2700000" algn="tl">
                    <a:srgbClr val="000000">
                      <a:alpha val="43137"/>
                    </a:srgbClr>
                  </a:outerShdw>
                </a:effectLst>
              </a:rPr>
              <a:t>de Ingeniería Eléctrica y Electrónica (</a:t>
            </a:r>
            <a:r>
              <a:rPr lang="es-ES_tradnl" altLang="es-ES" sz="2000" i="1" dirty="0" smtClean="0">
                <a:solidFill>
                  <a:srgbClr val="FF0000"/>
                </a:solidFill>
                <a:effectLst>
                  <a:outerShdw blurRad="38100" dist="38100" dir="2700000" algn="tl">
                    <a:srgbClr val="000000">
                      <a:alpha val="43137"/>
                    </a:srgbClr>
                  </a:outerShdw>
                </a:effectLst>
              </a:rPr>
              <a:t>IEEE)</a:t>
            </a:r>
          </a:p>
          <a:p>
            <a:pPr marL="0" indent="0" algn="just" eaLnBrk="1" hangingPunct="1">
              <a:lnSpc>
                <a:spcPct val="80000"/>
              </a:lnSpc>
              <a:buFontTx/>
              <a:buNone/>
              <a:defRPr/>
            </a:pPr>
            <a:r>
              <a:rPr lang="es-ES_tradnl" altLang="es-ES" sz="2000" i="1" dirty="0" smtClean="0">
                <a:solidFill>
                  <a:srgbClr val="FF0000"/>
                </a:solidFill>
                <a:effectLst>
                  <a:outerShdw blurRad="38100" dist="38100" dir="2700000" algn="tl">
                    <a:srgbClr val="000000">
                      <a:alpha val="43137"/>
                    </a:srgbClr>
                  </a:outerShdw>
                </a:effectLst>
              </a:rPr>
              <a:t>Instituto </a:t>
            </a:r>
            <a:r>
              <a:rPr lang="es-ES_tradnl" altLang="es-ES" sz="2000" i="1" dirty="0">
                <a:solidFill>
                  <a:srgbClr val="FF0000"/>
                </a:solidFill>
                <a:effectLst>
                  <a:outerShdw blurRad="38100" dist="38100" dir="2700000" algn="tl">
                    <a:srgbClr val="000000">
                      <a:alpha val="43137"/>
                    </a:srgbClr>
                  </a:outerShdw>
                </a:effectLst>
              </a:rPr>
              <a:t>Nacional Americano de Normalización (</a:t>
            </a:r>
            <a:r>
              <a:rPr lang="es-ES_tradnl" altLang="es-ES" sz="2000" i="1" dirty="0" smtClean="0">
                <a:solidFill>
                  <a:srgbClr val="FF0000"/>
                </a:solidFill>
                <a:effectLst>
                  <a:outerShdw blurRad="38100" dist="38100" dir="2700000" algn="tl">
                    <a:srgbClr val="000000">
                      <a:alpha val="43137"/>
                    </a:srgbClr>
                  </a:outerShdw>
                </a:effectLst>
              </a:rPr>
              <a:t>ANSI)</a:t>
            </a:r>
          </a:p>
          <a:p>
            <a:pPr marL="0" indent="0" algn="just" eaLnBrk="1" hangingPunct="1">
              <a:lnSpc>
                <a:spcPct val="80000"/>
              </a:lnSpc>
              <a:buFontTx/>
              <a:buNone/>
              <a:defRPr/>
            </a:pPr>
            <a:r>
              <a:rPr lang="es-ES_tradnl" altLang="es-ES" sz="2000" i="1" dirty="0" smtClean="0">
                <a:solidFill>
                  <a:srgbClr val="FF0000"/>
                </a:solidFill>
                <a:effectLst>
                  <a:outerShdw blurRad="38100" dist="38100" dir="2700000" algn="tl">
                    <a:srgbClr val="000000">
                      <a:alpha val="43137"/>
                    </a:srgbClr>
                  </a:outerShdw>
                </a:effectLst>
              </a:rPr>
              <a:t>Asociación </a:t>
            </a:r>
            <a:r>
              <a:rPr lang="es-ES_tradnl" altLang="es-ES" sz="2000" i="1" dirty="0">
                <a:solidFill>
                  <a:srgbClr val="FF0000"/>
                </a:solidFill>
                <a:effectLst>
                  <a:outerShdw blurRad="38100" dist="38100" dir="2700000" algn="tl">
                    <a:srgbClr val="000000">
                      <a:alpha val="43137"/>
                    </a:srgbClr>
                  </a:outerShdw>
                </a:effectLst>
              </a:rPr>
              <a:t>de la Industria de las Telecomunicaciones (TIA</a:t>
            </a:r>
            <a:r>
              <a:rPr lang="es-ES_tradnl" altLang="es-ES" sz="2000" i="1" dirty="0" smtClean="0">
                <a:solidFill>
                  <a:srgbClr val="FF0000"/>
                </a:solidFill>
                <a:effectLst>
                  <a:outerShdw blurRad="38100" dist="38100" dir="2700000" algn="tl">
                    <a:srgbClr val="000000">
                      <a:alpha val="43137"/>
                    </a:srgbClr>
                  </a:outerShdw>
                </a:effectLst>
              </a:rPr>
              <a:t>) </a:t>
            </a:r>
            <a:r>
              <a:rPr lang="es-ES_tradnl" altLang="es-ES" sz="2000" i="1" dirty="0">
                <a:solidFill>
                  <a:srgbClr val="FF0000"/>
                </a:solidFill>
                <a:effectLst>
                  <a:outerShdw blurRad="38100" dist="38100" dir="2700000" algn="tl">
                    <a:srgbClr val="000000">
                      <a:alpha val="43137"/>
                    </a:srgbClr>
                  </a:outerShdw>
                </a:effectLst>
              </a:rPr>
              <a:t>Asociación de Industrias Electrónicas (EIA</a:t>
            </a:r>
            <a:r>
              <a:rPr lang="es-ES_tradnl" altLang="es-ES" sz="2000" i="1" dirty="0" smtClean="0">
                <a:solidFill>
                  <a:srgbClr val="FF0000"/>
                </a:solidFill>
                <a:effectLst>
                  <a:outerShdw blurRad="38100" dist="38100" dir="2700000" algn="tl">
                    <a:srgbClr val="000000">
                      <a:alpha val="43137"/>
                    </a:srgbClr>
                  </a:outerShdw>
                </a:effectLst>
              </a:rPr>
              <a:t>)</a:t>
            </a:r>
          </a:p>
          <a:p>
            <a:pPr marL="0" indent="0" algn="just" eaLnBrk="1" hangingPunct="1">
              <a:lnSpc>
                <a:spcPct val="80000"/>
              </a:lnSpc>
              <a:buFontTx/>
              <a:buNone/>
              <a:defRPr/>
            </a:pPr>
            <a:r>
              <a:rPr lang="es-ES_tradnl" altLang="es-ES" sz="2000" i="1" dirty="0" smtClean="0">
                <a:solidFill>
                  <a:srgbClr val="FF0000"/>
                </a:solidFill>
                <a:effectLst>
                  <a:outerShdw blurRad="38100" dist="38100" dir="2700000" algn="tl">
                    <a:srgbClr val="000000">
                      <a:alpha val="43137"/>
                    </a:srgbClr>
                  </a:outerShdw>
                </a:effectLst>
              </a:rPr>
              <a:t>Unión </a:t>
            </a:r>
            <a:r>
              <a:rPr lang="es-ES_tradnl" altLang="es-ES" sz="2000" i="1" dirty="0">
                <a:solidFill>
                  <a:srgbClr val="FF0000"/>
                </a:solidFill>
                <a:effectLst>
                  <a:outerShdw blurRad="38100" dist="38100" dir="2700000" algn="tl">
                    <a:srgbClr val="000000">
                      <a:alpha val="43137"/>
                    </a:srgbClr>
                  </a:outerShdw>
                </a:effectLst>
              </a:rPr>
              <a:t>Internacional de Telecomunicaciones (UIT</a:t>
            </a:r>
            <a:r>
              <a:rPr lang="es-ES_tradnl" altLang="es-ES" sz="2000" i="1" dirty="0" smtClean="0">
                <a:solidFill>
                  <a:srgbClr val="FF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87784787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Ancho de Banda</a:t>
            </a:r>
            <a:endParaRPr lang="es-ES" i="1" u="sng" dirty="0">
              <a:solidFill>
                <a:srgbClr val="FF0000"/>
              </a:solidFill>
              <a:effectLst>
                <a:outerShdw blurRad="38100" dist="38100" dir="2700000" algn="tl">
                  <a:srgbClr val="000000">
                    <a:alpha val="43137"/>
                  </a:srgbClr>
                </a:outerShdw>
              </a:effectLst>
            </a:endParaRPr>
          </a:p>
        </p:txBody>
      </p:sp>
      <p:sp>
        <p:nvSpPr>
          <p:cNvPr id="102403"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E08E8CB-81F3-4A3F-99CC-E74A98774F9D}" type="slidenum">
              <a:rPr lang="es-ES_tradnl" altLang="es-ES">
                <a:latin typeface="Arial" panose="020B0604020202020204" pitchFamily="34" charset="0"/>
              </a:rPr>
              <a:pPr eaLnBrk="1" hangingPunct="1"/>
              <a:t>96</a:t>
            </a:fld>
            <a:endParaRPr lang="es-ES_tradnl" altLang="es-ES">
              <a:latin typeface="Arial" panose="020B0604020202020204" pitchFamily="34" charset="0"/>
            </a:endParaRPr>
          </a:p>
        </p:txBody>
      </p:sp>
    </p:spTree>
    <p:extLst>
      <p:ext uri="{BB962C8B-B14F-4D97-AF65-F5344CB8AC3E}">
        <p14:creationId xmlns:p14="http://schemas.microsoft.com/office/powerpoint/2010/main" val="121533512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B844753-7669-4C30-B442-0336B8577C67}" type="slidenum">
              <a:rPr lang="es-ES_tradnl" altLang="es-ES">
                <a:latin typeface="Arial" panose="020B0604020202020204" pitchFamily="34" charset="0"/>
              </a:rPr>
              <a:pPr eaLnBrk="1" hangingPunct="1"/>
              <a:t>97</a:t>
            </a:fld>
            <a:endParaRPr lang="es-ES_tradnl" altLang="es-ES">
              <a:latin typeface="Arial" panose="020B0604020202020204" pitchFamily="34" charset="0"/>
            </a:endParaRPr>
          </a:p>
        </p:txBody>
      </p:sp>
      <p:sp>
        <p:nvSpPr>
          <p:cNvPr id="103427" name="Rectangle 2"/>
          <p:cNvSpPr>
            <a:spLocks noGrp="1" noChangeArrowheads="1"/>
          </p:cNvSpPr>
          <p:nvPr>
            <p:ph type="title"/>
          </p:nvPr>
        </p:nvSpPr>
        <p:spPr>
          <a:xfrm>
            <a:off x="468313" y="0"/>
            <a:ext cx="8229600" cy="1143000"/>
          </a:xfrm>
        </p:spPr>
        <p:txBody>
          <a:bodyPr/>
          <a:lstStyle/>
          <a:p>
            <a:pPr eaLnBrk="1" hangingPunct="1"/>
            <a:r>
              <a:rPr lang="es-ES" altLang="es-ES" sz="2400" b="1" smtClean="0"/>
              <a:t>ANCHO DE BANDA</a:t>
            </a:r>
            <a:endParaRPr lang="es-ES_tradnl" altLang="es-ES" sz="2400" b="1" smtClean="0"/>
          </a:p>
        </p:txBody>
      </p:sp>
      <p:sp>
        <p:nvSpPr>
          <p:cNvPr id="6148" name="Rectangle 3"/>
          <p:cNvSpPr>
            <a:spLocks noGrp="1" noChangeArrowheads="1"/>
          </p:cNvSpPr>
          <p:nvPr>
            <p:ph type="body" idx="1"/>
          </p:nvPr>
        </p:nvSpPr>
        <p:spPr>
          <a:xfrm>
            <a:off x="395288" y="2276475"/>
            <a:ext cx="8208962" cy="3673475"/>
          </a:xfrm>
        </p:spPr>
        <p:txBody>
          <a:bodyPr/>
          <a:lstStyle/>
          <a:p>
            <a:pPr marL="609600" indent="-609600" algn="just" eaLnBrk="1" hangingPunct="1">
              <a:lnSpc>
                <a:spcPct val="80000"/>
              </a:lnSpc>
              <a:buFontTx/>
              <a:buNone/>
              <a:defRPr/>
            </a:pPr>
            <a:r>
              <a:rPr lang="es-ES_tradnl" altLang="es-ES" sz="1800" dirty="0" smtClean="0"/>
              <a:t>	</a:t>
            </a:r>
            <a:r>
              <a:rPr lang="es-ES_tradnl" altLang="es-ES" sz="1800" b="1" i="1" dirty="0" smtClean="0">
                <a:solidFill>
                  <a:srgbClr val="FF0000"/>
                </a:solidFill>
                <a:effectLst>
                  <a:outerShdw blurRad="38100" dist="38100" dir="2700000" algn="tl">
                    <a:srgbClr val="000000">
                      <a:alpha val="43137"/>
                    </a:srgbClr>
                  </a:outerShdw>
                </a:effectLst>
              </a:rPr>
              <a:t>El ancho de banda se define como la cantidad de información que puede fluir a través de una conexión de red en un período dado Es esencial comprender el concepto de ancho de banda al estudiar </a:t>
            </a:r>
            <a:r>
              <a:rPr lang="es-ES_tradnl" altLang="es-ES" sz="1800" b="1" i="1" dirty="0" err="1" smtClean="0">
                <a:solidFill>
                  <a:srgbClr val="FF0000"/>
                </a:solidFill>
                <a:effectLst>
                  <a:outerShdw blurRad="38100" dist="38100" dir="2700000" algn="tl">
                    <a:srgbClr val="000000">
                      <a:alpha val="43137"/>
                    </a:srgbClr>
                  </a:outerShdw>
                </a:effectLst>
              </a:rPr>
              <a:t>networking</a:t>
            </a:r>
            <a:r>
              <a:rPr lang="es-ES_tradnl" altLang="es-ES" sz="1800" b="1" i="1" dirty="0" smtClean="0">
                <a:solidFill>
                  <a:srgbClr val="FF0000"/>
                </a:solidFill>
                <a:effectLst>
                  <a:outerShdw blurRad="38100" dist="38100" dir="2700000" algn="tl">
                    <a:srgbClr val="000000">
                      <a:alpha val="43137"/>
                    </a:srgbClr>
                  </a:outerShdw>
                </a:effectLst>
              </a:rPr>
              <a:t>, por las siguientes cuatro razones:</a:t>
            </a:r>
          </a:p>
          <a:p>
            <a:pPr marL="609600" indent="-609600" algn="just" eaLnBrk="1" hangingPunct="1">
              <a:lnSpc>
                <a:spcPct val="80000"/>
              </a:lnSpc>
              <a:buFontTx/>
              <a:buNone/>
              <a:defRPr/>
            </a:pPr>
            <a:r>
              <a:rPr lang="es-ES_tradnl" altLang="es-ES" sz="1800" b="1" i="1" dirty="0" smtClean="0">
                <a:solidFill>
                  <a:srgbClr val="FF0000"/>
                </a:solidFill>
                <a:effectLst>
                  <a:outerShdw blurRad="38100" dist="38100" dir="2700000" algn="tl">
                    <a:srgbClr val="000000">
                      <a:alpha val="43137"/>
                    </a:srgbClr>
                  </a:outerShdw>
                </a:effectLst>
              </a:rPr>
              <a:t> </a:t>
            </a:r>
            <a:r>
              <a:rPr lang="es-ES_tradnl" altLang="es-ES" sz="1800" dirty="0" smtClean="0"/>
              <a:t> </a:t>
            </a:r>
          </a:p>
          <a:p>
            <a:pPr marL="609600" indent="-609600" algn="just" eaLnBrk="1" hangingPunct="1">
              <a:lnSpc>
                <a:spcPct val="80000"/>
              </a:lnSpc>
              <a:buFontTx/>
              <a:buAutoNum type="arabicPeriod"/>
              <a:defRPr/>
            </a:pPr>
            <a:r>
              <a:rPr lang="es-ES_tradnl" altLang="es-ES" sz="1800" b="1" u="sng" dirty="0" smtClean="0">
                <a:solidFill>
                  <a:srgbClr val="FF0000"/>
                </a:solidFill>
                <a:effectLst>
                  <a:outerShdw blurRad="38100" dist="38100" dir="2700000" algn="tl">
                    <a:srgbClr val="000000">
                      <a:alpha val="43137"/>
                    </a:srgbClr>
                  </a:outerShdw>
                </a:effectLst>
              </a:rPr>
              <a:t>El ancho de banda es finito.</a:t>
            </a:r>
            <a:r>
              <a:rPr lang="es-ES_tradnl" altLang="es-ES" sz="1800" b="1" dirty="0" smtClean="0"/>
              <a:t> </a:t>
            </a:r>
            <a:r>
              <a:rPr lang="es-ES_tradnl" altLang="es-ES" sz="1800" dirty="0" smtClean="0"/>
              <a:t>En otras palabras, independientemente del medio que se utilice para construir la red, existen límites para la capacidad de la red para transportar información. </a:t>
            </a:r>
          </a:p>
          <a:p>
            <a:pPr marL="628650" lvl="2" indent="0" algn="just" eaLnBrk="1" hangingPunct="1">
              <a:lnSpc>
                <a:spcPct val="80000"/>
              </a:lnSpc>
              <a:buFontTx/>
              <a:buNone/>
              <a:defRPr/>
            </a:pPr>
            <a:r>
              <a:rPr lang="es-ES_tradnl" altLang="es-ES" sz="1800" dirty="0" smtClean="0"/>
              <a:t>El ancho de banda está </a:t>
            </a:r>
            <a:r>
              <a:rPr lang="es-ES_tradnl" altLang="es-ES" sz="1800" b="1" u="sng" dirty="0" smtClean="0">
                <a:effectLst>
                  <a:outerShdw blurRad="38100" dist="38100" dir="2700000" algn="tl">
                    <a:srgbClr val="000000">
                      <a:alpha val="43137"/>
                    </a:srgbClr>
                  </a:outerShdw>
                </a:effectLst>
              </a:rPr>
              <a:t>limitado por:</a:t>
            </a:r>
          </a:p>
          <a:p>
            <a:pPr marL="914400" lvl="2" indent="-285750" algn="just" eaLnBrk="1" hangingPunct="1">
              <a:lnSpc>
                <a:spcPct val="80000"/>
              </a:lnSpc>
              <a:defRPr/>
            </a:pPr>
            <a:r>
              <a:rPr lang="es-ES_tradnl" altLang="es-ES" sz="1800" b="1" dirty="0" smtClean="0">
                <a:solidFill>
                  <a:srgbClr val="00B050"/>
                </a:solidFill>
                <a:effectLst>
                  <a:outerShdw blurRad="38100" dist="38100" dir="2700000" algn="tl">
                    <a:srgbClr val="000000">
                      <a:alpha val="43137"/>
                    </a:srgbClr>
                  </a:outerShdw>
                </a:effectLst>
              </a:rPr>
              <a:t>leyes de la física</a:t>
            </a:r>
          </a:p>
          <a:p>
            <a:pPr marL="914400" lvl="2" indent="-285750" algn="just" eaLnBrk="1" hangingPunct="1">
              <a:lnSpc>
                <a:spcPct val="80000"/>
              </a:lnSpc>
              <a:defRPr/>
            </a:pPr>
            <a:r>
              <a:rPr lang="es-ES_tradnl" altLang="es-ES" sz="1800" b="1" dirty="0" smtClean="0">
                <a:solidFill>
                  <a:srgbClr val="00B050"/>
                </a:solidFill>
                <a:effectLst>
                  <a:outerShdw blurRad="38100" dist="38100" dir="2700000" algn="tl">
                    <a:srgbClr val="000000">
                      <a:alpha val="43137"/>
                    </a:srgbClr>
                  </a:outerShdw>
                </a:effectLst>
              </a:rPr>
              <a:t>tecnologías empleadas para colocar la información en los medios</a:t>
            </a:r>
            <a:r>
              <a:rPr lang="es-ES_tradnl" altLang="es-ES" sz="1800" dirty="0" smtClean="0">
                <a:solidFill>
                  <a:srgbClr val="00B050"/>
                </a:solidFill>
              </a:rPr>
              <a:t>. </a:t>
            </a:r>
          </a:p>
          <a:p>
            <a:pPr marL="609600" indent="-609600" eaLnBrk="1" hangingPunct="1">
              <a:lnSpc>
                <a:spcPct val="80000"/>
              </a:lnSpc>
              <a:defRPr/>
            </a:pPr>
            <a:endParaRPr lang="es-ES_tradnl" altLang="es-ES" sz="1800" dirty="0" smtClean="0"/>
          </a:p>
        </p:txBody>
      </p:sp>
    </p:spTree>
    <p:extLst>
      <p:ext uri="{BB962C8B-B14F-4D97-AF65-F5344CB8AC3E}">
        <p14:creationId xmlns:p14="http://schemas.microsoft.com/office/powerpoint/2010/main" val="88789294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9610BCC-AC7E-470B-A87A-4E2C0DFE90A8}" type="slidenum">
              <a:rPr lang="es-ES_tradnl" altLang="es-ES">
                <a:latin typeface="Arial" panose="020B0604020202020204" pitchFamily="34" charset="0"/>
              </a:rPr>
              <a:pPr eaLnBrk="1" hangingPunct="1"/>
              <a:t>98</a:t>
            </a:fld>
            <a:endParaRPr lang="es-ES_tradnl" altLang="es-ES">
              <a:latin typeface="Arial" panose="020B0604020202020204" pitchFamily="34" charset="0"/>
            </a:endParaRPr>
          </a:p>
        </p:txBody>
      </p:sp>
      <p:sp>
        <p:nvSpPr>
          <p:cNvPr id="104451" name="Rectangle 2"/>
          <p:cNvSpPr>
            <a:spLocks noGrp="1" noChangeArrowheads="1"/>
          </p:cNvSpPr>
          <p:nvPr>
            <p:ph type="title"/>
          </p:nvPr>
        </p:nvSpPr>
        <p:spPr/>
        <p:txBody>
          <a:bodyPr/>
          <a:lstStyle/>
          <a:p>
            <a:pPr eaLnBrk="1" hangingPunct="1"/>
            <a:r>
              <a:rPr lang="es-ES" altLang="es-ES" sz="2400" b="1" smtClean="0"/>
              <a:t>ANCHO DE BANDA</a:t>
            </a:r>
            <a:endParaRPr lang="es-ES_tradnl" altLang="es-ES" sz="2400" b="1" smtClean="0"/>
          </a:p>
        </p:txBody>
      </p:sp>
      <p:sp>
        <p:nvSpPr>
          <p:cNvPr id="7172" name="Rectangle 3"/>
          <p:cNvSpPr>
            <a:spLocks noGrp="1" noChangeArrowheads="1"/>
          </p:cNvSpPr>
          <p:nvPr>
            <p:ph type="body" idx="1"/>
          </p:nvPr>
        </p:nvSpPr>
        <p:spPr>
          <a:xfrm>
            <a:off x="539750" y="1998663"/>
            <a:ext cx="8229600" cy="4525962"/>
          </a:xfrm>
        </p:spPr>
        <p:txBody>
          <a:bodyPr/>
          <a:lstStyle/>
          <a:p>
            <a:pPr marL="609600" indent="-609600" algn="just" eaLnBrk="1" hangingPunct="1">
              <a:lnSpc>
                <a:spcPct val="90000"/>
              </a:lnSpc>
              <a:buFontTx/>
              <a:buAutoNum type="arabicPeriod" startAt="2"/>
              <a:defRPr/>
            </a:pPr>
            <a:r>
              <a:rPr lang="es-ES_tradnl" altLang="es-ES" sz="2400" b="1" u="sng" dirty="0" smtClean="0">
                <a:solidFill>
                  <a:srgbClr val="FF0000"/>
                </a:solidFill>
                <a:effectLst>
                  <a:outerShdw blurRad="38100" dist="38100" dir="2700000" algn="tl">
                    <a:srgbClr val="000000">
                      <a:alpha val="43137"/>
                    </a:srgbClr>
                  </a:outerShdw>
                </a:effectLst>
              </a:rPr>
              <a:t>El ancho de banda no es gratuito.</a:t>
            </a:r>
            <a:r>
              <a:rPr lang="es-ES_tradnl" altLang="es-ES" sz="2400" b="1" dirty="0" smtClean="0"/>
              <a:t> </a:t>
            </a:r>
            <a:r>
              <a:rPr lang="es-ES_tradnl" altLang="es-ES" sz="2400" dirty="0" smtClean="0"/>
              <a:t>Es posible adquirir equipos para una red de área local (LAN) capaz de brindar un ancho de banda casi ilimitado durante un período extendido de tiempo. </a:t>
            </a:r>
          </a:p>
          <a:p>
            <a:pPr marL="628650" indent="0" algn="just" eaLnBrk="1" hangingPunct="1">
              <a:lnSpc>
                <a:spcPct val="90000"/>
              </a:lnSpc>
              <a:buFontTx/>
              <a:buNone/>
              <a:defRPr/>
            </a:pPr>
            <a:r>
              <a:rPr lang="es-ES_tradnl" altLang="es-ES" sz="2400" dirty="0" smtClean="0"/>
              <a:t>Para conexiones de red de área amplia (WAN), casi siempre hace falta comprar el ancho de banda de un proveedor de servicios. </a:t>
            </a:r>
          </a:p>
        </p:txBody>
      </p:sp>
    </p:spTree>
    <p:extLst>
      <p:ext uri="{BB962C8B-B14F-4D97-AF65-F5344CB8AC3E}">
        <p14:creationId xmlns:p14="http://schemas.microsoft.com/office/powerpoint/2010/main" val="372365928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C1C9CFD-1381-425F-BC31-6F2E02F0E4C7}" type="slidenum">
              <a:rPr lang="es-ES_tradnl" altLang="es-ES">
                <a:latin typeface="Arial" panose="020B0604020202020204" pitchFamily="34" charset="0"/>
              </a:rPr>
              <a:pPr eaLnBrk="1" hangingPunct="1"/>
              <a:t>99</a:t>
            </a:fld>
            <a:endParaRPr lang="es-ES_tradnl" altLang="es-ES">
              <a:latin typeface="Arial" panose="020B0604020202020204" pitchFamily="34" charset="0"/>
            </a:endParaRPr>
          </a:p>
        </p:txBody>
      </p:sp>
      <p:sp>
        <p:nvSpPr>
          <p:cNvPr id="105475" name="Rectangle 2"/>
          <p:cNvSpPr>
            <a:spLocks noGrp="1" noChangeArrowheads="1"/>
          </p:cNvSpPr>
          <p:nvPr>
            <p:ph type="title"/>
          </p:nvPr>
        </p:nvSpPr>
        <p:spPr/>
        <p:txBody>
          <a:bodyPr/>
          <a:lstStyle/>
          <a:p>
            <a:pPr eaLnBrk="1" hangingPunct="1"/>
            <a:r>
              <a:rPr lang="es-ES" altLang="es-ES" sz="2400" b="1" smtClean="0"/>
              <a:t>ANCHO DE BANDA</a:t>
            </a:r>
            <a:endParaRPr lang="es-ES_tradnl" altLang="es-ES" sz="2400" b="1" smtClean="0"/>
          </a:p>
        </p:txBody>
      </p:sp>
      <p:sp>
        <p:nvSpPr>
          <p:cNvPr id="8196" name="Rectangle 3"/>
          <p:cNvSpPr>
            <a:spLocks noGrp="1" noChangeArrowheads="1"/>
          </p:cNvSpPr>
          <p:nvPr>
            <p:ph type="body" idx="1"/>
          </p:nvPr>
        </p:nvSpPr>
        <p:spPr>
          <a:xfrm>
            <a:off x="395288" y="1989138"/>
            <a:ext cx="8229600" cy="3878262"/>
          </a:xfrm>
        </p:spPr>
        <p:txBody>
          <a:bodyPr>
            <a:normAutofit lnSpcReduction="10000"/>
          </a:bodyPr>
          <a:lstStyle/>
          <a:p>
            <a:pPr marL="609600" indent="-609600" algn="just" eaLnBrk="1" hangingPunct="1">
              <a:lnSpc>
                <a:spcPct val="90000"/>
              </a:lnSpc>
              <a:buFontTx/>
              <a:buAutoNum type="arabicPeriod" startAt="3"/>
              <a:defRPr/>
            </a:pPr>
            <a:r>
              <a:rPr lang="es-ES_tradnl" altLang="es-ES" sz="2000" b="1" i="1" u="sng" dirty="0" smtClean="0">
                <a:solidFill>
                  <a:srgbClr val="FF0000"/>
                </a:solidFill>
                <a:effectLst>
                  <a:outerShdw blurRad="38100" dist="38100" dir="2700000" algn="tl">
                    <a:srgbClr val="000000">
                      <a:alpha val="43137"/>
                    </a:srgbClr>
                  </a:outerShdw>
                </a:effectLst>
              </a:rPr>
              <a:t>El ancho de banda es un factor clave a la hora de analizar el rendimiento de una red, diseñar nuevas redes y comprender la Internet.</a:t>
            </a:r>
            <a:r>
              <a:rPr lang="es-ES_tradnl" altLang="es-ES" sz="2000" b="1" dirty="0" smtClean="0"/>
              <a:t> </a:t>
            </a:r>
          </a:p>
          <a:p>
            <a:pPr marL="628650" indent="0" algn="just" eaLnBrk="1" hangingPunct="1">
              <a:lnSpc>
                <a:spcPct val="90000"/>
              </a:lnSpc>
              <a:buFontTx/>
              <a:buNone/>
              <a:defRPr/>
            </a:pPr>
            <a:endParaRPr lang="es-ES_tradnl" altLang="es-ES" sz="2000" b="1" dirty="0"/>
          </a:p>
          <a:p>
            <a:pPr marL="628650" indent="0" algn="just" eaLnBrk="1" hangingPunct="1">
              <a:lnSpc>
                <a:spcPct val="90000"/>
              </a:lnSpc>
              <a:buFontTx/>
              <a:buNone/>
              <a:defRPr/>
            </a:pPr>
            <a:r>
              <a:rPr lang="es-ES_tradnl" altLang="es-ES" sz="2000" dirty="0" smtClean="0"/>
              <a:t>Un profesional de </a:t>
            </a:r>
            <a:r>
              <a:rPr lang="es-ES_tradnl" altLang="es-ES" sz="2000" dirty="0" err="1" smtClean="0"/>
              <a:t>networking</a:t>
            </a:r>
            <a:r>
              <a:rPr lang="es-ES_tradnl" altLang="es-ES" sz="2000" dirty="0" smtClean="0"/>
              <a:t> debe comprender el fuerte impacto del ancho de banda y la tasa de transferencia en el rendimiento y el diseño de la red.</a:t>
            </a:r>
          </a:p>
          <a:p>
            <a:pPr marL="628650" indent="0" algn="just" eaLnBrk="1" hangingPunct="1">
              <a:lnSpc>
                <a:spcPct val="90000"/>
              </a:lnSpc>
              <a:buFontTx/>
              <a:buNone/>
              <a:defRPr/>
            </a:pPr>
            <a:r>
              <a:rPr lang="es-ES_tradnl" altLang="es-ES" sz="2000" dirty="0" smtClean="0"/>
              <a:t>La información fluye en una cadena de bits de un computador a otro en todo el mundo. </a:t>
            </a:r>
          </a:p>
          <a:p>
            <a:pPr marL="628650" indent="0" algn="just" eaLnBrk="1" hangingPunct="1">
              <a:lnSpc>
                <a:spcPct val="90000"/>
              </a:lnSpc>
              <a:buFontTx/>
              <a:buNone/>
              <a:defRPr/>
            </a:pPr>
            <a:r>
              <a:rPr lang="es-ES_tradnl" altLang="es-ES" sz="2000" dirty="0" smtClean="0"/>
              <a:t>Estos bits representan enormes cantidades de información que fluyen de ida y de vuelta a través del planeta en segundos, o menos. </a:t>
            </a:r>
          </a:p>
          <a:p>
            <a:pPr marL="628650" indent="0" algn="just" eaLnBrk="1" hangingPunct="1">
              <a:lnSpc>
                <a:spcPct val="90000"/>
              </a:lnSpc>
              <a:buFontTx/>
              <a:buNone/>
              <a:defRPr/>
            </a:pPr>
            <a:r>
              <a:rPr lang="es-ES_tradnl" altLang="es-ES" sz="2000" dirty="0" smtClean="0"/>
              <a:t>En cierto sentido, puede ser correcto afirmar que la Internet es puro ancho de banda. </a:t>
            </a:r>
          </a:p>
        </p:txBody>
      </p:sp>
    </p:spTree>
    <p:extLst>
      <p:ext uri="{BB962C8B-B14F-4D97-AF65-F5344CB8AC3E}">
        <p14:creationId xmlns:p14="http://schemas.microsoft.com/office/powerpoint/2010/main" val="425478324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4A9F618-9DD8-48AE-847C-44378C9B7F6F}" type="slidenum">
              <a:rPr lang="es-ES_tradnl" altLang="es-ES">
                <a:latin typeface="Arial" panose="020B0604020202020204" pitchFamily="34" charset="0"/>
              </a:rPr>
              <a:pPr eaLnBrk="1" hangingPunct="1"/>
              <a:t>100</a:t>
            </a:fld>
            <a:endParaRPr lang="es-ES_tradnl" altLang="es-ES">
              <a:latin typeface="Arial" panose="020B0604020202020204" pitchFamily="34" charset="0"/>
            </a:endParaRPr>
          </a:p>
        </p:txBody>
      </p:sp>
      <p:sp>
        <p:nvSpPr>
          <p:cNvPr id="106499" name="Rectangle 2"/>
          <p:cNvSpPr>
            <a:spLocks noGrp="1" noChangeArrowheads="1"/>
          </p:cNvSpPr>
          <p:nvPr>
            <p:ph type="title"/>
          </p:nvPr>
        </p:nvSpPr>
        <p:spPr/>
        <p:txBody>
          <a:bodyPr/>
          <a:lstStyle/>
          <a:p>
            <a:pPr eaLnBrk="1" hangingPunct="1"/>
            <a:r>
              <a:rPr lang="es-ES" altLang="es-ES" sz="2400" b="1" smtClean="0"/>
              <a:t>ANCHO DE BANDA</a:t>
            </a:r>
            <a:endParaRPr lang="es-ES_tradnl" altLang="es-ES" sz="2400" b="1" smtClean="0"/>
          </a:p>
        </p:txBody>
      </p:sp>
      <p:sp>
        <p:nvSpPr>
          <p:cNvPr id="9220" name="Rectangle 3"/>
          <p:cNvSpPr>
            <a:spLocks noGrp="1" noChangeArrowheads="1"/>
          </p:cNvSpPr>
          <p:nvPr>
            <p:ph type="body" idx="1"/>
          </p:nvPr>
        </p:nvSpPr>
        <p:spPr>
          <a:xfrm>
            <a:off x="468313" y="2071688"/>
            <a:ext cx="8229600" cy="4525962"/>
          </a:xfrm>
        </p:spPr>
        <p:txBody>
          <a:bodyPr/>
          <a:lstStyle/>
          <a:p>
            <a:pPr marL="609600" indent="-609600" algn="just" eaLnBrk="1" hangingPunct="1">
              <a:lnSpc>
                <a:spcPct val="90000"/>
              </a:lnSpc>
              <a:buFontTx/>
              <a:buAutoNum type="arabicPeriod" startAt="4"/>
              <a:defRPr/>
            </a:pPr>
            <a:r>
              <a:rPr lang="es-ES_tradnl" altLang="es-ES" sz="2000" b="1" i="1" u="sng" dirty="0" smtClean="0">
                <a:solidFill>
                  <a:srgbClr val="FF0000"/>
                </a:solidFill>
                <a:effectLst>
                  <a:outerShdw blurRad="38100" dist="38100" dir="2700000" algn="tl">
                    <a:srgbClr val="000000">
                      <a:alpha val="43137"/>
                    </a:srgbClr>
                  </a:outerShdw>
                </a:effectLst>
              </a:rPr>
              <a:t>La demanda de ancho de banda no para de crecer.</a:t>
            </a:r>
          </a:p>
          <a:p>
            <a:pPr marL="628650" indent="0" algn="just" eaLnBrk="1" hangingPunct="1">
              <a:lnSpc>
                <a:spcPct val="90000"/>
              </a:lnSpc>
              <a:buFontTx/>
              <a:buNone/>
              <a:defRPr/>
            </a:pPr>
            <a:r>
              <a:rPr lang="es-ES_tradnl" altLang="es-ES" sz="2000" dirty="0" smtClean="0"/>
              <a:t>No bien se construyen nuevas tecnologías e infraestructuras de red para brindar mayor ancho de banda, se crean nuevas aplicaciones que aprovechan esa mayor capacidad. </a:t>
            </a:r>
          </a:p>
          <a:p>
            <a:pPr marL="628650" indent="0" algn="just" eaLnBrk="1" hangingPunct="1">
              <a:lnSpc>
                <a:spcPct val="90000"/>
              </a:lnSpc>
              <a:buFontTx/>
              <a:buNone/>
              <a:defRPr/>
            </a:pPr>
            <a:r>
              <a:rPr lang="es-ES_tradnl" altLang="es-ES" sz="2000" dirty="0" smtClean="0"/>
              <a:t>La entrega de contenidos de medios enriquecidos a través de la red, incluyendo video y audio fluido, requiere muchísima cantidad de ancho de banda. </a:t>
            </a:r>
          </a:p>
          <a:p>
            <a:pPr marL="628650" indent="0" algn="just" eaLnBrk="1" hangingPunct="1">
              <a:lnSpc>
                <a:spcPct val="90000"/>
              </a:lnSpc>
              <a:buFontTx/>
              <a:buNone/>
              <a:defRPr/>
            </a:pPr>
            <a:r>
              <a:rPr lang="es-ES_tradnl" altLang="es-ES" sz="2000" dirty="0" smtClean="0"/>
              <a:t>Hoy se instalan comúnmente sistemas telefónicos IP en lugar de los tradicionales sistemas de voz, lo que contribuye a una mayor necesidad de ancho de banda. </a:t>
            </a:r>
          </a:p>
          <a:p>
            <a:pPr marL="628650" indent="0" algn="just" eaLnBrk="1" hangingPunct="1">
              <a:lnSpc>
                <a:spcPct val="90000"/>
              </a:lnSpc>
              <a:buFontTx/>
              <a:buNone/>
              <a:defRPr/>
            </a:pPr>
            <a:r>
              <a:rPr lang="es-ES_tradnl" altLang="es-ES" sz="2000" dirty="0" smtClean="0"/>
              <a:t>Un profesional de </a:t>
            </a:r>
            <a:r>
              <a:rPr lang="es-ES_tradnl" altLang="es-ES" sz="2000" dirty="0" err="1" smtClean="0"/>
              <a:t>networking</a:t>
            </a:r>
            <a:r>
              <a:rPr lang="es-ES_tradnl" altLang="es-ES" sz="2000" dirty="0" smtClean="0"/>
              <a:t> exitoso debe anticiparse a la necesidad de mayor ancho de banda y actuar en función de eso. </a:t>
            </a:r>
          </a:p>
        </p:txBody>
      </p:sp>
    </p:spTree>
    <p:extLst>
      <p:ext uri="{BB962C8B-B14F-4D97-AF65-F5344CB8AC3E}">
        <p14:creationId xmlns:p14="http://schemas.microsoft.com/office/powerpoint/2010/main" val="57605348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949871E-601D-4B59-96E6-D7EA6F82860B}" type="slidenum">
              <a:rPr lang="es-ES_tradnl" altLang="es-ES">
                <a:latin typeface="Arial" panose="020B0604020202020204" pitchFamily="34" charset="0"/>
              </a:rPr>
              <a:pPr eaLnBrk="1" hangingPunct="1"/>
              <a:t>101</a:t>
            </a:fld>
            <a:endParaRPr lang="es-ES_tradnl" altLang="es-ES">
              <a:latin typeface="Arial" panose="020B0604020202020204" pitchFamily="34" charset="0"/>
            </a:endParaRPr>
          </a:p>
        </p:txBody>
      </p:sp>
      <p:sp>
        <p:nvSpPr>
          <p:cNvPr id="107523" name="Rectangle 2"/>
          <p:cNvSpPr>
            <a:spLocks noGrp="1" noChangeArrowheads="1"/>
          </p:cNvSpPr>
          <p:nvPr>
            <p:ph type="title"/>
          </p:nvPr>
        </p:nvSpPr>
        <p:spPr/>
        <p:txBody>
          <a:bodyPr/>
          <a:lstStyle/>
          <a:p>
            <a:pPr eaLnBrk="1" hangingPunct="1"/>
            <a:r>
              <a:rPr lang="es-ES" altLang="es-ES" sz="2400" b="1" smtClean="0"/>
              <a:t>ANCHO DE BANDA</a:t>
            </a:r>
            <a:endParaRPr lang="es-ES_tradnl" altLang="es-ES" sz="2400" b="1" smtClean="0"/>
          </a:p>
        </p:txBody>
      </p:sp>
      <p:sp>
        <p:nvSpPr>
          <p:cNvPr id="10244" name="Rectangle 3"/>
          <p:cNvSpPr>
            <a:spLocks noGrp="1" noChangeArrowheads="1"/>
          </p:cNvSpPr>
          <p:nvPr>
            <p:ph type="body" idx="1"/>
          </p:nvPr>
        </p:nvSpPr>
        <p:spPr>
          <a:xfrm>
            <a:off x="468313" y="1998663"/>
            <a:ext cx="8229600" cy="4525962"/>
          </a:xfrm>
        </p:spPr>
        <p:txBody>
          <a:bodyPr/>
          <a:lstStyle/>
          <a:p>
            <a:pPr algn="just" eaLnBrk="1" hangingPunct="1">
              <a:buFontTx/>
              <a:buNone/>
              <a:defRPr/>
            </a:pPr>
            <a:r>
              <a:rPr lang="es-ES_tradnl" altLang="es-ES" dirty="0" smtClean="0"/>
              <a:t>	El ancho de banda se define como la cantidad de información que puede fluir a través de una red en un período dado. </a:t>
            </a:r>
          </a:p>
          <a:p>
            <a:pPr marL="357188" indent="0" algn="just" eaLnBrk="1" hangingPunct="1">
              <a:buFontTx/>
              <a:buNone/>
              <a:defRPr/>
            </a:pPr>
            <a:r>
              <a:rPr lang="es-ES_tradnl" altLang="es-ES" dirty="0" smtClean="0"/>
              <a:t>La idea de que la información fluye, sugiere dos analogías que podrían facilitar la visualización del ancho de banda en una red. Ya que se dice que el agua y el tráfico fluyen, vea las siguientes analogías: </a:t>
            </a:r>
          </a:p>
        </p:txBody>
      </p:sp>
    </p:spTree>
    <p:extLst>
      <p:ext uri="{BB962C8B-B14F-4D97-AF65-F5344CB8AC3E}">
        <p14:creationId xmlns:p14="http://schemas.microsoft.com/office/powerpoint/2010/main" val="344890406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46298B0-7D73-451C-A27D-FEC0EF62B022}" type="slidenum">
              <a:rPr lang="es-ES_tradnl" altLang="es-ES">
                <a:latin typeface="Arial" panose="020B0604020202020204" pitchFamily="34" charset="0"/>
              </a:rPr>
              <a:pPr eaLnBrk="1" hangingPunct="1"/>
              <a:t>102</a:t>
            </a:fld>
            <a:endParaRPr lang="es-ES_tradnl" altLang="es-ES">
              <a:latin typeface="Arial" panose="020B0604020202020204" pitchFamily="34" charset="0"/>
            </a:endParaRPr>
          </a:p>
        </p:txBody>
      </p:sp>
      <p:sp>
        <p:nvSpPr>
          <p:cNvPr id="108547" name="Rectangle 2"/>
          <p:cNvSpPr>
            <a:spLocks noGrp="1" noChangeArrowheads="1"/>
          </p:cNvSpPr>
          <p:nvPr>
            <p:ph type="title"/>
          </p:nvPr>
        </p:nvSpPr>
        <p:spPr/>
        <p:txBody>
          <a:bodyPr/>
          <a:lstStyle/>
          <a:p>
            <a:pPr eaLnBrk="1" hangingPunct="1"/>
            <a:r>
              <a:rPr lang="es-ES" altLang="es-ES" sz="2400" b="1" smtClean="0"/>
              <a:t>ANCHO DE BANDA</a:t>
            </a:r>
            <a:endParaRPr lang="es-ES_tradnl" altLang="es-ES" sz="2400" b="1" smtClean="0"/>
          </a:p>
        </p:txBody>
      </p:sp>
      <p:sp>
        <p:nvSpPr>
          <p:cNvPr id="11268" name="Rectangle 3"/>
          <p:cNvSpPr>
            <a:spLocks noGrp="1" noChangeArrowheads="1"/>
          </p:cNvSpPr>
          <p:nvPr>
            <p:ph type="body" idx="1"/>
          </p:nvPr>
        </p:nvSpPr>
        <p:spPr>
          <a:xfrm>
            <a:off x="468313" y="2205038"/>
            <a:ext cx="8229600" cy="3662362"/>
          </a:xfrm>
        </p:spPr>
        <p:txBody>
          <a:bodyPr/>
          <a:lstStyle/>
          <a:p>
            <a:pPr marL="609600" indent="-609600" algn="just" eaLnBrk="1" hangingPunct="1">
              <a:lnSpc>
                <a:spcPct val="80000"/>
              </a:lnSpc>
              <a:buFontTx/>
              <a:buAutoNum type="arabicPeriod"/>
              <a:defRPr/>
            </a:pPr>
            <a:r>
              <a:rPr lang="es-ES_tradnl" altLang="es-ES" sz="2000" b="1" i="1" u="sng" dirty="0" smtClean="0">
                <a:solidFill>
                  <a:srgbClr val="FF0000"/>
                </a:solidFill>
                <a:effectLst>
                  <a:outerShdw blurRad="38100" dist="38100" dir="2700000" algn="tl">
                    <a:srgbClr val="000000">
                      <a:alpha val="43137"/>
                    </a:srgbClr>
                  </a:outerShdw>
                </a:effectLst>
              </a:rPr>
              <a:t>El ancho de banda es similar al diámetro de un caño.   </a:t>
            </a:r>
          </a:p>
          <a:p>
            <a:pPr marL="542925" indent="0" algn="just" eaLnBrk="1" hangingPunct="1">
              <a:lnSpc>
                <a:spcPct val="80000"/>
              </a:lnSpc>
              <a:buFontTx/>
              <a:buNone/>
              <a:defRPr/>
            </a:pPr>
            <a:r>
              <a:rPr lang="es-ES_tradnl" altLang="es-ES" sz="2000" dirty="0" smtClean="0"/>
              <a:t>Una red de tuberías trae agua potable a los hogares y las empresas y se lleva las aguas servidas. </a:t>
            </a:r>
          </a:p>
          <a:p>
            <a:pPr marL="542925" indent="0" algn="just" eaLnBrk="1" hangingPunct="1">
              <a:lnSpc>
                <a:spcPct val="80000"/>
              </a:lnSpc>
              <a:buFontTx/>
              <a:buNone/>
              <a:defRPr/>
            </a:pPr>
            <a:r>
              <a:rPr lang="es-ES_tradnl" altLang="es-ES" sz="2000" dirty="0" smtClean="0"/>
              <a:t>Esta red de agua está compuesta de tuberías de diferentes diámetros. </a:t>
            </a:r>
          </a:p>
          <a:p>
            <a:pPr marL="542925" indent="0" algn="just" eaLnBrk="1" hangingPunct="1">
              <a:lnSpc>
                <a:spcPct val="80000"/>
              </a:lnSpc>
              <a:buFontTx/>
              <a:buNone/>
              <a:defRPr/>
            </a:pPr>
            <a:r>
              <a:rPr lang="es-ES_tradnl" altLang="es-ES" sz="2000" dirty="0" smtClean="0"/>
              <a:t>Las principales tuberías de agua de una ciudad pueden medir dos metros de diámetro, en tanto que la tubería de un grifo de cocina puede medir apenas dos centímetros. </a:t>
            </a:r>
          </a:p>
          <a:p>
            <a:pPr marL="542925" indent="0" algn="just" eaLnBrk="1" hangingPunct="1">
              <a:lnSpc>
                <a:spcPct val="80000"/>
              </a:lnSpc>
              <a:buFontTx/>
              <a:buNone/>
              <a:defRPr/>
            </a:pPr>
            <a:r>
              <a:rPr lang="es-ES_tradnl" altLang="es-ES" sz="2000" dirty="0" smtClean="0"/>
              <a:t>El ancho de la tubería determina su capacidad de transporte de agua. Por lo tanto, el agua es como los datos, y el ancho de la tubería es como el ancho de banda. </a:t>
            </a:r>
          </a:p>
          <a:p>
            <a:pPr marL="542925" indent="0" algn="just" eaLnBrk="1" hangingPunct="1">
              <a:lnSpc>
                <a:spcPct val="80000"/>
              </a:lnSpc>
              <a:buFontTx/>
              <a:buNone/>
              <a:defRPr/>
            </a:pPr>
            <a:r>
              <a:rPr lang="es-ES_tradnl" altLang="es-ES" sz="2000" dirty="0" smtClean="0"/>
              <a:t>Muchos expertos en </a:t>
            </a:r>
            <a:r>
              <a:rPr lang="es-ES_tradnl" altLang="es-ES" sz="2000" dirty="0" err="1" smtClean="0"/>
              <a:t>networking</a:t>
            </a:r>
            <a:r>
              <a:rPr lang="es-ES_tradnl" altLang="es-ES" sz="2000" dirty="0" smtClean="0"/>
              <a:t> dicen que necesitan poner tuberías más grandes si desean agregar capacidad para transportar información. </a:t>
            </a:r>
          </a:p>
        </p:txBody>
      </p:sp>
    </p:spTree>
    <p:extLst>
      <p:ext uri="{BB962C8B-B14F-4D97-AF65-F5344CB8AC3E}">
        <p14:creationId xmlns:p14="http://schemas.microsoft.com/office/powerpoint/2010/main" val="315444013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DE96AD5-7CDA-40E3-A18A-C9E2B1C40415}" type="slidenum">
              <a:rPr lang="es-ES_tradnl" altLang="es-ES">
                <a:latin typeface="Arial" panose="020B0604020202020204" pitchFamily="34" charset="0"/>
              </a:rPr>
              <a:pPr eaLnBrk="1" hangingPunct="1"/>
              <a:t>103</a:t>
            </a:fld>
            <a:endParaRPr lang="es-ES_tradnl" altLang="es-ES">
              <a:latin typeface="Arial" panose="020B0604020202020204" pitchFamily="34" charset="0"/>
            </a:endParaRPr>
          </a:p>
        </p:txBody>
      </p:sp>
      <p:sp>
        <p:nvSpPr>
          <p:cNvPr id="109571" name="Rectangle 4"/>
          <p:cNvSpPr>
            <a:spLocks noGrp="1" noChangeArrowheads="1"/>
          </p:cNvSpPr>
          <p:nvPr>
            <p:ph type="title"/>
          </p:nvPr>
        </p:nvSpPr>
        <p:spPr/>
        <p:txBody>
          <a:bodyPr/>
          <a:lstStyle/>
          <a:p>
            <a:pPr eaLnBrk="1" hangingPunct="1"/>
            <a:r>
              <a:rPr lang="es-ES" altLang="es-ES" sz="2400" b="1" smtClean="0"/>
              <a:t>ANALOGIA DE LAS CAÑERIAS PARA EL ANCHO DE BANDA</a:t>
            </a:r>
            <a:endParaRPr lang="es-ES_tradnl" altLang="es-ES" sz="2400" b="1" smtClean="0"/>
          </a:p>
        </p:txBody>
      </p:sp>
      <p:graphicFrame>
        <p:nvGraphicFramePr>
          <p:cNvPr id="109572" name="Object 3"/>
          <p:cNvGraphicFramePr>
            <a:graphicFrameLocks noGrp="1" noChangeAspect="1"/>
          </p:cNvGraphicFramePr>
          <p:nvPr>
            <p:ph idx="1"/>
          </p:nvPr>
        </p:nvGraphicFramePr>
        <p:xfrm>
          <a:off x="1828800" y="1924050"/>
          <a:ext cx="5486400" cy="3876675"/>
        </p:xfrm>
        <a:graphic>
          <a:graphicData uri="http://schemas.openxmlformats.org/presentationml/2006/ole">
            <mc:AlternateContent xmlns:mc="http://schemas.openxmlformats.org/markup-compatibility/2006">
              <mc:Choice xmlns:v="urn:schemas-microsoft-com:vml" Requires="v">
                <p:oleObj spid="_x0000_s19532" name="Imagen de mapa de bits" r:id="rId3" imgW="5485714" imgH="3877216" progId="Paint.Picture">
                  <p:embed/>
                </p:oleObj>
              </mc:Choice>
              <mc:Fallback>
                <p:oleObj name="Imagen de mapa de bits" r:id="rId3" imgW="5485714" imgH="387721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24050"/>
                        <a:ext cx="5486400" cy="3876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65895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9F9F7C0-992A-4469-8BB4-293FC9FF8D77}" type="slidenum">
              <a:rPr lang="es-ES_tradnl" altLang="es-ES">
                <a:latin typeface="Arial" panose="020B0604020202020204" pitchFamily="34" charset="0"/>
              </a:rPr>
              <a:pPr eaLnBrk="1" hangingPunct="1"/>
              <a:t>104</a:t>
            </a:fld>
            <a:endParaRPr lang="es-ES_tradnl" altLang="es-ES">
              <a:latin typeface="Arial" panose="020B0604020202020204" pitchFamily="34" charset="0"/>
            </a:endParaRPr>
          </a:p>
        </p:txBody>
      </p:sp>
      <p:sp>
        <p:nvSpPr>
          <p:cNvPr id="110595" name="Rectangle 4"/>
          <p:cNvSpPr>
            <a:spLocks noGrp="1" noChangeArrowheads="1"/>
          </p:cNvSpPr>
          <p:nvPr>
            <p:ph type="title"/>
          </p:nvPr>
        </p:nvSpPr>
        <p:spPr/>
        <p:txBody>
          <a:bodyPr/>
          <a:lstStyle/>
          <a:p>
            <a:pPr eaLnBrk="1" hangingPunct="1"/>
            <a:r>
              <a:rPr lang="es-ES" altLang="es-ES" sz="2400" b="1" smtClean="0"/>
              <a:t>ANALOGIA DEL SISTEMA DE AUTOPISTAS PARA EL ANCHO DE BANDA</a:t>
            </a:r>
            <a:endParaRPr lang="es-ES_tradnl" altLang="es-ES" sz="2400" b="1" smtClean="0"/>
          </a:p>
        </p:txBody>
      </p:sp>
      <p:graphicFrame>
        <p:nvGraphicFramePr>
          <p:cNvPr id="110596" name="Object 3"/>
          <p:cNvGraphicFramePr>
            <a:graphicFrameLocks noGrp="1" noChangeAspect="1"/>
          </p:cNvGraphicFramePr>
          <p:nvPr>
            <p:ph idx="1"/>
          </p:nvPr>
        </p:nvGraphicFramePr>
        <p:xfrm>
          <a:off x="1609725" y="1876425"/>
          <a:ext cx="5924550" cy="3971925"/>
        </p:xfrm>
        <a:graphic>
          <a:graphicData uri="http://schemas.openxmlformats.org/presentationml/2006/ole">
            <mc:AlternateContent xmlns:mc="http://schemas.openxmlformats.org/markup-compatibility/2006">
              <mc:Choice xmlns:v="urn:schemas-microsoft-com:vml" Requires="v">
                <p:oleObj spid="_x0000_s20556" name="Imagen de mapa de bits" r:id="rId3" imgW="5923810" imgH="3971429" progId="Paint.Picture">
                  <p:embed/>
                </p:oleObj>
              </mc:Choice>
              <mc:Fallback>
                <p:oleObj name="Imagen de mapa de bits" r:id="rId3" imgW="5923810" imgH="3971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9725" y="1876425"/>
                        <a:ext cx="5924550" cy="397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2791771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D51BA03-687F-4F9E-8B8A-ABBC97838308}" type="slidenum">
              <a:rPr lang="es-ES_tradnl" altLang="es-ES">
                <a:latin typeface="Arial" panose="020B0604020202020204" pitchFamily="34" charset="0"/>
              </a:rPr>
              <a:pPr eaLnBrk="1" hangingPunct="1"/>
              <a:t>105</a:t>
            </a:fld>
            <a:endParaRPr lang="es-ES_tradnl" altLang="es-ES">
              <a:latin typeface="Arial" panose="020B0604020202020204" pitchFamily="34" charset="0"/>
            </a:endParaRPr>
          </a:p>
        </p:txBody>
      </p:sp>
      <p:sp>
        <p:nvSpPr>
          <p:cNvPr id="111619" name="Rectangle 4"/>
          <p:cNvSpPr>
            <a:spLocks noGrp="1" noChangeArrowheads="1"/>
          </p:cNvSpPr>
          <p:nvPr>
            <p:ph type="title"/>
          </p:nvPr>
        </p:nvSpPr>
        <p:spPr/>
        <p:txBody>
          <a:bodyPr/>
          <a:lstStyle/>
          <a:p>
            <a:pPr eaLnBrk="1" hangingPunct="1"/>
            <a:r>
              <a:rPr lang="es-ES" altLang="es-ES" sz="2400" b="1" smtClean="0"/>
              <a:t>UNIDADES DE ANCHO DE BANDA</a:t>
            </a:r>
            <a:endParaRPr lang="es-ES_tradnl" altLang="es-ES" sz="2400" b="1" smtClean="0"/>
          </a:p>
        </p:txBody>
      </p:sp>
      <p:graphicFrame>
        <p:nvGraphicFramePr>
          <p:cNvPr id="111620" name="Object 3"/>
          <p:cNvGraphicFramePr>
            <a:graphicFrameLocks noGrp="1" noChangeAspect="1"/>
          </p:cNvGraphicFramePr>
          <p:nvPr>
            <p:ph idx="1"/>
          </p:nvPr>
        </p:nvGraphicFramePr>
        <p:xfrm>
          <a:off x="468313" y="1785938"/>
          <a:ext cx="7848600" cy="3233737"/>
        </p:xfrm>
        <a:graphic>
          <a:graphicData uri="http://schemas.openxmlformats.org/presentationml/2006/ole">
            <mc:AlternateContent xmlns:mc="http://schemas.openxmlformats.org/markup-compatibility/2006">
              <mc:Choice xmlns:v="urn:schemas-microsoft-com:vml" Requires="v">
                <p:oleObj spid="_x0000_s21580" name="Imagen de mapa de bits" r:id="rId3" imgW="5619048" imgH="2314286" progId="Paint.Picture">
                  <p:embed/>
                </p:oleObj>
              </mc:Choice>
              <mc:Fallback>
                <p:oleObj name="Imagen de mapa de bits" r:id="rId3" imgW="5619048" imgH="231428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785938"/>
                        <a:ext cx="7848600" cy="323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8997214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E868359-4BD1-4148-B862-7271C5C41458}" type="slidenum">
              <a:rPr lang="es-ES_tradnl" altLang="es-ES">
                <a:latin typeface="Arial" panose="020B0604020202020204" pitchFamily="34" charset="0"/>
              </a:rPr>
              <a:pPr eaLnBrk="1" hangingPunct="1"/>
              <a:t>106</a:t>
            </a:fld>
            <a:endParaRPr lang="es-ES_tradnl" altLang="es-ES">
              <a:latin typeface="Arial" panose="020B0604020202020204" pitchFamily="34" charset="0"/>
            </a:endParaRPr>
          </a:p>
        </p:txBody>
      </p:sp>
      <p:sp>
        <p:nvSpPr>
          <p:cNvPr id="112643" name="Rectangle 2"/>
          <p:cNvSpPr>
            <a:spLocks noGrp="1" noChangeArrowheads="1"/>
          </p:cNvSpPr>
          <p:nvPr>
            <p:ph type="title"/>
          </p:nvPr>
        </p:nvSpPr>
        <p:spPr/>
        <p:txBody>
          <a:bodyPr/>
          <a:lstStyle/>
          <a:p>
            <a:pPr eaLnBrk="1" hangingPunct="1"/>
            <a:r>
              <a:rPr lang="es-ES" altLang="es-ES" sz="2400" b="1" smtClean="0"/>
              <a:t>ANCHO DE BANDA : MEDICION</a:t>
            </a:r>
            <a:endParaRPr lang="es-ES_tradnl" altLang="es-ES" sz="2400" b="1" smtClean="0"/>
          </a:p>
        </p:txBody>
      </p:sp>
      <p:sp>
        <p:nvSpPr>
          <p:cNvPr id="112644" name="Rectangle 3"/>
          <p:cNvSpPr>
            <a:spLocks noGrp="1" noChangeArrowheads="1"/>
          </p:cNvSpPr>
          <p:nvPr>
            <p:ph type="body" idx="1"/>
          </p:nvPr>
        </p:nvSpPr>
        <p:spPr>
          <a:xfrm>
            <a:off x="395288" y="2060575"/>
            <a:ext cx="8208962" cy="3889375"/>
          </a:xfrm>
        </p:spPr>
        <p:txBody>
          <a:bodyPr/>
          <a:lstStyle/>
          <a:p>
            <a:pPr marL="0" indent="0" algn="just" eaLnBrk="1" hangingPunct="1">
              <a:lnSpc>
                <a:spcPct val="80000"/>
              </a:lnSpc>
              <a:buFontTx/>
              <a:buNone/>
            </a:pPr>
            <a:r>
              <a:rPr lang="es-ES_tradnl" altLang="es-ES" sz="2000" smtClean="0"/>
              <a:t>En los sistemas digitales, la unidad básica del ancho de banda es bits por segundo (bps).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El ancho de banda es la medición de la cantidad de información, o bits, que puede fluir desde un lugar hacia otro en un período de tiempo determinado, o segundos.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Aunque el ancho de banda se puede describir en bits por segundo, se suelen usar múltiplos de bits por segundo.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En otras palabras, el ancho de banda de una red generalmente se describe en términos de miles de bits por segundo (kbps), millones de bits por segundo (Mbps), miles de millones de bits por segundo (Gbps) y billones de bits por segundo (Tbps).   </a:t>
            </a:r>
          </a:p>
        </p:txBody>
      </p:sp>
    </p:spTree>
    <p:extLst>
      <p:ext uri="{BB962C8B-B14F-4D97-AF65-F5344CB8AC3E}">
        <p14:creationId xmlns:p14="http://schemas.microsoft.com/office/powerpoint/2010/main" val="219494938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Marcador de número de diapositiva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59CC4B3-9806-4B29-B6C3-3954DE5AD80C}" type="slidenum">
              <a:rPr lang="es-ES_tradnl" altLang="es-ES">
                <a:latin typeface="Arial" panose="020B0604020202020204" pitchFamily="34" charset="0"/>
              </a:rPr>
              <a:pPr eaLnBrk="1" hangingPunct="1"/>
              <a:t>107</a:t>
            </a:fld>
            <a:endParaRPr lang="es-ES_tradnl" altLang="es-ES">
              <a:latin typeface="Arial" panose="020B0604020202020204" pitchFamily="34" charset="0"/>
            </a:endParaRPr>
          </a:p>
        </p:txBody>
      </p:sp>
      <p:sp>
        <p:nvSpPr>
          <p:cNvPr id="113667" name="Rectangle 7"/>
          <p:cNvSpPr>
            <a:spLocks noGrp="1" noChangeArrowheads="1"/>
          </p:cNvSpPr>
          <p:nvPr>
            <p:ph type="title"/>
          </p:nvPr>
        </p:nvSpPr>
        <p:spPr/>
        <p:txBody>
          <a:bodyPr/>
          <a:lstStyle/>
          <a:p>
            <a:pPr eaLnBrk="1" hangingPunct="1"/>
            <a:r>
              <a:rPr lang="es-ES" altLang="es-ES" sz="2400" b="1" smtClean="0"/>
              <a:t>ANCHOS DE BANDA Y LIMITACIONES DE DISTANCIA MAXIMOS</a:t>
            </a:r>
            <a:endParaRPr lang="es-ES_tradnl" altLang="es-ES" sz="2400" b="1" smtClean="0"/>
          </a:p>
        </p:txBody>
      </p:sp>
      <p:graphicFrame>
        <p:nvGraphicFramePr>
          <p:cNvPr id="113668" name="Object 3"/>
          <p:cNvGraphicFramePr>
            <a:graphicFrameLocks noGrp="1" noChangeAspect="1"/>
          </p:cNvGraphicFramePr>
          <p:nvPr>
            <p:ph sz="half" idx="1"/>
          </p:nvPr>
        </p:nvGraphicFramePr>
        <p:xfrm>
          <a:off x="1116013" y="2176463"/>
          <a:ext cx="6480175" cy="3170237"/>
        </p:xfrm>
        <a:graphic>
          <a:graphicData uri="http://schemas.openxmlformats.org/presentationml/2006/ole">
            <mc:AlternateContent xmlns:mc="http://schemas.openxmlformats.org/markup-compatibility/2006">
              <mc:Choice xmlns:v="urn:schemas-microsoft-com:vml" Requires="v">
                <p:oleObj spid="_x0000_s22678" name="Imagen de mapa de bits" r:id="rId3" imgW="5152381" imgH="3600000" progId="Paint.Picture">
                  <p:embed/>
                </p:oleObj>
              </mc:Choice>
              <mc:Fallback>
                <p:oleObj name="Imagen de mapa de bits" r:id="rId3" imgW="5152381" imgH="36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176463"/>
                        <a:ext cx="6480175" cy="317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6"/>
          <p:cNvGraphicFramePr>
            <a:graphicFrameLocks noGrp="1" noChangeAspect="1"/>
          </p:cNvGraphicFramePr>
          <p:nvPr>
            <p:ph sz="half" idx="2"/>
          </p:nvPr>
        </p:nvGraphicFramePr>
        <p:xfrm>
          <a:off x="1116013" y="5487988"/>
          <a:ext cx="6480175" cy="461962"/>
        </p:xfrm>
        <a:graphic>
          <a:graphicData uri="http://schemas.openxmlformats.org/presentationml/2006/ole">
            <mc:AlternateContent xmlns:mc="http://schemas.openxmlformats.org/markup-compatibility/2006">
              <mc:Choice xmlns:v="urn:schemas-microsoft-com:vml" Requires="v">
                <p:oleObj spid="_x0000_s22679" name="Imagen de mapa de bits" r:id="rId5" imgW="5152381" imgH="428798" progId="Paint.Picture">
                  <p:embed/>
                </p:oleObj>
              </mc:Choice>
              <mc:Fallback>
                <p:oleObj name="Imagen de mapa de bits" r:id="rId5" imgW="5152381" imgH="428798"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5487988"/>
                        <a:ext cx="6480175"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7751694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4B66CF-4BDC-49E3-AAC2-BCAC292F8AC0}" type="slidenum">
              <a:rPr lang="es-ES_tradnl" altLang="es-ES">
                <a:latin typeface="Arial" panose="020B0604020202020204" pitchFamily="34" charset="0"/>
              </a:rPr>
              <a:pPr eaLnBrk="1" hangingPunct="1"/>
              <a:t>108</a:t>
            </a:fld>
            <a:endParaRPr lang="es-ES_tradnl" altLang="es-ES">
              <a:latin typeface="Arial" panose="020B0604020202020204" pitchFamily="34" charset="0"/>
            </a:endParaRPr>
          </a:p>
        </p:txBody>
      </p:sp>
      <p:sp>
        <p:nvSpPr>
          <p:cNvPr id="114691" name="Rectangle 2"/>
          <p:cNvSpPr>
            <a:spLocks noGrp="1" noChangeArrowheads="1"/>
          </p:cNvSpPr>
          <p:nvPr>
            <p:ph type="title"/>
          </p:nvPr>
        </p:nvSpPr>
        <p:spPr/>
        <p:txBody>
          <a:bodyPr/>
          <a:lstStyle/>
          <a:p>
            <a:pPr eaLnBrk="1" hangingPunct="1"/>
            <a:r>
              <a:rPr lang="es-ES" altLang="es-ES" sz="2400" b="1" smtClean="0"/>
              <a:t>ANCHO DE BANDA : LIMITACIONES</a:t>
            </a:r>
            <a:endParaRPr lang="es-ES_tradnl" altLang="es-ES" sz="2400" b="1" smtClean="0"/>
          </a:p>
        </p:txBody>
      </p:sp>
      <p:sp>
        <p:nvSpPr>
          <p:cNvPr id="114692" name="Rectangle 3"/>
          <p:cNvSpPr>
            <a:spLocks noGrp="1" noChangeArrowheads="1"/>
          </p:cNvSpPr>
          <p:nvPr>
            <p:ph type="body" idx="1"/>
          </p:nvPr>
        </p:nvSpPr>
        <p:spPr>
          <a:xfrm>
            <a:off x="468313" y="2216150"/>
            <a:ext cx="8229600" cy="4525963"/>
          </a:xfrm>
        </p:spPr>
        <p:txBody>
          <a:bodyPr/>
          <a:lstStyle/>
          <a:p>
            <a:pPr marL="0" indent="0" algn="just" eaLnBrk="1" hangingPunct="1">
              <a:lnSpc>
                <a:spcPct val="90000"/>
              </a:lnSpc>
              <a:buFontTx/>
              <a:buNone/>
            </a:pPr>
            <a:r>
              <a:rPr lang="es-ES_tradnl" altLang="es-ES" sz="2000" smtClean="0"/>
              <a:t>El ancho de banda varía según el tipo de medio, además de las tecnologías LAN y WAN utilizadas. </a:t>
            </a:r>
          </a:p>
          <a:p>
            <a:pPr marL="0" indent="0" algn="just" eaLnBrk="1" hangingPunct="1">
              <a:lnSpc>
                <a:spcPct val="90000"/>
              </a:lnSpc>
              <a:buFontTx/>
              <a:buNone/>
            </a:pPr>
            <a:r>
              <a:rPr lang="es-ES_tradnl" altLang="es-ES" sz="2000" smtClean="0"/>
              <a:t>La física de los medios fundamenta algunas de las diferencias. </a:t>
            </a:r>
          </a:p>
          <a:p>
            <a:pPr marL="0" indent="0" algn="just" eaLnBrk="1" hangingPunct="1">
              <a:lnSpc>
                <a:spcPct val="90000"/>
              </a:lnSpc>
              <a:buFontTx/>
              <a:buNone/>
            </a:pPr>
            <a:r>
              <a:rPr lang="es-ES_tradnl" altLang="es-ES" sz="2000" smtClean="0"/>
              <a:t>Las señales se transmiten a través de cables de cobre de par trenzado, cables coaxiales, fibras ópticas, y por el aire. </a:t>
            </a:r>
          </a:p>
          <a:p>
            <a:pPr marL="0" indent="0" algn="just" eaLnBrk="1" hangingPunct="1">
              <a:lnSpc>
                <a:spcPct val="90000"/>
              </a:lnSpc>
              <a:buFontTx/>
              <a:buNone/>
            </a:pPr>
            <a:r>
              <a:rPr lang="es-ES_tradnl" altLang="es-ES" sz="2000" smtClean="0"/>
              <a:t>Las diferencias físicas en las formas en que se transmiten las señales son las que generan las limitaciones fundamentales en la capacidad que posee un medio dado para transportar información. </a:t>
            </a:r>
          </a:p>
          <a:p>
            <a:pPr marL="0" indent="0" algn="just" eaLnBrk="1" hangingPunct="1">
              <a:lnSpc>
                <a:spcPct val="90000"/>
              </a:lnSpc>
              <a:buFontTx/>
              <a:buNone/>
            </a:pPr>
            <a:r>
              <a:rPr lang="es-ES_tradnl" altLang="es-ES" sz="2000" smtClean="0"/>
              <a:t>No obstante, el verdadero ancho de banda de una red queda determinado por una combinación de los medios físicos y las tecnologías seleccionadas para señalizar y detectar señales de red. </a:t>
            </a:r>
          </a:p>
        </p:txBody>
      </p:sp>
    </p:spTree>
    <p:extLst>
      <p:ext uri="{BB962C8B-B14F-4D97-AF65-F5344CB8AC3E}">
        <p14:creationId xmlns:p14="http://schemas.microsoft.com/office/powerpoint/2010/main" val="14516997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D0F09A0-BE9A-4DF7-AB0A-2243E254ACA8}" type="slidenum">
              <a:rPr lang="es-ES_tradnl" altLang="es-ES">
                <a:latin typeface="Arial" panose="020B0604020202020204" pitchFamily="34" charset="0"/>
              </a:rPr>
              <a:pPr eaLnBrk="1" hangingPunct="1"/>
              <a:t>109</a:t>
            </a:fld>
            <a:endParaRPr lang="es-ES_tradnl" altLang="es-ES">
              <a:latin typeface="Arial" panose="020B0604020202020204" pitchFamily="34" charset="0"/>
            </a:endParaRPr>
          </a:p>
        </p:txBody>
      </p:sp>
      <p:sp>
        <p:nvSpPr>
          <p:cNvPr id="115715" name="Rectangle 2"/>
          <p:cNvSpPr>
            <a:spLocks noGrp="1" noChangeArrowheads="1"/>
          </p:cNvSpPr>
          <p:nvPr>
            <p:ph type="title"/>
          </p:nvPr>
        </p:nvSpPr>
        <p:spPr/>
        <p:txBody>
          <a:bodyPr/>
          <a:lstStyle/>
          <a:p>
            <a:pPr eaLnBrk="1" hangingPunct="1"/>
            <a:r>
              <a:rPr lang="es-ES" altLang="es-ES" sz="2400" b="1" smtClean="0"/>
              <a:t>ANCHO DE BANDA : LIMITACIONES</a:t>
            </a:r>
            <a:endParaRPr lang="es-ES_tradnl" altLang="es-ES" sz="2400" b="1" smtClean="0"/>
          </a:p>
        </p:txBody>
      </p:sp>
      <p:sp>
        <p:nvSpPr>
          <p:cNvPr id="115716"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Por ejemplo, la actual comprensión de la física de los cables de cobre de par trenzado no blindados (UTP) establece el límite teórico del ancho de banda en más de un gigabit por segundo (Gbps). Sin embargo, en la realidad, el ancho de banda queda determinado por el uso de Ethernet 10BASE-T, 100BASE-TX, o 1000BASE-TX. En otras palabras, el ancho de banda real queda determinado por los métodos de señalización, las tarjetas de interfaz de red (NIC) y los demás equipos de red seleccionados. Por lo tanto, el ancho de banda no sólo queda determinado por las limitaciones de los medios. La figura   muestra algunos tipos comunes de medios de networking y los límites de distancia y ancho de banda al usar la tecnología de networking indicada. </a:t>
            </a:r>
          </a:p>
          <a:p>
            <a:pPr eaLnBrk="1" hangingPunct="1">
              <a:lnSpc>
                <a:spcPct val="80000"/>
              </a:lnSpc>
              <a:buFontTx/>
              <a:buNone/>
            </a:pPr>
            <a:r>
              <a:rPr lang="es-ES_tradnl" altLang="es-ES" sz="2000" smtClean="0"/>
              <a:t>	.</a:t>
            </a:r>
          </a:p>
        </p:txBody>
      </p:sp>
    </p:spTree>
    <p:extLst>
      <p:ext uri="{BB962C8B-B14F-4D97-AF65-F5344CB8AC3E}">
        <p14:creationId xmlns:p14="http://schemas.microsoft.com/office/powerpoint/2010/main" val="64173269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ECF00E7-9076-4C66-921F-FAEC2022E21A}" type="slidenum">
              <a:rPr lang="es-ES_tradnl" altLang="es-ES">
                <a:latin typeface="Arial" panose="020B0604020202020204" pitchFamily="34" charset="0"/>
              </a:rPr>
              <a:pPr eaLnBrk="1" hangingPunct="1"/>
              <a:t>110</a:t>
            </a:fld>
            <a:endParaRPr lang="es-ES_tradnl" altLang="es-ES">
              <a:latin typeface="Arial" panose="020B0604020202020204" pitchFamily="34" charset="0"/>
            </a:endParaRPr>
          </a:p>
        </p:txBody>
      </p:sp>
      <p:sp>
        <p:nvSpPr>
          <p:cNvPr id="116739" name="Rectangle 4"/>
          <p:cNvSpPr>
            <a:spLocks noGrp="1" noChangeArrowheads="1"/>
          </p:cNvSpPr>
          <p:nvPr>
            <p:ph type="title"/>
          </p:nvPr>
        </p:nvSpPr>
        <p:spPr/>
        <p:txBody>
          <a:bodyPr/>
          <a:lstStyle/>
          <a:p>
            <a:pPr eaLnBrk="1" hangingPunct="1"/>
            <a:r>
              <a:rPr lang="es-ES" altLang="es-ES" sz="2400" b="1" smtClean="0"/>
              <a:t>SERVICIOS Y ANCHOS DE BANDA DE WAN</a:t>
            </a:r>
            <a:endParaRPr lang="es-ES_tradnl" altLang="es-ES" sz="2400" b="1" smtClean="0"/>
          </a:p>
        </p:txBody>
      </p:sp>
      <p:graphicFrame>
        <p:nvGraphicFramePr>
          <p:cNvPr id="116740" name="Object 3"/>
          <p:cNvGraphicFramePr>
            <a:graphicFrameLocks noGrp="1" noChangeAspect="1"/>
          </p:cNvGraphicFramePr>
          <p:nvPr>
            <p:ph idx="1"/>
          </p:nvPr>
        </p:nvGraphicFramePr>
        <p:xfrm>
          <a:off x="1331913" y="2038350"/>
          <a:ext cx="6480175" cy="4270375"/>
        </p:xfrm>
        <a:graphic>
          <a:graphicData uri="http://schemas.openxmlformats.org/presentationml/2006/ole">
            <mc:AlternateContent xmlns:mc="http://schemas.openxmlformats.org/markup-compatibility/2006">
              <mc:Choice xmlns:v="urn:schemas-microsoft-com:vml" Requires="v">
                <p:oleObj spid="_x0000_s23628" name="Imagen de mapa de bits" r:id="rId3" imgW="5125165" imgH="3772427" progId="Paint.Picture">
                  <p:embed/>
                </p:oleObj>
              </mc:Choice>
              <mc:Fallback>
                <p:oleObj name="Imagen de mapa de bits" r:id="rId3" imgW="5125165" imgH="377242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038350"/>
                        <a:ext cx="6480175" cy="427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9248650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04E0498-C1F5-4B21-A495-17FDB7CDF762}" type="slidenum">
              <a:rPr lang="es-ES_tradnl" altLang="es-ES">
                <a:latin typeface="Arial" panose="020B0604020202020204" pitchFamily="34" charset="0"/>
              </a:rPr>
              <a:pPr eaLnBrk="1" hangingPunct="1"/>
              <a:t>111</a:t>
            </a:fld>
            <a:endParaRPr lang="es-ES_tradnl" altLang="es-ES">
              <a:latin typeface="Arial" panose="020B0604020202020204" pitchFamily="34" charset="0"/>
            </a:endParaRPr>
          </a:p>
        </p:txBody>
      </p:sp>
      <p:sp>
        <p:nvSpPr>
          <p:cNvPr id="117763" name="Rectangle 2"/>
          <p:cNvSpPr>
            <a:spLocks noGrp="1" noChangeArrowheads="1"/>
          </p:cNvSpPr>
          <p:nvPr>
            <p:ph type="title"/>
          </p:nvPr>
        </p:nvSpPr>
        <p:spPr/>
        <p:txBody>
          <a:bodyPr/>
          <a:lstStyle/>
          <a:p>
            <a:pPr eaLnBrk="1" hangingPunct="1"/>
            <a:r>
              <a:rPr lang="es-ES" altLang="es-ES" sz="2400" b="1" smtClean="0"/>
              <a:t>ANCHO DE BANDA : TASA DE TRANSFERENCIA</a:t>
            </a:r>
            <a:endParaRPr lang="es-ES_tradnl" altLang="es-ES" sz="2400" b="1" smtClean="0"/>
          </a:p>
        </p:txBody>
      </p:sp>
      <p:sp>
        <p:nvSpPr>
          <p:cNvPr id="117764" name="Rectangle 3"/>
          <p:cNvSpPr>
            <a:spLocks noGrp="1" noChangeArrowheads="1"/>
          </p:cNvSpPr>
          <p:nvPr>
            <p:ph type="body" idx="1"/>
          </p:nvPr>
        </p:nvSpPr>
        <p:spPr>
          <a:xfrm>
            <a:off x="539750" y="2071688"/>
            <a:ext cx="8229600" cy="4525962"/>
          </a:xfrm>
        </p:spPr>
        <p:txBody>
          <a:bodyPr/>
          <a:lstStyle/>
          <a:p>
            <a:pPr algn="just" eaLnBrk="1" hangingPunct="1">
              <a:lnSpc>
                <a:spcPct val="90000"/>
              </a:lnSpc>
              <a:buFontTx/>
              <a:buNone/>
            </a:pPr>
            <a:r>
              <a:rPr lang="es-ES_tradnl" altLang="es-ES" sz="2400" smtClean="0"/>
              <a:t>	El ancho de banda es la medida de la cantidad de información que puede atravesar la red en un período dado de tiempo. Por lo tanto, la cantidad de ancho de banda disponible es un punto crítico de la especificación de la red. Una LAN típica se podría construir para brindar 100 Mbps a cada estación de trabajo individual, pero esto no significa que cada usuario pueda realmente mover cien megabits de datos a través de la red por cada segundo de uso. Esto sólo podría suceder bajo las circunstancias más ideales. El concepto de tasa de transferencia nos ayudará a entender el motivo. </a:t>
            </a:r>
          </a:p>
        </p:txBody>
      </p:sp>
    </p:spTree>
    <p:extLst>
      <p:ext uri="{BB962C8B-B14F-4D97-AF65-F5344CB8AC3E}">
        <p14:creationId xmlns:p14="http://schemas.microsoft.com/office/powerpoint/2010/main" val="223941477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FB6615E-B056-4A1F-9F5F-28CF89D5165C}" type="slidenum">
              <a:rPr lang="es-ES_tradnl" altLang="es-ES">
                <a:latin typeface="Arial" panose="020B0604020202020204" pitchFamily="34" charset="0"/>
              </a:rPr>
              <a:pPr eaLnBrk="1" hangingPunct="1"/>
              <a:t>112</a:t>
            </a:fld>
            <a:endParaRPr lang="es-ES_tradnl" altLang="es-ES">
              <a:latin typeface="Arial" panose="020B0604020202020204" pitchFamily="34" charset="0"/>
            </a:endParaRPr>
          </a:p>
        </p:txBody>
      </p:sp>
      <p:sp>
        <p:nvSpPr>
          <p:cNvPr id="118787" name="Rectangle 2"/>
          <p:cNvSpPr>
            <a:spLocks noGrp="1" noChangeArrowheads="1"/>
          </p:cNvSpPr>
          <p:nvPr>
            <p:ph type="title"/>
          </p:nvPr>
        </p:nvSpPr>
        <p:spPr/>
        <p:txBody>
          <a:bodyPr/>
          <a:lstStyle/>
          <a:p>
            <a:pPr eaLnBrk="1" hangingPunct="1"/>
            <a:r>
              <a:rPr lang="es-ES" altLang="es-ES" sz="2400" b="1" smtClean="0"/>
              <a:t>ANCHO DE BANDA : TASA DE TRANSFERENCIA</a:t>
            </a:r>
            <a:endParaRPr lang="es-ES_tradnl" altLang="es-ES" sz="2400" b="1" smtClean="0"/>
          </a:p>
        </p:txBody>
      </p:sp>
      <p:sp>
        <p:nvSpPr>
          <p:cNvPr id="118788" name="Rectangle 3"/>
          <p:cNvSpPr>
            <a:spLocks noGrp="1" noChangeArrowheads="1"/>
          </p:cNvSpPr>
          <p:nvPr>
            <p:ph type="body" idx="1"/>
          </p:nvPr>
        </p:nvSpPr>
        <p:spPr>
          <a:xfrm>
            <a:off x="468313" y="2071688"/>
            <a:ext cx="8229600" cy="4525962"/>
          </a:xfrm>
        </p:spPr>
        <p:txBody>
          <a:bodyPr/>
          <a:lstStyle/>
          <a:p>
            <a:pPr algn="just" eaLnBrk="1" hangingPunct="1">
              <a:lnSpc>
                <a:spcPct val="80000"/>
              </a:lnSpc>
              <a:buFontTx/>
              <a:buNone/>
            </a:pPr>
            <a:r>
              <a:rPr lang="es-ES_tradnl" altLang="es-ES" sz="2000" smtClean="0"/>
              <a:t>	La tasa de transferencia se refiere a la medida real del ancho de banda, en un momento dado del día, usando rutas de Internet específicas, y al transmitirse un conjunto específico de datos. Desafortunadamente, por varios motivos, la tasa de transferencia a menudo es mucho menor que el ancho de banda digital máximo posible del medio utilizado.   A continuación se detallan algunos de los factores que determinan la tasa de transferencia: </a:t>
            </a:r>
          </a:p>
          <a:p>
            <a:pPr eaLnBrk="1" hangingPunct="1">
              <a:lnSpc>
                <a:spcPct val="80000"/>
              </a:lnSpc>
            </a:pPr>
            <a:r>
              <a:rPr lang="es-ES_tradnl" altLang="es-ES" sz="2000" smtClean="0"/>
              <a:t>Dispositivos de internetworking </a:t>
            </a:r>
          </a:p>
          <a:p>
            <a:pPr eaLnBrk="1" hangingPunct="1">
              <a:lnSpc>
                <a:spcPct val="80000"/>
              </a:lnSpc>
            </a:pPr>
            <a:r>
              <a:rPr lang="es-ES_tradnl" altLang="es-ES" sz="2000" smtClean="0"/>
              <a:t>Tipo de datos que se transfieren </a:t>
            </a:r>
          </a:p>
          <a:p>
            <a:pPr eaLnBrk="1" hangingPunct="1">
              <a:lnSpc>
                <a:spcPct val="80000"/>
              </a:lnSpc>
            </a:pPr>
            <a:r>
              <a:rPr lang="es-ES_tradnl" altLang="es-ES" sz="2000" smtClean="0"/>
              <a:t>Topología de la red </a:t>
            </a:r>
          </a:p>
          <a:p>
            <a:pPr eaLnBrk="1" hangingPunct="1">
              <a:lnSpc>
                <a:spcPct val="80000"/>
              </a:lnSpc>
            </a:pPr>
            <a:r>
              <a:rPr lang="es-ES_tradnl" altLang="es-ES" sz="2000" smtClean="0"/>
              <a:t>Cantidad de usuarios en la red </a:t>
            </a:r>
          </a:p>
          <a:p>
            <a:pPr eaLnBrk="1" hangingPunct="1">
              <a:lnSpc>
                <a:spcPct val="80000"/>
              </a:lnSpc>
            </a:pPr>
            <a:r>
              <a:rPr lang="es-ES_tradnl" altLang="es-ES" sz="2000" smtClean="0"/>
              <a:t>Computador del usuario </a:t>
            </a:r>
          </a:p>
          <a:p>
            <a:pPr eaLnBrk="1" hangingPunct="1">
              <a:lnSpc>
                <a:spcPct val="80000"/>
              </a:lnSpc>
            </a:pPr>
            <a:r>
              <a:rPr lang="es-ES_tradnl" altLang="es-ES" sz="2000" smtClean="0"/>
              <a:t>Computador servidor </a:t>
            </a:r>
          </a:p>
          <a:p>
            <a:pPr eaLnBrk="1" hangingPunct="1">
              <a:lnSpc>
                <a:spcPct val="80000"/>
              </a:lnSpc>
            </a:pPr>
            <a:r>
              <a:rPr lang="es-ES_tradnl" altLang="es-ES" sz="2000" smtClean="0"/>
              <a:t>Estado de la alimentación </a:t>
            </a:r>
          </a:p>
        </p:txBody>
      </p:sp>
    </p:spTree>
    <p:extLst>
      <p:ext uri="{BB962C8B-B14F-4D97-AF65-F5344CB8AC3E}">
        <p14:creationId xmlns:p14="http://schemas.microsoft.com/office/powerpoint/2010/main" val="398300581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DACAD8B-770B-48DE-AF86-4C8B58A45132}" type="slidenum">
              <a:rPr lang="es-ES_tradnl" altLang="es-ES">
                <a:latin typeface="Arial" panose="020B0604020202020204" pitchFamily="34" charset="0"/>
              </a:rPr>
              <a:pPr eaLnBrk="1" hangingPunct="1"/>
              <a:t>113</a:t>
            </a:fld>
            <a:endParaRPr lang="es-ES_tradnl" altLang="es-ES">
              <a:latin typeface="Arial" panose="020B0604020202020204" pitchFamily="34" charset="0"/>
            </a:endParaRPr>
          </a:p>
        </p:txBody>
      </p:sp>
      <p:sp>
        <p:nvSpPr>
          <p:cNvPr id="119811" name="Rectangle 2"/>
          <p:cNvSpPr>
            <a:spLocks noGrp="1" noChangeArrowheads="1"/>
          </p:cNvSpPr>
          <p:nvPr>
            <p:ph type="title"/>
          </p:nvPr>
        </p:nvSpPr>
        <p:spPr/>
        <p:txBody>
          <a:bodyPr/>
          <a:lstStyle/>
          <a:p>
            <a:pPr eaLnBrk="1" hangingPunct="1"/>
            <a:r>
              <a:rPr lang="es-ES" altLang="es-ES" sz="2400" b="1" smtClean="0"/>
              <a:t>ANCHO DE BANDA : TASA DE TRANSFERENCIA</a:t>
            </a:r>
            <a:endParaRPr lang="es-ES_tradnl" altLang="es-ES" sz="2400" b="1" smtClean="0"/>
          </a:p>
        </p:txBody>
      </p:sp>
      <p:sp>
        <p:nvSpPr>
          <p:cNvPr id="119812" name="Rectangle 3"/>
          <p:cNvSpPr>
            <a:spLocks noGrp="1" noChangeArrowheads="1"/>
          </p:cNvSpPr>
          <p:nvPr>
            <p:ph type="body" idx="1"/>
          </p:nvPr>
        </p:nvSpPr>
        <p:spPr>
          <a:xfrm>
            <a:off x="395288" y="2017713"/>
            <a:ext cx="8559800" cy="4114800"/>
          </a:xfrm>
        </p:spPr>
        <p:txBody>
          <a:bodyPr/>
          <a:lstStyle/>
          <a:p>
            <a:pPr algn="just" eaLnBrk="1" hangingPunct="1">
              <a:lnSpc>
                <a:spcPct val="90000"/>
              </a:lnSpc>
              <a:buFontTx/>
              <a:buNone/>
            </a:pPr>
            <a:r>
              <a:rPr lang="es-ES_tradnl" altLang="es-ES" sz="2400" smtClean="0"/>
              <a:t>	El ancho de banda teórico de una red es una consideración importante en el diseño de la red, porque el ancho de banda de la red jamás será mayor que los límites impuestos por los medios y las tecnologías de networking escogidos. No obstante, es igual de importante que un diseñador y administrador de redes considere los factores que pueden afectar la tasa de transferencia real. Al medir la tasa de transferencia regularmente, un administrador de red estará al tanto de los cambios en el rendimiento de la red y los cambios en las necesidades de los usuarios de la red. Así la red se podrá ajustar en consecuencia. </a:t>
            </a:r>
          </a:p>
        </p:txBody>
      </p:sp>
    </p:spTree>
    <p:extLst>
      <p:ext uri="{BB962C8B-B14F-4D97-AF65-F5344CB8AC3E}">
        <p14:creationId xmlns:p14="http://schemas.microsoft.com/office/powerpoint/2010/main" val="118319533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F6419C8-9AEB-4D45-976E-C2C12B7BFA08}" type="slidenum">
              <a:rPr lang="es-ES_tradnl" altLang="es-ES">
                <a:latin typeface="Arial" panose="020B0604020202020204" pitchFamily="34" charset="0"/>
              </a:rPr>
              <a:pPr eaLnBrk="1" hangingPunct="1"/>
              <a:t>114</a:t>
            </a:fld>
            <a:endParaRPr lang="es-ES_tradnl" altLang="es-ES">
              <a:latin typeface="Arial" panose="020B0604020202020204" pitchFamily="34" charset="0"/>
            </a:endParaRPr>
          </a:p>
        </p:txBody>
      </p:sp>
      <p:sp>
        <p:nvSpPr>
          <p:cNvPr id="120835" name="Rectangle 2"/>
          <p:cNvSpPr>
            <a:spLocks noGrp="1" noChangeArrowheads="1"/>
          </p:cNvSpPr>
          <p:nvPr>
            <p:ph type="title"/>
          </p:nvPr>
        </p:nvSpPr>
        <p:spPr/>
        <p:txBody>
          <a:bodyPr/>
          <a:lstStyle/>
          <a:p>
            <a:pPr eaLnBrk="1" hangingPunct="1"/>
            <a:r>
              <a:rPr lang="es-ES" altLang="es-ES" sz="2400" b="1" smtClean="0"/>
              <a:t>ANCHO DE BANDA : CALCULO DE LA TRANSFERENCIA DE DATOS</a:t>
            </a:r>
            <a:endParaRPr lang="es-ES_tradnl" altLang="es-ES" sz="2400" b="1" smtClean="0"/>
          </a:p>
        </p:txBody>
      </p:sp>
      <p:sp>
        <p:nvSpPr>
          <p:cNvPr id="120836" name="Rectangle 3"/>
          <p:cNvSpPr>
            <a:spLocks noGrp="1" noChangeArrowheads="1"/>
          </p:cNvSpPr>
          <p:nvPr>
            <p:ph type="body" idx="1"/>
          </p:nvPr>
        </p:nvSpPr>
        <p:spPr>
          <a:xfrm>
            <a:off x="250825" y="2017713"/>
            <a:ext cx="8704263" cy="4114800"/>
          </a:xfrm>
        </p:spPr>
        <p:txBody>
          <a:bodyPr/>
          <a:lstStyle/>
          <a:p>
            <a:pPr algn="just" eaLnBrk="1" hangingPunct="1">
              <a:lnSpc>
                <a:spcPct val="80000"/>
              </a:lnSpc>
              <a:buFontTx/>
              <a:buNone/>
            </a:pPr>
            <a:r>
              <a:rPr lang="es-ES_tradnl" altLang="es-ES" sz="2800" smtClean="0"/>
              <a:t>	A menudo se convoca a los diseñadores y administradores de red para tomar decisiones con respecto al ancho de banda. Una decisión podría ser sobre la necesidad de incrementar el tamaño de la conexión WAN para agregar una nueva base de datos. Otra decisión podría ser si el ancho de banda del actual backbone de la LAN alcanza para un programa de capacitación con video fluido. Las respuestas a este tipo de problemas no siempre son fáciles de hallar, pero se puede comenzar con un cálculo sencillo de transferencia de datos. </a:t>
            </a:r>
          </a:p>
        </p:txBody>
      </p:sp>
    </p:spTree>
    <p:extLst>
      <p:ext uri="{BB962C8B-B14F-4D97-AF65-F5344CB8AC3E}">
        <p14:creationId xmlns:p14="http://schemas.microsoft.com/office/powerpoint/2010/main" val="264228788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79131DE-AE06-46DD-BBF4-D2E44F8A19F6}" type="slidenum">
              <a:rPr lang="es-ES_tradnl" altLang="es-ES">
                <a:latin typeface="Arial" panose="020B0604020202020204" pitchFamily="34" charset="0"/>
              </a:rPr>
              <a:pPr eaLnBrk="1" hangingPunct="1"/>
              <a:t>115</a:t>
            </a:fld>
            <a:endParaRPr lang="es-ES_tradnl" altLang="es-ES">
              <a:latin typeface="Arial" panose="020B0604020202020204" pitchFamily="34" charset="0"/>
            </a:endParaRPr>
          </a:p>
        </p:txBody>
      </p:sp>
      <p:sp>
        <p:nvSpPr>
          <p:cNvPr id="121859" name="Rectangle 2"/>
          <p:cNvSpPr>
            <a:spLocks noGrp="1" noChangeArrowheads="1"/>
          </p:cNvSpPr>
          <p:nvPr>
            <p:ph type="title"/>
          </p:nvPr>
        </p:nvSpPr>
        <p:spPr/>
        <p:txBody>
          <a:bodyPr/>
          <a:lstStyle/>
          <a:p>
            <a:pPr eaLnBrk="1" hangingPunct="1"/>
            <a:r>
              <a:rPr lang="es-ES" altLang="es-ES" sz="2400" b="1" smtClean="0"/>
              <a:t>ANCHO DE BANDA : CALCULO DE LA TRANSFERENCIA DE DATOS</a:t>
            </a:r>
            <a:endParaRPr lang="es-ES_tradnl" altLang="es-ES" sz="2400" b="1" smtClean="0"/>
          </a:p>
        </p:txBody>
      </p:sp>
      <p:sp>
        <p:nvSpPr>
          <p:cNvPr id="121860" name="Rectangle 3"/>
          <p:cNvSpPr>
            <a:spLocks noGrp="1" noChangeArrowheads="1"/>
          </p:cNvSpPr>
          <p:nvPr>
            <p:ph type="body" idx="1"/>
          </p:nvPr>
        </p:nvSpPr>
        <p:spPr>
          <a:xfrm>
            <a:off x="395288" y="2017713"/>
            <a:ext cx="8559800" cy="4114800"/>
          </a:xfrm>
        </p:spPr>
        <p:txBody>
          <a:bodyPr/>
          <a:lstStyle/>
          <a:p>
            <a:pPr algn="just" eaLnBrk="1" hangingPunct="1">
              <a:buFontTx/>
              <a:buNone/>
            </a:pPr>
            <a:r>
              <a:rPr lang="es-ES_tradnl" altLang="es-ES" sz="2800" smtClean="0"/>
              <a:t>	Aplicando la fórmula tiempo de transferencia = tamaño del archivo / ancho de banda (T=Tm/AB), un administrador de red puede estimar varios de los importantes componentes del rendimiento de una red. Si se conoce el tamaño típico de un archivo para una aplicación dada, al dividir el tamaño del archivo por el ancho de banda de la red, se obtiene una estimación del tiempo más rápido en el cual se puede transferir el archivo. </a:t>
            </a:r>
          </a:p>
        </p:txBody>
      </p:sp>
    </p:spTree>
    <p:extLst>
      <p:ext uri="{BB962C8B-B14F-4D97-AF65-F5344CB8AC3E}">
        <p14:creationId xmlns:p14="http://schemas.microsoft.com/office/powerpoint/2010/main" val="273096793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A4F4BD6-ADDA-47E6-B271-B5F537FC546E}" type="slidenum">
              <a:rPr lang="es-ES_tradnl" altLang="es-ES">
                <a:latin typeface="Arial" panose="020B0604020202020204" pitchFamily="34" charset="0"/>
              </a:rPr>
              <a:pPr eaLnBrk="1" hangingPunct="1"/>
              <a:t>116</a:t>
            </a:fld>
            <a:endParaRPr lang="es-ES_tradnl" altLang="es-ES">
              <a:latin typeface="Arial" panose="020B0604020202020204" pitchFamily="34" charset="0"/>
            </a:endParaRPr>
          </a:p>
        </p:txBody>
      </p:sp>
      <p:sp>
        <p:nvSpPr>
          <p:cNvPr id="122883" name="Rectangle 2"/>
          <p:cNvSpPr>
            <a:spLocks noGrp="1" noChangeArrowheads="1"/>
          </p:cNvSpPr>
          <p:nvPr>
            <p:ph type="title"/>
          </p:nvPr>
        </p:nvSpPr>
        <p:spPr/>
        <p:txBody>
          <a:bodyPr/>
          <a:lstStyle/>
          <a:p>
            <a:pPr eaLnBrk="1" hangingPunct="1"/>
            <a:r>
              <a:rPr lang="es-ES" altLang="es-ES" sz="2400" b="1" smtClean="0"/>
              <a:t>ANCHO DE BANDA : CALCULO DE LA TRANSFERENCIA DE DATOS</a:t>
            </a:r>
            <a:endParaRPr lang="es-ES_tradnl" altLang="es-ES" sz="2400" b="1" smtClean="0"/>
          </a:p>
        </p:txBody>
      </p:sp>
      <p:sp>
        <p:nvSpPr>
          <p:cNvPr id="122884"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Hay dos puntos importantes a considerar al realizar este cálculo:</a:t>
            </a:r>
          </a:p>
          <a:p>
            <a:pPr algn="just" eaLnBrk="1" hangingPunct="1">
              <a:lnSpc>
                <a:spcPct val="80000"/>
              </a:lnSpc>
            </a:pPr>
            <a:r>
              <a:rPr lang="es-ES_tradnl" altLang="es-ES" sz="2000" smtClean="0"/>
              <a:t>El resultado no es más que un estimado, porque el tamaño del archivo no incluye el gasto agregado por el encapsulamiento. </a:t>
            </a:r>
          </a:p>
          <a:p>
            <a:pPr algn="just" eaLnBrk="1" hangingPunct="1">
              <a:lnSpc>
                <a:spcPct val="80000"/>
              </a:lnSpc>
            </a:pPr>
            <a:r>
              <a:rPr lang="es-ES_tradnl" altLang="es-ES" sz="2000" smtClean="0"/>
              <a:t>Es probable que el resultado sea el tiempo de transferencia en el mejor de los casos, ya que el ancho de banda disponible casi nunca está en el máximo teórico para el tipo de red. Se puede obtener un estimado más preciso sustituyendo el ancho de banda por la tasa de transferencia en la ecuación. </a:t>
            </a:r>
          </a:p>
          <a:p>
            <a:pPr algn="just" eaLnBrk="1" hangingPunct="1">
              <a:lnSpc>
                <a:spcPct val="80000"/>
              </a:lnSpc>
              <a:buFontTx/>
              <a:buNone/>
            </a:pPr>
            <a:r>
              <a:rPr lang="es-ES_tradnl" altLang="es-ES" sz="2000" smtClean="0"/>
              <a:t>	Aunque el cálculo de transferencia de datos es muy sencillo, es importante asegurarse de usar las mismas unidades a lo largo de toda la ecuación. En otras palabras, si el ancho de banda se mide en megabits por segundo (Mbps), el tamaño del archivo debe expresarse en megabits (Mb), y no en megabytes (MB). Como el tamaño de los archivos se suele expresar en megabytes, es posible que sea necesario multiplicar la cantidad de megabytes por ocho para convertirla a megabits</a:t>
            </a:r>
          </a:p>
        </p:txBody>
      </p:sp>
    </p:spTree>
    <p:extLst>
      <p:ext uri="{BB962C8B-B14F-4D97-AF65-F5344CB8AC3E}">
        <p14:creationId xmlns:p14="http://schemas.microsoft.com/office/powerpoint/2010/main" val="7446995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4BD6D8E-58BC-433C-9172-89A67D4DE9FF}" type="slidenum">
              <a:rPr lang="es-ES_tradnl" altLang="es-ES">
                <a:latin typeface="Arial" panose="020B0604020202020204" pitchFamily="34" charset="0"/>
              </a:rPr>
              <a:pPr eaLnBrk="1" hangingPunct="1"/>
              <a:t>117</a:t>
            </a:fld>
            <a:endParaRPr lang="es-ES_tradnl" altLang="es-ES">
              <a:latin typeface="Arial" panose="020B0604020202020204" pitchFamily="34" charset="0"/>
            </a:endParaRPr>
          </a:p>
        </p:txBody>
      </p:sp>
      <p:sp>
        <p:nvSpPr>
          <p:cNvPr id="123907" name="Rectangle 4"/>
          <p:cNvSpPr>
            <a:spLocks noGrp="1" noChangeArrowheads="1"/>
          </p:cNvSpPr>
          <p:nvPr>
            <p:ph type="title"/>
          </p:nvPr>
        </p:nvSpPr>
        <p:spPr/>
        <p:txBody>
          <a:bodyPr/>
          <a:lstStyle/>
          <a:p>
            <a:pPr eaLnBrk="1" hangingPunct="1"/>
            <a:r>
              <a:rPr lang="es-ES" altLang="es-ES" sz="2400" b="1" smtClean="0"/>
              <a:t>ANCHO DE BANDA : CALCULO DEL TIEMPO DE TRANSFERENCIA</a:t>
            </a:r>
            <a:endParaRPr lang="es-ES_tradnl" altLang="es-ES" sz="2400" b="1" smtClean="0"/>
          </a:p>
        </p:txBody>
      </p:sp>
      <p:graphicFrame>
        <p:nvGraphicFramePr>
          <p:cNvPr id="123908" name="Object 3"/>
          <p:cNvGraphicFramePr>
            <a:graphicFrameLocks noGrp="1" noChangeAspect="1"/>
          </p:cNvGraphicFramePr>
          <p:nvPr>
            <p:ph idx="1"/>
          </p:nvPr>
        </p:nvGraphicFramePr>
        <p:xfrm>
          <a:off x="1258888" y="1843088"/>
          <a:ext cx="6553200" cy="3705225"/>
        </p:xfrm>
        <a:graphic>
          <a:graphicData uri="http://schemas.openxmlformats.org/presentationml/2006/ole">
            <mc:AlternateContent xmlns:mc="http://schemas.openxmlformats.org/markup-compatibility/2006">
              <mc:Choice xmlns:v="urn:schemas-microsoft-com:vml" Requires="v">
                <p:oleObj spid="_x0000_s24652" name="Imagen de mapa de bits" r:id="rId3" imgW="5533333" imgH="3371429" progId="Paint.Picture">
                  <p:embed/>
                </p:oleObj>
              </mc:Choice>
              <mc:Fallback>
                <p:oleObj name="Imagen de mapa de bits" r:id="rId3" imgW="5533333" imgH="3371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843088"/>
                        <a:ext cx="6553200" cy="370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6319621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E73B19D-44CB-44F4-8B55-4699DB60BC24}" type="slidenum">
              <a:rPr lang="es-ES_tradnl" altLang="es-ES">
                <a:latin typeface="Arial" panose="020B0604020202020204" pitchFamily="34" charset="0"/>
              </a:rPr>
              <a:pPr eaLnBrk="1" hangingPunct="1"/>
              <a:t>118</a:t>
            </a:fld>
            <a:endParaRPr lang="es-ES_tradnl" altLang="es-ES">
              <a:latin typeface="Arial" panose="020B0604020202020204" pitchFamily="34" charset="0"/>
            </a:endParaRPr>
          </a:p>
        </p:txBody>
      </p:sp>
      <p:sp>
        <p:nvSpPr>
          <p:cNvPr id="124931" name="Rectangle 2"/>
          <p:cNvSpPr>
            <a:spLocks noGrp="1" noChangeArrowheads="1"/>
          </p:cNvSpPr>
          <p:nvPr>
            <p:ph type="title"/>
          </p:nvPr>
        </p:nvSpPr>
        <p:spPr/>
        <p:txBody>
          <a:bodyPr/>
          <a:lstStyle/>
          <a:p>
            <a:pPr eaLnBrk="1" hangingPunct="1"/>
            <a:r>
              <a:rPr lang="es-ES" altLang="es-ES" sz="2400" b="1" smtClean="0"/>
              <a:t>USO DE CAPAS</a:t>
            </a:r>
            <a:endParaRPr lang="es-ES_tradnl" altLang="es-ES" sz="2400" b="1" smtClean="0"/>
          </a:p>
        </p:txBody>
      </p:sp>
      <p:sp>
        <p:nvSpPr>
          <p:cNvPr id="124932" name="Rectangle 3"/>
          <p:cNvSpPr>
            <a:spLocks noGrp="1" noChangeArrowheads="1"/>
          </p:cNvSpPr>
          <p:nvPr>
            <p:ph type="body" idx="1"/>
          </p:nvPr>
        </p:nvSpPr>
        <p:spPr>
          <a:xfrm>
            <a:off x="468313" y="2143125"/>
            <a:ext cx="8229600" cy="4525963"/>
          </a:xfrm>
        </p:spPr>
        <p:txBody>
          <a:bodyPr/>
          <a:lstStyle/>
          <a:p>
            <a:pPr algn="just" eaLnBrk="1" hangingPunct="1">
              <a:lnSpc>
                <a:spcPct val="90000"/>
              </a:lnSpc>
              <a:buFontTx/>
              <a:buNone/>
              <a:tabLst>
                <a:tab pos="1524000" algn="l"/>
              </a:tabLst>
            </a:pPr>
            <a:r>
              <a:rPr lang="es-ES_tradnl" altLang="es-ES" sz="2400" smtClean="0"/>
              <a:t>	El concepto de capas se utiliza para describir la comunicación entre dos computadores. La figura   muestra un conjunto de preguntas relacionadas con flujo, que se define como el movimiento de objetos físicos o lógicos, a través de un sistema Estas preguntas muestran cómo el concepto de capas ayuda a describir los detalles del proceso de flujo. Este proceso puede referirse a cualquier tipo de flujo, desde el flujo del tráfico en un sistema de autopistas, al flujo de datos a través de una red. La figura   muestra varios ejemplos de flujo, y formas en las que se puede desglosar el proceso de flujo en detalles o en capas. </a:t>
            </a:r>
          </a:p>
        </p:txBody>
      </p:sp>
    </p:spTree>
    <p:extLst>
      <p:ext uri="{BB962C8B-B14F-4D97-AF65-F5344CB8AC3E}">
        <p14:creationId xmlns:p14="http://schemas.microsoft.com/office/powerpoint/2010/main" val="126925034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Uso de capas</a:t>
            </a:r>
            <a:endParaRPr lang="es-ES" i="1" u="sng" dirty="0">
              <a:solidFill>
                <a:srgbClr val="FF0000"/>
              </a:solidFill>
              <a:effectLst>
                <a:outerShdw blurRad="38100" dist="38100" dir="2700000" algn="tl">
                  <a:srgbClr val="000000">
                    <a:alpha val="43137"/>
                  </a:srgbClr>
                </a:outerShdw>
              </a:effectLst>
            </a:endParaRPr>
          </a:p>
        </p:txBody>
      </p:sp>
      <p:sp>
        <p:nvSpPr>
          <p:cNvPr id="125955"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06BD852-3EDF-4D5A-BF8A-22C92D264932}" type="slidenum">
              <a:rPr lang="es-ES_tradnl" altLang="es-ES">
                <a:latin typeface="Arial" panose="020B0604020202020204" pitchFamily="34" charset="0"/>
              </a:rPr>
              <a:pPr eaLnBrk="1" hangingPunct="1"/>
              <a:t>119</a:t>
            </a:fld>
            <a:endParaRPr lang="es-ES_tradnl" altLang="es-ES">
              <a:latin typeface="Arial" panose="020B0604020202020204" pitchFamily="34" charset="0"/>
            </a:endParaRPr>
          </a:p>
        </p:txBody>
      </p:sp>
    </p:spTree>
    <p:extLst>
      <p:ext uri="{BB962C8B-B14F-4D97-AF65-F5344CB8AC3E}">
        <p14:creationId xmlns:p14="http://schemas.microsoft.com/office/powerpoint/2010/main" val="4014822889"/>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308FB56-492B-462F-9CD8-745041BAB871}" type="slidenum">
              <a:rPr lang="es-ES_tradnl" altLang="es-ES">
                <a:latin typeface="Arial" panose="020B0604020202020204" pitchFamily="34" charset="0"/>
              </a:rPr>
              <a:pPr eaLnBrk="1" hangingPunct="1"/>
              <a:t>120</a:t>
            </a:fld>
            <a:endParaRPr lang="es-ES_tradnl" altLang="es-ES">
              <a:latin typeface="Arial" panose="020B0604020202020204" pitchFamily="34" charset="0"/>
            </a:endParaRPr>
          </a:p>
        </p:txBody>
      </p:sp>
      <p:sp>
        <p:nvSpPr>
          <p:cNvPr id="126979" name="Rectangle 2"/>
          <p:cNvSpPr>
            <a:spLocks noGrp="1" noChangeArrowheads="1"/>
          </p:cNvSpPr>
          <p:nvPr>
            <p:ph type="title"/>
          </p:nvPr>
        </p:nvSpPr>
        <p:spPr/>
        <p:txBody>
          <a:bodyPr/>
          <a:lstStyle/>
          <a:p>
            <a:pPr eaLnBrk="1" hangingPunct="1"/>
            <a:r>
              <a:rPr lang="es-ES" altLang="es-ES" sz="2400" b="1" smtClean="0"/>
              <a:t>USO DE CAPAS</a:t>
            </a:r>
            <a:endParaRPr lang="es-ES_tradnl" altLang="es-ES" sz="2400" b="1" smtClean="0"/>
          </a:p>
        </p:txBody>
      </p:sp>
      <p:sp>
        <p:nvSpPr>
          <p:cNvPr id="126980" name="Rectangle 3"/>
          <p:cNvSpPr>
            <a:spLocks noGrp="1" noChangeArrowheads="1"/>
          </p:cNvSpPr>
          <p:nvPr>
            <p:ph type="body" idx="1"/>
          </p:nvPr>
        </p:nvSpPr>
        <p:spPr>
          <a:xfrm>
            <a:off x="468313" y="2216150"/>
            <a:ext cx="8229600" cy="4525963"/>
          </a:xfrm>
        </p:spPr>
        <p:txBody>
          <a:bodyPr/>
          <a:lstStyle/>
          <a:p>
            <a:pPr marL="0" indent="0" algn="just" eaLnBrk="1" hangingPunct="1">
              <a:lnSpc>
                <a:spcPct val="90000"/>
              </a:lnSpc>
              <a:buFontTx/>
              <a:buNone/>
            </a:pPr>
            <a:r>
              <a:rPr lang="es-ES_tradnl" altLang="es-ES" sz="2000" smtClean="0"/>
              <a:t>La conversación entre dos personas es un buen ejemplo para aplicar un enfoque en capas para analizar el flujo de información. </a:t>
            </a:r>
          </a:p>
          <a:p>
            <a:pPr marL="0" indent="0" algn="just" eaLnBrk="1" hangingPunct="1">
              <a:lnSpc>
                <a:spcPct val="90000"/>
              </a:lnSpc>
              <a:buFontTx/>
              <a:buNone/>
            </a:pPr>
            <a:r>
              <a:rPr lang="es-ES_tradnl" altLang="es-ES" sz="2000" smtClean="0"/>
              <a:t>En una conversación, cada persona que desea comunicarse comienza creando una idea. Luego se toma una decisión respecto de cómo comunicar la idea correctamente. </a:t>
            </a:r>
          </a:p>
          <a:p>
            <a:pPr marL="0" indent="0" algn="just" eaLnBrk="1" hangingPunct="1">
              <a:lnSpc>
                <a:spcPct val="90000"/>
              </a:lnSpc>
              <a:buFontTx/>
              <a:buNone/>
            </a:pPr>
            <a:endParaRPr lang="es-ES_tradnl" altLang="es-ES" sz="2000" smtClean="0"/>
          </a:p>
          <a:p>
            <a:pPr marL="0" indent="0" algn="just" eaLnBrk="1" hangingPunct="1">
              <a:lnSpc>
                <a:spcPct val="90000"/>
              </a:lnSpc>
              <a:buFontTx/>
              <a:buNone/>
            </a:pPr>
            <a:r>
              <a:rPr lang="es-ES_tradnl" altLang="es-ES" sz="2000" i="1" smtClean="0"/>
              <a:t>Por ejemplo, una persona podría decidir si hablar, cantar o gritar, y qué idioma usar. </a:t>
            </a:r>
          </a:p>
          <a:p>
            <a:pPr marL="0" indent="0" algn="just" eaLnBrk="1" hangingPunct="1">
              <a:lnSpc>
                <a:spcPct val="90000"/>
              </a:lnSpc>
              <a:buFontTx/>
              <a:buNone/>
            </a:pPr>
            <a:r>
              <a:rPr lang="es-ES_tradnl" altLang="es-ES" sz="2000" i="1" smtClean="0"/>
              <a:t>Finalmente, la idea es comunicada. La persona crea el sonido que transmite el mensaje.</a:t>
            </a:r>
            <a:r>
              <a:rPr lang="es-ES_tradnl" altLang="es-ES" sz="2000" smtClean="0"/>
              <a:t> </a:t>
            </a:r>
          </a:p>
        </p:txBody>
      </p:sp>
    </p:spTree>
    <p:extLst>
      <p:ext uri="{BB962C8B-B14F-4D97-AF65-F5344CB8AC3E}">
        <p14:creationId xmlns:p14="http://schemas.microsoft.com/office/powerpoint/2010/main" val="587984738"/>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5BDBBAF-B3C9-4EB0-8983-A33FB057353F}" type="slidenum">
              <a:rPr lang="es-ES_tradnl" altLang="es-ES">
                <a:latin typeface="Arial" panose="020B0604020202020204" pitchFamily="34" charset="0"/>
              </a:rPr>
              <a:pPr eaLnBrk="1" hangingPunct="1"/>
              <a:t>121</a:t>
            </a:fld>
            <a:endParaRPr lang="es-ES_tradnl" altLang="es-ES">
              <a:latin typeface="Arial" panose="020B0604020202020204" pitchFamily="34" charset="0"/>
            </a:endParaRPr>
          </a:p>
        </p:txBody>
      </p:sp>
      <p:sp>
        <p:nvSpPr>
          <p:cNvPr id="128003" name="Rectangle 2"/>
          <p:cNvSpPr>
            <a:spLocks noGrp="1" noChangeArrowheads="1"/>
          </p:cNvSpPr>
          <p:nvPr>
            <p:ph type="title"/>
          </p:nvPr>
        </p:nvSpPr>
        <p:spPr/>
        <p:txBody>
          <a:bodyPr/>
          <a:lstStyle/>
          <a:p>
            <a:pPr eaLnBrk="1" hangingPunct="1"/>
            <a:r>
              <a:rPr lang="es-ES" altLang="es-ES" sz="2400" b="1" smtClean="0"/>
              <a:t>USO DE CAPAS</a:t>
            </a:r>
            <a:endParaRPr lang="es-ES_tradnl" altLang="es-ES" sz="2400" b="1" smtClean="0"/>
          </a:p>
        </p:txBody>
      </p:sp>
      <p:sp>
        <p:nvSpPr>
          <p:cNvPr id="30724" name="Rectangle 3"/>
          <p:cNvSpPr>
            <a:spLocks noGrp="1" noChangeArrowheads="1"/>
          </p:cNvSpPr>
          <p:nvPr>
            <p:ph type="body" idx="1"/>
          </p:nvPr>
        </p:nvSpPr>
        <p:spPr>
          <a:xfrm>
            <a:off x="468313" y="2071688"/>
            <a:ext cx="8229600" cy="4525962"/>
          </a:xfrm>
        </p:spPr>
        <p:txBody>
          <a:bodyPr/>
          <a:lstStyle/>
          <a:p>
            <a:pPr marL="0" indent="0" algn="just" eaLnBrk="1" hangingPunct="1">
              <a:lnSpc>
                <a:spcPct val="90000"/>
              </a:lnSpc>
              <a:buFontTx/>
              <a:buNone/>
              <a:defRPr/>
            </a:pPr>
            <a:r>
              <a:rPr lang="es-ES_tradnl" altLang="es-ES" sz="2000" dirty="0" smtClean="0"/>
              <a:t>Se puede desglosar este proceso en distintas capas aplicables a todas las conversaciones. </a:t>
            </a:r>
          </a:p>
          <a:p>
            <a:pPr marL="357188" lvl="1" indent="100013" algn="just" eaLnBrk="1" hangingPunct="1">
              <a:lnSpc>
                <a:spcPct val="90000"/>
              </a:lnSpc>
              <a:buFontTx/>
              <a:buNone/>
              <a:defRPr/>
            </a:pPr>
            <a:r>
              <a:rPr lang="es-ES_tradnl" altLang="es-ES" sz="2000" dirty="0" smtClean="0">
                <a:solidFill>
                  <a:schemeClr val="accent6">
                    <a:lumMod val="75000"/>
                  </a:schemeClr>
                </a:solidFill>
                <a:effectLst>
                  <a:outerShdw blurRad="38100" dist="38100" dir="2700000" algn="tl">
                    <a:srgbClr val="000000">
                      <a:alpha val="43137"/>
                    </a:srgbClr>
                  </a:outerShdw>
                </a:effectLst>
              </a:rPr>
              <a:t>La capa superior es la idea que se comunicará</a:t>
            </a:r>
            <a:r>
              <a:rPr lang="es-ES_tradnl" altLang="es-ES" sz="2000" dirty="0" smtClean="0"/>
              <a:t>. </a:t>
            </a:r>
          </a:p>
          <a:p>
            <a:pPr marL="400050" lvl="1" indent="0" algn="just" eaLnBrk="1" hangingPunct="1">
              <a:lnSpc>
                <a:spcPct val="90000"/>
              </a:lnSpc>
              <a:buFontTx/>
              <a:buNone/>
              <a:defRPr/>
            </a:pPr>
            <a:r>
              <a:rPr lang="es-ES_tradnl" altLang="es-ES" sz="2000" dirty="0" smtClean="0">
                <a:solidFill>
                  <a:schemeClr val="accent6">
                    <a:lumMod val="75000"/>
                  </a:schemeClr>
                </a:solidFill>
                <a:effectLst>
                  <a:outerShdw blurRad="38100" dist="38100" dir="2700000" algn="tl">
                    <a:srgbClr val="000000">
                      <a:alpha val="43137"/>
                    </a:srgbClr>
                  </a:outerShdw>
                </a:effectLst>
              </a:rPr>
              <a:t>La capa intermedia es la decisión respecto de cómo se comunicará la idea.</a:t>
            </a:r>
            <a:r>
              <a:rPr lang="es-ES_tradnl" altLang="es-ES" sz="2000" dirty="0" smtClean="0"/>
              <a:t> </a:t>
            </a:r>
          </a:p>
          <a:p>
            <a:pPr marL="400050" lvl="1" indent="0" algn="just" eaLnBrk="1" hangingPunct="1">
              <a:lnSpc>
                <a:spcPct val="90000"/>
              </a:lnSpc>
              <a:buFontTx/>
              <a:buNone/>
              <a:defRPr/>
            </a:pPr>
            <a:r>
              <a:rPr lang="es-ES_tradnl" altLang="es-ES" sz="2000" dirty="0" smtClean="0">
                <a:solidFill>
                  <a:schemeClr val="accent6">
                    <a:lumMod val="75000"/>
                  </a:schemeClr>
                </a:solidFill>
                <a:effectLst>
                  <a:outerShdw blurRad="38100" dist="38100" dir="2700000" algn="tl">
                    <a:srgbClr val="000000">
                      <a:alpha val="43137"/>
                    </a:srgbClr>
                  </a:outerShdw>
                </a:effectLst>
              </a:rPr>
              <a:t>La capa inferior es la creación del sonido que transmitirá la comunicación.</a:t>
            </a:r>
          </a:p>
          <a:p>
            <a:pPr algn="just" eaLnBrk="1" hangingPunct="1">
              <a:lnSpc>
                <a:spcPct val="90000"/>
              </a:lnSpc>
              <a:buFontTx/>
              <a:buNone/>
              <a:defRPr/>
            </a:pPr>
            <a:r>
              <a:rPr lang="es-ES_tradnl" altLang="es-ES" sz="2000" dirty="0" smtClean="0"/>
              <a:t>	</a:t>
            </a:r>
          </a:p>
          <a:p>
            <a:pPr marL="0" indent="0" algn="just" eaLnBrk="1" hangingPunct="1">
              <a:lnSpc>
                <a:spcPct val="90000"/>
              </a:lnSpc>
              <a:buFontTx/>
              <a:buNone/>
              <a:defRPr/>
            </a:pPr>
            <a:r>
              <a:rPr lang="es-ES_tradnl" altLang="es-ES" sz="2000" dirty="0" smtClean="0"/>
              <a:t>El mismo método de división en capas explica cómo una red informática distribuye la información desde el origen al destino. </a:t>
            </a:r>
          </a:p>
          <a:p>
            <a:pPr marL="0" indent="0" algn="just" eaLnBrk="1" hangingPunct="1">
              <a:lnSpc>
                <a:spcPct val="90000"/>
              </a:lnSpc>
              <a:buFontTx/>
              <a:buNone/>
              <a:defRPr/>
            </a:pPr>
            <a:r>
              <a:rPr lang="es-ES_tradnl" altLang="es-ES" sz="2000" dirty="0" smtClean="0"/>
              <a:t>Cuando los computadores envían información a través de una red, todas las comunicaciones se generan en un origen y luego viajan a un destino. </a:t>
            </a:r>
          </a:p>
        </p:txBody>
      </p:sp>
    </p:spTree>
    <p:extLst>
      <p:ext uri="{BB962C8B-B14F-4D97-AF65-F5344CB8AC3E}">
        <p14:creationId xmlns:p14="http://schemas.microsoft.com/office/powerpoint/2010/main" val="312480266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75E256E-A86B-476B-A909-9FC32FBF5FC7}" type="slidenum">
              <a:rPr lang="es-ES_tradnl" altLang="es-ES">
                <a:latin typeface="Arial" panose="020B0604020202020204" pitchFamily="34" charset="0"/>
              </a:rPr>
              <a:pPr eaLnBrk="1" hangingPunct="1"/>
              <a:t>122</a:t>
            </a:fld>
            <a:endParaRPr lang="es-ES_tradnl" altLang="es-ES">
              <a:latin typeface="Arial" panose="020B0604020202020204" pitchFamily="34" charset="0"/>
            </a:endParaRPr>
          </a:p>
        </p:txBody>
      </p:sp>
      <p:sp>
        <p:nvSpPr>
          <p:cNvPr id="129027" name="Rectangle 2"/>
          <p:cNvSpPr>
            <a:spLocks noGrp="1" noChangeArrowheads="1"/>
          </p:cNvSpPr>
          <p:nvPr>
            <p:ph type="title"/>
          </p:nvPr>
        </p:nvSpPr>
        <p:spPr>
          <a:xfrm>
            <a:off x="457200" y="260350"/>
            <a:ext cx="8229600" cy="1143000"/>
          </a:xfrm>
        </p:spPr>
        <p:txBody>
          <a:bodyPr/>
          <a:lstStyle/>
          <a:p>
            <a:pPr eaLnBrk="1" hangingPunct="1"/>
            <a:r>
              <a:rPr lang="es-ES" altLang="es-ES" sz="2400" b="1" smtClean="0"/>
              <a:t>USO DE CAPAS</a:t>
            </a:r>
            <a:endParaRPr lang="es-ES_tradnl" altLang="es-ES" sz="2400" b="1" smtClean="0"/>
          </a:p>
        </p:txBody>
      </p:sp>
      <p:sp>
        <p:nvSpPr>
          <p:cNvPr id="31748" name="Rectangle 3"/>
          <p:cNvSpPr>
            <a:spLocks noGrp="1" noChangeArrowheads="1"/>
          </p:cNvSpPr>
          <p:nvPr>
            <p:ph type="body" idx="1"/>
          </p:nvPr>
        </p:nvSpPr>
        <p:spPr>
          <a:xfrm>
            <a:off x="539750" y="2143125"/>
            <a:ext cx="8229600" cy="4525963"/>
          </a:xfrm>
        </p:spPr>
        <p:txBody>
          <a:bodyPr/>
          <a:lstStyle/>
          <a:p>
            <a:pPr marL="0" indent="0" algn="just" eaLnBrk="1" hangingPunct="1">
              <a:lnSpc>
                <a:spcPct val="80000"/>
              </a:lnSpc>
              <a:buFontTx/>
              <a:buNone/>
              <a:defRPr/>
            </a:pPr>
            <a:r>
              <a:rPr lang="es-ES_tradnl" altLang="es-ES" sz="2000" dirty="0" smtClean="0"/>
              <a:t>Generalmente, la información que se desplaza por una red recibe el nombre de </a:t>
            </a:r>
            <a:r>
              <a:rPr lang="es-ES_tradnl" altLang="es-ES" sz="2000" dirty="0" smtClean="0">
                <a:solidFill>
                  <a:srgbClr val="FF0000"/>
                </a:solidFill>
                <a:effectLst>
                  <a:outerShdw blurRad="38100" dist="38100" dir="2700000" algn="tl">
                    <a:srgbClr val="000000">
                      <a:alpha val="43137"/>
                    </a:srgbClr>
                  </a:outerShdw>
                </a:effectLst>
              </a:rPr>
              <a:t>datos o paquete</a:t>
            </a:r>
            <a:r>
              <a:rPr lang="es-ES_tradnl" altLang="es-ES" sz="2000" dirty="0" smtClean="0"/>
              <a:t>. </a:t>
            </a:r>
          </a:p>
          <a:p>
            <a:pPr marL="0" indent="0" algn="just" eaLnBrk="1" hangingPunct="1">
              <a:lnSpc>
                <a:spcPct val="80000"/>
              </a:lnSpc>
              <a:buFontTx/>
              <a:buNone/>
              <a:defRPr/>
            </a:pPr>
            <a:r>
              <a:rPr lang="es-ES_tradnl" altLang="es-ES" sz="2000" dirty="0" smtClean="0"/>
              <a:t>Un paquete es una unidad de información, lógicamente agrupada, que se desplaza entre los sistemas de computación. </a:t>
            </a:r>
          </a:p>
          <a:p>
            <a:pPr marL="0" indent="0" algn="just" eaLnBrk="1" hangingPunct="1">
              <a:lnSpc>
                <a:spcPct val="80000"/>
              </a:lnSpc>
              <a:buFontTx/>
              <a:buNone/>
              <a:defRPr/>
            </a:pPr>
            <a:endParaRPr lang="es-ES_tradnl" altLang="es-ES" sz="2000" dirty="0" smtClean="0"/>
          </a:p>
          <a:p>
            <a:pPr marL="0" indent="0" algn="just" eaLnBrk="1" hangingPunct="1">
              <a:lnSpc>
                <a:spcPct val="80000"/>
              </a:lnSpc>
              <a:buFontTx/>
              <a:buNone/>
              <a:defRPr/>
            </a:pPr>
            <a:r>
              <a:rPr lang="es-ES_tradnl" altLang="es-ES" sz="2000" dirty="0" smtClean="0"/>
              <a:t>A medida que los datos atraviesan las capas, cada capa agrega información que posibilita una comunicación eficaz con su correspondiente capa en el otro computador. </a:t>
            </a:r>
          </a:p>
          <a:p>
            <a:pPr marL="0" indent="0" algn="just" eaLnBrk="1" hangingPunct="1">
              <a:lnSpc>
                <a:spcPct val="80000"/>
              </a:lnSpc>
              <a:buFontTx/>
              <a:buNone/>
              <a:defRPr/>
            </a:pPr>
            <a:r>
              <a:rPr lang="es-ES_tradnl" altLang="es-ES" sz="2000" dirty="0" smtClean="0"/>
              <a:t>Los modelos OSI y TCP/IP se dividen en capas que explican cómo los datos se comunican de un computador a otro. </a:t>
            </a:r>
          </a:p>
          <a:p>
            <a:pPr marL="0" indent="0" algn="just" eaLnBrk="1" hangingPunct="1">
              <a:lnSpc>
                <a:spcPct val="80000"/>
              </a:lnSpc>
              <a:buFontTx/>
              <a:buNone/>
              <a:defRPr/>
            </a:pPr>
            <a:r>
              <a:rPr lang="es-ES_tradnl" altLang="es-ES" sz="2000" dirty="0" smtClean="0"/>
              <a:t>Los modelos difieren en la cantidad y la función de las capas. No obstante, se puede usar cada modelo para ayudar a describir y brindar detalles sobre el flujo de información desde un origen a un destino.</a:t>
            </a:r>
          </a:p>
        </p:txBody>
      </p:sp>
    </p:spTree>
    <p:extLst>
      <p:ext uri="{BB962C8B-B14F-4D97-AF65-F5344CB8AC3E}">
        <p14:creationId xmlns:p14="http://schemas.microsoft.com/office/powerpoint/2010/main" val="156876175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41E9788-34AB-4E83-BF54-A7F422C060FF}" type="slidenum">
              <a:rPr lang="es-ES_tradnl" altLang="es-ES">
                <a:latin typeface="Arial" panose="020B0604020202020204" pitchFamily="34" charset="0"/>
              </a:rPr>
              <a:pPr eaLnBrk="1" hangingPunct="1"/>
              <a:t>123</a:t>
            </a:fld>
            <a:endParaRPr lang="es-ES_tradnl" altLang="es-ES">
              <a:latin typeface="Arial" panose="020B0604020202020204" pitchFamily="34" charset="0"/>
            </a:endParaRPr>
          </a:p>
        </p:txBody>
      </p:sp>
      <p:sp>
        <p:nvSpPr>
          <p:cNvPr id="130051" name="Rectangle 4"/>
          <p:cNvSpPr>
            <a:spLocks noGrp="1" noChangeArrowheads="1"/>
          </p:cNvSpPr>
          <p:nvPr>
            <p:ph type="title"/>
          </p:nvPr>
        </p:nvSpPr>
        <p:spPr/>
        <p:txBody>
          <a:bodyPr/>
          <a:lstStyle/>
          <a:p>
            <a:pPr eaLnBrk="1" hangingPunct="1"/>
            <a:r>
              <a:rPr lang="es-ES" altLang="es-ES" sz="2400" b="1" smtClean="0"/>
              <a:t>ANALISIS DE LA RED POR CAPAS</a:t>
            </a:r>
            <a:endParaRPr lang="es-ES_tradnl" altLang="es-ES" sz="2400" b="1" smtClean="0"/>
          </a:p>
        </p:txBody>
      </p:sp>
      <p:graphicFrame>
        <p:nvGraphicFramePr>
          <p:cNvPr id="130052" name="Object 3"/>
          <p:cNvGraphicFramePr>
            <a:graphicFrameLocks noGrp="1" noChangeAspect="1"/>
          </p:cNvGraphicFramePr>
          <p:nvPr>
            <p:ph idx="1"/>
          </p:nvPr>
        </p:nvGraphicFramePr>
        <p:xfrm>
          <a:off x="2268538" y="2274888"/>
          <a:ext cx="4032250" cy="3457575"/>
        </p:xfrm>
        <a:graphic>
          <a:graphicData uri="http://schemas.openxmlformats.org/presentationml/2006/ole">
            <mc:AlternateContent xmlns:mc="http://schemas.openxmlformats.org/markup-compatibility/2006">
              <mc:Choice xmlns:v="urn:schemas-microsoft-com:vml" Requires="v">
                <p:oleObj spid="_x0000_s25676" name="Imagen de mapa de bits" r:id="rId3" imgW="3514286" imgH="3258005" progId="Paint.Picture">
                  <p:embed/>
                </p:oleObj>
              </mc:Choice>
              <mc:Fallback>
                <p:oleObj name="Imagen de mapa de bits" r:id="rId3" imgW="3514286" imgH="325800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2274888"/>
                        <a:ext cx="4032250" cy="345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2300605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24BFA18-4FE1-4E90-BD8A-1B8E8E96EF07}" type="slidenum">
              <a:rPr lang="es-ES_tradnl" altLang="es-ES">
                <a:latin typeface="Arial" panose="020B0604020202020204" pitchFamily="34" charset="0"/>
              </a:rPr>
              <a:pPr eaLnBrk="1" hangingPunct="1"/>
              <a:t>124</a:t>
            </a:fld>
            <a:endParaRPr lang="es-ES_tradnl" altLang="es-ES">
              <a:latin typeface="Arial" panose="020B0604020202020204" pitchFamily="34" charset="0"/>
            </a:endParaRPr>
          </a:p>
        </p:txBody>
      </p:sp>
      <p:sp>
        <p:nvSpPr>
          <p:cNvPr id="131075" name="Rectangle 4"/>
          <p:cNvSpPr>
            <a:spLocks noGrp="1" noChangeArrowheads="1"/>
          </p:cNvSpPr>
          <p:nvPr>
            <p:ph type="title"/>
          </p:nvPr>
        </p:nvSpPr>
        <p:spPr/>
        <p:txBody>
          <a:bodyPr/>
          <a:lstStyle/>
          <a:p>
            <a:pPr eaLnBrk="1" hangingPunct="1"/>
            <a:r>
              <a:rPr lang="es-ES" altLang="es-ES" sz="2400" b="1" smtClean="0"/>
              <a:t>COMPARACIONES DE RED</a:t>
            </a:r>
            <a:endParaRPr lang="es-ES_tradnl" altLang="es-ES" sz="2400" b="1" smtClean="0"/>
          </a:p>
        </p:txBody>
      </p:sp>
      <p:graphicFrame>
        <p:nvGraphicFramePr>
          <p:cNvPr id="131076" name="Object 3"/>
          <p:cNvGraphicFramePr>
            <a:graphicFrameLocks noGrp="1" noChangeAspect="1"/>
          </p:cNvGraphicFramePr>
          <p:nvPr>
            <p:ph idx="1"/>
          </p:nvPr>
        </p:nvGraphicFramePr>
        <p:xfrm>
          <a:off x="1258888" y="2193925"/>
          <a:ext cx="6481762" cy="3683000"/>
        </p:xfrm>
        <a:graphic>
          <a:graphicData uri="http://schemas.openxmlformats.org/presentationml/2006/ole">
            <mc:AlternateContent xmlns:mc="http://schemas.openxmlformats.org/markup-compatibility/2006">
              <mc:Choice xmlns:v="urn:schemas-microsoft-com:vml" Requires="v">
                <p:oleObj spid="_x0000_s26700" name="Imagen de mapa de bits" r:id="rId3" imgW="5544324" imgH="3153215" progId="Paint.Picture">
                  <p:embed/>
                </p:oleObj>
              </mc:Choice>
              <mc:Fallback>
                <p:oleObj name="Imagen de mapa de bits" r:id="rId3" imgW="5544324" imgH="315321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193925"/>
                        <a:ext cx="6481762" cy="368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5151433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FC3F4DD-4C69-44B3-882F-94E49575FEA9}" type="slidenum">
              <a:rPr lang="es-ES_tradnl" altLang="es-ES">
                <a:latin typeface="Arial" panose="020B0604020202020204" pitchFamily="34" charset="0"/>
              </a:rPr>
              <a:pPr eaLnBrk="1" hangingPunct="1"/>
              <a:t>125</a:t>
            </a:fld>
            <a:endParaRPr lang="es-ES_tradnl" altLang="es-ES">
              <a:latin typeface="Arial" panose="020B0604020202020204" pitchFamily="34" charset="0"/>
            </a:endParaRPr>
          </a:p>
        </p:txBody>
      </p:sp>
      <p:sp>
        <p:nvSpPr>
          <p:cNvPr id="132099" name="Rectangle 4"/>
          <p:cNvSpPr>
            <a:spLocks noGrp="1" noChangeArrowheads="1"/>
          </p:cNvSpPr>
          <p:nvPr>
            <p:ph type="title"/>
          </p:nvPr>
        </p:nvSpPr>
        <p:spPr/>
        <p:txBody>
          <a:bodyPr/>
          <a:lstStyle/>
          <a:p>
            <a:pPr eaLnBrk="1" hangingPunct="1"/>
            <a:r>
              <a:rPr lang="es-ES" altLang="es-ES" sz="2400" b="1" smtClean="0"/>
              <a:t>COMUNICACIÓN EN RED</a:t>
            </a:r>
            <a:endParaRPr lang="es-ES_tradnl" altLang="es-ES" sz="2400" b="1" smtClean="0"/>
          </a:p>
        </p:txBody>
      </p:sp>
      <p:graphicFrame>
        <p:nvGraphicFramePr>
          <p:cNvPr id="132100" name="Object 3"/>
          <p:cNvGraphicFramePr>
            <a:graphicFrameLocks noGrp="1" noChangeAspect="1"/>
          </p:cNvGraphicFramePr>
          <p:nvPr>
            <p:ph idx="1"/>
          </p:nvPr>
        </p:nvGraphicFramePr>
        <p:xfrm>
          <a:off x="2051050" y="2227263"/>
          <a:ext cx="5075238" cy="2570162"/>
        </p:xfrm>
        <a:graphic>
          <a:graphicData uri="http://schemas.openxmlformats.org/presentationml/2006/ole">
            <mc:AlternateContent xmlns:mc="http://schemas.openxmlformats.org/markup-compatibility/2006">
              <mc:Choice xmlns:v="urn:schemas-microsoft-com:vml" Requires="v">
                <p:oleObj spid="_x0000_s27724" name="Imagen de mapa de bits" r:id="rId3" imgW="4533333" imgH="2114845" progId="Paint.Picture">
                  <p:embed/>
                </p:oleObj>
              </mc:Choice>
              <mc:Fallback>
                <p:oleObj name="Imagen de mapa de bits" r:id="rId3" imgW="4533333" imgH="211484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227263"/>
                        <a:ext cx="5075238" cy="2570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8276506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38A5C17-2CC6-463E-BFC6-FEC45B6A6953}" type="slidenum">
              <a:rPr lang="es-ES_tradnl" altLang="es-ES">
                <a:latin typeface="Arial" panose="020B0604020202020204" pitchFamily="34" charset="0"/>
              </a:rPr>
              <a:pPr eaLnBrk="1" hangingPunct="1"/>
              <a:t>126</a:t>
            </a:fld>
            <a:endParaRPr lang="es-ES_tradnl" altLang="es-ES">
              <a:latin typeface="Arial" panose="020B0604020202020204" pitchFamily="34" charset="0"/>
            </a:endParaRPr>
          </a:p>
        </p:txBody>
      </p:sp>
      <p:sp>
        <p:nvSpPr>
          <p:cNvPr id="133123" name="Rectangle 2"/>
          <p:cNvSpPr>
            <a:spLocks noGrp="1" noChangeArrowheads="1"/>
          </p:cNvSpPr>
          <p:nvPr>
            <p:ph type="title"/>
          </p:nvPr>
        </p:nvSpPr>
        <p:spPr/>
        <p:txBody>
          <a:bodyPr/>
          <a:lstStyle/>
          <a:p>
            <a:pPr eaLnBrk="1" hangingPunct="1"/>
            <a:r>
              <a:rPr lang="es-ES" altLang="es-ES" sz="2400" b="1" smtClean="0"/>
              <a:t>USO DE CAPAS PARA DESCRIBIR LA COMUNICACIÓN DE DATOS</a:t>
            </a:r>
            <a:endParaRPr lang="es-ES_tradnl" altLang="es-ES" sz="2400" b="1" smtClean="0"/>
          </a:p>
        </p:txBody>
      </p:sp>
      <p:sp>
        <p:nvSpPr>
          <p:cNvPr id="133124" name="Rectangle 3"/>
          <p:cNvSpPr>
            <a:spLocks noGrp="1" noChangeArrowheads="1"/>
          </p:cNvSpPr>
          <p:nvPr>
            <p:ph type="body" idx="1"/>
          </p:nvPr>
        </p:nvSpPr>
        <p:spPr/>
        <p:txBody>
          <a:bodyPr/>
          <a:lstStyle/>
          <a:p>
            <a:pPr marL="0" indent="0" algn="just" eaLnBrk="1" hangingPunct="1">
              <a:lnSpc>
                <a:spcPct val="90000"/>
              </a:lnSpc>
              <a:buFontTx/>
              <a:buNone/>
            </a:pPr>
            <a:r>
              <a:rPr lang="es-ES_tradnl" altLang="es-ES" sz="2000" smtClean="0"/>
              <a:t>Para que los paquetes de datos puedan viajar desde el origen hasta su destino a través de una red, es importante que todos los dispositivos de la red hablen el mismo lenguaje o protocolo. </a:t>
            </a:r>
          </a:p>
          <a:p>
            <a:pPr marL="0" indent="0" algn="just" eaLnBrk="1" hangingPunct="1">
              <a:lnSpc>
                <a:spcPct val="90000"/>
              </a:lnSpc>
              <a:buFontTx/>
              <a:buNone/>
            </a:pPr>
            <a:endParaRPr lang="es-ES_tradnl" altLang="es-ES" sz="2000" smtClean="0"/>
          </a:p>
          <a:p>
            <a:pPr marL="0" indent="0" algn="just" eaLnBrk="1" hangingPunct="1">
              <a:lnSpc>
                <a:spcPct val="90000"/>
              </a:lnSpc>
              <a:buFontTx/>
              <a:buNone/>
            </a:pPr>
            <a:r>
              <a:rPr lang="es-ES_tradnl" altLang="es-ES" sz="2000" smtClean="0"/>
              <a:t>Un protocolo es un conjunto de reglas que hacen que la comunicación en una red sea más eficiente. Por ejemplo, al pilotar un avión, los pilotos obedecen reglas muy específicas para poder comunicarse con otros aviones y con el control de tráfico aéreo. </a:t>
            </a:r>
          </a:p>
          <a:p>
            <a:pPr marL="0" indent="0" algn="just" eaLnBrk="1" hangingPunct="1">
              <a:lnSpc>
                <a:spcPct val="90000"/>
              </a:lnSpc>
              <a:buFontTx/>
              <a:buNone/>
            </a:pPr>
            <a:r>
              <a:rPr lang="es-ES_tradnl" altLang="es-ES" sz="2000" smtClean="0"/>
              <a:t>	</a:t>
            </a:r>
          </a:p>
          <a:p>
            <a:pPr marL="0" indent="0" algn="just" eaLnBrk="1" hangingPunct="1">
              <a:lnSpc>
                <a:spcPct val="90000"/>
              </a:lnSpc>
              <a:buFontTx/>
              <a:buNone/>
            </a:pPr>
            <a:r>
              <a:rPr lang="es-ES_tradnl" altLang="es-ES" sz="2000" smtClean="0"/>
              <a:t>Un protocolo de comunicaciones de datos es un conjunto de normas, o un acuerdo, que determina el formato y la transmisión de datos. </a:t>
            </a:r>
          </a:p>
        </p:txBody>
      </p:sp>
    </p:spTree>
    <p:extLst>
      <p:ext uri="{BB962C8B-B14F-4D97-AF65-F5344CB8AC3E}">
        <p14:creationId xmlns:p14="http://schemas.microsoft.com/office/powerpoint/2010/main" val="355034855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1F3D858-20A6-4ABF-ADF6-94EC242B33CC}" type="slidenum">
              <a:rPr lang="es-ES_tradnl" altLang="es-ES">
                <a:latin typeface="Arial" panose="020B0604020202020204" pitchFamily="34" charset="0"/>
              </a:rPr>
              <a:pPr eaLnBrk="1" hangingPunct="1"/>
              <a:t>127</a:t>
            </a:fld>
            <a:endParaRPr lang="es-ES_tradnl" altLang="es-ES">
              <a:latin typeface="Arial" panose="020B0604020202020204" pitchFamily="34" charset="0"/>
            </a:endParaRPr>
          </a:p>
        </p:txBody>
      </p:sp>
      <p:sp>
        <p:nvSpPr>
          <p:cNvPr id="134147" name="Rectangle 2"/>
          <p:cNvSpPr>
            <a:spLocks noGrp="1" noChangeArrowheads="1"/>
          </p:cNvSpPr>
          <p:nvPr>
            <p:ph type="title"/>
          </p:nvPr>
        </p:nvSpPr>
        <p:spPr/>
        <p:txBody>
          <a:bodyPr/>
          <a:lstStyle/>
          <a:p>
            <a:pPr eaLnBrk="1" hangingPunct="1"/>
            <a:r>
              <a:rPr lang="es-ES" altLang="es-ES" sz="2400" b="1" smtClean="0"/>
              <a:t>USO DE CAPAS PARA DESCRIBIR LA COMUNICACIÓN DE DATOS</a:t>
            </a:r>
            <a:endParaRPr lang="es-ES_tradnl" altLang="es-ES" sz="2400" b="1" smtClean="0"/>
          </a:p>
        </p:txBody>
      </p:sp>
      <p:sp>
        <p:nvSpPr>
          <p:cNvPr id="134148" name="Rectangle 3"/>
          <p:cNvSpPr>
            <a:spLocks noGrp="1" noChangeArrowheads="1"/>
          </p:cNvSpPr>
          <p:nvPr>
            <p:ph type="body" idx="1"/>
          </p:nvPr>
        </p:nvSpPr>
        <p:spPr/>
        <p:txBody>
          <a:bodyPr/>
          <a:lstStyle/>
          <a:p>
            <a:pPr marL="0" indent="0" algn="just" eaLnBrk="1" hangingPunct="1">
              <a:lnSpc>
                <a:spcPct val="80000"/>
              </a:lnSpc>
              <a:buFontTx/>
              <a:buNone/>
            </a:pPr>
            <a:r>
              <a:rPr lang="es-ES_tradnl" altLang="es-ES" sz="2000" smtClean="0"/>
              <a:t>La Capa 4 del computador de origen se comunica con la Capa 4 del computador de destino.</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Las normas y convenciones utilizadas para esta capa reciben el nombre de protocolos de la Capa 4.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Es importante recordar que los protocolos preparan datos en forma lineal.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El protocolo en una capa realiza un conjunto determinado de operaciones sobre los datos al prepararlos para ser enviados a través de la red. </a:t>
            </a:r>
          </a:p>
          <a:p>
            <a:pPr marL="0" indent="0" algn="just" eaLnBrk="1" hangingPunct="1">
              <a:lnSpc>
                <a:spcPct val="80000"/>
              </a:lnSpc>
              <a:buFontTx/>
              <a:buNone/>
            </a:pPr>
            <a:endParaRPr lang="es-ES_tradnl" altLang="es-ES" sz="2000" smtClean="0"/>
          </a:p>
          <a:p>
            <a:pPr marL="0" indent="0" algn="just" eaLnBrk="1" hangingPunct="1">
              <a:lnSpc>
                <a:spcPct val="80000"/>
              </a:lnSpc>
              <a:buFontTx/>
              <a:buNone/>
            </a:pPr>
            <a:r>
              <a:rPr lang="es-ES_tradnl" altLang="es-ES" sz="2000" smtClean="0"/>
              <a:t>Los datos luego pasan a la siguiente capa, donde otro protocolo realiza otro conjunto diferente de operaciones. </a:t>
            </a:r>
          </a:p>
        </p:txBody>
      </p:sp>
    </p:spTree>
    <p:extLst>
      <p:ext uri="{BB962C8B-B14F-4D97-AF65-F5344CB8AC3E}">
        <p14:creationId xmlns:p14="http://schemas.microsoft.com/office/powerpoint/2010/main" val="244794991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7C1D475-BA84-4E0A-827B-B722D734BA0A}" type="slidenum">
              <a:rPr lang="es-ES_tradnl" altLang="es-ES">
                <a:latin typeface="Arial" panose="020B0604020202020204" pitchFamily="34" charset="0"/>
              </a:rPr>
              <a:pPr eaLnBrk="1" hangingPunct="1"/>
              <a:t>128</a:t>
            </a:fld>
            <a:endParaRPr lang="es-ES_tradnl" altLang="es-ES">
              <a:latin typeface="Arial" panose="020B0604020202020204" pitchFamily="34" charset="0"/>
            </a:endParaRPr>
          </a:p>
        </p:txBody>
      </p:sp>
      <p:sp>
        <p:nvSpPr>
          <p:cNvPr id="135171" name="Rectangle 2"/>
          <p:cNvSpPr>
            <a:spLocks noGrp="1" noChangeArrowheads="1"/>
          </p:cNvSpPr>
          <p:nvPr>
            <p:ph type="title"/>
          </p:nvPr>
        </p:nvSpPr>
        <p:spPr/>
        <p:txBody>
          <a:bodyPr/>
          <a:lstStyle/>
          <a:p>
            <a:pPr eaLnBrk="1" hangingPunct="1"/>
            <a:r>
              <a:rPr lang="es-ES" altLang="es-ES" sz="2400" b="1" smtClean="0"/>
              <a:t>USO DE CAPAS PARA DESCRIBIR LA COMUNICACIÓN DE DATOS</a:t>
            </a:r>
            <a:endParaRPr lang="es-ES_tradnl" altLang="es-ES" sz="2400" b="1" smtClean="0"/>
          </a:p>
        </p:txBody>
      </p:sp>
      <p:sp>
        <p:nvSpPr>
          <p:cNvPr id="135172" name="Rectangle 3"/>
          <p:cNvSpPr>
            <a:spLocks noGrp="1" noChangeArrowheads="1"/>
          </p:cNvSpPr>
          <p:nvPr>
            <p:ph type="body" idx="1"/>
          </p:nvPr>
        </p:nvSpPr>
        <p:spPr/>
        <p:txBody>
          <a:bodyPr/>
          <a:lstStyle/>
          <a:p>
            <a:pPr marL="0" indent="0" algn="just" eaLnBrk="1" hangingPunct="1">
              <a:buFontTx/>
              <a:buNone/>
            </a:pPr>
            <a:r>
              <a:rPr lang="es-ES_tradnl" altLang="es-ES" sz="2400" smtClean="0"/>
              <a:t>Una vez que el paquete llega a su destino, los protocolos deshacen la construcción del paquete que se armó en el extremo de origen. </a:t>
            </a:r>
          </a:p>
          <a:p>
            <a:pPr marL="0" indent="0" algn="just" eaLnBrk="1" hangingPunct="1">
              <a:buFontTx/>
              <a:buNone/>
            </a:pPr>
            <a:endParaRPr lang="es-ES_tradnl" altLang="es-ES" sz="2400" smtClean="0"/>
          </a:p>
          <a:p>
            <a:pPr marL="0" indent="0" algn="just" eaLnBrk="1" hangingPunct="1">
              <a:buFontTx/>
              <a:buNone/>
            </a:pPr>
            <a:r>
              <a:rPr lang="es-ES_tradnl" altLang="es-ES" sz="2400" smtClean="0"/>
              <a:t>Esto se hace en orden inverso. Los protocolos para cada capa en el destino devuelven la información a su forma original, para que la aplicación pueda leer los datos correctamente. </a:t>
            </a:r>
          </a:p>
        </p:txBody>
      </p:sp>
    </p:spTree>
    <p:extLst>
      <p:ext uri="{BB962C8B-B14F-4D97-AF65-F5344CB8AC3E}">
        <p14:creationId xmlns:p14="http://schemas.microsoft.com/office/powerpoint/2010/main" val="292368285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1F63300-0638-49F5-915A-8169CED8AE0B}" type="slidenum">
              <a:rPr lang="es-ES_tradnl" altLang="es-ES">
                <a:latin typeface="Arial" panose="020B0604020202020204" pitchFamily="34" charset="0"/>
              </a:rPr>
              <a:pPr eaLnBrk="1" hangingPunct="1"/>
              <a:t>129</a:t>
            </a:fld>
            <a:endParaRPr lang="es-ES_tradnl" altLang="es-ES">
              <a:latin typeface="Arial" panose="020B0604020202020204" pitchFamily="34" charset="0"/>
            </a:endParaRPr>
          </a:p>
        </p:txBody>
      </p:sp>
      <p:sp>
        <p:nvSpPr>
          <p:cNvPr id="136195" name="Rectangle 4"/>
          <p:cNvSpPr>
            <a:spLocks noGrp="1" noChangeArrowheads="1"/>
          </p:cNvSpPr>
          <p:nvPr>
            <p:ph type="title"/>
          </p:nvPr>
        </p:nvSpPr>
        <p:spPr/>
        <p:txBody>
          <a:bodyPr/>
          <a:lstStyle/>
          <a:p>
            <a:pPr eaLnBrk="1" hangingPunct="1"/>
            <a:r>
              <a:rPr lang="es-ES" altLang="es-ES" sz="2400" b="1" smtClean="0"/>
              <a:t>COMUNICACIÓN ENTRE CAPAS</a:t>
            </a:r>
            <a:endParaRPr lang="es-ES_tradnl" altLang="es-ES" sz="2400" b="1" smtClean="0"/>
          </a:p>
        </p:txBody>
      </p:sp>
      <p:graphicFrame>
        <p:nvGraphicFramePr>
          <p:cNvPr id="136196" name="Object 3"/>
          <p:cNvGraphicFramePr>
            <a:graphicFrameLocks noGrp="1" noChangeAspect="1"/>
          </p:cNvGraphicFramePr>
          <p:nvPr>
            <p:ph idx="1"/>
          </p:nvPr>
        </p:nvGraphicFramePr>
        <p:xfrm>
          <a:off x="2051050" y="2166938"/>
          <a:ext cx="5040313" cy="3565525"/>
        </p:xfrm>
        <a:graphic>
          <a:graphicData uri="http://schemas.openxmlformats.org/presentationml/2006/ole">
            <mc:AlternateContent xmlns:mc="http://schemas.openxmlformats.org/markup-compatibility/2006">
              <mc:Choice xmlns:v="urn:schemas-microsoft-com:vml" Requires="v">
                <p:oleObj spid="_x0000_s28748" name="Imagen de mapa de bits" r:id="rId3" imgW="4505954" imgH="3419952" progId="Paint.Picture">
                  <p:embed/>
                </p:oleObj>
              </mc:Choice>
              <mc:Fallback>
                <p:oleObj name="Imagen de mapa de bits" r:id="rId3" imgW="4505954" imgH="341995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166938"/>
                        <a:ext cx="5040313" cy="356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4836154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Modelo OSI</a:t>
            </a:r>
            <a:endParaRPr lang="es-ES" i="1" u="sng" dirty="0">
              <a:solidFill>
                <a:srgbClr val="FF0000"/>
              </a:solidFill>
              <a:effectLst>
                <a:outerShdw blurRad="38100" dist="38100" dir="2700000" algn="tl">
                  <a:srgbClr val="000000">
                    <a:alpha val="43137"/>
                  </a:srgbClr>
                </a:outerShdw>
              </a:effectLst>
            </a:endParaRPr>
          </a:p>
        </p:txBody>
      </p:sp>
      <p:sp>
        <p:nvSpPr>
          <p:cNvPr id="137219"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4696C1-7F66-4B2F-96AE-F9A08874F4CB}" type="slidenum">
              <a:rPr lang="es-ES_tradnl" altLang="es-ES">
                <a:latin typeface="Arial" panose="020B0604020202020204" pitchFamily="34" charset="0"/>
              </a:rPr>
              <a:pPr eaLnBrk="1" hangingPunct="1"/>
              <a:t>130</a:t>
            </a:fld>
            <a:endParaRPr lang="es-ES_tradnl" altLang="es-ES">
              <a:latin typeface="Arial" panose="020B0604020202020204" pitchFamily="34" charset="0"/>
            </a:endParaRPr>
          </a:p>
        </p:txBody>
      </p:sp>
    </p:spTree>
    <p:extLst>
      <p:ext uri="{BB962C8B-B14F-4D97-AF65-F5344CB8AC3E}">
        <p14:creationId xmlns:p14="http://schemas.microsoft.com/office/powerpoint/2010/main" val="51967985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AE606EE-61C2-454B-8F7B-578B510807FB}" type="slidenum">
              <a:rPr lang="es-ES_tradnl" altLang="es-ES">
                <a:latin typeface="Arial" panose="020B0604020202020204" pitchFamily="34" charset="0"/>
              </a:rPr>
              <a:pPr eaLnBrk="1" hangingPunct="1"/>
              <a:t>131</a:t>
            </a:fld>
            <a:endParaRPr lang="es-ES_tradnl" altLang="es-ES">
              <a:latin typeface="Arial" panose="020B0604020202020204" pitchFamily="34" charset="0"/>
            </a:endParaRPr>
          </a:p>
        </p:txBody>
      </p:sp>
      <p:sp>
        <p:nvSpPr>
          <p:cNvPr id="138243" name="Rectangle 2"/>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sp>
        <p:nvSpPr>
          <p:cNvPr id="138244" name="Rectangle 3"/>
          <p:cNvSpPr>
            <a:spLocks noGrp="1" noChangeArrowheads="1"/>
          </p:cNvSpPr>
          <p:nvPr>
            <p:ph type="body" idx="1"/>
          </p:nvPr>
        </p:nvSpPr>
        <p:spPr/>
        <p:txBody>
          <a:bodyPr/>
          <a:lstStyle/>
          <a:p>
            <a:pPr marL="0" indent="0" algn="just" eaLnBrk="1" hangingPunct="1">
              <a:buFontTx/>
              <a:buNone/>
            </a:pPr>
            <a:r>
              <a:rPr lang="es-ES_tradnl" altLang="es-ES" sz="2400" smtClean="0"/>
              <a:t>En sus inicios, el desarrollo de redes sucedió con desorden en muchos sentidos. </a:t>
            </a:r>
          </a:p>
          <a:p>
            <a:pPr marL="0" indent="0" algn="just" eaLnBrk="1" hangingPunct="1">
              <a:buFontTx/>
              <a:buNone/>
            </a:pPr>
            <a:r>
              <a:rPr lang="es-ES_tradnl" altLang="es-ES" sz="2400" smtClean="0"/>
              <a:t>A principios de la década de 1980 se produjo un enorme crecimiento en la cantidad y el tamaño de las redes. </a:t>
            </a:r>
          </a:p>
          <a:p>
            <a:pPr marL="0" indent="0" algn="just" eaLnBrk="1" hangingPunct="1">
              <a:buFontTx/>
              <a:buNone/>
            </a:pPr>
            <a:r>
              <a:rPr lang="es-ES_tradnl" altLang="es-ES" sz="2400" smtClean="0"/>
              <a:t>A medida que las empresas tomaron conciencia de las ventajas de usar tecnología de networking, las redes se agregaban o expandían a casi la misma velocidad a la que se introducían las nuevas tecnologías de red. </a:t>
            </a:r>
          </a:p>
        </p:txBody>
      </p:sp>
    </p:spTree>
    <p:extLst>
      <p:ext uri="{BB962C8B-B14F-4D97-AF65-F5344CB8AC3E}">
        <p14:creationId xmlns:p14="http://schemas.microsoft.com/office/powerpoint/2010/main" val="400809073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BE88C43-09F1-42F2-AD30-0318052B6543}" type="slidenum">
              <a:rPr lang="es-ES_tradnl" altLang="es-ES">
                <a:latin typeface="Arial" panose="020B0604020202020204" pitchFamily="34" charset="0"/>
              </a:rPr>
              <a:pPr eaLnBrk="1" hangingPunct="1"/>
              <a:t>132</a:t>
            </a:fld>
            <a:endParaRPr lang="es-ES_tradnl" altLang="es-ES">
              <a:latin typeface="Arial" panose="020B0604020202020204" pitchFamily="34" charset="0"/>
            </a:endParaRPr>
          </a:p>
        </p:txBody>
      </p:sp>
      <p:sp>
        <p:nvSpPr>
          <p:cNvPr id="139267" name="Rectangle 2"/>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sp>
        <p:nvSpPr>
          <p:cNvPr id="139268" name="Rectangle 3"/>
          <p:cNvSpPr>
            <a:spLocks noGrp="1" noChangeArrowheads="1"/>
          </p:cNvSpPr>
          <p:nvPr>
            <p:ph type="body" idx="1"/>
          </p:nvPr>
        </p:nvSpPr>
        <p:spPr/>
        <p:txBody>
          <a:bodyPr/>
          <a:lstStyle/>
          <a:p>
            <a:pPr algn="just" eaLnBrk="1" hangingPunct="1">
              <a:lnSpc>
                <a:spcPct val="80000"/>
              </a:lnSpc>
              <a:buFontTx/>
              <a:buNone/>
            </a:pPr>
            <a:r>
              <a:rPr lang="es-ES_tradnl" altLang="es-ES" sz="2400" smtClean="0"/>
              <a:t>	Para mediados de la década de 1980, estas empresas comenzaron a sufrir las consecuencias de la rápida expansión. De la misma forma en que las personas que no hablan un mismo idioma tienen dificultades para comunicarse, las redes que utilizaban diferentes especificaciones e implementaciones tenían dificultades para intercambiar información. El mismo problema surgía con las empresas que desarrollaban tecnologías de networking privadas o propietarias. "Propietario" significa que una sola empresa o un pequeño grupo de empresas controla todo uso de la tecnología. Las tecnologías de networking que respetaban reglas propietarias en forma estricta no podían comunicarse con tecnologías que usaban reglas propietarias diferentes. </a:t>
            </a:r>
          </a:p>
        </p:txBody>
      </p:sp>
    </p:spTree>
    <p:extLst>
      <p:ext uri="{BB962C8B-B14F-4D97-AF65-F5344CB8AC3E}">
        <p14:creationId xmlns:p14="http://schemas.microsoft.com/office/powerpoint/2010/main" val="37399781"/>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B374BF5-82C8-4B62-ABA2-93C43C114FB0}" type="slidenum">
              <a:rPr lang="es-ES_tradnl" altLang="es-ES">
                <a:latin typeface="Arial" panose="020B0604020202020204" pitchFamily="34" charset="0"/>
              </a:rPr>
              <a:pPr eaLnBrk="1" hangingPunct="1"/>
              <a:t>133</a:t>
            </a:fld>
            <a:endParaRPr lang="es-ES_tradnl" altLang="es-ES">
              <a:latin typeface="Arial" panose="020B0604020202020204" pitchFamily="34" charset="0"/>
            </a:endParaRPr>
          </a:p>
        </p:txBody>
      </p:sp>
      <p:sp>
        <p:nvSpPr>
          <p:cNvPr id="140291" name="Rectangle 2"/>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sp>
        <p:nvSpPr>
          <p:cNvPr id="140292" name="Rectangle 3"/>
          <p:cNvSpPr>
            <a:spLocks noGrp="1" noChangeArrowheads="1"/>
          </p:cNvSpPr>
          <p:nvPr>
            <p:ph type="body" idx="1"/>
          </p:nvPr>
        </p:nvSpPr>
        <p:spPr/>
        <p:txBody>
          <a:bodyPr/>
          <a:lstStyle/>
          <a:p>
            <a:pPr algn="just" eaLnBrk="1" hangingPunct="1">
              <a:lnSpc>
                <a:spcPct val="90000"/>
              </a:lnSpc>
              <a:buFontTx/>
              <a:buNone/>
            </a:pPr>
            <a:r>
              <a:rPr lang="es-ES_tradnl" altLang="es-ES" sz="2800" smtClean="0"/>
              <a:t>	Para enfrentar el problema de incompatibilidad de redes, la Organización Internacional de Normalización (ISO) investigó modelos de networking como la red de Digital Equipment Corporation (DECnet), la Arquitectura de Sistemas de Red (SNA) y TCP/IP a fin de encontrar un conjunto de reglas aplicables de forma general a todas las redes. En base a esta investigación, la ISO desarrolló un modelo de red que ayuda a los fabricantes a crear redes que sean compatibles con otras redes. </a:t>
            </a:r>
          </a:p>
        </p:txBody>
      </p:sp>
    </p:spTree>
    <p:extLst>
      <p:ext uri="{BB962C8B-B14F-4D97-AF65-F5344CB8AC3E}">
        <p14:creationId xmlns:p14="http://schemas.microsoft.com/office/powerpoint/2010/main" val="323733272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F1FE484-6642-472C-B5FC-1FC17DD56314}" type="slidenum">
              <a:rPr lang="es-ES_tradnl" altLang="es-ES">
                <a:latin typeface="Arial" panose="020B0604020202020204" pitchFamily="34" charset="0"/>
              </a:rPr>
              <a:pPr eaLnBrk="1" hangingPunct="1"/>
              <a:t>134</a:t>
            </a:fld>
            <a:endParaRPr lang="es-ES_tradnl" altLang="es-ES">
              <a:latin typeface="Arial" panose="020B0604020202020204" pitchFamily="34" charset="0"/>
            </a:endParaRPr>
          </a:p>
        </p:txBody>
      </p:sp>
      <p:sp>
        <p:nvSpPr>
          <p:cNvPr id="141315" name="Rectangle 2"/>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sp>
        <p:nvSpPr>
          <p:cNvPr id="141316"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El modelo de referencia de Interconexión de Sistemas Abiertos (OSI) lanzado en 1984 fue el modelo de red descriptivo creado por ISO. Proporcionó a los fabricantes un conjunto de estándares que aseguraron una mayor compatibilidad e interoperabilidad entre los distintos tipos de tecnología de red producidos por las empresas a nivel mundial.  </a:t>
            </a:r>
          </a:p>
          <a:p>
            <a:pPr algn="just" eaLnBrk="1" hangingPunct="1">
              <a:lnSpc>
                <a:spcPct val="80000"/>
              </a:lnSpc>
              <a:buFontTx/>
              <a:buNone/>
            </a:pPr>
            <a:r>
              <a:rPr lang="es-ES_tradnl" altLang="es-ES" sz="2000" smtClean="0"/>
              <a:t>	El modelo de referencia OSI se ha convertido en el modelo principal para las comunicaciones por red. Aunque existen otros modelos, la mayoría de los fabricantes de redes relacionan sus productos con el modelo de referencia de OSI. Esto es en particular así cuando lo que buscan es enseñar a los usuarios a utilizar sus productos. Se considera la mejor herramienta disponible para enseñar cómo enviar y recibir datos a través de una red.</a:t>
            </a:r>
          </a:p>
        </p:txBody>
      </p:sp>
    </p:spTree>
    <p:extLst>
      <p:ext uri="{BB962C8B-B14F-4D97-AF65-F5344CB8AC3E}">
        <p14:creationId xmlns:p14="http://schemas.microsoft.com/office/powerpoint/2010/main" val="167657255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4B830B4-37C0-4A56-BD6F-73B5E02A7977}" type="slidenum">
              <a:rPr lang="es-ES_tradnl" altLang="es-ES">
                <a:latin typeface="Arial" panose="020B0604020202020204" pitchFamily="34" charset="0"/>
              </a:rPr>
              <a:pPr eaLnBrk="1" hangingPunct="1"/>
              <a:t>135</a:t>
            </a:fld>
            <a:endParaRPr lang="es-ES_tradnl" altLang="es-ES">
              <a:latin typeface="Arial" panose="020B0604020202020204" pitchFamily="34" charset="0"/>
            </a:endParaRPr>
          </a:p>
        </p:txBody>
      </p:sp>
      <p:sp>
        <p:nvSpPr>
          <p:cNvPr id="142339" name="Rectangle 4"/>
          <p:cNvSpPr>
            <a:spLocks noGrp="1" noChangeArrowheads="1"/>
          </p:cNvSpPr>
          <p:nvPr>
            <p:ph type="title"/>
          </p:nvPr>
        </p:nvSpPr>
        <p:spPr/>
        <p:txBody>
          <a:bodyPr/>
          <a:lstStyle/>
          <a:p>
            <a:pPr eaLnBrk="1" hangingPunct="1"/>
            <a:r>
              <a:rPr lang="es-ES" altLang="es-ES" sz="2400" b="1" smtClean="0"/>
              <a:t>VENTAJAS DEL MODELO OSI</a:t>
            </a:r>
            <a:endParaRPr lang="es-ES_tradnl" altLang="es-ES" sz="2400" b="1" smtClean="0"/>
          </a:p>
        </p:txBody>
      </p:sp>
      <p:graphicFrame>
        <p:nvGraphicFramePr>
          <p:cNvPr id="142340" name="Object 3"/>
          <p:cNvGraphicFramePr>
            <a:graphicFrameLocks noGrp="1" noChangeAspect="1"/>
          </p:cNvGraphicFramePr>
          <p:nvPr>
            <p:ph idx="1"/>
          </p:nvPr>
        </p:nvGraphicFramePr>
        <p:xfrm>
          <a:off x="1763713" y="1844675"/>
          <a:ext cx="5572125" cy="4392613"/>
        </p:xfrm>
        <a:graphic>
          <a:graphicData uri="http://schemas.openxmlformats.org/presentationml/2006/ole">
            <mc:AlternateContent xmlns:mc="http://schemas.openxmlformats.org/markup-compatibility/2006">
              <mc:Choice xmlns:v="urn:schemas-microsoft-com:vml" Requires="v">
                <p:oleObj spid="_x0000_s29772" name="Imagen de mapa de bits" r:id="rId3" imgW="5571429" imgH="3905795" progId="Paint.Picture">
                  <p:embed/>
                </p:oleObj>
              </mc:Choice>
              <mc:Fallback>
                <p:oleObj name="Imagen de mapa de bits" r:id="rId3" imgW="5571429" imgH="390579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844675"/>
                        <a:ext cx="5572125" cy="439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9702689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14E8FE9-A585-413E-BE90-5F3A78E27664}" type="slidenum">
              <a:rPr lang="es-ES_tradnl" altLang="es-ES">
                <a:latin typeface="Arial" panose="020B0604020202020204" pitchFamily="34" charset="0"/>
              </a:rPr>
              <a:pPr eaLnBrk="1" hangingPunct="1"/>
              <a:t>136</a:t>
            </a:fld>
            <a:endParaRPr lang="es-ES_tradnl" altLang="es-ES">
              <a:latin typeface="Arial" panose="020B0604020202020204" pitchFamily="34" charset="0"/>
            </a:endParaRPr>
          </a:p>
        </p:txBody>
      </p:sp>
      <p:sp>
        <p:nvSpPr>
          <p:cNvPr id="143363" name="Rectangle 2"/>
          <p:cNvSpPr>
            <a:spLocks noGrp="1" noChangeArrowheads="1"/>
          </p:cNvSpPr>
          <p:nvPr>
            <p:ph type="title"/>
          </p:nvPr>
        </p:nvSpPr>
        <p:spPr/>
        <p:txBody>
          <a:bodyPr/>
          <a:lstStyle/>
          <a:p>
            <a:pPr eaLnBrk="1" hangingPunct="1"/>
            <a:r>
              <a:rPr lang="es-ES" altLang="es-ES" sz="2400" b="1" smtClean="0"/>
              <a:t>LAS CAPAS DEL MODELO OSI</a:t>
            </a:r>
            <a:endParaRPr lang="es-ES_tradnl" altLang="es-ES" sz="2400" b="1" smtClean="0"/>
          </a:p>
        </p:txBody>
      </p:sp>
      <p:sp>
        <p:nvSpPr>
          <p:cNvPr id="143364" name="Rectangle 3"/>
          <p:cNvSpPr>
            <a:spLocks noGrp="1" noChangeArrowheads="1"/>
          </p:cNvSpPr>
          <p:nvPr>
            <p:ph type="body" idx="1"/>
          </p:nvPr>
        </p:nvSpPr>
        <p:spPr/>
        <p:txBody>
          <a:bodyPr/>
          <a:lstStyle/>
          <a:p>
            <a:pPr algn="just" eaLnBrk="1" hangingPunct="1">
              <a:lnSpc>
                <a:spcPct val="80000"/>
              </a:lnSpc>
              <a:buFontTx/>
              <a:buNone/>
            </a:pPr>
            <a:r>
              <a:rPr lang="es-ES_tradnl" altLang="es-ES" sz="1800" smtClean="0"/>
              <a:t>	El modelo de referencia OSI es un marco que se puede utilizar para comprender cómo viaja la información a través de una red. El modelo de referencia OSI explica de qué manera los paquetes de datos viajan a través de varias capas a otro dispositivo de una red, aun cuando el remitente y el destinatario poseen diferentes tipos de medios de red.</a:t>
            </a:r>
          </a:p>
          <a:p>
            <a:pPr algn="just" eaLnBrk="1" hangingPunct="1">
              <a:lnSpc>
                <a:spcPct val="80000"/>
              </a:lnSpc>
              <a:buFontTx/>
              <a:buNone/>
            </a:pPr>
            <a:r>
              <a:rPr lang="es-ES_tradnl" altLang="es-ES" sz="1800" smtClean="0"/>
              <a:t>	En el modelo de referencia OSI, hay siete capas numeradas, cada una de las cuales ilustra una función de red específica.   -   La división de la red en siete capas permite obtener las siguientes ventajas: </a:t>
            </a:r>
          </a:p>
          <a:p>
            <a:pPr algn="just" eaLnBrk="1" hangingPunct="1">
              <a:lnSpc>
                <a:spcPct val="80000"/>
              </a:lnSpc>
            </a:pPr>
            <a:r>
              <a:rPr lang="es-ES_tradnl" altLang="es-ES" sz="1800" smtClean="0"/>
              <a:t>Divide la comunicación de red en partes más pequeñas y fáciles de manejar. </a:t>
            </a:r>
          </a:p>
          <a:p>
            <a:pPr algn="just" eaLnBrk="1" hangingPunct="1">
              <a:lnSpc>
                <a:spcPct val="80000"/>
              </a:lnSpc>
            </a:pPr>
            <a:r>
              <a:rPr lang="es-ES_tradnl" altLang="es-ES" sz="1800" smtClean="0"/>
              <a:t>Normaliza los componentes de red para permitir el desarrollo y el soporte de los productos por diferentes fabricantesz </a:t>
            </a:r>
          </a:p>
          <a:p>
            <a:pPr algn="just" eaLnBrk="1" hangingPunct="1">
              <a:lnSpc>
                <a:spcPct val="80000"/>
              </a:lnSpc>
            </a:pPr>
            <a:r>
              <a:rPr lang="es-ES_tradnl" altLang="es-ES" sz="1800" smtClean="0"/>
              <a:t>Permite a los distintos tipos de hardware y software de red comunicarse entre sí. </a:t>
            </a:r>
          </a:p>
          <a:p>
            <a:pPr algn="just" eaLnBrk="1" hangingPunct="1">
              <a:lnSpc>
                <a:spcPct val="80000"/>
              </a:lnSpc>
            </a:pPr>
            <a:r>
              <a:rPr lang="es-ES_tradnl" altLang="es-ES" sz="1800" smtClean="0"/>
              <a:t>Evita que los cambios en una capa afecten las otras capas. </a:t>
            </a:r>
          </a:p>
          <a:p>
            <a:pPr algn="just" eaLnBrk="1" hangingPunct="1">
              <a:lnSpc>
                <a:spcPct val="80000"/>
              </a:lnSpc>
            </a:pPr>
            <a:r>
              <a:rPr lang="es-ES_tradnl" altLang="es-ES" sz="1800" smtClean="0"/>
              <a:t>Divide la comunicación de red en partes más pequeñas para simplificar el aprendizaje. </a:t>
            </a:r>
          </a:p>
          <a:p>
            <a:pPr algn="just" eaLnBrk="1" hangingPunct="1">
              <a:lnSpc>
                <a:spcPct val="80000"/>
              </a:lnSpc>
            </a:pPr>
            <a:endParaRPr lang="es-ES_tradnl" altLang="es-ES" sz="1800" smtClean="0"/>
          </a:p>
        </p:txBody>
      </p:sp>
    </p:spTree>
    <p:extLst>
      <p:ext uri="{BB962C8B-B14F-4D97-AF65-F5344CB8AC3E}">
        <p14:creationId xmlns:p14="http://schemas.microsoft.com/office/powerpoint/2010/main" val="154410450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89ABB14-7D00-4749-9AFA-E9E268434D01}" type="slidenum">
              <a:rPr lang="es-ES_tradnl" altLang="es-ES">
                <a:latin typeface="Arial" panose="020B0604020202020204" pitchFamily="34" charset="0"/>
              </a:rPr>
              <a:pPr eaLnBrk="1" hangingPunct="1"/>
              <a:t>137</a:t>
            </a:fld>
            <a:endParaRPr lang="es-ES_tradnl" altLang="es-ES">
              <a:latin typeface="Arial" panose="020B0604020202020204" pitchFamily="34" charset="0"/>
            </a:endParaRPr>
          </a:p>
        </p:txBody>
      </p:sp>
      <p:sp>
        <p:nvSpPr>
          <p:cNvPr id="144387"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4388" name="Object 3"/>
          <p:cNvGraphicFramePr>
            <a:graphicFrameLocks noGrp="1" noChangeAspect="1"/>
          </p:cNvGraphicFramePr>
          <p:nvPr>
            <p:ph idx="1"/>
          </p:nvPr>
        </p:nvGraphicFramePr>
        <p:xfrm>
          <a:off x="1187450" y="1125538"/>
          <a:ext cx="6985000" cy="4892675"/>
        </p:xfrm>
        <a:graphic>
          <a:graphicData uri="http://schemas.openxmlformats.org/presentationml/2006/ole">
            <mc:AlternateContent xmlns:mc="http://schemas.openxmlformats.org/markup-compatibility/2006">
              <mc:Choice xmlns:v="urn:schemas-microsoft-com:vml" Requires="v">
                <p:oleObj spid="_x0000_s30796" name="Imagen de mapa de bits" r:id="rId3" imgW="5057143" imgH="3543795" progId="Paint.Picture">
                  <p:embed/>
                </p:oleObj>
              </mc:Choice>
              <mc:Fallback>
                <p:oleObj name="Imagen de mapa de bits" r:id="rId3" imgW="5057143" imgH="354379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125538"/>
                        <a:ext cx="6985000" cy="489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06630009"/>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D5165DA-320A-4B1B-89BA-933A1D030CD2}" type="slidenum">
              <a:rPr lang="es-ES_tradnl" altLang="es-ES">
                <a:latin typeface="Arial" panose="020B0604020202020204" pitchFamily="34" charset="0"/>
              </a:rPr>
              <a:pPr eaLnBrk="1" hangingPunct="1"/>
              <a:t>138</a:t>
            </a:fld>
            <a:endParaRPr lang="es-ES_tradnl" altLang="es-ES">
              <a:latin typeface="Arial" panose="020B0604020202020204" pitchFamily="34" charset="0"/>
            </a:endParaRPr>
          </a:p>
        </p:txBody>
      </p:sp>
      <p:sp>
        <p:nvSpPr>
          <p:cNvPr id="145411"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5412" name="Object 3"/>
          <p:cNvGraphicFramePr>
            <a:graphicFrameLocks noGrp="1" noChangeAspect="1"/>
          </p:cNvGraphicFramePr>
          <p:nvPr>
            <p:ph idx="1"/>
          </p:nvPr>
        </p:nvGraphicFramePr>
        <p:xfrm>
          <a:off x="1258888" y="1268413"/>
          <a:ext cx="6624637" cy="4305300"/>
        </p:xfrm>
        <a:graphic>
          <a:graphicData uri="http://schemas.openxmlformats.org/presentationml/2006/ole">
            <mc:AlternateContent xmlns:mc="http://schemas.openxmlformats.org/markup-compatibility/2006">
              <mc:Choice xmlns:v="urn:schemas-microsoft-com:vml" Requires="v">
                <p:oleObj spid="_x0000_s31820" name="Imagen de mapa de bits" r:id="rId3" imgW="5361905" imgH="3486637" progId="Paint.Picture">
                  <p:embed/>
                </p:oleObj>
              </mc:Choice>
              <mc:Fallback>
                <p:oleObj name="Imagen de mapa de bits" r:id="rId3" imgW="5361905" imgH="348663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268413"/>
                        <a:ext cx="6624637" cy="430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627804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B6D9940-8EA5-4184-BE86-9FB6C5F4F8E5}" type="slidenum">
              <a:rPr lang="es-ES_tradnl" altLang="es-ES">
                <a:latin typeface="Arial" panose="020B0604020202020204" pitchFamily="34" charset="0"/>
              </a:rPr>
              <a:pPr eaLnBrk="1" hangingPunct="1"/>
              <a:t>139</a:t>
            </a:fld>
            <a:endParaRPr lang="es-ES_tradnl" altLang="es-ES">
              <a:latin typeface="Arial" panose="020B0604020202020204" pitchFamily="34" charset="0"/>
            </a:endParaRPr>
          </a:p>
        </p:txBody>
      </p:sp>
      <p:sp>
        <p:nvSpPr>
          <p:cNvPr id="146435"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6436" name="Object 3"/>
          <p:cNvGraphicFramePr>
            <a:graphicFrameLocks noGrp="1" noChangeAspect="1"/>
          </p:cNvGraphicFramePr>
          <p:nvPr>
            <p:ph idx="1"/>
          </p:nvPr>
        </p:nvGraphicFramePr>
        <p:xfrm>
          <a:off x="1116013" y="1125538"/>
          <a:ext cx="6985000" cy="4424362"/>
        </p:xfrm>
        <a:graphic>
          <a:graphicData uri="http://schemas.openxmlformats.org/presentationml/2006/ole">
            <mc:AlternateContent xmlns:mc="http://schemas.openxmlformats.org/markup-compatibility/2006">
              <mc:Choice xmlns:v="urn:schemas-microsoft-com:vml" Requires="v">
                <p:oleObj spid="_x0000_s32844" name="Imagen de mapa de bits" r:id="rId3" imgW="5458587" imgH="3457143" progId="Paint.Picture">
                  <p:embed/>
                </p:oleObj>
              </mc:Choice>
              <mc:Fallback>
                <p:oleObj name="Imagen de mapa de bits" r:id="rId3" imgW="5458587" imgH="345714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125538"/>
                        <a:ext cx="6985000" cy="442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25401801"/>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C346EDB-009E-4C4A-8428-A9F0F93BCFDD}" type="slidenum">
              <a:rPr lang="es-ES_tradnl" altLang="es-ES">
                <a:latin typeface="Arial" panose="020B0604020202020204" pitchFamily="34" charset="0"/>
              </a:rPr>
              <a:pPr eaLnBrk="1" hangingPunct="1"/>
              <a:t>140</a:t>
            </a:fld>
            <a:endParaRPr lang="es-ES_tradnl" altLang="es-ES">
              <a:latin typeface="Arial" panose="020B0604020202020204" pitchFamily="34" charset="0"/>
            </a:endParaRPr>
          </a:p>
        </p:txBody>
      </p:sp>
      <p:sp>
        <p:nvSpPr>
          <p:cNvPr id="147459"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7460" name="Object 3"/>
          <p:cNvGraphicFramePr>
            <a:graphicFrameLocks noGrp="1" noChangeAspect="1"/>
          </p:cNvGraphicFramePr>
          <p:nvPr>
            <p:ph idx="1"/>
          </p:nvPr>
        </p:nvGraphicFramePr>
        <p:xfrm>
          <a:off x="1187450" y="1196975"/>
          <a:ext cx="7200900" cy="4664075"/>
        </p:xfrm>
        <a:graphic>
          <a:graphicData uri="http://schemas.openxmlformats.org/presentationml/2006/ole">
            <mc:AlternateContent xmlns:mc="http://schemas.openxmlformats.org/markup-compatibility/2006">
              <mc:Choice xmlns:v="urn:schemas-microsoft-com:vml" Requires="v">
                <p:oleObj spid="_x0000_s33868" name="Imagen de mapa de bits" r:id="rId3" imgW="5544324" imgH="3591426" progId="Paint.Picture">
                  <p:embed/>
                </p:oleObj>
              </mc:Choice>
              <mc:Fallback>
                <p:oleObj name="Imagen de mapa de bits" r:id="rId3" imgW="5544324" imgH="3591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196975"/>
                        <a:ext cx="7200900" cy="466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88196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D9F40D13-E785-45AB-A945-AD83CF32C542}" type="slidenum">
              <a:rPr lang="es-ES_tradnl" altLang="es-ES">
                <a:latin typeface="Arial" panose="020B0604020202020204" pitchFamily="34" charset="0"/>
              </a:rPr>
              <a:pPr eaLnBrk="1" hangingPunct="1"/>
              <a:t>141</a:t>
            </a:fld>
            <a:endParaRPr lang="es-ES_tradnl" altLang="es-ES">
              <a:latin typeface="Arial" panose="020B0604020202020204" pitchFamily="34" charset="0"/>
            </a:endParaRPr>
          </a:p>
        </p:txBody>
      </p:sp>
      <p:sp>
        <p:nvSpPr>
          <p:cNvPr id="148483"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8484" name="Object 3"/>
          <p:cNvGraphicFramePr>
            <a:graphicFrameLocks noGrp="1" noChangeAspect="1"/>
          </p:cNvGraphicFramePr>
          <p:nvPr>
            <p:ph idx="1"/>
          </p:nvPr>
        </p:nvGraphicFramePr>
        <p:xfrm>
          <a:off x="1187450" y="1052513"/>
          <a:ext cx="7200900" cy="4967287"/>
        </p:xfrm>
        <a:graphic>
          <a:graphicData uri="http://schemas.openxmlformats.org/presentationml/2006/ole">
            <mc:AlternateContent xmlns:mc="http://schemas.openxmlformats.org/markup-compatibility/2006">
              <mc:Choice xmlns:v="urn:schemas-microsoft-com:vml" Requires="v">
                <p:oleObj spid="_x0000_s34892" name="Imagen de mapa de bits" r:id="rId3" imgW="5342857" imgH="3685714" progId="Paint.Picture">
                  <p:embed/>
                </p:oleObj>
              </mc:Choice>
              <mc:Fallback>
                <p:oleObj name="Imagen de mapa de bits" r:id="rId3" imgW="5342857" imgH="368571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052513"/>
                        <a:ext cx="7200900" cy="4967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6901686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0BC2234-5605-40BD-9ADD-ED34D0DF8377}" type="slidenum">
              <a:rPr lang="es-ES_tradnl" altLang="es-ES">
                <a:latin typeface="Arial" panose="020B0604020202020204" pitchFamily="34" charset="0"/>
              </a:rPr>
              <a:pPr eaLnBrk="1" hangingPunct="1"/>
              <a:t>142</a:t>
            </a:fld>
            <a:endParaRPr lang="es-ES_tradnl" altLang="es-ES">
              <a:latin typeface="Arial" panose="020B0604020202020204" pitchFamily="34" charset="0"/>
            </a:endParaRPr>
          </a:p>
        </p:txBody>
      </p:sp>
      <p:sp>
        <p:nvSpPr>
          <p:cNvPr id="149507"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49508" name="Object 3"/>
          <p:cNvGraphicFramePr>
            <a:graphicFrameLocks noGrp="1" noChangeAspect="1"/>
          </p:cNvGraphicFramePr>
          <p:nvPr>
            <p:ph idx="1"/>
          </p:nvPr>
        </p:nvGraphicFramePr>
        <p:xfrm>
          <a:off x="1042988" y="1125538"/>
          <a:ext cx="7200900" cy="4830762"/>
        </p:xfrm>
        <a:graphic>
          <a:graphicData uri="http://schemas.openxmlformats.org/presentationml/2006/ole">
            <mc:AlternateContent xmlns:mc="http://schemas.openxmlformats.org/markup-compatibility/2006">
              <mc:Choice xmlns:v="urn:schemas-microsoft-com:vml" Requires="v">
                <p:oleObj spid="_x0000_s35916" name="Imagen de mapa de bits" r:id="rId3" imgW="5439534" imgH="3648584" progId="Paint.Picture">
                  <p:embed/>
                </p:oleObj>
              </mc:Choice>
              <mc:Fallback>
                <p:oleObj name="Imagen de mapa de bits" r:id="rId3" imgW="5439534" imgH="364858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125538"/>
                        <a:ext cx="7200900" cy="4830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4977263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FB0A965-F1A0-46B0-96D9-D34CD69112DE}" type="slidenum">
              <a:rPr lang="es-ES_tradnl" altLang="es-ES">
                <a:latin typeface="Arial" panose="020B0604020202020204" pitchFamily="34" charset="0"/>
              </a:rPr>
              <a:pPr eaLnBrk="1" hangingPunct="1"/>
              <a:t>143</a:t>
            </a:fld>
            <a:endParaRPr lang="es-ES_tradnl" altLang="es-ES">
              <a:latin typeface="Arial" panose="020B0604020202020204" pitchFamily="34" charset="0"/>
            </a:endParaRPr>
          </a:p>
        </p:txBody>
      </p:sp>
      <p:sp>
        <p:nvSpPr>
          <p:cNvPr id="150531" name="Rectangle 4"/>
          <p:cNvSpPr>
            <a:spLocks noGrp="1" noChangeArrowheads="1"/>
          </p:cNvSpPr>
          <p:nvPr>
            <p:ph type="title"/>
          </p:nvPr>
        </p:nvSpPr>
        <p:spPr/>
        <p:txBody>
          <a:bodyPr/>
          <a:lstStyle/>
          <a:p>
            <a:pPr eaLnBrk="1" hangingPunct="1"/>
            <a:r>
              <a:rPr lang="es-ES" altLang="es-ES" sz="2400" b="1" smtClean="0"/>
              <a:t>MODELO OSI</a:t>
            </a:r>
            <a:endParaRPr lang="es-ES_tradnl" altLang="es-ES" sz="2400" b="1" smtClean="0"/>
          </a:p>
        </p:txBody>
      </p:sp>
      <p:graphicFrame>
        <p:nvGraphicFramePr>
          <p:cNvPr id="150532" name="Object 3"/>
          <p:cNvGraphicFramePr>
            <a:graphicFrameLocks noGrp="1" noChangeAspect="1"/>
          </p:cNvGraphicFramePr>
          <p:nvPr>
            <p:ph idx="1"/>
          </p:nvPr>
        </p:nvGraphicFramePr>
        <p:xfrm>
          <a:off x="1116013" y="1052513"/>
          <a:ext cx="6840537" cy="4513262"/>
        </p:xfrm>
        <a:graphic>
          <a:graphicData uri="http://schemas.openxmlformats.org/presentationml/2006/ole">
            <mc:AlternateContent xmlns:mc="http://schemas.openxmlformats.org/markup-compatibility/2006">
              <mc:Choice xmlns:v="urn:schemas-microsoft-com:vml" Requires="v">
                <p:oleObj spid="_x0000_s36940" name="Imagen de mapa de bits" r:id="rId3" imgW="5401429" imgH="3561905" progId="Paint.Picture">
                  <p:embed/>
                </p:oleObj>
              </mc:Choice>
              <mc:Fallback>
                <p:oleObj name="Imagen de mapa de bits" r:id="rId3" imgW="5401429" imgH="356190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052513"/>
                        <a:ext cx="6840537" cy="451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908237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es-ES" i="1" u="sng" dirty="0" smtClean="0">
                <a:solidFill>
                  <a:srgbClr val="FF0000"/>
                </a:solidFill>
                <a:effectLst>
                  <a:outerShdw blurRad="38100" dist="38100" dir="2700000" algn="tl">
                    <a:srgbClr val="000000">
                      <a:alpha val="43137"/>
                    </a:srgbClr>
                  </a:outerShdw>
                </a:effectLst>
              </a:rPr>
              <a:t>Modelo TCP/IP</a:t>
            </a:r>
            <a:endParaRPr lang="es-ES" i="1" u="sng" dirty="0">
              <a:solidFill>
                <a:srgbClr val="FF0000"/>
              </a:solidFill>
              <a:effectLst>
                <a:outerShdw blurRad="38100" dist="38100" dir="2700000" algn="tl">
                  <a:srgbClr val="000000">
                    <a:alpha val="43137"/>
                  </a:srgbClr>
                </a:outerShdw>
              </a:effectLst>
            </a:endParaRPr>
          </a:p>
        </p:txBody>
      </p:sp>
      <p:sp>
        <p:nvSpPr>
          <p:cNvPr id="151555"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88CE6A2-C249-4278-AF5B-66AC81CC03BF}" type="slidenum">
              <a:rPr lang="es-ES_tradnl" altLang="es-ES">
                <a:latin typeface="Arial" panose="020B0604020202020204" pitchFamily="34" charset="0"/>
              </a:rPr>
              <a:pPr eaLnBrk="1" hangingPunct="1"/>
              <a:t>144</a:t>
            </a:fld>
            <a:endParaRPr lang="es-ES_tradnl" altLang="es-ES">
              <a:latin typeface="Arial" panose="020B0604020202020204" pitchFamily="34" charset="0"/>
            </a:endParaRPr>
          </a:p>
        </p:txBody>
      </p:sp>
    </p:spTree>
    <p:extLst>
      <p:ext uri="{BB962C8B-B14F-4D97-AF65-F5344CB8AC3E}">
        <p14:creationId xmlns:p14="http://schemas.microsoft.com/office/powerpoint/2010/main" val="39810571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56C207FE-9176-4B12-951B-302C949F9329}" type="slidenum">
              <a:rPr lang="es-ES_tradnl" altLang="es-ES">
                <a:latin typeface="Arial" panose="020B0604020202020204" pitchFamily="34" charset="0"/>
              </a:rPr>
              <a:pPr eaLnBrk="1" hangingPunct="1"/>
              <a:t>145</a:t>
            </a:fld>
            <a:endParaRPr lang="es-ES_tradnl" altLang="es-ES">
              <a:latin typeface="Arial" panose="020B0604020202020204" pitchFamily="34" charset="0"/>
            </a:endParaRPr>
          </a:p>
        </p:txBody>
      </p:sp>
      <p:sp>
        <p:nvSpPr>
          <p:cNvPr id="152579"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2580" name="Rectangle 3"/>
          <p:cNvSpPr>
            <a:spLocks noGrp="1" noChangeArrowheads="1"/>
          </p:cNvSpPr>
          <p:nvPr>
            <p:ph type="body" idx="1"/>
          </p:nvPr>
        </p:nvSpPr>
        <p:spPr/>
        <p:txBody>
          <a:bodyPr/>
          <a:lstStyle/>
          <a:p>
            <a:pPr marL="0" indent="0" algn="just" eaLnBrk="1" hangingPunct="1">
              <a:lnSpc>
                <a:spcPct val="90000"/>
              </a:lnSpc>
              <a:buFontTx/>
              <a:buNone/>
            </a:pPr>
            <a:r>
              <a:rPr lang="es-ES_tradnl" altLang="es-ES" sz="2400" smtClean="0"/>
              <a:t>El estándar histórico y técnico de la Internet es el modelo TCP/IP. </a:t>
            </a:r>
          </a:p>
          <a:p>
            <a:pPr marL="0" indent="0" algn="just" eaLnBrk="1" hangingPunct="1">
              <a:lnSpc>
                <a:spcPct val="90000"/>
              </a:lnSpc>
              <a:buFontTx/>
              <a:buNone/>
            </a:pPr>
            <a:r>
              <a:rPr lang="es-ES_tradnl" altLang="es-ES" sz="2400" smtClean="0"/>
              <a:t>El Departamento de Defensa de EE.UU. (DoD) creó el modelo de referencia TCP/IP porque necesitaba diseñar una red que pudiera sobrevivir ante cualquier circunstancia, incluso una guerra nuclear. </a:t>
            </a:r>
          </a:p>
          <a:p>
            <a:pPr marL="0" indent="0" algn="just" eaLnBrk="1" hangingPunct="1">
              <a:lnSpc>
                <a:spcPct val="90000"/>
              </a:lnSpc>
              <a:buFontTx/>
              <a:buNone/>
            </a:pPr>
            <a:r>
              <a:rPr lang="es-ES_tradnl" altLang="es-ES" sz="2400" smtClean="0"/>
              <a:t>En un mundo conectado por diferentes tipos de medios de comunicación, como alambres de cobre, microondas, fibras ópticas y enlaces satelitales, el DoD quería que la transmisión de paquetes se realizara cada vez que se iniciaba y bajo cualquier circunstancia. </a:t>
            </a:r>
          </a:p>
          <a:p>
            <a:pPr marL="0" indent="0" algn="just" eaLnBrk="1" hangingPunct="1">
              <a:lnSpc>
                <a:spcPct val="90000"/>
              </a:lnSpc>
              <a:buFontTx/>
              <a:buNone/>
            </a:pPr>
            <a:r>
              <a:rPr lang="es-ES_tradnl" altLang="es-ES" sz="2400" smtClean="0"/>
              <a:t>Este difícil problema de diseño dio origen a la creación del modelo TCP/IP. </a:t>
            </a:r>
          </a:p>
        </p:txBody>
      </p:sp>
    </p:spTree>
    <p:extLst>
      <p:ext uri="{BB962C8B-B14F-4D97-AF65-F5344CB8AC3E}">
        <p14:creationId xmlns:p14="http://schemas.microsoft.com/office/powerpoint/2010/main" val="3313848666"/>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CA35AEF-CAF6-4752-B756-AC1E4B0760A7}" type="slidenum">
              <a:rPr lang="es-ES_tradnl" altLang="es-ES">
                <a:latin typeface="Arial" panose="020B0604020202020204" pitchFamily="34" charset="0"/>
              </a:rPr>
              <a:pPr eaLnBrk="1" hangingPunct="1"/>
              <a:t>146</a:t>
            </a:fld>
            <a:endParaRPr lang="es-ES_tradnl" altLang="es-ES">
              <a:latin typeface="Arial" panose="020B0604020202020204" pitchFamily="34" charset="0"/>
            </a:endParaRPr>
          </a:p>
        </p:txBody>
      </p:sp>
      <p:sp>
        <p:nvSpPr>
          <p:cNvPr id="153603"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3604"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A diferencia de las tecnologías de networking propietarias mencionadas anteriormente, el TCP/IP se desarrolló como un estándar abierto. Esto significaba que cualquier persona podía usar el TCP/IP. Esto contribuyó a acelerar el desarrollo de TCP/IP como un estándar. </a:t>
            </a:r>
          </a:p>
          <a:p>
            <a:pPr algn="just" eaLnBrk="1" hangingPunct="1">
              <a:lnSpc>
                <a:spcPct val="80000"/>
              </a:lnSpc>
              <a:buFontTx/>
              <a:buNone/>
            </a:pPr>
            <a:r>
              <a:rPr lang="es-ES_tradnl" altLang="es-ES" sz="2000" smtClean="0"/>
              <a:t>	El modelo TCP/IP tiene las siguientes cuatro capas: </a:t>
            </a:r>
          </a:p>
          <a:p>
            <a:pPr algn="just" eaLnBrk="1" hangingPunct="1">
              <a:lnSpc>
                <a:spcPct val="80000"/>
              </a:lnSpc>
            </a:pPr>
            <a:r>
              <a:rPr lang="es-ES_tradnl" altLang="es-ES" sz="2000" smtClean="0"/>
              <a:t>Capa de aplicación </a:t>
            </a:r>
          </a:p>
          <a:p>
            <a:pPr algn="just" eaLnBrk="1" hangingPunct="1">
              <a:lnSpc>
                <a:spcPct val="80000"/>
              </a:lnSpc>
            </a:pPr>
            <a:r>
              <a:rPr lang="es-ES_tradnl" altLang="es-ES" sz="2000" smtClean="0"/>
              <a:t>Capa de transporte </a:t>
            </a:r>
          </a:p>
          <a:p>
            <a:pPr algn="just" eaLnBrk="1" hangingPunct="1">
              <a:lnSpc>
                <a:spcPct val="80000"/>
              </a:lnSpc>
            </a:pPr>
            <a:r>
              <a:rPr lang="es-ES_tradnl" altLang="es-ES" sz="2000" smtClean="0"/>
              <a:t>Capa de Internet </a:t>
            </a:r>
          </a:p>
          <a:p>
            <a:pPr algn="just" eaLnBrk="1" hangingPunct="1">
              <a:lnSpc>
                <a:spcPct val="80000"/>
              </a:lnSpc>
            </a:pPr>
            <a:r>
              <a:rPr lang="es-ES_tradnl" altLang="es-ES" sz="2000" smtClean="0"/>
              <a:t>Capa de acceso a la red   </a:t>
            </a:r>
          </a:p>
          <a:p>
            <a:pPr algn="just" eaLnBrk="1" hangingPunct="1">
              <a:lnSpc>
                <a:spcPct val="80000"/>
              </a:lnSpc>
              <a:buFontTx/>
              <a:buNone/>
            </a:pPr>
            <a:r>
              <a:rPr lang="es-ES_tradnl" altLang="es-ES" sz="2000" smtClean="0"/>
              <a:t>	Aunque algunas de las capas del modelo TCP/IP tienen el mismo nombre que las capas del modelo OSI, las capas de ambos modelos no se corresponden de manera exacta. Lo más notable es que la capa de aplicación posee funciones diferentes en cada modelo. </a:t>
            </a:r>
          </a:p>
        </p:txBody>
      </p:sp>
    </p:spTree>
    <p:extLst>
      <p:ext uri="{BB962C8B-B14F-4D97-AF65-F5344CB8AC3E}">
        <p14:creationId xmlns:p14="http://schemas.microsoft.com/office/powerpoint/2010/main" val="45428965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829E06C-3A96-41B3-8D34-04E606D13DBD}" type="slidenum">
              <a:rPr lang="es-ES_tradnl" altLang="es-ES">
                <a:latin typeface="Arial" panose="020B0604020202020204" pitchFamily="34" charset="0"/>
              </a:rPr>
              <a:pPr eaLnBrk="1" hangingPunct="1"/>
              <a:t>147</a:t>
            </a:fld>
            <a:endParaRPr lang="es-ES_tradnl" altLang="es-ES">
              <a:latin typeface="Arial" panose="020B0604020202020204" pitchFamily="34" charset="0"/>
            </a:endParaRPr>
          </a:p>
        </p:txBody>
      </p:sp>
      <p:sp>
        <p:nvSpPr>
          <p:cNvPr id="154627"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4628"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Los diseñadores de TCP/IP sintieron que la capa de aplicación debía incluir los detalles de las capas de sesión y presentación OSI. Crearon una capa de aplicación que maneja aspectos de representación, codificación y control de diálogo. </a:t>
            </a:r>
          </a:p>
          <a:p>
            <a:pPr algn="just" eaLnBrk="1" hangingPunct="1">
              <a:lnSpc>
                <a:spcPct val="80000"/>
              </a:lnSpc>
              <a:buFontTx/>
              <a:buNone/>
            </a:pPr>
            <a:r>
              <a:rPr lang="es-ES_tradnl" altLang="es-ES" sz="2000" smtClean="0"/>
              <a:t>	La capa de transporte se encarga de los aspectos de calidad del servicio con respecto a la confiabilidad, el control de flujo y la corrección de errores. Uno de sus protocolos, el protocolo para el control de la transmisión (TCP), ofrece maneras flexibles y de alta calidad para crear comunicaciones de red confiables, sin problemas de flujo y con un nivel de error bajo. </a:t>
            </a:r>
          </a:p>
          <a:p>
            <a:pPr algn="just" eaLnBrk="1" hangingPunct="1">
              <a:lnSpc>
                <a:spcPct val="80000"/>
              </a:lnSpc>
              <a:buFontTx/>
              <a:buNone/>
            </a:pPr>
            <a:r>
              <a:rPr lang="es-ES_tradnl" altLang="es-ES" sz="2000" smtClean="0"/>
              <a:t>	TCP es un protocolo orientado a conexión. Mantiene un diálogo entre el origen y el destino mientras empaqueta la información de la capa de aplicación en unidades denominadas segmentos. Orientado a conexión no significa que existe un circuito entre los computadores que se comunican. Significa que segmentos de la Capa 4 viajan de un lado a otro entre dos hosts para comprobar que la conexión exista lógicamente para un determinado período. </a:t>
            </a:r>
          </a:p>
        </p:txBody>
      </p:sp>
    </p:spTree>
    <p:extLst>
      <p:ext uri="{BB962C8B-B14F-4D97-AF65-F5344CB8AC3E}">
        <p14:creationId xmlns:p14="http://schemas.microsoft.com/office/powerpoint/2010/main" val="2962480401"/>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BB92C5B-D512-49F9-B241-19285E7D04A1}" type="slidenum">
              <a:rPr lang="es-ES_tradnl" altLang="es-ES">
                <a:latin typeface="Arial" panose="020B0604020202020204" pitchFamily="34" charset="0"/>
              </a:rPr>
              <a:pPr eaLnBrk="1" hangingPunct="1"/>
              <a:t>148</a:t>
            </a:fld>
            <a:endParaRPr lang="es-ES_tradnl" altLang="es-ES">
              <a:latin typeface="Arial" panose="020B0604020202020204" pitchFamily="34" charset="0"/>
            </a:endParaRPr>
          </a:p>
        </p:txBody>
      </p:sp>
      <p:sp>
        <p:nvSpPr>
          <p:cNvPr id="155651"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5652" name="Rectangle 3"/>
          <p:cNvSpPr>
            <a:spLocks noGrp="1" noChangeArrowheads="1"/>
          </p:cNvSpPr>
          <p:nvPr>
            <p:ph type="body" idx="1"/>
          </p:nvPr>
        </p:nvSpPr>
        <p:spPr/>
        <p:txBody>
          <a:bodyPr/>
          <a:lstStyle/>
          <a:p>
            <a:pPr algn="just" eaLnBrk="1" hangingPunct="1">
              <a:lnSpc>
                <a:spcPct val="90000"/>
              </a:lnSpc>
              <a:buFontTx/>
              <a:buNone/>
            </a:pPr>
            <a:r>
              <a:rPr lang="es-ES_tradnl" altLang="es-ES" sz="2400" smtClean="0"/>
              <a:t>	El propósito de la capa Internet es dividir los segmentos TCP en paquetes y enviarlos desde cualquier red. Los paquetes llegan a la red de destino independientemente de la ruta que utilizaron para llegar allí. El protocolo específico que rige esta capa se denomina Protocolo Internet (IP). En esta capa se produce la determinación de la mejor ruta y la conmutación de paquetes. </a:t>
            </a:r>
          </a:p>
          <a:p>
            <a:pPr algn="just" eaLnBrk="1" hangingPunct="1">
              <a:lnSpc>
                <a:spcPct val="90000"/>
              </a:lnSpc>
              <a:buFontTx/>
              <a:buNone/>
            </a:pPr>
            <a:r>
              <a:rPr lang="es-ES_tradnl" altLang="es-ES" sz="2400" smtClean="0"/>
              <a:t>	La relación entre IP y TCP es importante. Se puede pensar en el IP como el que indica el camino a los paquetes, en tanto que el TCP brinda un transporte seguro. </a:t>
            </a:r>
          </a:p>
        </p:txBody>
      </p:sp>
    </p:spTree>
    <p:extLst>
      <p:ext uri="{BB962C8B-B14F-4D97-AF65-F5344CB8AC3E}">
        <p14:creationId xmlns:p14="http://schemas.microsoft.com/office/powerpoint/2010/main" val="2034519146"/>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6C9870A-F57D-4652-950A-4B0E9410FD57}" type="slidenum">
              <a:rPr lang="es-ES_tradnl" altLang="es-ES">
                <a:latin typeface="Arial" panose="020B0604020202020204" pitchFamily="34" charset="0"/>
              </a:rPr>
              <a:pPr eaLnBrk="1" hangingPunct="1"/>
              <a:t>149</a:t>
            </a:fld>
            <a:endParaRPr lang="es-ES_tradnl" altLang="es-ES">
              <a:latin typeface="Arial" panose="020B0604020202020204" pitchFamily="34" charset="0"/>
            </a:endParaRPr>
          </a:p>
        </p:txBody>
      </p:sp>
      <p:sp>
        <p:nvSpPr>
          <p:cNvPr id="156675"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6676"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El nombre de la capa de acceso de red es muy amplio y se presta a confusión. También se conoce como la capa de host a red. Esta capa guarda relación con todos los componentes, tanto físicos como lógicos, necesarios para lograr un enlace físico. Incluye los detalles de tecnología de networking, y todos los detalles de las capas física y de enlace de datos del modelo OSI. </a:t>
            </a:r>
          </a:p>
          <a:p>
            <a:pPr algn="just" eaLnBrk="1" hangingPunct="1">
              <a:lnSpc>
                <a:spcPct val="80000"/>
              </a:lnSpc>
              <a:buFontTx/>
              <a:buNone/>
            </a:pPr>
            <a:r>
              <a:rPr lang="es-ES_tradnl" altLang="es-ES" sz="2000" smtClean="0"/>
              <a:t>	La figura   ilustra algunos de los protocolos comunes especificados por las capas del modelo de referencia TCP/IP. Algunos de los protocolos de capa de aplicación más comúnmente usados incluyen los siguientes: </a:t>
            </a:r>
          </a:p>
          <a:p>
            <a:pPr algn="just" eaLnBrk="1" hangingPunct="1">
              <a:lnSpc>
                <a:spcPct val="80000"/>
              </a:lnSpc>
            </a:pPr>
            <a:r>
              <a:rPr lang="es-ES_tradnl" altLang="es-ES" sz="2000" smtClean="0"/>
              <a:t>Protocolo de Transferencia de Archivos (FTP) </a:t>
            </a:r>
          </a:p>
          <a:p>
            <a:pPr algn="just" eaLnBrk="1" hangingPunct="1">
              <a:lnSpc>
                <a:spcPct val="80000"/>
              </a:lnSpc>
            </a:pPr>
            <a:r>
              <a:rPr lang="es-ES_tradnl" altLang="es-ES" sz="2000" smtClean="0"/>
              <a:t>Protocolo de Transferencia de Hipertexto (HTTP) </a:t>
            </a:r>
          </a:p>
          <a:p>
            <a:pPr algn="just" eaLnBrk="1" hangingPunct="1">
              <a:lnSpc>
                <a:spcPct val="80000"/>
              </a:lnSpc>
            </a:pPr>
            <a:r>
              <a:rPr lang="es-ES_tradnl" altLang="es-ES" sz="2000" smtClean="0"/>
              <a:t>Protocolo simple de transferencia de correo (SMTP) </a:t>
            </a:r>
          </a:p>
          <a:p>
            <a:pPr algn="just" eaLnBrk="1" hangingPunct="1">
              <a:lnSpc>
                <a:spcPct val="80000"/>
              </a:lnSpc>
            </a:pPr>
            <a:r>
              <a:rPr lang="es-ES_tradnl" altLang="es-ES" sz="2000" smtClean="0"/>
              <a:t>Sistema de denominación de dominios (DNS) </a:t>
            </a:r>
          </a:p>
          <a:p>
            <a:pPr algn="just" eaLnBrk="1" hangingPunct="1">
              <a:lnSpc>
                <a:spcPct val="80000"/>
              </a:lnSpc>
            </a:pPr>
            <a:r>
              <a:rPr lang="es-ES_tradnl" altLang="es-ES" sz="2000" smtClean="0"/>
              <a:t>Protocolo Trivial de Transferencia de Archivos (TFTP) </a:t>
            </a:r>
          </a:p>
          <a:p>
            <a:pPr algn="just" eaLnBrk="1" hangingPunct="1">
              <a:lnSpc>
                <a:spcPct val="80000"/>
              </a:lnSpc>
            </a:pPr>
            <a:endParaRPr lang="es-ES_tradnl" altLang="es-ES" sz="2000" smtClean="0"/>
          </a:p>
        </p:txBody>
      </p:sp>
    </p:spTree>
    <p:extLst>
      <p:ext uri="{BB962C8B-B14F-4D97-AF65-F5344CB8AC3E}">
        <p14:creationId xmlns:p14="http://schemas.microsoft.com/office/powerpoint/2010/main" val="16999567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44237163-E3BC-4D13-AC75-567709E17569}" type="slidenum">
              <a:rPr lang="es-ES_tradnl" altLang="es-ES">
                <a:latin typeface="Arial" panose="020B0604020202020204" pitchFamily="34" charset="0"/>
              </a:rPr>
              <a:pPr eaLnBrk="1" hangingPunct="1"/>
              <a:t>150</a:t>
            </a:fld>
            <a:endParaRPr lang="es-ES_tradnl" altLang="es-ES">
              <a:latin typeface="Arial" panose="020B0604020202020204" pitchFamily="34" charset="0"/>
            </a:endParaRPr>
          </a:p>
        </p:txBody>
      </p:sp>
      <p:sp>
        <p:nvSpPr>
          <p:cNvPr id="157699"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7700"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Los protocolos de capa de transporte comunes incluyen: </a:t>
            </a:r>
          </a:p>
          <a:p>
            <a:pPr algn="just" eaLnBrk="1" hangingPunct="1">
              <a:lnSpc>
                <a:spcPct val="80000"/>
              </a:lnSpc>
            </a:pPr>
            <a:r>
              <a:rPr lang="es-ES_tradnl" altLang="es-ES" sz="2000" smtClean="0"/>
              <a:t>Protocolo para el Control del Transporte (TCP) </a:t>
            </a:r>
          </a:p>
          <a:p>
            <a:pPr algn="just" eaLnBrk="1" hangingPunct="1">
              <a:lnSpc>
                <a:spcPct val="80000"/>
              </a:lnSpc>
            </a:pPr>
            <a:r>
              <a:rPr lang="es-ES_tradnl" altLang="es-ES" sz="2000" smtClean="0"/>
              <a:t>Protocolo de Datagrama de Usuario (UDP) </a:t>
            </a:r>
          </a:p>
          <a:p>
            <a:pPr algn="just" eaLnBrk="1" hangingPunct="1">
              <a:lnSpc>
                <a:spcPct val="80000"/>
              </a:lnSpc>
            </a:pPr>
            <a:endParaRPr lang="es-ES_tradnl" altLang="es-ES" sz="2000" smtClean="0"/>
          </a:p>
          <a:p>
            <a:pPr algn="just" eaLnBrk="1" hangingPunct="1">
              <a:lnSpc>
                <a:spcPct val="80000"/>
              </a:lnSpc>
              <a:buFontTx/>
              <a:buNone/>
            </a:pPr>
            <a:r>
              <a:rPr lang="es-ES_tradnl" altLang="es-ES" sz="2000" smtClean="0"/>
              <a:t>	El protocolo principal de la capa Internet es: </a:t>
            </a:r>
          </a:p>
          <a:p>
            <a:pPr algn="just" eaLnBrk="1" hangingPunct="1">
              <a:lnSpc>
                <a:spcPct val="80000"/>
              </a:lnSpc>
            </a:pPr>
            <a:r>
              <a:rPr lang="es-ES_tradnl" altLang="es-ES" sz="2000" smtClean="0"/>
              <a:t>Protocolo Internet (IP) </a:t>
            </a:r>
          </a:p>
          <a:p>
            <a:pPr algn="just" eaLnBrk="1" hangingPunct="1">
              <a:lnSpc>
                <a:spcPct val="80000"/>
              </a:lnSpc>
            </a:pPr>
            <a:endParaRPr lang="es-ES_tradnl" altLang="es-ES" sz="2000" smtClean="0"/>
          </a:p>
          <a:p>
            <a:pPr algn="just" eaLnBrk="1" hangingPunct="1">
              <a:lnSpc>
                <a:spcPct val="80000"/>
              </a:lnSpc>
              <a:buFontTx/>
              <a:buNone/>
            </a:pPr>
            <a:r>
              <a:rPr lang="es-ES_tradnl" altLang="es-ES" sz="2000" smtClean="0"/>
              <a:t>	La capa de acceso de red se refiere a cualquier tecnología en particular utilizada en una red específica. </a:t>
            </a:r>
          </a:p>
          <a:p>
            <a:pPr algn="just" eaLnBrk="1" hangingPunct="1">
              <a:lnSpc>
                <a:spcPct val="80000"/>
              </a:lnSpc>
              <a:buFontTx/>
              <a:buNone/>
            </a:pPr>
            <a:r>
              <a:rPr lang="es-ES_tradnl" altLang="es-ES" sz="2000" smtClean="0"/>
              <a:t>	Independientemente de los servicios de aplicación de red que se brinden y del protocolo de transferencia que se utilice, existe un solo protocolo de Internet, IP. Esta es una decisión de diseño deliberada. IP sirve como protocolo universal que permite que cualquier computador en cualquier parte del mundo pueda comunicarse en cualquier momento. </a:t>
            </a:r>
          </a:p>
        </p:txBody>
      </p:sp>
    </p:spTree>
    <p:extLst>
      <p:ext uri="{BB962C8B-B14F-4D97-AF65-F5344CB8AC3E}">
        <p14:creationId xmlns:p14="http://schemas.microsoft.com/office/powerpoint/2010/main" val="88308542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E0CB9FA-1529-4398-916D-71A349DF403D}" type="slidenum">
              <a:rPr lang="es-ES_tradnl" altLang="es-ES">
                <a:latin typeface="Arial" panose="020B0604020202020204" pitchFamily="34" charset="0"/>
              </a:rPr>
              <a:pPr eaLnBrk="1" hangingPunct="1"/>
              <a:t>151</a:t>
            </a:fld>
            <a:endParaRPr lang="es-ES_tradnl" altLang="es-ES">
              <a:latin typeface="Arial" panose="020B0604020202020204" pitchFamily="34" charset="0"/>
            </a:endParaRPr>
          </a:p>
        </p:txBody>
      </p:sp>
      <p:sp>
        <p:nvSpPr>
          <p:cNvPr id="158723"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8724" name="Rectangle 3"/>
          <p:cNvSpPr>
            <a:spLocks noGrp="1" noChangeArrowheads="1"/>
          </p:cNvSpPr>
          <p:nvPr>
            <p:ph type="body" idx="1"/>
          </p:nvPr>
        </p:nvSpPr>
        <p:spPr/>
        <p:txBody>
          <a:bodyPr/>
          <a:lstStyle/>
          <a:p>
            <a:pPr algn="just" eaLnBrk="1" hangingPunct="1">
              <a:lnSpc>
                <a:spcPct val="80000"/>
              </a:lnSpc>
              <a:buFontTx/>
              <a:buNone/>
            </a:pPr>
            <a:r>
              <a:rPr lang="es-ES_tradnl" altLang="es-ES" sz="2000" smtClean="0"/>
              <a:t>	Comparando el modelo OSI con los modelos TCP/IP, surgen algunas similitudes y diferencias. </a:t>
            </a:r>
          </a:p>
          <a:p>
            <a:pPr algn="just" eaLnBrk="1" hangingPunct="1">
              <a:lnSpc>
                <a:spcPct val="80000"/>
              </a:lnSpc>
              <a:buFontTx/>
              <a:buNone/>
            </a:pPr>
            <a:r>
              <a:rPr lang="es-ES_tradnl" altLang="es-ES" sz="2000" smtClean="0"/>
              <a:t> </a:t>
            </a:r>
          </a:p>
          <a:p>
            <a:pPr algn="just" eaLnBrk="1" hangingPunct="1">
              <a:lnSpc>
                <a:spcPct val="80000"/>
              </a:lnSpc>
              <a:buFontTx/>
              <a:buNone/>
            </a:pPr>
            <a:r>
              <a:rPr lang="es-ES_tradnl" altLang="es-ES" sz="2000" smtClean="0"/>
              <a:t>	Las similitudes incluyen: </a:t>
            </a:r>
          </a:p>
          <a:p>
            <a:pPr algn="just" eaLnBrk="1" hangingPunct="1">
              <a:lnSpc>
                <a:spcPct val="80000"/>
              </a:lnSpc>
            </a:pPr>
            <a:r>
              <a:rPr lang="es-ES_tradnl" altLang="es-ES" sz="2000" smtClean="0"/>
              <a:t>Ambos se dividen en capas. </a:t>
            </a:r>
          </a:p>
          <a:p>
            <a:pPr algn="just" eaLnBrk="1" hangingPunct="1">
              <a:lnSpc>
                <a:spcPct val="80000"/>
              </a:lnSpc>
            </a:pPr>
            <a:r>
              <a:rPr lang="es-ES_tradnl" altLang="es-ES" sz="2000" smtClean="0"/>
              <a:t>Ambos tienen capas de aplicación, aunque incluyen servicios muy distintos. </a:t>
            </a:r>
          </a:p>
          <a:p>
            <a:pPr algn="just" eaLnBrk="1" hangingPunct="1">
              <a:lnSpc>
                <a:spcPct val="80000"/>
              </a:lnSpc>
            </a:pPr>
            <a:r>
              <a:rPr lang="es-ES_tradnl" altLang="es-ES" sz="2000" smtClean="0"/>
              <a:t>Ambos tienen capas de transporte y de red similares. </a:t>
            </a:r>
          </a:p>
          <a:p>
            <a:pPr algn="just" eaLnBrk="1" hangingPunct="1">
              <a:lnSpc>
                <a:spcPct val="80000"/>
              </a:lnSpc>
            </a:pPr>
            <a:r>
              <a:rPr lang="es-ES_tradnl" altLang="es-ES" sz="2000" smtClean="0"/>
              <a:t>Ambos modelos deben ser conocidos por los profesionales de networking. </a:t>
            </a:r>
          </a:p>
          <a:p>
            <a:pPr algn="just" eaLnBrk="1" hangingPunct="1">
              <a:lnSpc>
                <a:spcPct val="80000"/>
              </a:lnSpc>
            </a:pPr>
            <a:r>
              <a:rPr lang="es-ES_tradnl" altLang="es-ES" sz="2000" smtClean="0"/>
              <a:t>Ambos suponen que se conmutan paquetes. Esto significa que los paquetes individuales pueden usar rutas diferentes para llegar al mismo destino. Esto se contrasta con las redes conmutadas por circuito, en las que todos los paquetes toman la misma ruta. </a:t>
            </a:r>
          </a:p>
        </p:txBody>
      </p:sp>
    </p:spTree>
    <p:extLst>
      <p:ext uri="{BB962C8B-B14F-4D97-AF65-F5344CB8AC3E}">
        <p14:creationId xmlns:p14="http://schemas.microsoft.com/office/powerpoint/2010/main" val="1464502754"/>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5B4B92F-3087-4C66-A190-5BE297DE6E3E}" type="slidenum">
              <a:rPr lang="es-ES_tradnl" altLang="es-ES">
                <a:latin typeface="Arial" panose="020B0604020202020204" pitchFamily="34" charset="0"/>
              </a:rPr>
              <a:pPr eaLnBrk="1" hangingPunct="1"/>
              <a:t>152</a:t>
            </a:fld>
            <a:endParaRPr lang="es-ES_tradnl" altLang="es-ES">
              <a:latin typeface="Arial" panose="020B0604020202020204" pitchFamily="34" charset="0"/>
            </a:endParaRPr>
          </a:p>
        </p:txBody>
      </p:sp>
      <p:sp>
        <p:nvSpPr>
          <p:cNvPr id="159747"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59748" name="Rectangle 3"/>
          <p:cNvSpPr>
            <a:spLocks noGrp="1" noChangeArrowheads="1"/>
          </p:cNvSpPr>
          <p:nvPr>
            <p:ph type="body" idx="1"/>
          </p:nvPr>
        </p:nvSpPr>
        <p:spPr/>
        <p:txBody>
          <a:bodyPr/>
          <a:lstStyle/>
          <a:p>
            <a:pPr algn="just" eaLnBrk="1" hangingPunct="1">
              <a:lnSpc>
                <a:spcPct val="80000"/>
              </a:lnSpc>
              <a:buFontTx/>
              <a:buNone/>
            </a:pPr>
            <a:r>
              <a:rPr lang="es-ES_tradnl" altLang="es-ES" sz="2400" smtClean="0"/>
              <a:t>	Las diferencias incluyen: </a:t>
            </a:r>
          </a:p>
          <a:p>
            <a:pPr algn="just" eaLnBrk="1" hangingPunct="1">
              <a:lnSpc>
                <a:spcPct val="80000"/>
              </a:lnSpc>
            </a:pPr>
            <a:r>
              <a:rPr lang="es-ES_tradnl" altLang="es-ES" sz="2400" smtClean="0"/>
              <a:t>TCP/IP combina las funciones de la capa de presentación y de sesión en la capa de aplicación. </a:t>
            </a:r>
          </a:p>
          <a:p>
            <a:pPr algn="just" eaLnBrk="1" hangingPunct="1">
              <a:lnSpc>
                <a:spcPct val="80000"/>
              </a:lnSpc>
            </a:pPr>
            <a:r>
              <a:rPr lang="es-ES_tradnl" altLang="es-ES" sz="2400" smtClean="0"/>
              <a:t>TCP/IP combina la capa de enlace de datos y la capa física del modelo OSI en la capa de acceso de red. </a:t>
            </a:r>
          </a:p>
          <a:p>
            <a:pPr algn="just" eaLnBrk="1" hangingPunct="1">
              <a:lnSpc>
                <a:spcPct val="80000"/>
              </a:lnSpc>
            </a:pPr>
            <a:r>
              <a:rPr lang="es-ES_tradnl" altLang="es-ES" sz="2400" smtClean="0"/>
              <a:t>TCP/IP parece ser más simple porque tiene menos capas. </a:t>
            </a:r>
          </a:p>
          <a:p>
            <a:pPr algn="just" eaLnBrk="1" hangingPunct="1">
              <a:lnSpc>
                <a:spcPct val="80000"/>
              </a:lnSpc>
            </a:pPr>
            <a:r>
              <a:rPr lang="es-ES_tradnl" altLang="es-ES" sz="2400" smtClean="0"/>
              <a:t>Los protocolos TCP/IP son los estándares en torno a los cuales se desarrolló la Internet, de modo que la credibilidad del modelo TCP/IP se debe en gran parte a sus protocolos. En comparación, por lo general las redes no se desarrollan a partir del protocolo OSI, aunque el modelo OSI se usa como guía. </a:t>
            </a:r>
          </a:p>
          <a:p>
            <a:pPr eaLnBrk="1" hangingPunct="1">
              <a:lnSpc>
                <a:spcPct val="80000"/>
              </a:lnSpc>
            </a:pPr>
            <a:endParaRPr lang="es-ES_tradnl" altLang="es-ES" sz="2400" smtClean="0"/>
          </a:p>
        </p:txBody>
      </p:sp>
    </p:spTree>
    <p:extLst>
      <p:ext uri="{BB962C8B-B14F-4D97-AF65-F5344CB8AC3E}">
        <p14:creationId xmlns:p14="http://schemas.microsoft.com/office/powerpoint/2010/main" val="324353925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7C4D87E-EFA7-4EA4-B9BB-A1EF5F3ECFF0}" type="slidenum">
              <a:rPr lang="es-ES_tradnl" altLang="es-ES">
                <a:latin typeface="Arial" panose="020B0604020202020204" pitchFamily="34" charset="0"/>
              </a:rPr>
              <a:pPr eaLnBrk="1" hangingPunct="1"/>
              <a:t>153</a:t>
            </a:fld>
            <a:endParaRPr lang="es-ES_tradnl" altLang="es-ES">
              <a:latin typeface="Arial" panose="020B0604020202020204" pitchFamily="34" charset="0"/>
            </a:endParaRPr>
          </a:p>
        </p:txBody>
      </p:sp>
      <p:sp>
        <p:nvSpPr>
          <p:cNvPr id="160771" name="Rectangle 2"/>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sp>
        <p:nvSpPr>
          <p:cNvPr id="160772" name="Rectangle 3"/>
          <p:cNvSpPr>
            <a:spLocks noGrp="1" noChangeArrowheads="1"/>
          </p:cNvSpPr>
          <p:nvPr>
            <p:ph type="body" idx="1"/>
          </p:nvPr>
        </p:nvSpPr>
        <p:spPr>
          <a:xfrm>
            <a:off x="684213" y="1844675"/>
            <a:ext cx="8229600" cy="4176713"/>
          </a:xfrm>
        </p:spPr>
        <p:txBody>
          <a:bodyPr/>
          <a:lstStyle/>
          <a:p>
            <a:pPr algn="just" eaLnBrk="1" hangingPunct="1">
              <a:lnSpc>
                <a:spcPct val="80000"/>
              </a:lnSpc>
              <a:buFontTx/>
              <a:buNone/>
            </a:pPr>
            <a:r>
              <a:rPr lang="es-ES_tradnl" altLang="es-ES" sz="1000" smtClean="0"/>
              <a:t>	</a:t>
            </a:r>
            <a:r>
              <a:rPr lang="es-ES_tradnl" altLang="es-ES" sz="1600" smtClean="0"/>
              <a:t>Aunque los protocolos TCP/IP representan los estándares en base a los cuales se ha desarrollado la Internet, este currículum utiliza el modelo OSI por los siguientes motivos: </a:t>
            </a:r>
          </a:p>
          <a:p>
            <a:pPr algn="just" eaLnBrk="1" hangingPunct="1">
              <a:lnSpc>
                <a:spcPct val="80000"/>
              </a:lnSpc>
            </a:pPr>
            <a:r>
              <a:rPr lang="es-ES_tradnl" altLang="es-ES" sz="1600" smtClean="0"/>
              <a:t>Es un estándar genérico, independiente de los protocolos. </a:t>
            </a:r>
          </a:p>
          <a:p>
            <a:pPr algn="just" eaLnBrk="1" hangingPunct="1">
              <a:lnSpc>
                <a:spcPct val="80000"/>
              </a:lnSpc>
            </a:pPr>
            <a:r>
              <a:rPr lang="es-ES_tradnl" altLang="es-ES" sz="1600" smtClean="0"/>
              <a:t>Es más detallado, lo que hace que sea más útil para la enseñanza y el aprendizaje. </a:t>
            </a:r>
          </a:p>
          <a:p>
            <a:pPr algn="just" eaLnBrk="1" hangingPunct="1">
              <a:lnSpc>
                <a:spcPct val="80000"/>
              </a:lnSpc>
            </a:pPr>
            <a:r>
              <a:rPr lang="es-ES_tradnl" altLang="es-ES" sz="1600" smtClean="0"/>
              <a:t>Al ser más detallado, resulta de mayor utilidad para el diagnóstico de fallas.</a:t>
            </a:r>
          </a:p>
          <a:p>
            <a:pPr algn="just" eaLnBrk="1" hangingPunct="1">
              <a:lnSpc>
                <a:spcPct val="80000"/>
              </a:lnSpc>
              <a:buFontTx/>
              <a:buNone/>
            </a:pPr>
            <a:r>
              <a:rPr lang="es-ES_tradnl" altLang="es-ES" sz="1600" smtClean="0"/>
              <a:t> </a:t>
            </a:r>
          </a:p>
          <a:p>
            <a:pPr algn="just" eaLnBrk="1" hangingPunct="1">
              <a:lnSpc>
                <a:spcPct val="80000"/>
              </a:lnSpc>
              <a:buFontTx/>
              <a:buNone/>
            </a:pPr>
            <a:r>
              <a:rPr lang="es-ES_tradnl" altLang="es-ES" sz="1600" smtClean="0"/>
              <a:t>	Los profesionales de networking tienen distintas opiniones con respecto al modelo que se debe usar. Dada la naturaleza de esta industria, es necesario familiarizarse con ambos. A lo largo de todo el currículum se hará referencia a ambos modelos, el OSI y el TCP/IP. Se hará énfasis en lo siguiente: </a:t>
            </a:r>
          </a:p>
          <a:p>
            <a:pPr algn="just" eaLnBrk="1" hangingPunct="1">
              <a:lnSpc>
                <a:spcPct val="80000"/>
              </a:lnSpc>
            </a:pPr>
            <a:r>
              <a:rPr lang="es-ES_tradnl" altLang="es-ES" sz="1600" smtClean="0"/>
              <a:t>TCP como un protocolo de Capa 4 OSI </a:t>
            </a:r>
          </a:p>
          <a:p>
            <a:pPr algn="just" eaLnBrk="1" hangingPunct="1">
              <a:lnSpc>
                <a:spcPct val="80000"/>
              </a:lnSpc>
            </a:pPr>
            <a:r>
              <a:rPr lang="es-ES_tradnl" altLang="es-ES" sz="1600" smtClean="0"/>
              <a:t>IP como un protocolo de Capa 3 OSI </a:t>
            </a:r>
          </a:p>
          <a:p>
            <a:pPr algn="just" eaLnBrk="1" hangingPunct="1">
              <a:lnSpc>
                <a:spcPct val="80000"/>
              </a:lnSpc>
            </a:pPr>
            <a:r>
              <a:rPr lang="es-ES_tradnl" altLang="es-ES" sz="1600" smtClean="0"/>
              <a:t>Ethernet como una tecnología de Capa 2 y Capa 1 </a:t>
            </a:r>
          </a:p>
          <a:p>
            <a:pPr algn="just" eaLnBrk="1" hangingPunct="1">
              <a:lnSpc>
                <a:spcPct val="80000"/>
              </a:lnSpc>
            </a:pPr>
            <a:endParaRPr lang="es-ES_tradnl" altLang="es-ES" sz="1600" smtClean="0"/>
          </a:p>
          <a:p>
            <a:pPr algn="just" eaLnBrk="1" hangingPunct="1">
              <a:lnSpc>
                <a:spcPct val="80000"/>
              </a:lnSpc>
              <a:buFontTx/>
              <a:buNone/>
            </a:pPr>
            <a:r>
              <a:rPr lang="es-ES_tradnl" altLang="es-ES" sz="1600" smtClean="0"/>
              <a:t>	Recuerden que hay una diferencia entre un modelo y un protocolo que realmente se utiliza en networking. Se utilizará el modelo OSI para describir protocolos TCP/IP. </a:t>
            </a:r>
          </a:p>
        </p:txBody>
      </p:sp>
    </p:spTree>
    <p:extLst>
      <p:ext uri="{BB962C8B-B14F-4D97-AF65-F5344CB8AC3E}">
        <p14:creationId xmlns:p14="http://schemas.microsoft.com/office/powerpoint/2010/main" val="661224240"/>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529DED8-3803-491D-9CA6-5FE8AAE5A52D}" type="slidenum">
              <a:rPr lang="es-ES_tradnl" altLang="es-ES">
                <a:latin typeface="Arial" panose="020B0604020202020204" pitchFamily="34" charset="0"/>
              </a:rPr>
              <a:pPr eaLnBrk="1" hangingPunct="1"/>
              <a:t>154</a:t>
            </a:fld>
            <a:endParaRPr lang="es-ES_tradnl" altLang="es-ES">
              <a:latin typeface="Arial" panose="020B0604020202020204" pitchFamily="34" charset="0"/>
            </a:endParaRPr>
          </a:p>
        </p:txBody>
      </p:sp>
      <p:sp>
        <p:nvSpPr>
          <p:cNvPr id="161795" name="Rectangle 4"/>
          <p:cNvSpPr>
            <a:spLocks noGrp="1" noChangeArrowheads="1"/>
          </p:cNvSpPr>
          <p:nvPr>
            <p:ph type="title"/>
          </p:nvPr>
        </p:nvSpPr>
        <p:spPr/>
        <p:txBody>
          <a:bodyPr/>
          <a:lstStyle/>
          <a:p>
            <a:pPr eaLnBrk="1" hangingPunct="1"/>
            <a:r>
              <a:rPr lang="es-ES" altLang="es-ES" sz="2400" b="1" smtClean="0"/>
              <a:t>MODELO TCP/IP</a:t>
            </a:r>
            <a:endParaRPr lang="es-ES_tradnl" altLang="es-ES" sz="2400" b="1" smtClean="0"/>
          </a:p>
        </p:txBody>
      </p:sp>
      <p:graphicFrame>
        <p:nvGraphicFramePr>
          <p:cNvPr id="161796" name="Object 3"/>
          <p:cNvGraphicFramePr>
            <a:graphicFrameLocks noGrp="1" noChangeAspect="1"/>
          </p:cNvGraphicFramePr>
          <p:nvPr>
            <p:ph idx="1"/>
          </p:nvPr>
        </p:nvGraphicFramePr>
        <p:xfrm>
          <a:off x="1908175" y="1989138"/>
          <a:ext cx="4449763" cy="4535487"/>
        </p:xfrm>
        <a:graphic>
          <a:graphicData uri="http://schemas.openxmlformats.org/presentationml/2006/ole">
            <mc:AlternateContent xmlns:mc="http://schemas.openxmlformats.org/markup-compatibility/2006">
              <mc:Choice xmlns:v="urn:schemas-microsoft-com:vml" Requires="v">
                <p:oleObj spid="_x0000_s37964" name="Imagen de mapa de bits" r:id="rId3" imgW="3467584" imgH="3533333" progId="Paint.Picture">
                  <p:embed/>
                </p:oleObj>
              </mc:Choice>
              <mc:Fallback>
                <p:oleObj name="Imagen de mapa de bits" r:id="rId3" imgW="3467584" imgH="353333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989138"/>
                        <a:ext cx="4449763" cy="453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5858934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EA6EB62-5CAF-4115-BEC4-6FB910FBAA5A}" type="slidenum">
              <a:rPr lang="es-ES_tradnl" altLang="es-ES">
                <a:latin typeface="Arial" panose="020B0604020202020204" pitchFamily="34" charset="0"/>
              </a:rPr>
              <a:pPr eaLnBrk="1" hangingPunct="1"/>
              <a:t>155</a:t>
            </a:fld>
            <a:endParaRPr lang="es-ES_tradnl" altLang="es-ES">
              <a:latin typeface="Arial" panose="020B0604020202020204" pitchFamily="34" charset="0"/>
            </a:endParaRPr>
          </a:p>
        </p:txBody>
      </p:sp>
      <p:sp>
        <p:nvSpPr>
          <p:cNvPr id="162819" name="Rectangle 4"/>
          <p:cNvSpPr>
            <a:spLocks noGrp="1" noChangeArrowheads="1"/>
          </p:cNvSpPr>
          <p:nvPr>
            <p:ph type="title"/>
          </p:nvPr>
        </p:nvSpPr>
        <p:spPr/>
        <p:txBody>
          <a:bodyPr/>
          <a:lstStyle/>
          <a:p>
            <a:pPr eaLnBrk="1" hangingPunct="1"/>
            <a:r>
              <a:rPr lang="es-ES" altLang="es-ES" sz="2400" b="1" smtClean="0"/>
              <a:t>COMPARACION ENTRE TCP/IP Y OSI</a:t>
            </a:r>
            <a:endParaRPr lang="es-ES_tradnl" altLang="es-ES" sz="2400" b="1" smtClean="0"/>
          </a:p>
        </p:txBody>
      </p:sp>
      <p:graphicFrame>
        <p:nvGraphicFramePr>
          <p:cNvPr id="162820" name="Object 3"/>
          <p:cNvGraphicFramePr>
            <a:graphicFrameLocks noGrp="1" noChangeAspect="1"/>
          </p:cNvGraphicFramePr>
          <p:nvPr>
            <p:ph idx="1"/>
          </p:nvPr>
        </p:nvGraphicFramePr>
        <p:xfrm>
          <a:off x="1547813" y="1881188"/>
          <a:ext cx="5903912" cy="4716462"/>
        </p:xfrm>
        <a:graphic>
          <a:graphicData uri="http://schemas.openxmlformats.org/presentationml/2006/ole">
            <mc:AlternateContent xmlns:mc="http://schemas.openxmlformats.org/markup-compatibility/2006">
              <mc:Choice xmlns:v="urn:schemas-microsoft-com:vml" Requires="v">
                <p:oleObj spid="_x0000_s38988" name="Imagen de mapa de bits" r:id="rId3" imgW="4858428" imgH="3677163" progId="Paint.Picture">
                  <p:embed/>
                </p:oleObj>
              </mc:Choice>
              <mc:Fallback>
                <p:oleObj name="Imagen de mapa de bits" r:id="rId3" imgW="4858428" imgH="367716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881188"/>
                        <a:ext cx="5903912" cy="471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38963860"/>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3C84D79-217C-4C60-9D6C-F7B3CCD7943F}" type="slidenum">
              <a:rPr lang="es-ES_tradnl" altLang="es-ES">
                <a:latin typeface="Arial" panose="020B0604020202020204" pitchFamily="34" charset="0"/>
              </a:rPr>
              <a:pPr eaLnBrk="1" hangingPunct="1"/>
              <a:t>156</a:t>
            </a:fld>
            <a:endParaRPr lang="es-ES_tradnl" altLang="es-ES">
              <a:latin typeface="Arial" panose="020B0604020202020204" pitchFamily="34" charset="0"/>
            </a:endParaRPr>
          </a:p>
        </p:txBody>
      </p:sp>
      <p:sp>
        <p:nvSpPr>
          <p:cNvPr id="163843" name="Rectangle 2"/>
          <p:cNvSpPr>
            <a:spLocks noGrp="1" noChangeArrowheads="1"/>
          </p:cNvSpPr>
          <p:nvPr>
            <p:ph type="title"/>
          </p:nvPr>
        </p:nvSpPr>
        <p:spPr/>
        <p:txBody>
          <a:bodyPr/>
          <a:lstStyle/>
          <a:p>
            <a:pPr eaLnBrk="1" hangingPunct="1"/>
            <a:r>
              <a:rPr lang="es-ES" altLang="es-ES" sz="2400" b="1" smtClean="0"/>
              <a:t>PROCESO DETALLADO DE ENCAPSULAMIENTO</a:t>
            </a:r>
            <a:endParaRPr lang="es-ES_tradnl" altLang="es-ES" sz="2400" b="1" smtClean="0"/>
          </a:p>
        </p:txBody>
      </p:sp>
      <p:sp>
        <p:nvSpPr>
          <p:cNvPr id="163844" name="Rectangle 3"/>
          <p:cNvSpPr>
            <a:spLocks noGrp="1" noChangeArrowheads="1"/>
          </p:cNvSpPr>
          <p:nvPr>
            <p:ph type="body" idx="1"/>
          </p:nvPr>
        </p:nvSpPr>
        <p:spPr>
          <a:xfrm>
            <a:off x="468313" y="2071688"/>
            <a:ext cx="8229600" cy="4525962"/>
          </a:xfrm>
        </p:spPr>
        <p:txBody>
          <a:bodyPr/>
          <a:lstStyle/>
          <a:p>
            <a:pPr algn="just" eaLnBrk="1" hangingPunct="1">
              <a:lnSpc>
                <a:spcPct val="90000"/>
              </a:lnSpc>
              <a:buFontTx/>
              <a:buNone/>
            </a:pPr>
            <a:r>
              <a:rPr lang="es-ES_tradnl" altLang="es-ES" sz="2400" smtClean="0"/>
              <a:t>	Todas las comunicaciones de una red parten de un origen y se envían a un destino. La información que se envía a través de una red se denomina datos o paquetes de datos. Si un computador (host A) desea enviar datos a otro (host B), en primer término los datos deben empaquetarse a través de un proceso denominado encapsulamiento. </a:t>
            </a:r>
          </a:p>
          <a:p>
            <a:pPr algn="just" eaLnBrk="1" hangingPunct="1">
              <a:lnSpc>
                <a:spcPct val="90000"/>
              </a:lnSpc>
              <a:buFontTx/>
              <a:buNone/>
            </a:pPr>
            <a:r>
              <a:rPr lang="es-ES_tradnl" altLang="es-ES" sz="2400" smtClean="0"/>
              <a:t>	El encapsulamiento rodea los datos con la información de protocolo necesaria antes de que se una al tránsito de la red. Por lo tanto, a medida que los datos se desplazan a través de las capas del modelo OSI, reciben encabezados, información final y otros tipos de información. </a:t>
            </a:r>
          </a:p>
        </p:txBody>
      </p:sp>
    </p:spTree>
    <p:extLst>
      <p:ext uri="{BB962C8B-B14F-4D97-AF65-F5344CB8AC3E}">
        <p14:creationId xmlns:p14="http://schemas.microsoft.com/office/powerpoint/2010/main" val="2044176593"/>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14DF6DE-872B-4352-ADC9-96A4D189D39C}" type="slidenum">
              <a:rPr lang="es-ES_tradnl" altLang="es-ES">
                <a:latin typeface="Arial" panose="020B0604020202020204" pitchFamily="34" charset="0"/>
              </a:rPr>
              <a:pPr eaLnBrk="1" hangingPunct="1"/>
              <a:t>157</a:t>
            </a:fld>
            <a:endParaRPr lang="es-ES_tradnl" altLang="es-ES">
              <a:latin typeface="Arial" panose="020B0604020202020204" pitchFamily="34" charset="0"/>
            </a:endParaRPr>
          </a:p>
        </p:txBody>
      </p:sp>
      <p:sp>
        <p:nvSpPr>
          <p:cNvPr id="164867" name="Rectangle 2"/>
          <p:cNvSpPr>
            <a:spLocks noGrp="1" noChangeArrowheads="1"/>
          </p:cNvSpPr>
          <p:nvPr>
            <p:ph type="title"/>
          </p:nvPr>
        </p:nvSpPr>
        <p:spPr/>
        <p:txBody>
          <a:bodyPr/>
          <a:lstStyle/>
          <a:p>
            <a:pPr eaLnBrk="1" hangingPunct="1"/>
            <a:r>
              <a:rPr lang="es-ES" altLang="es-ES" sz="2400" b="1" smtClean="0"/>
              <a:t>PROCESO DETALLADO DE ENCAPSULAMIENTO</a:t>
            </a:r>
            <a:endParaRPr lang="es-ES_tradnl" altLang="es-ES" sz="2400" b="1" smtClean="0"/>
          </a:p>
        </p:txBody>
      </p:sp>
      <p:sp>
        <p:nvSpPr>
          <p:cNvPr id="164868" name="Rectangle 3"/>
          <p:cNvSpPr>
            <a:spLocks noGrp="1" noChangeArrowheads="1"/>
          </p:cNvSpPr>
          <p:nvPr>
            <p:ph type="body" idx="1"/>
          </p:nvPr>
        </p:nvSpPr>
        <p:spPr>
          <a:xfrm>
            <a:off x="539750" y="2071688"/>
            <a:ext cx="8229600" cy="4525962"/>
          </a:xfrm>
        </p:spPr>
        <p:txBody>
          <a:bodyPr/>
          <a:lstStyle/>
          <a:p>
            <a:pPr algn="just" eaLnBrk="1" hangingPunct="1">
              <a:lnSpc>
                <a:spcPct val="90000"/>
              </a:lnSpc>
            </a:pPr>
            <a:r>
              <a:rPr lang="es-ES_tradnl" altLang="es-ES" sz="2400" smtClean="0"/>
              <a:t>Para ver cómo se produce el encapsulamiento, examine la forma en que los datos viajan a través de las capas como lo ilustra la figura  . Una vez que se envían los datos desde el origen, viajan a través de la capa de aplicación y recorren todas las demás capas en sentido descendente. El empaquetamiento y el flujo de los datos que se intercambian experimentan cambios a medida que las capas realizan sus funciones para los usuarios finales. Como lo muestra la figura  , las redes deben realizar los siguientes cinco pasos de conversión a fin de encapsular los datos: </a:t>
            </a:r>
          </a:p>
        </p:txBody>
      </p:sp>
    </p:spTree>
    <p:extLst>
      <p:ext uri="{BB962C8B-B14F-4D97-AF65-F5344CB8AC3E}">
        <p14:creationId xmlns:p14="http://schemas.microsoft.com/office/powerpoint/2010/main" val="3997866729"/>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2ACF7BD7-72BB-4A34-AECE-5BD6CA9A0E7E}" type="slidenum">
              <a:rPr lang="es-ES_tradnl" altLang="es-ES">
                <a:latin typeface="Arial" panose="020B0604020202020204" pitchFamily="34" charset="0"/>
              </a:rPr>
              <a:pPr eaLnBrk="1" hangingPunct="1"/>
              <a:t>158</a:t>
            </a:fld>
            <a:endParaRPr lang="es-ES_tradnl" altLang="es-ES">
              <a:latin typeface="Arial" panose="020B0604020202020204" pitchFamily="34" charset="0"/>
            </a:endParaRPr>
          </a:p>
        </p:txBody>
      </p:sp>
      <p:sp>
        <p:nvSpPr>
          <p:cNvPr id="165891" name="Rectangle 2"/>
          <p:cNvSpPr>
            <a:spLocks noGrp="1" noChangeArrowheads="1"/>
          </p:cNvSpPr>
          <p:nvPr>
            <p:ph type="title"/>
          </p:nvPr>
        </p:nvSpPr>
        <p:spPr/>
        <p:txBody>
          <a:bodyPr/>
          <a:lstStyle/>
          <a:p>
            <a:pPr eaLnBrk="1" hangingPunct="1"/>
            <a:r>
              <a:rPr lang="es-ES" altLang="es-ES" sz="2400" b="1" smtClean="0"/>
              <a:t>PROCESO DETALLADO DE ENCAPSULAMIENTO</a:t>
            </a:r>
            <a:endParaRPr lang="es-ES_tradnl" altLang="es-ES" sz="2400" b="1" smtClean="0"/>
          </a:p>
        </p:txBody>
      </p:sp>
      <p:sp>
        <p:nvSpPr>
          <p:cNvPr id="165892" name="Rectangle 3"/>
          <p:cNvSpPr>
            <a:spLocks noGrp="1" noChangeArrowheads="1"/>
          </p:cNvSpPr>
          <p:nvPr>
            <p:ph type="body" idx="1"/>
          </p:nvPr>
        </p:nvSpPr>
        <p:spPr>
          <a:xfrm>
            <a:off x="468313" y="1998663"/>
            <a:ext cx="8229600" cy="4525962"/>
          </a:xfrm>
        </p:spPr>
        <p:txBody>
          <a:bodyPr/>
          <a:lstStyle/>
          <a:p>
            <a:pPr marL="609600" indent="-609600" algn="just" eaLnBrk="1" hangingPunct="1">
              <a:lnSpc>
                <a:spcPct val="80000"/>
              </a:lnSpc>
            </a:pPr>
            <a:r>
              <a:rPr lang="es-ES_tradnl" altLang="es-ES" sz="1400" b="1" smtClean="0"/>
              <a:t>Crear los datos. </a:t>
            </a:r>
            <a:r>
              <a:rPr lang="es-ES_tradnl" altLang="es-ES" sz="1400" smtClean="0"/>
              <a:t>Cuando un usuario envía un mensaje de correo electrónico, sus caracteres alfanuméricos se convierten en datos que pueden recorrer la internetwork. </a:t>
            </a:r>
          </a:p>
          <a:p>
            <a:pPr marL="609600" indent="-609600" algn="just" eaLnBrk="1" hangingPunct="1">
              <a:lnSpc>
                <a:spcPct val="80000"/>
              </a:lnSpc>
            </a:pPr>
            <a:r>
              <a:rPr lang="es-ES_tradnl" altLang="es-ES" sz="1400" b="1" smtClean="0"/>
              <a:t>Empaquetar los datos para ser transportados de extremo a extremo. </a:t>
            </a:r>
            <a:r>
              <a:rPr lang="es-ES_tradnl" altLang="es-ES" sz="1400" smtClean="0"/>
              <a:t>Los datos se empaquetan para ser transportados por la internetwork. Al utilizar segmentos, la función de transporte asegura que los hosts de mensaje en ambos extremos del sistema de correo electrónico se puedan comunicar de forma confiable. </a:t>
            </a:r>
          </a:p>
          <a:p>
            <a:pPr marL="609600" indent="-609600" algn="just" eaLnBrk="1" hangingPunct="1">
              <a:lnSpc>
                <a:spcPct val="80000"/>
              </a:lnSpc>
            </a:pPr>
            <a:r>
              <a:rPr lang="es-ES_tradnl" altLang="es-ES" sz="1400" b="1" smtClean="0"/>
              <a:t>Agregar la dirección de red IP al encabezado. </a:t>
            </a:r>
            <a:r>
              <a:rPr lang="es-ES_tradnl" altLang="es-ES" sz="1400" smtClean="0"/>
              <a:t>Los datos se colocan en un paquete o datagrama que contiene un encabezado de paquete con las direcciones lógicas de origen y de destino. Estas direcciones ayudan a los dispositivos de red a enviar los paquetes a través de la red por una ruta seleccionada. </a:t>
            </a:r>
          </a:p>
          <a:p>
            <a:pPr marL="609600" indent="-609600" algn="just" eaLnBrk="1" hangingPunct="1">
              <a:lnSpc>
                <a:spcPct val="80000"/>
              </a:lnSpc>
            </a:pPr>
            <a:r>
              <a:rPr lang="es-ES_tradnl" altLang="es-ES" sz="1400" b="1" smtClean="0"/>
              <a:t>Agregar el encabezado y la información final de la capa de enlace de datos. </a:t>
            </a:r>
            <a:r>
              <a:rPr lang="es-ES_tradnl" altLang="es-ES" sz="1400" smtClean="0"/>
              <a:t>Cada dispositivo de la red debe poner el paquete dentro de una trama. La trama le permite conectarse al próximo dispositivo de red conectado directamente en el enlace. Cada dispositivo en la ruta de red seleccionada requiere el entramado para poder conectarse al siguiente dispositivo. </a:t>
            </a:r>
          </a:p>
          <a:p>
            <a:pPr marL="609600" indent="-609600" algn="just" eaLnBrk="1" hangingPunct="1">
              <a:lnSpc>
                <a:spcPct val="80000"/>
              </a:lnSpc>
            </a:pPr>
            <a:r>
              <a:rPr lang="es-ES_tradnl" altLang="es-ES" sz="1400" b="1" smtClean="0"/>
              <a:t>Realizar la conversión a bits para su transmisión. </a:t>
            </a:r>
            <a:r>
              <a:rPr lang="es-ES_tradnl" altLang="es-ES" sz="1400" smtClean="0"/>
              <a:t>La trama debe convertirse en un patrón de unos y ceros (bits) para su transmisión a través del medio. Una función de temporización permite que los dispositivos distingan estos bits a medida que se trasladan por el medio. El medio en la internetwork física puede variar a lo largo de la ruta utilizada. Por ejemplo, el mensaje de correo electrónico se puede originar en una LAN, atravesar el backbone de una universidad y salir por un enlace WAN hasta llegar a su destino en otra LAN remota. </a:t>
            </a:r>
          </a:p>
        </p:txBody>
      </p:sp>
    </p:spTree>
    <p:extLst>
      <p:ext uri="{BB962C8B-B14F-4D97-AF65-F5344CB8AC3E}">
        <p14:creationId xmlns:p14="http://schemas.microsoft.com/office/powerpoint/2010/main" val="2085293097"/>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71C8D49-7FE5-403A-831D-AF8078D6A5FC}" type="slidenum">
              <a:rPr lang="es-ES_tradnl" altLang="es-ES">
                <a:latin typeface="Arial" panose="020B0604020202020204" pitchFamily="34" charset="0"/>
              </a:rPr>
              <a:pPr eaLnBrk="1" hangingPunct="1"/>
              <a:t>159</a:t>
            </a:fld>
            <a:endParaRPr lang="es-ES_tradnl" altLang="es-ES">
              <a:latin typeface="Arial" panose="020B0604020202020204" pitchFamily="34" charset="0"/>
            </a:endParaRPr>
          </a:p>
        </p:txBody>
      </p:sp>
      <p:sp>
        <p:nvSpPr>
          <p:cNvPr id="166915" name="Rectangle 4"/>
          <p:cNvSpPr>
            <a:spLocks noGrp="1" noChangeArrowheads="1"/>
          </p:cNvSpPr>
          <p:nvPr>
            <p:ph type="title"/>
          </p:nvPr>
        </p:nvSpPr>
        <p:spPr/>
        <p:txBody>
          <a:bodyPr/>
          <a:lstStyle/>
          <a:p>
            <a:pPr eaLnBrk="1" hangingPunct="1"/>
            <a:r>
              <a:rPr lang="es-ES" altLang="es-ES" sz="2400" b="1" smtClean="0"/>
              <a:t>ENCAPSULAMIENTO DE DATOS</a:t>
            </a:r>
            <a:endParaRPr lang="es-ES_tradnl" altLang="es-ES" sz="2400" b="1" smtClean="0"/>
          </a:p>
        </p:txBody>
      </p:sp>
      <p:graphicFrame>
        <p:nvGraphicFramePr>
          <p:cNvPr id="166916" name="Object 3"/>
          <p:cNvGraphicFramePr>
            <a:graphicFrameLocks noGrp="1" noChangeAspect="1"/>
          </p:cNvGraphicFramePr>
          <p:nvPr>
            <p:ph idx="1"/>
          </p:nvPr>
        </p:nvGraphicFramePr>
        <p:xfrm>
          <a:off x="755650" y="2051050"/>
          <a:ext cx="7345363" cy="4546600"/>
        </p:xfrm>
        <a:graphic>
          <a:graphicData uri="http://schemas.openxmlformats.org/presentationml/2006/ole">
            <mc:AlternateContent xmlns:mc="http://schemas.openxmlformats.org/markup-compatibility/2006">
              <mc:Choice xmlns:v="urn:schemas-microsoft-com:vml" Requires="v">
                <p:oleObj spid="_x0000_s40012" name="Imagen de mapa de bits" r:id="rId3" imgW="5649114" imgH="3495238" progId="Paint.Picture">
                  <p:embed/>
                </p:oleObj>
              </mc:Choice>
              <mc:Fallback>
                <p:oleObj name="Imagen de mapa de bits" r:id="rId3" imgW="5649114" imgH="349523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051050"/>
                        <a:ext cx="7345363" cy="454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96355173"/>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Marcador de número de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67EBBBB-4CEE-45DD-9FBC-E5EEFF711108}" type="slidenum">
              <a:rPr lang="es-ES_tradnl" altLang="es-ES">
                <a:latin typeface="Arial" panose="020B0604020202020204" pitchFamily="34" charset="0"/>
              </a:rPr>
              <a:pPr eaLnBrk="1" hangingPunct="1"/>
              <a:t>160</a:t>
            </a:fld>
            <a:endParaRPr lang="es-ES_tradnl" altLang="es-ES">
              <a:latin typeface="Arial" panose="020B0604020202020204" pitchFamily="34" charset="0"/>
            </a:endParaRPr>
          </a:p>
        </p:txBody>
      </p:sp>
      <p:sp>
        <p:nvSpPr>
          <p:cNvPr id="167939" name="Rectangle 4"/>
          <p:cNvSpPr>
            <a:spLocks noGrp="1" noChangeArrowheads="1"/>
          </p:cNvSpPr>
          <p:nvPr>
            <p:ph type="title"/>
          </p:nvPr>
        </p:nvSpPr>
        <p:spPr/>
        <p:txBody>
          <a:bodyPr/>
          <a:lstStyle/>
          <a:p>
            <a:pPr eaLnBrk="1" hangingPunct="1"/>
            <a:r>
              <a:rPr lang="es-ES" altLang="es-ES" sz="2400" b="1" smtClean="0"/>
              <a:t>EJEMPLO DE ENCAPSULAMIENTO DE DATOS</a:t>
            </a:r>
            <a:endParaRPr lang="es-ES_tradnl" altLang="es-ES" sz="2400" b="1" smtClean="0"/>
          </a:p>
        </p:txBody>
      </p:sp>
      <p:graphicFrame>
        <p:nvGraphicFramePr>
          <p:cNvPr id="167940" name="Object 6"/>
          <p:cNvGraphicFramePr>
            <a:graphicFrameLocks noGrp="1" noChangeAspect="1"/>
          </p:cNvGraphicFramePr>
          <p:nvPr>
            <p:ph idx="1"/>
            <p:extLst>
              <p:ext uri="{D42A27DB-BD31-4B8C-83A1-F6EECF244321}">
                <p14:modId xmlns:p14="http://schemas.microsoft.com/office/powerpoint/2010/main" val="1263399894"/>
              </p:ext>
            </p:extLst>
          </p:nvPr>
        </p:nvGraphicFramePr>
        <p:xfrm>
          <a:off x="1122363" y="1855366"/>
          <a:ext cx="6545262" cy="4525962"/>
        </p:xfrm>
        <a:graphic>
          <a:graphicData uri="http://schemas.openxmlformats.org/presentationml/2006/ole">
            <mc:AlternateContent xmlns:mc="http://schemas.openxmlformats.org/markup-compatibility/2006">
              <mc:Choice xmlns:v="urn:schemas-microsoft-com:vml" Requires="v">
                <p:oleObj spid="_x0000_s41036" name="Imagen de mapa de bits" r:id="rId3" imgW="5125165" imgH="3543795" progId="Paint.Picture">
                  <p:embed/>
                </p:oleObj>
              </mc:Choice>
              <mc:Fallback>
                <p:oleObj name="Imagen de mapa de bits" r:id="rId3" imgW="5125165" imgH="354379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363" y="1855366"/>
                        <a:ext cx="6545262" cy="452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6005950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4676</TotalTime>
  <Words>7043</Words>
  <Application>Microsoft Office PowerPoint</Application>
  <PresentationFormat>Presentación en pantalla (4:3)</PresentationFormat>
  <Paragraphs>772</Paragraphs>
  <Slides>160</Slides>
  <Notes>17</Notes>
  <HiddenSlides>8</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1</vt:i4>
      </vt:variant>
      <vt:variant>
        <vt:lpstr>Títulos de diapositiva</vt:lpstr>
      </vt:variant>
      <vt:variant>
        <vt:i4>160</vt:i4>
      </vt:variant>
    </vt:vector>
  </HeadingPairs>
  <TitlesOfParts>
    <vt:vector size="171" baseType="lpstr">
      <vt:lpstr>宋体</vt:lpstr>
      <vt:lpstr>Arial</vt:lpstr>
      <vt:lpstr>Calibri</vt:lpstr>
      <vt:lpstr>Courier New</vt:lpstr>
      <vt:lpstr>HelveticaNeueW01-45Ligh</vt:lpstr>
      <vt:lpstr>Symbol</vt:lpstr>
      <vt:lpstr>Tahoma</vt:lpstr>
      <vt:lpstr>Times New Roman</vt:lpstr>
      <vt:lpstr>Wingdings</vt:lpstr>
      <vt:lpstr>Tema de Office</vt:lpstr>
      <vt:lpstr>Imagen de mapa de bits</vt:lpstr>
      <vt:lpstr>Organización de Computadoras</vt:lpstr>
      <vt:lpstr>Bienvenidos</vt:lpstr>
      <vt:lpstr>Hardware</vt:lpstr>
      <vt:lpstr>LA CPU</vt:lpstr>
      <vt:lpstr>¿Qué es la CPU?</vt:lpstr>
      <vt:lpstr>¿Qué es la CPU?</vt:lpstr>
      <vt:lpstr>Dispositivos controlados por la CPU</vt:lpstr>
      <vt:lpstr>CPU multiprocesador </vt:lpstr>
      <vt:lpstr>¿Cómo Funciona? </vt:lpstr>
      <vt:lpstr>Relación con otros componentes del procesador</vt:lpstr>
      <vt:lpstr>MICROPROCESADOR</vt:lpstr>
      <vt:lpstr>MEMORIA</vt:lpstr>
      <vt:lpstr>PERIFERICOS</vt:lpstr>
      <vt:lpstr>Presentación de PowerPoint</vt:lpstr>
      <vt:lpstr>Presentación de PowerPoint</vt:lpstr>
      <vt:lpstr>Presentación de PowerPoint</vt:lpstr>
      <vt:lpstr>Introducción a Microcontroladores</vt:lpstr>
      <vt:lpstr>Presentación de PowerPoint</vt:lpstr>
      <vt:lpstr>DECODIFICADOR DE INSTRUCCIONES</vt:lpstr>
      <vt:lpstr>REGISTRO CONTADOR DE PROGRAMA</vt:lpstr>
      <vt:lpstr>REGISTRO DE INSTRUCCIONES</vt:lpstr>
      <vt:lpstr>UNIDAD DE TRATAMIENTO</vt:lpstr>
      <vt:lpstr>Unidad Aritmético Lógica:</vt:lpstr>
      <vt:lpstr>Registros en la unidad de tratamiento:</vt:lpstr>
      <vt:lpstr>Conexión del procesador con otros dispositivos</vt:lpstr>
      <vt:lpstr>UNIDAD CENTRAL DE PROCESO</vt:lpstr>
      <vt:lpstr>UNIDAD CENTRAL DE PROCESO</vt:lpstr>
      <vt:lpstr>UNIDAD CENTRAL DE PROCESO</vt:lpstr>
      <vt:lpstr>UNIDADES DE MEDIDA: BITS, BYTES,...</vt:lpstr>
      <vt:lpstr>LOS SLOTS DE EXPANSION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Almacenamiento y discos</vt:lpstr>
      <vt:lpstr>Discos y almacenamiento</vt:lpstr>
      <vt:lpstr>Motivación (1)‏</vt:lpstr>
      <vt:lpstr>Cintas Magnéticas</vt:lpstr>
      <vt:lpstr>Disco magnético</vt:lpstr>
      <vt:lpstr>Disco Rígido (1)‏</vt:lpstr>
      <vt:lpstr>Discos Rígidos</vt:lpstr>
      <vt:lpstr>Disco rígido - tamaño</vt:lpstr>
      <vt:lpstr>Disco rígido - Tiempos</vt:lpstr>
      <vt:lpstr>Discos ópticos</vt:lpstr>
      <vt:lpstr>Lectura disco óptico</vt:lpstr>
      <vt:lpstr>Discos ópticos</vt:lpstr>
      <vt:lpstr>Redes de Datos</vt:lpstr>
      <vt:lpstr>REDES DE DATOS</vt:lpstr>
      <vt:lpstr>REDES DE DATOS</vt:lpstr>
      <vt:lpstr>REDES DE DATOS</vt:lpstr>
      <vt:lpstr>REDES DE DATOS</vt:lpstr>
      <vt:lpstr>REDES DE DATOS</vt:lpstr>
      <vt:lpstr>EJEMPLO DE REDES DE DATOS</vt:lpstr>
      <vt:lpstr>DISPOSITIVOS DE NETWORKING</vt:lpstr>
      <vt:lpstr>DISPOSITIVOS DE NETWORKING</vt:lpstr>
      <vt:lpstr>DISPOSITIVOS DE NETWORKING</vt:lpstr>
      <vt:lpstr>DISPOSITIVOS DE NETWORKING</vt:lpstr>
      <vt:lpstr>DISPOSITIVOS DEL USUARIO FINAL</vt:lpstr>
      <vt:lpstr>DISPOSITIVOS DE NETWORKING</vt:lpstr>
      <vt:lpstr>DISPOSITIVOS DE RED</vt:lpstr>
      <vt:lpstr>REPETIDOR</vt:lpstr>
      <vt:lpstr>REPETIDOR</vt:lpstr>
      <vt:lpstr>HUB</vt:lpstr>
      <vt:lpstr>PUENTE</vt:lpstr>
      <vt:lpstr>PUENTE</vt:lpstr>
      <vt:lpstr>SWITCH</vt:lpstr>
      <vt:lpstr>SWITCH</vt:lpstr>
      <vt:lpstr>ROUTER</vt:lpstr>
      <vt:lpstr>Topología de Red</vt:lpstr>
      <vt:lpstr>TOPOLOGIA DE RED</vt:lpstr>
      <vt:lpstr>TOPOLOGIA DE RED</vt:lpstr>
      <vt:lpstr>TOPOLOGIA DE RED</vt:lpstr>
      <vt:lpstr>TOPOLOGIA DE RED</vt:lpstr>
      <vt:lpstr>TOPOLOGIA DE RED</vt:lpstr>
      <vt:lpstr>TOPOLOGIA DE RED</vt:lpstr>
      <vt:lpstr>TOPOLOGIA DE RED</vt:lpstr>
      <vt:lpstr>TCP/IP</vt:lpstr>
      <vt:lpstr>CONEXIÓN A INTERNET PROTOCOLO TCP/IP</vt:lpstr>
      <vt:lpstr>CONECTIVIDAD CON PING</vt:lpstr>
      <vt:lpstr>COMANDOS PING</vt:lpstr>
      <vt:lpstr>PING 127.0.0.1</vt:lpstr>
      <vt:lpstr>DIRECCIONES IP Y MASCARAS DE RED</vt:lpstr>
      <vt:lpstr>DIRECCIONES IP Y MASCARAS DE RED</vt:lpstr>
      <vt:lpstr>DIRECCIONES IP Y MASCARAS DE RED</vt:lpstr>
      <vt:lpstr>DIRECCIONES IP Y MASCARAS DE RED</vt:lpstr>
      <vt:lpstr>DIRECCIONES IP Y MASCARAS DE RED</vt:lpstr>
      <vt:lpstr>Protocolos de Red</vt:lpstr>
      <vt:lpstr>PROTOCOLOS DE RED</vt:lpstr>
      <vt:lpstr>PROTOCOLOS DE RED</vt:lpstr>
      <vt:lpstr>Ancho de Banda</vt:lpstr>
      <vt:lpstr>ANCHO DE BANDA</vt:lpstr>
      <vt:lpstr>ANCHO DE BANDA</vt:lpstr>
      <vt:lpstr>ANCHO DE BANDA</vt:lpstr>
      <vt:lpstr>ANCHO DE BANDA</vt:lpstr>
      <vt:lpstr>ANCHO DE BANDA</vt:lpstr>
      <vt:lpstr>ANCHO DE BANDA</vt:lpstr>
      <vt:lpstr>ANALOGIA DE LAS CAÑERIAS PARA EL ANCHO DE BANDA</vt:lpstr>
      <vt:lpstr>ANALOGIA DEL SISTEMA DE AUTOPISTAS PARA EL ANCHO DE BANDA</vt:lpstr>
      <vt:lpstr>UNIDADES DE ANCHO DE BANDA</vt:lpstr>
      <vt:lpstr>ANCHO DE BANDA : MEDICION</vt:lpstr>
      <vt:lpstr>ANCHOS DE BANDA Y LIMITACIONES DE DISTANCIA MAXIMOS</vt:lpstr>
      <vt:lpstr>ANCHO DE BANDA : LIMITACIONES</vt:lpstr>
      <vt:lpstr>ANCHO DE BANDA : LIMITACIONES</vt:lpstr>
      <vt:lpstr>SERVICIOS Y ANCHOS DE BANDA DE WAN</vt:lpstr>
      <vt:lpstr>ANCHO DE BANDA : TASA DE TRANSFERENCIA</vt:lpstr>
      <vt:lpstr>ANCHO DE BANDA : TASA DE TRANSFERENCIA</vt:lpstr>
      <vt:lpstr>ANCHO DE BANDA : TASA DE TRANSFERENCIA</vt:lpstr>
      <vt:lpstr>ANCHO DE BANDA : CALCULO DE LA TRANSFERENCIA DE DATOS</vt:lpstr>
      <vt:lpstr>ANCHO DE BANDA : CALCULO DE LA TRANSFERENCIA DE DATOS</vt:lpstr>
      <vt:lpstr>ANCHO DE BANDA : CALCULO DE LA TRANSFERENCIA DE DATOS</vt:lpstr>
      <vt:lpstr>ANCHO DE BANDA : CALCULO DEL TIEMPO DE TRANSFERENCIA</vt:lpstr>
      <vt:lpstr>USO DE CAPAS</vt:lpstr>
      <vt:lpstr>Uso de capas</vt:lpstr>
      <vt:lpstr>USO DE CAPAS</vt:lpstr>
      <vt:lpstr>USO DE CAPAS</vt:lpstr>
      <vt:lpstr>USO DE CAPAS</vt:lpstr>
      <vt:lpstr>ANALISIS DE LA RED POR CAPAS</vt:lpstr>
      <vt:lpstr>COMPARACIONES DE RED</vt:lpstr>
      <vt:lpstr>COMUNICACIÓN EN RED</vt:lpstr>
      <vt:lpstr>USO DE CAPAS PARA DESCRIBIR LA COMUNICACIÓN DE DATOS</vt:lpstr>
      <vt:lpstr>USO DE CAPAS PARA DESCRIBIR LA COMUNICACIÓN DE DATOS</vt:lpstr>
      <vt:lpstr>USO DE CAPAS PARA DESCRIBIR LA COMUNICACIÓN DE DATOS</vt:lpstr>
      <vt:lpstr>COMUNICACIÓN ENTRE CAPAS</vt:lpstr>
      <vt:lpstr>Modelo OSI</vt:lpstr>
      <vt:lpstr>MODELO OSI</vt:lpstr>
      <vt:lpstr>MODELO OSI</vt:lpstr>
      <vt:lpstr>MODELO OSI</vt:lpstr>
      <vt:lpstr>MODELO OSI</vt:lpstr>
      <vt:lpstr>VENTAJAS DEL MODELO OSI</vt:lpstr>
      <vt:lpstr>LAS CAPAS DEL MODELO OSI</vt:lpstr>
      <vt:lpstr>MODELO OSI</vt:lpstr>
      <vt:lpstr>MODELO OSI</vt:lpstr>
      <vt:lpstr>MODELO OSI</vt:lpstr>
      <vt:lpstr>MODELO OSI</vt:lpstr>
      <vt:lpstr>MODELO OSI</vt:lpstr>
      <vt:lpstr>MODELO OSI</vt:lpstr>
      <vt:lpstr>MODELO OSI</vt:lpstr>
      <vt:lpstr>Modelo TCP/IP</vt:lpstr>
      <vt:lpstr>MODELO TCP/IP</vt:lpstr>
      <vt:lpstr>MODELO TCP/IP</vt:lpstr>
      <vt:lpstr>MODELO TCP/IP</vt:lpstr>
      <vt:lpstr>MODELO TCP/IP</vt:lpstr>
      <vt:lpstr>MODELO TCP/IP</vt:lpstr>
      <vt:lpstr>MODELO TCP/IP</vt:lpstr>
      <vt:lpstr>MODELO TCP/IP</vt:lpstr>
      <vt:lpstr>MODELO TCP/IP</vt:lpstr>
      <vt:lpstr>MODELO TCP/IP</vt:lpstr>
      <vt:lpstr>MODELO TCP/IP</vt:lpstr>
      <vt:lpstr>COMPARACION ENTRE TCP/IP Y OSI</vt:lpstr>
      <vt:lpstr>PROCESO DETALLADO DE ENCAPSULAMIENTO</vt:lpstr>
      <vt:lpstr>PROCESO DETALLADO DE ENCAPSULAMIENTO</vt:lpstr>
      <vt:lpstr>PROCESO DETALLADO DE ENCAPSULAMIENTO</vt:lpstr>
      <vt:lpstr>ENCAPSULAMIENTO DE DATOS</vt:lpstr>
      <vt:lpstr>EJEMPLO DE ENCAPSULAMIENTO DE DATOS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RGarcia</dc:creator>
  <cp:lastModifiedBy>Usuario de Windows</cp:lastModifiedBy>
  <cp:revision>222</cp:revision>
  <cp:lastPrinted>2017-04-18T16:38:48Z</cp:lastPrinted>
  <dcterms:created xsi:type="dcterms:W3CDTF">2013-04-26T00:11:12Z</dcterms:created>
  <dcterms:modified xsi:type="dcterms:W3CDTF">2018-06-11T14:03:05Z</dcterms:modified>
</cp:coreProperties>
</file>