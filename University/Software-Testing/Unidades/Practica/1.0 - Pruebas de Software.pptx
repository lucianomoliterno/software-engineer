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144000"/>
  <p:notesSz cx="6858000" cy="9144000"/>
  <p:embeddedFontLs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j8hHgD3ruh6sScyum7FOJTbaHZ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20870d0f7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220870d0f7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661997d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27661997d7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8c561418c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278c561418c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8c561418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278c561418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3157f52ce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23157f52ce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661997d7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27661997d7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8c561418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278c561418c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8c561418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278c561418c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8c561418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278c561418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8c561418c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278c561418c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78c561418c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278c561418c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78c561418c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278c561418c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72fd3336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2772fd33366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661997d7c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27661997d7c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7661997d7c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27661997d7c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7661997d7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27661997d7c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772fd33366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2772fd33366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7661997d7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27661997d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7661997d7c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27661997d7c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772fd3336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2772fd3336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661997d7c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27661997d7c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772fd3336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2772fd33366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772fd33366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2772fd33366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7661997d7c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27661997d7c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7661997d7c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27661997d7c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313c7b2c51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2313c7b2c51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grpSp>
        <p:nvGrpSpPr>
          <p:cNvPr id="81" name="Google Shape;81;g242d9d80d42_2_95"/>
          <p:cNvGrpSpPr/>
          <p:nvPr/>
        </p:nvGrpSpPr>
        <p:grpSpPr>
          <a:xfrm>
            <a:off x="0" y="5204762"/>
            <a:ext cx="9144000" cy="1653192"/>
            <a:chOff x="0" y="3903669"/>
            <a:chExt cx="9144000" cy="1239925"/>
          </a:xfrm>
        </p:grpSpPr>
        <p:sp>
          <p:nvSpPr>
            <p:cNvPr id="82" name="Google Shape;82;g242d9d80d42_2_95"/>
            <p:cNvSpPr/>
            <p:nvPr/>
          </p:nvSpPr>
          <p:spPr>
            <a:xfrm>
              <a:off x="8154895" y="3903669"/>
              <a:ext cx="989100" cy="987900"/>
            </a:xfrm>
            <a:prstGeom prst="rtTriangle">
              <a:avLst/>
            </a:pr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242d9d80d42_2_95"/>
            <p:cNvSpPr/>
            <p:nvPr/>
          </p:nvSpPr>
          <p:spPr>
            <a:xfrm flipH="1">
              <a:off x="6181163" y="3903669"/>
              <a:ext cx="989100" cy="987900"/>
            </a:xfrm>
            <a:prstGeom prst="rtTriangle">
              <a:avLst/>
            </a:pr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242d9d80d42_2_95"/>
            <p:cNvSpPr/>
            <p:nvPr/>
          </p:nvSpPr>
          <p:spPr>
            <a:xfrm>
              <a:off x="7170274" y="3903669"/>
              <a:ext cx="989100" cy="987900"/>
            </a:xfrm>
            <a:prstGeom prst="rect">
              <a:avLst/>
            </a:prstGeom>
            <a:solidFill>
              <a:srgbClr val="3C7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242d9d80d42_2_95"/>
            <p:cNvSpPr/>
            <p:nvPr/>
          </p:nvSpPr>
          <p:spPr>
            <a:xfrm rot="10800000">
              <a:off x="8154757" y="3903682"/>
              <a:ext cx="989100" cy="987900"/>
            </a:xfrm>
            <a:prstGeom prst="rtTriangle">
              <a:avLst/>
            </a:prstGeom>
            <a:solidFill>
              <a:srgbClr val="1155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242d9d80d42_2_95"/>
            <p:cNvSpPr/>
            <p:nvPr/>
          </p:nvSpPr>
          <p:spPr>
            <a:xfrm>
              <a:off x="0" y="4891594"/>
              <a:ext cx="9144000" cy="2520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 name="Google Shape;87;g242d9d80d42_2_95"/>
          <p:cNvSpPr txBox="1"/>
          <p:nvPr>
            <p:ph type="title"/>
          </p:nvPr>
        </p:nvSpPr>
        <p:spPr>
          <a:xfrm>
            <a:off x="311700" y="546667"/>
            <a:ext cx="8520600" cy="810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 name="Google Shape;88;g242d9d80d42_2_95"/>
          <p:cNvSpPr txBox="1"/>
          <p:nvPr>
            <p:ph idx="1" type="body"/>
          </p:nvPr>
        </p:nvSpPr>
        <p:spPr>
          <a:xfrm>
            <a:off x="311700" y="1639833"/>
            <a:ext cx="8520600" cy="4452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9" name="Google Shape;89;g242d9d80d42_2_95"/>
          <p:cNvSpPr txBox="1"/>
          <p:nvPr>
            <p:ph idx="12" type="sldNum"/>
          </p:nvPr>
        </p:nvSpPr>
        <p:spPr>
          <a:xfrm>
            <a:off x="8460431" y="6201587"/>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www.atlassian.com/es/continuous-delivery/software-testing" TargetMode="External"/><Relationship Id="rId4" Type="http://schemas.openxmlformats.org/officeDocument/2006/relationships/hyperlink" Target="https://www.bbvanexttechnologies.com/blogs/el-gran-dilema-del-qa-automatizacion-o-testing-manu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g220870d0f7f_0_0"/>
          <p:cNvSpPr txBox="1"/>
          <p:nvPr>
            <p:ph type="ctrTitle"/>
          </p:nvPr>
        </p:nvSpPr>
        <p:spPr>
          <a:xfrm>
            <a:off x="683568" y="188641"/>
            <a:ext cx="7772400" cy="93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lang="es-ES" sz="4000" u="sng"/>
              <a:t>Pruebas de Software</a:t>
            </a:r>
            <a:endParaRPr sz="4000" u="sng"/>
          </a:p>
        </p:txBody>
      </p:sp>
      <p:sp>
        <p:nvSpPr>
          <p:cNvPr id="95" name="Google Shape;95;g220870d0f7f_0_0"/>
          <p:cNvSpPr txBox="1"/>
          <p:nvPr>
            <p:ph idx="1" type="subTitle"/>
          </p:nvPr>
        </p:nvSpPr>
        <p:spPr>
          <a:xfrm>
            <a:off x="827584" y="4725144"/>
            <a:ext cx="6400800" cy="1368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lang="es-ES" sz="2400">
                <a:solidFill>
                  <a:schemeClr val="dk1"/>
                </a:solidFill>
              </a:rPr>
              <a:t>Docentes:  Eduardo Diez</a:t>
            </a:r>
            <a:endParaRPr/>
          </a:p>
          <a:p>
            <a:pPr indent="457200" lvl="0" marL="914400" rtl="0" algn="l">
              <a:lnSpc>
                <a:spcPct val="100000"/>
              </a:lnSpc>
              <a:spcBef>
                <a:spcPts val="480"/>
              </a:spcBef>
              <a:spcAft>
                <a:spcPts val="0"/>
              </a:spcAft>
              <a:buClr>
                <a:schemeClr val="dk1"/>
              </a:buClr>
              <a:buSzPts val="2400"/>
              <a:buNone/>
            </a:pPr>
            <a:r>
              <a:rPr lang="es-ES" sz="2400">
                <a:solidFill>
                  <a:schemeClr val="dk1"/>
                </a:solidFill>
              </a:rPr>
              <a:t>Pablo San Román</a:t>
            </a:r>
            <a:endParaRPr sz="2400">
              <a:solidFill>
                <a:schemeClr val="dk1"/>
              </a:solidFill>
            </a:endParaRPr>
          </a:p>
        </p:txBody>
      </p:sp>
      <p:pic>
        <p:nvPicPr>
          <p:cNvPr id="96" name="Google Shape;96;g220870d0f7f_0_0"/>
          <p:cNvPicPr preferRelativeResize="0"/>
          <p:nvPr/>
        </p:nvPicPr>
        <p:blipFill rotWithShape="1">
          <a:blip r:embed="rId3">
            <a:alphaModFix/>
          </a:blip>
          <a:srcRect b="0" l="0" r="0" t="0"/>
          <a:stretch/>
        </p:blipFill>
        <p:spPr>
          <a:xfrm>
            <a:off x="3851920" y="1484784"/>
            <a:ext cx="1440160" cy="1656184"/>
          </a:xfrm>
          <a:prstGeom prst="rect">
            <a:avLst/>
          </a:prstGeom>
          <a:noFill/>
          <a:ln>
            <a:noFill/>
          </a:ln>
        </p:spPr>
      </p:pic>
      <p:sp>
        <p:nvSpPr>
          <p:cNvPr id="97" name="Google Shape;97;g220870d0f7f_0_0"/>
          <p:cNvSpPr txBox="1"/>
          <p:nvPr/>
        </p:nvSpPr>
        <p:spPr>
          <a:xfrm>
            <a:off x="2051720" y="3645024"/>
            <a:ext cx="5112600" cy="936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400"/>
              <a:buFont typeface="Arial"/>
              <a:buNone/>
            </a:pPr>
            <a:r>
              <a:rPr i="1" lang="es-ES" sz="2400">
                <a:solidFill>
                  <a:schemeClr val="dk1"/>
                </a:solidFill>
                <a:latin typeface="Calibri"/>
                <a:ea typeface="Calibri"/>
                <a:cs typeface="Calibri"/>
                <a:sym typeface="Calibri"/>
              </a:rPr>
              <a:t>Introducción a las Pruebas Automatizadas </a:t>
            </a:r>
            <a:endParaRPr b="0" i="0" sz="1400" u="none" cap="none" strike="noStrike">
              <a:solidFill>
                <a:srgbClr val="000000"/>
              </a:solidFill>
              <a:latin typeface="Arial"/>
              <a:ea typeface="Arial"/>
              <a:cs typeface="Arial"/>
              <a:sym typeface="Arial"/>
            </a:endParaRPr>
          </a:p>
        </p:txBody>
      </p:sp>
      <p:sp>
        <p:nvSpPr>
          <p:cNvPr id="98" name="Google Shape;98;g220870d0f7f_0_0"/>
          <p:cNvSpPr txBox="1"/>
          <p:nvPr/>
        </p:nvSpPr>
        <p:spPr>
          <a:xfrm>
            <a:off x="1475656" y="6093296"/>
            <a:ext cx="6400800" cy="5760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400"/>
              <a:buFont typeface="Arial"/>
              <a:buNone/>
            </a:pPr>
            <a:r>
              <a:rPr b="0" i="0" lang="es-ES" sz="2400" u="none" cap="none" strike="noStrike">
                <a:solidFill>
                  <a:schemeClr val="dk1"/>
                </a:solidFill>
                <a:latin typeface="Calibri"/>
                <a:ea typeface="Calibri"/>
                <a:cs typeface="Calibri"/>
                <a:sym typeface="Calibri"/>
              </a:rPr>
              <a:t>Año: 202</a:t>
            </a:r>
            <a:r>
              <a:rPr lang="es-ES" sz="2400">
                <a:solidFill>
                  <a:schemeClr val="dk1"/>
                </a:solidFill>
                <a:latin typeface="Calibri"/>
                <a:ea typeface="Calibri"/>
                <a:cs typeface="Calibri"/>
                <a:sym typeface="Calibri"/>
              </a:rPr>
              <a:t>5</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2" name="Shape 102"/>
        <p:cNvGrpSpPr/>
        <p:nvPr/>
      </p:nvGrpSpPr>
      <p:grpSpPr>
        <a:xfrm>
          <a:off x="0" y="0"/>
          <a:ext cx="0" cy="0"/>
          <a:chOff x="0" y="0"/>
          <a:chExt cx="0" cy="0"/>
        </a:xfrm>
      </p:grpSpPr>
      <p:sp>
        <p:nvSpPr>
          <p:cNvPr id="103" name="Google Shape;103;g27661997d7c_0_0"/>
          <p:cNvSpPr txBox="1"/>
          <p:nvPr>
            <p:ph type="title"/>
          </p:nvPr>
        </p:nvSpPr>
        <p:spPr>
          <a:xfrm>
            <a:off x="179500"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Garantía de Calidad (QA): ¿Qué es?</a:t>
            </a:r>
            <a:endParaRPr sz="3200">
              <a:solidFill>
                <a:schemeClr val="lt1"/>
              </a:solidFill>
            </a:endParaRPr>
          </a:p>
        </p:txBody>
      </p:sp>
      <p:sp>
        <p:nvSpPr>
          <p:cNvPr id="104" name="Google Shape;104;g27661997d7c_0_0"/>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 norma internacional ISO/IEC 12207 Information Technology/Software Lifecycle Processes, es el estándar para los procesos de ciclo de vida del software, define QA (Quality Assurance) como un proceso que:</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1500"/>
              </a:spcAft>
              <a:buClr>
                <a:schemeClr val="dk1"/>
              </a:buClr>
              <a:buSzPts val="1100"/>
              <a:buFont typeface="Arial"/>
              <a:buNone/>
            </a:pPr>
            <a:r>
              <a:rPr b="0" i="1" lang="es-ES" sz="2800" u="none" cap="none" strike="noStrike">
                <a:solidFill>
                  <a:schemeClr val="dk1"/>
                </a:solidFill>
                <a:highlight>
                  <a:schemeClr val="lt1"/>
                </a:highlight>
                <a:latin typeface="Calibri"/>
                <a:ea typeface="Calibri"/>
                <a:cs typeface="Calibri"/>
                <a:sym typeface="Calibri"/>
              </a:rPr>
              <a:t>«…proporciona la garantía adecuada para que los productos y procesos de software en el ciclo de vida del proyecto se ajusten a sus requisitos específicos y a los planes establecidos».</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8" name="Shape 108"/>
        <p:cNvGrpSpPr/>
        <p:nvPr/>
      </p:nvGrpSpPr>
      <p:grpSpPr>
        <a:xfrm>
          <a:off x="0" y="0"/>
          <a:ext cx="0" cy="0"/>
          <a:chOff x="0" y="0"/>
          <a:chExt cx="0" cy="0"/>
        </a:xfrm>
      </p:grpSpPr>
      <p:sp>
        <p:nvSpPr>
          <p:cNvPr id="109" name="Google Shape;109;g278c561418c_0_18"/>
          <p:cNvSpPr txBox="1"/>
          <p:nvPr>
            <p:ph type="title"/>
          </p:nvPr>
        </p:nvSpPr>
        <p:spPr>
          <a:xfrm>
            <a:off x="179498" y="260650"/>
            <a:ext cx="88575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Pruebas de Software: ¿Qué son?</a:t>
            </a:r>
            <a:endParaRPr sz="3200">
              <a:solidFill>
                <a:schemeClr val="lt1"/>
              </a:solidFill>
            </a:endParaRPr>
          </a:p>
        </p:txBody>
      </p:sp>
      <p:sp>
        <p:nvSpPr>
          <p:cNvPr id="110" name="Google Shape;110;g278c561418c_0_18"/>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de software representan un artefacto esencial en el desarrollo de software, donde se verifica la exactitud, calidad y rendimiento del software crítico para el negocio. Estas pruebas aseguran que las funciones del producto y los sistemas empresariales funcionen conforme a lo planeado.</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150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Existen dos </a:t>
            </a:r>
            <a:r>
              <a:rPr b="1" i="1" lang="es-ES" sz="2800" u="none" cap="none" strike="noStrike">
                <a:solidFill>
                  <a:schemeClr val="accent1"/>
                </a:solidFill>
                <a:highlight>
                  <a:schemeClr val="lt1"/>
                </a:highlight>
                <a:latin typeface="Calibri"/>
                <a:ea typeface="Calibri"/>
                <a:cs typeface="Calibri"/>
                <a:sym typeface="Calibri"/>
              </a:rPr>
              <a:t>enfoques</a:t>
            </a:r>
            <a:r>
              <a:rPr b="0" i="0" lang="es-ES" sz="2800" u="none" cap="none" strike="noStrike">
                <a:solidFill>
                  <a:schemeClr val="dk1"/>
                </a:solidFill>
                <a:highlight>
                  <a:schemeClr val="lt1"/>
                </a:highlight>
                <a:latin typeface="Calibri"/>
                <a:ea typeface="Calibri"/>
                <a:cs typeface="Calibri"/>
                <a:sym typeface="Calibri"/>
              </a:rPr>
              <a:t> para las </a:t>
            </a:r>
            <a:r>
              <a:rPr b="1" i="1" lang="es-ES" sz="2800" u="none" cap="none" strike="noStrike">
                <a:solidFill>
                  <a:schemeClr val="accent1"/>
                </a:solidFill>
                <a:highlight>
                  <a:schemeClr val="lt1"/>
                </a:highlight>
                <a:latin typeface="Calibri"/>
                <a:ea typeface="Calibri"/>
                <a:cs typeface="Calibri"/>
                <a:sym typeface="Calibri"/>
              </a:rPr>
              <a:t>pruebas</a:t>
            </a:r>
            <a:r>
              <a:rPr b="0" i="0" lang="es-ES" sz="2800" u="none" cap="none" strike="noStrike">
                <a:solidFill>
                  <a:schemeClr val="dk1"/>
                </a:solidFill>
                <a:highlight>
                  <a:schemeClr val="lt1"/>
                </a:highlight>
                <a:latin typeface="Calibri"/>
                <a:ea typeface="Calibri"/>
                <a:cs typeface="Calibri"/>
                <a:sym typeface="Calibri"/>
              </a:rPr>
              <a:t> de software: </a:t>
            </a:r>
            <a:r>
              <a:rPr b="1" i="1" lang="es-ES" sz="2800" u="none" cap="none" strike="noStrike">
                <a:solidFill>
                  <a:schemeClr val="accent1"/>
                </a:solidFill>
                <a:highlight>
                  <a:schemeClr val="lt1"/>
                </a:highlight>
                <a:latin typeface="Calibri"/>
                <a:ea typeface="Calibri"/>
                <a:cs typeface="Calibri"/>
                <a:sym typeface="Calibri"/>
              </a:rPr>
              <a:t>manuales y automatizadas</a:t>
            </a:r>
            <a:r>
              <a:rPr b="0" i="0" lang="es-ES" sz="2800" u="none" cap="none" strike="noStrike">
                <a:solidFill>
                  <a:schemeClr val="dk1"/>
                </a:solidFill>
                <a:highlight>
                  <a:schemeClr val="lt1"/>
                </a:highlight>
                <a:latin typeface="Calibri"/>
                <a:ea typeface="Calibri"/>
                <a:cs typeface="Calibri"/>
                <a:sym typeface="Calibri"/>
              </a:rPr>
              <a:t>.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14" name="Shape 114"/>
        <p:cNvGrpSpPr/>
        <p:nvPr/>
      </p:nvGrpSpPr>
      <p:grpSpPr>
        <a:xfrm>
          <a:off x="0" y="0"/>
          <a:ext cx="0" cy="0"/>
          <a:chOff x="0" y="0"/>
          <a:chExt cx="0" cy="0"/>
        </a:xfrm>
      </p:grpSpPr>
      <p:sp>
        <p:nvSpPr>
          <p:cNvPr id="115" name="Google Shape;115;g278c561418c_0_0"/>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Pruebas de Software: Control de Pruebas</a:t>
            </a:r>
            <a:endParaRPr sz="3200">
              <a:solidFill>
                <a:schemeClr val="lt1"/>
              </a:solidFill>
            </a:endParaRPr>
          </a:p>
        </p:txBody>
      </p:sp>
      <p:sp>
        <p:nvSpPr>
          <p:cNvPr id="116" name="Google Shape;116;g278c561418c_0_0"/>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1500"/>
              </a:spcBef>
              <a:spcAft>
                <a:spcPts val="1500"/>
              </a:spcAft>
              <a:buClr>
                <a:schemeClr val="dk1"/>
              </a:buClr>
              <a:buSzPts val="11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id="117" name="Google Shape;117;g278c561418c_0_0"/>
          <p:cNvPicPr preferRelativeResize="0"/>
          <p:nvPr/>
        </p:nvPicPr>
        <p:blipFill rotWithShape="1">
          <a:blip r:embed="rId3">
            <a:alphaModFix/>
          </a:blip>
          <a:srcRect b="0" l="0" r="0" t="0"/>
          <a:stretch/>
        </p:blipFill>
        <p:spPr>
          <a:xfrm>
            <a:off x="179555" y="1261450"/>
            <a:ext cx="8201840" cy="559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21" name="Shape 121"/>
        <p:cNvGrpSpPr/>
        <p:nvPr/>
      </p:nvGrpSpPr>
      <p:grpSpPr>
        <a:xfrm>
          <a:off x="0" y="0"/>
          <a:ext cx="0" cy="0"/>
          <a:chOff x="0" y="0"/>
          <a:chExt cx="0" cy="0"/>
        </a:xfrm>
      </p:grpSpPr>
      <p:sp>
        <p:nvSpPr>
          <p:cNvPr id="122" name="Google Shape;122;g23157f52ce9_0_1"/>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294"/>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Pruebas de Software: Enfoque Manual</a:t>
            </a:r>
            <a:endParaRPr sz="3200">
              <a:solidFill>
                <a:schemeClr val="lt1"/>
              </a:solidFill>
            </a:endParaRPr>
          </a:p>
        </p:txBody>
      </p:sp>
      <p:sp>
        <p:nvSpPr>
          <p:cNvPr id="123" name="Google Shape;123;g23157f52ce9_0_1"/>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Un individuo o equipo interactúa directamente con el software, ya sea a través de la aplicación o utilizando las interfaces pertinentes, para evaluar su comportamiento y verificar su adecuación.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aunque valiosas, tienden a ser costosas debido a la necesidad de que una persona configure el entorno y ejecute las pruebas, lo que potencialmente introduce errores humanos.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27" name="Shape 127"/>
        <p:cNvGrpSpPr/>
        <p:nvPr/>
      </p:nvGrpSpPr>
      <p:grpSpPr>
        <a:xfrm>
          <a:off x="0" y="0"/>
          <a:ext cx="0" cy="0"/>
          <a:chOff x="0" y="0"/>
          <a:chExt cx="0" cy="0"/>
        </a:xfrm>
      </p:grpSpPr>
      <p:sp>
        <p:nvSpPr>
          <p:cNvPr id="128" name="Google Shape;128;g27661997d7c_0_6"/>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Pruebas de Software: Enfoque Automatizado</a:t>
            </a:r>
            <a:endParaRPr sz="3200">
              <a:solidFill>
                <a:schemeClr val="lt1"/>
              </a:solidFill>
            </a:endParaRPr>
          </a:p>
        </p:txBody>
      </p:sp>
      <p:sp>
        <p:nvSpPr>
          <p:cNvPr id="129" name="Google Shape;129;g27661997d7c_0_6"/>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Involucran el uso de herramientas específicas para ejecutar scripts predefinidos que evalúan el software. Estas pruebas varían en complejidad, desde validar un método en una clase hasta simular interacciones complejas de usuario en la interfaz.</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Aunque las pruebas automatizadas son más sólidas y confiables que las manuales, su calidad depende de la exactitud de los scripts.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33" name="Shape 133"/>
        <p:cNvGrpSpPr/>
        <p:nvPr/>
      </p:nvGrpSpPr>
      <p:grpSpPr>
        <a:xfrm>
          <a:off x="0" y="0"/>
          <a:ext cx="0" cy="0"/>
          <a:chOff x="0" y="0"/>
          <a:chExt cx="0" cy="0"/>
        </a:xfrm>
      </p:grpSpPr>
      <p:sp>
        <p:nvSpPr>
          <p:cNvPr id="134" name="Google Shape;134;g278c561418c_0_35"/>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just">
              <a:lnSpc>
                <a:spcPct val="155769"/>
              </a:lnSpc>
              <a:spcBef>
                <a:spcPts val="0"/>
              </a:spcBef>
              <a:spcAft>
                <a:spcPts val="3600"/>
              </a:spcAft>
              <a:buClr>
                <a:schemeClr val="dk1"/>
              </a:buClr>
              <a:buSzPts val="990"/>
              <a:buFont typeface="Arial"/>
              <a:buNone/>
            </a:pPr>
            <a:r>
              <a:rPr lang="es-ES" sz="2580">
                <a:solidFill>
                  <a:schemeClr val="lt1"/>
                </a:solidFill>
              </a:rPr>
              <a:t>¿Pruebas automatizadas o Automatización de Pruebas?</a:t>
            </a:r>
            <a:endParaRPr sz="2580">
              <a:solidFill>
                <a:schemeClr val="lt1"/>
              </a:solidFill>
            </a:endParaRPr>
          </a:p>
        </p:txBody>
      </p:sp>
      <p:sp>
        <p:nvSpPr>
          <p:cNvPr id="135" name="Google Shape;135;g278c561418c_0_35"/>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5769"/>
              </a:lnSpc>
              <a:spcBef>
                <a:spcPts val="0"/>
              </a:spcBef>
              <a:spcAft>
                <a:spcPts val="0"/>
              </a:spcAft>
              <a:buClr>
                <a:schemeClr val="dk1"/>
              </a:buClr>
              <a:buSzPts val="1100"/>
              <a:buFont typeface="Arial"/>
              <a:buNone/>
            </a:pPr>
            <a:r>
              <a:rPr b="0" i="0" lang="es-ES" sz="2700" u="none" cap="none" strike="noStrike">
                <a:solidFill>
                  <a:schemeClr val="dk1"/>
                </a:solidFill>
                <a:highlight>
                  <a:schemeClr val="lt1"/>
                </a:highlight>
                <a:latin typeface="Calibri"/>
                <a:ea typeface="Calibri"/>
                <a:cs typeface="Calibri"/>
                <a:sym typeface="Calibri"/>
              </a:rPr>
              <a:t>Es interesante que establezcamos una distinción entre las pruebas automatizadas y la automatización de la ejecución de las pruebas, este último pilar de DevOps. </a:t>
            </a:r>
            <a:endParaRPr b="0" i="0" sz="2700" u="none" cap="none" strike="noStrike">
              <a:solidFill>
                <a:schemeClr val="dk1"/>
              </a:solidFill>
              <a:highlight>
                <a:schemeClr val="lt1"/>
              </a:highlight>
              <a:latin typeface="Calibri"/>
              <a:ea typeface="Calibri"/>
              <a:cs typeface="Calibri"/>
              <a:sym typeface="Calibri"/>
            </a:endParaRPr>
          </a:p>
          <a:p>
            <a:pPr indent="0" lvl="0" marL="0" marR="0" rtl="0" algn="just">
              <a:lnSpc>
                <a:spcPct val="155769"/>
              </a:lnSpc>
              <a:spcBef>
                <a:spcPts val="3600"/>
              </a:spcBef>
              <a:spcAft>
                <a:spcPts val="0"/>
              </a:spcAft>
              <a:buClr>
                <a:schemeClr val="dk1"/>
              </a:buClr>
              <a:buSzPts val="1100"/>
              <a:buFont typeface="Arial"/>
              <a:buNone/>
            </a:pPr>
            <a:r>
              <a:rPr b="0" i="0" lang="es-ES" sz="2700" u="none" cap="none" strike="noStrike">
                <a:solidFill>
                  <a:schemeClr val="dk1"/>
                </a:solidFill>
                <a:highlight>
                  <a:schemeClr val="lt1"/>
                </a:highlight>
                <a:latin typeface="Calibri"/>
                <a:ea typeface="Calibri"/>
                <a:cs typeface="Calibri"/>
                <a:sym typeface="Calibri"/>
              </a:rPr>
              <a:t>La prueba automatizada es un </a:t>
            </a:r>
            <a:r>
              <a:rPr b="0" i="1" lang="es-ES" sz="2700" u="none" cap="none" strike="noStrike">
                <a:solidFill>
                  <a:schemeClr val="dk1"/>
                </a:solidFill>
                <a:highlight>
                  <a:schemeClr val="lt1"/>
                </a:highlight>
                <a:latin typeface="Calibri"/>
                <a:ea typeface="Calibri"/>
                <a:cs typeface="Calibri"/>
                <a:sym typeface="Calibri"/>
              </a:rPr>
              <a:t>check</a:t>
            </a:r>
            <a:r>
              <a:rPr b="0" i="0" lang="es-ES" sz="2700" u="none" cap="none" strike="noStrike">
                <a:solidFill>
                  <a:schemeClr val="dk1"/>
                </a:solidFill>
                <a:highlight>
                  <a:schemeClr val="lt1"/>
                </a:highlight>
                <a:latin typeface="Calibri"/>
                <a:ea typeface="Calibri"/>
                <a:cs typeface="Calibri"/>
                <a:sym typeface="Calibri"/>
              </a:rPr>
              <a:t> manual codificado. Existen muchas herramientas para ello como Selenium, xUnit, etc. pero podríamos sintetizar diciendo que en la prueba automatizada se repiten los pasos que ejecutaría una persona para verificar un </a:t>
            </a:r>
            <a:r>
              <a:rPr b="0" i="1" lang="es-ES" sz="2700" u="none" cap="none" strike="noStrike">
                <a:solidFill>
                  <a:schemeClr val="dk1"/>
                </a:solidFill>
                <a:highlight>
                  <a:schemeClr val="lt1"/>
                </a:highlight>
                <a:latin typeface="Calibri"/>
                <a:ea typeface="Calibri"/>
                <a:cs typeface="Calibri"/>
                <a:sym typeface="Calibri"/>
              </a:rPr>
              <a:t>output</a:t>
            </a:r>
            <a:r>
              <a:rPr b="0" i="0" lang="es-ES" sz="2700" u="none" cap="none" strike="noStrike">
                <a:solidFill>
                  <a:schemeClr val="dk1"/>
                </a:solidFill>
                <a:highlight>
                  <a:schemeClr val="lt1"/>
                </a:highlight>
                <a:latin typeface="Calibri"/>
                <a:ea typeface="Calibri"/>
                <a:cs typeface="Calibri"/>
                <a:sym typeface="Calibri"/>
              </a:rPr>
              <a:t> concreto.</a:t>
            </a:r>
            <a:endParaRPr b="0" i="0" sz="2700" u="none" cap="none" strike="noStrike">
              <a:solidFill>
                <a:schemeClr val="dk1"/>
              </a:solidFill>
              <a:highlight>
                <a:schemeClr val="lt1"/>
              </a:highlight>
              <a:latin typeface="Calibri"/>
              <a:ea typeface="Calibri"/>
              <a:cs typeface="Calibri"/>
              <a:sym typeface="Calibri"/>
            </a:endParaRPr>
          </a:p>
          <a:p>
            <a:pPr indent="0" lvl="0" marL="0" marR="0" rtl="0" algn="just">
              <a:lnSpc>
                <a:spcPct val="155769"/>
              </a:lnSpc>
              <a:spcBef>
                <a:spcPts val="36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 automatización de pruebas implica que el proceso se tiene que automatizar, pensar en el producto, tener en cuenta las integraciones, que el set de pruebas se ejecute autónomamente sin necesidad de que haya intervención humana. Esto quiere decir que un equipo puede tener pruebas automatizadas ejecutadas localmente, pero no por ello tienen cubierto el objetivo de automatización de pruebas.</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36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39" name="Shape 139"/>
        <p:cNvGrpSpPr/>
        <p:nvPr/>
      </p:nvGrpSpPr>
      <p:grpSpPr>
        <a:xfrm>
          <a:off x="0" y="0"/>
          <a:ext cx="0" cy="0"/>
          <a:chOff x="0" y="0"/>
          <a:chExt cx="0" cy="0"/>
        </a:xfrm>
      </p:grpSpPr>
      <p:sp>
        <p:nvSpPr>
          <p:cNvPr id="140" name="Google Shape;140;g278c561418c_0_48"/>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just">
              <a:lnSpc>
                <a:spcPct val="155769"/>
              </a:lnSpc>
              <a:spcBef>
                <a:spcPts val="0"/>
              </a:spcBef>
              <a:spcAft>
                <a:spcPts val="3600"/>
              </a:spcAft>
              <a:buClr>
                <a:schemeClr val="dk1"/>
              </a:buClr>
              <a:buSzPts val="990"/>
              <a:buFont typeface="Arial"/>
              <a:buNone/>
            </a:pPr>
            <a:r>
              <a:rPr lang="es-ES" sz="2580">
                <a:solidFill>
                  <a:schemeClr val="lt1"/>
                </a:solidFill>
              </a:rPr>
              <a:t>¿Pruebas automatizadas o Automatización de Pruebas?</a:t>
            </a:r>
            <a:endParaRPr sz="2580">
              <a:solidFill>
                <a:schemeClr val="lt1"/>
              </a:solidFill>
            </a:endParaRPr>
          </a:p>
        </p:txBody>
      </p:sp>
      <p:sp>
        <p:nvSpPr>
          <p:cNvPr id="141" name="Google Shape;141;g278c561418c_0_48"/>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55769"/>
              </a:lnSpc>
              <a:spcBef>
                <a:spcPts val="0"/>
              </a:spcBef>
              <a:spcAft>
                <a:spcPts val="0"/>
              </a:spcAft>
              <a:buClr>
                <a:schemeClr val="dk1"/>
              </a:buClr>
              <a:buSzPts val="1100"/>
              <a:buFont typeface="Arial"/>
              <a:buNone/>
            </a:pPr>
            <a:r>
              <a:rPr b="0" i="0" lang="es-ES" sz="2600" u="none" cap="none" strike="noStrike">
                <a:solidFill>
                  <a:schemeClr val="dk1"/>
                </a:solidFill>
                <a:highlight>
                  <a:schemeClr val="lt1"/>
                </a:highlight>
                <a:latin typeface="Calibri"/>
                <a:ea typeface="Calibri"/>
                <a:cs typeface="Calibri"/>
                <a:sym typeface="Calibri"/>
              </a:rPr>
              <a:t>La automatización de la ejecución de las pruebas implica que el proceso se tiene que automatizar, pensar en el producto, tener en cuenta las integraciones, que el set de pruebas se ejecute autónomamente sin necesidad que haya intervención humana. Este es un pilar de DevOps.</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just">
              <a:lnSpc>
                <a:spcPct val="155769"/>
              </a:lnSpc>
              <a:spcBef>
                <a:spcPts val="3600"/>
              </a:spcBef>
              <a:spcAft>
                <a:spcPts val="0"/>
              </a:spcAft>
              <a:buClr>
                <a:schemeClr val="dk1"/>
              </a:buClr>
              <a:buSzPts val="1100"/>
              <a:buFont typeface="Arial"/>
              <a:buNone/>
            </a:pPr>
            <a:r>
              <a:rPr b="0" i="0" lang="es-ES" sz="2600" u="none" cap="none" strike="noStrike">
                <a:solidFill>
                  <a:schemeClr val="dk1"/>
                </a:solidFill>
                <a:highlight>
                  <a:schemeClr val="lt1"/>
                </a:highlight>
                <a:latin typeface="Calibri"/>
                <a:ea typeface="Calibri"/>
                <a:cs typeface="Calibri"/>
                <a:sym typeface="Calibri"/>
              </a:rPr>
              <a:t>Esto quiere decir que un equipo puede tener pruebas automatizadas ejecutadas localmente, pero no por ello tienen cubierto el objetivo de automatización de pruebas.</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36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45" name="Shape 145"/>
        <p:cNvGrpSpPr/>
        <p:nvPr/>
      </p:nvGrpSpPr>
      <p:grpSpPr>
        <a:xfrm>
          <a:off x="0" y="0"/>
          <a:ext cx="0" cy="0"/>
          <a:chOff x="0" y="0"/>
          <a:chExt cx="0" cy="0"/>
        </a:xfrm>
      </p:grpSpPr>
      <p:sp>
        <p:nvSpPr>
          <p:cNvPr id="146" name="Google Shape;146;g278c561418c_0_8"/>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Pirámide de Mike Cohn: Pruebas Automatizadas</a:t>
            </a:r>
            <a:endParaRPr sz="3200">
              <a:solidFill>
                <a:schemeClr val="lt1"/>
              </a:solidFill>
            </a:endParaRPr>
          </a:p>
        </p:txBody>
      </p:sp>
      <p:sp>
        <p:nvSpPr>
          <p:cNvPr id="147" name="Google Shape;147;g278c561418c_0_8"/>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id="148" name="Google Shape;148;g278c561418c_0_8"/>
          <p:cNvPicPr preferRelativeResize="0"/>
          <p:nvPr/>
        </p:nvPicPr>
        <p:blipFill rotWithShape="1">
          <a:blip r:embed="rId3">
            <a:alphaModFix/>
          </a:blip>
          <a:srcRect b="0" l="0" r="0" t="0"/>
          <a:stretch/>
        </p:blipFill>
        <p:spPr>
          <a:xfrm>
            <a:off x="716000" y="1196650"/>
            <a:ext cx="7240366" cy="5661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2" name="Shape 152"/>
        <p:cNvGrpSpPr/>
        <p:nvPr/>
      </p:nvGrpSpPr>
      <p:grpSpPr>
        <a:xfrm>
          <a:off x="0" y="0"/>
          <a:ext cx="0" cy="0"/>
          <a:chOff x="0" y="0"/>
          <a:chExt cx="0" cy="0"/>
        </a:xfrm>
      </p:grpSpPr>
      <p:sp>
        <p:nvSpPr>
          <p:cNvPr id="153" name="Google Shape;153;g278c561418c_0_54"/>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Automatizar las Pruebas: Ventajas</a:t>
            </a:r>
            <a:endParaRPr sz="3200">
              <a:solidFill>
                <a:schemeClr val="lt1"/>
              </a:solidFill>
            </a:endParaRPr>
          </a:p>
        </p:txBody>
      </p:sp>
      <p:sp>
        <p:nvSpPr>
          <p:cNvPr id="154" name="Google Shape;154;g278c561418c_0_54"/>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Reducción del coste de la mano de obra.</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Mayor homogeneidad.</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Eliminación de los trabajos rutinarios.</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Reducción de el tiempo empleado en procesar la información.</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Fiabilidad técnica en procesos y en operación de equipos.</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Ser competitivos frente al cliente.</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Mejorar y optimizar la implementación del análisis, de las funciones y del diagnóstico.</a:t>
            </a:r>
            <a:endParaRPr b="0" i="0" sz="2500" u="none" cap="none" strike="noStrike">
              <a:solidFill>
                <a:schemeClr val="dk1"/>
              </a:solidFill>
              <a:highlight>
                <a:schemeClr val="lt1"/>
              </a:highlight>
              <a:latin typeface="Calibri"/>
              <a:ea typeface="Calibri"/>
              <a:cs typeface="Calibri"/>
              <a:sym typeface="Calibri"/>
            </a:endParaRPr>
          </a:p>
          <a:p>
            <a:pPr indent="-387350" lvl="0" marL="457200" marR="0" rtl="0" algn="just">
              <a:lnSpc>
                <a:spcPct val="155769"/>
              </a:lnSpc>
              <a:spcBef>
                <a:spcPts val="0"/>
              </a:spcBef>
              <a:spcAft>
                <a:spcPts val="0"/>
              </a:spcAft>
              <a:buClr>
                <a:schemeClr val="dk1"/>
              </a:buClr>
              <a:buSzPts val="2500"/>
              <a:buFont typeface="Calibri"/>
              <a:buChar char="●"/>
            </a:pPr>
            <a:r>
              <a:rPr b="0" i="0" lang="es-ES" sz="2500" u="none" cap="none" strike="noStrike">
                <a:solidFill>
                  <a:schemeClr val="dk1"/>
                </a:solidFill>
                <a:highlight>
                  <a:schemeClr val="lt1"/>
                </a:highlight>
                <a:latin typeface="Calibri"/>
                <a:ea typeface="Calibri"/>
                <a:cs typeface="Calibri"/>
                <a:sym typeface="Calibri"/>
              </a:rPr>
              <a:t>Mejora de la calidad de producto</a:t>
            </a:r>
            <a:endParaRPr b="0" i="0" sz="25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8" name="Shape 158"/>
        <p:cNvGrpSpPr/>
        <p:nvPr/>
      </p:nvGrpSpPr>
      <p:grpSpPr>
        <a:xfrm>
          <a:off x="0" y="0"/>
          <a:ext cx="0" cy="0"/>
          <a:chOff x="0" y="0"/>
          <a:chExt cx="0" cy="0"/>
        </a:xfrm>
      </p:grpSpPr>
      <p:sp>
        <p:nvSpPr>
          <p:cNvPr id="159" name="Google Shape;159;g278c561418c_0_65"/>
          <p:cNvSpPr txBox="1"/>
          <p:nvPr>
            <p:ph type="title"/>
          </p:nvPr>
        </p:nvSpPr>
        <p:spPr>
          <a:xfrm>
            <a:off x="179499" y="260650"/>
            <a:ext cx="87054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Automatizar las Pruebas: Desventajas</a:t>
            </a:r>
            <a:endParaRPr sz="3200">
              <a:solidFill>
                <a:schemeClr val="lt1"/>
              </a:solidFill>
            </a:endParaRPr>
          </a:p>
        </p:txBody>
      </p:sp>
      <p:sp>
        <p:nvSpPr>
          <p:cNvPr id="160" name="Google Shape;160;g278c561418c_0_65"/>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406400" lvl="0" marL="457200" marR="0" rtl="0" algn="just">
              <a:lnSpc>
                <a:spcPct val="155769"/>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Lentitud y dificultad de adaptación a los cambios de un proceso ya automatizado para producir otros modelos diferentes.</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55769"/>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Requiere especialización por parte del personal.</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55769"/>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La inversión en equipos puede ser más costosa</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64" name="Shape 164"/>
        <p:cNvGrpSpPr/>
        <p:nvPr/>
      </p:nvGrpSpPr>
      <p:grpSpPr>
        <a:xfrm>
          <a:off x="0" y="0"/>
          <a:ext cx="0" cy="0"/>
          <a:chOff x="0" y="0"/>
          <a:chExt cx="0" cy="0"/>
        </a:xfrm>
      </p:grpSpPr>
      <p:sp>
        <p:nvSpPr>
          <p:cNvPr id="165" name="Google Shape;165;g278c561418c_0_71"/>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Pruebas Estructuradas o No Estructuradas</a:t>
            </a:r>
            <a:endParaRPr sz="2800">
              <a:solidFill>
                <a:schemeClr val="lt1"/>
              </a:solidFill>
              <a:highlight>
                <a:schemeClr val="accent1"/>
              </a:highlight>
            </a:endParaRPr>
          </a:p>
        </p:txBody>
      </p:sp>
      <p:sp>
        <p:nvSpPr>
          <p:cNvPr id="166" name="Google Shape;166;g278c561418c_0_71"/>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25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rPr b="0" i="0" lang="es-ES" sz="2800" u="none" cap="none" strike="noStrike">
                <a:solidFill>
                  <a:schemeClr val="dk1"/>
                </a:solidFill>
                <a:highlight>
                  <a:schemeClr val="lt1"/>
                </a:highlight>
                <a:latin typeface="Calibri"/>
                <a:ea typeface="Calibri"/>
                <a:cs typeface="Calibri"/>
                <a:sym typeface="Calibri"/>
              </a:rPr>
              <a:t>Otra categorización posible de las pruebas de software son las: pruebas estructuradas y pruebas no estructuradas o informales.</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0" name="Shape 170"/>
        <p:cNvGrpSpPr/>
        <p:nvPr/>
      </p:nvGrpSpPr>
      <p:grpSpPr>
        <a:xfrm>
          <a:off x="0" y="0"/>
          <a:ext cx="0" cy="0"/>
          <a:chOff x="0" y="0"/>
          <a:chExt cx="0" cy="0"/>
        </a:xfrm>
      </p:grpSpPr>
      <p:sp>
        <p:nvSpPr>
          <p:cNvPr id="171" name="Google Shape;171;g2772fd33366_1_0"/>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Pruebas Estructuradas</a:t>
            </a:r>
            <a:endParaRPr sz="2800">
              <a:solidFill>
                <a:schemeClr val="lt1"/>
              </a:solidFill>
              <a:highlight>
                <a:schemeClr val="accent1"/>
              </a:highlight>
            </a:endParaRPr>
          </a:p>
        </p:txBody>
      </p:sp>
      <p:sp>
        <p:nvSpPr>
          <p:cNvPr id="172" name="Google Shape;172;g2772fd33366_1_0"/>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estructuradas, también conocidas como pruebas formales, siguen un plan predefinido y sistemático para verificar si el software cumple con los requisitos especificados. Estas pruebas se basan en guiones y casos de prueba predefinidos que se ejecutan siguiendo un conjunto de pasos planificados.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El objetivo principal de las pruebas estructuradas es garantizar la cobertura completa de diferentes aspectos del software y detectar posibles bugs.</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pueden automatizarse para aplicar DevOps.</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6" name="Shape 176"/>
        <p:cNvGrpSpPr/>
        <p:nvPr/>
      </p:nvGrpSpPr>
      <p:grpSpPr>
        <a:xfrm>
          <a:off x="0" y="0"/>
          <a:ext cx="0" cy="0"/>
          <a:chOff x="0" y="0"/>
          <a:chExt cx="0" cy="0"/>
        </a:xfrm>
      </p:grpSpPr>
      <p:sp>
        <p:nvSpPr>
          <p:cNvPr id="177" name="Google Shape;177;g27661997d7c_0_78"/>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Ejemplos de Pruebas Estructuradas</a:t>
            </a:r>
            <a:endParaRPr sz="2800">
              <a:solidFill>
                <a:schemeClr val="lt1"/>
              </a:solidFill>
              <a:highlight>
                <a:schemeClr val="accent1"/>
              </a:highlight>
            </a:endParaRPr>
          </a:p>
        </p:txBody>
      </p:sp>
      <p:sp>
        <p:nvSpPr>
          <p:cNvPr id="178" name="Google Shape;178;g27661997d7c_0_78"/>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Ejemplos de pruebas estructuradas:</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150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Unitarias</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de Integración</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de Regresión</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de Sistema (verifican requisitos no funcionales)</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Funcionales (verifican requisitos funcionales)</a:t>
            </a:r>
            <a:endParaRPr b="0" i="0" sz="2800" u="none" cap="none" strike="noStrike">
              <a:solidFill>
                <a:schemeClr val="dk1"/>
              </a:solidFill>
              <a:highlight>
                <a:schemeClr val="lt1"/>
              </a:highlight>
              <a:latin typeface="Calibri"/>
              <a:ea typeface="Calibri"/>
              <a:cs typeface="Calibri"/>
              <a:sym typeface="Calibri"/>
            </a:endParaRPr>
          </a:p>
          <a:p>
            <a:pPr indent="-406400" lvl="0" marL="457200" marR="0" rtl="0" algn="just">
              <a:lnSpc>
                <a:spcPct val="115000"/>
              </a:lnSpc>
              <a:spcBef>
                <a:spcPts val="0"/>
              </a:spcBef>
              <a:spcAft>
                <a:spcPts val="0"/>
              </a:spcAft>
              <a:buClr>
                <a:schemeClr val="dk1"/>
              </a:buClr>
              <a:buSzPts val="2800"/>
              <a:buFont typeface="Calibri"/>
              <a:buChar char="●"/>
            </a:pPr>
            <a:r>
              <a:rPr b="0" i="0" lang="es-ES" sz="2800" u="none" cap="none" strike="noStrike">
                <a:solidFill>
                  <a:schemeClr val="dk1"/>
                </a:solidFill>
                <a:highlight>
                  <a:schemeClr val="lt1"/>
                </a:highlight>
                <a:latin typeface="Calibri"/>
                <a:ea typeface="Calibri"/>
                <a:cs typeface="Calibri"/>
                <a:sym typeface="Calibri"/>
              </a:rPr>
              <a:t>Pruebas Extremo a Extremo (verifican requisitos desde el punto de vista usuario)</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5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82" name="Shape 182"/>
        <p:cNvGrpSpPr/>
        <p:nvPr/>
      </p:nvGrpSpPr>
      <p:grpSpPr>
        <a:xfrm>
          <a:off x="0" y="0"/>
          <a:ext cx="0" cy="0"/>
          <a:chOff x="0" y="0"/>
          <a:chExt cx="0" cy="0"/>
        </a:xfrm>
      </p:grpSpPr>
      <p:sp>
        <p:nvSpPr>
          <p:cNvPr id="183" name="Google Shape;183;g27661997d7c_0_71"/>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highlight>
                  <a:schemeClr val="accent1"/>
                </a:highlight>
                <a:latin typeface="Roboto"/>
                <a:ea typeface="Roboto"/>
                <a:cs typeface="Roboto"/>
                <a:sym typeface="Roboto"/>
              </a:rPr>
              <a:t>Pruebas Unitarias</a:t>
            </a:r>
            <a:endParaRPr sz="3200">
              <a:solidFill>
                <a:schemeClr val="lt1"/>
              </a:solidFill>
              <a:highlight>
                <a:schemeClr val="accent1"/>
              </a:highlight>
            </a:endParaRPr>
          </a:p>
        </p:txBody>
      </p:sp>
      <p:sp>
        <p:nvSpPr>
          <p:cNvPr id="184" name="Google Shape;184;g27661997d7c_0_71"/>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unitarias operan a un nivel muy bajo y se llevan a cabo para verificar el modelo (back end) de la aplicación. Se enfocan en evaluar métodos y funciones individuales en clases, componentes o módulos utilizados por el software.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son de bajo costo para automatizar y se pueden ejecutar de manera eficiente a través de servidores de integración continua.</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88" name="Shape 188"/>
        <p:cNvGrpSpPr/>
        <p:nvPr/>
      </p:nvGrpSpPr>
      <p:grpSpPr>
        <a:xfrm>
          <a:off x="0" y="0"/>
          <a:ext cx="0" cy="0"/>
          <a:chOff x="0" y="0"/>
          <a:chExt cx="0" cy="0"/>
        </a:xfrm>
      </p:grpSpPr>
      <p:sp>
        <p:nvSpPr>
          <p:cNvPr id="189" name="Google Shape;189;g27661997d7c_0_35"/>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highlight>
                  <a:schemeClr val="accent1"/>
                </a:highlight>
                <a:latin typeface="Roboto"/>
                <a:ea typeface="Roboto"/>
                <a:cs typeface="Roboto"/>
                <a:sym typeface="Roboto"/>
              </a:rPr>
              <a:t>Pruebas de Integración</a:t>
            </a:r>
            <a:endParaRPr sz="3200">
              <a:solidFill>
                <a:schemeClr val="lt1"/>
              </a:solidFill>
              <a:highlight>
                <a:schemeClr val="accent1"/>
              </a:highlight>
            </a:endParaRPr>
          </a:p>
        </p:txBody>
      </p:sp>
      <p:sp>
        <p:nvSpPr>
          <p:cNvPr id="190" name="Google Shape;190;g27661997d7c_0_35"/>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45720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de integración verifican la correcta interacción entre los diferentes módulos, clases o servicios utilizados en el modelo (back end) de la aplicación.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Por ejemplo, se examina la interacción con la base de datos o la compatibilidad entre microservicios. Estas pruebas tienden a ser más costosas de ejecutar ya que requieren que múltiples partes de la aplicación estén activas.</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94" name="Shape 194"/>
        <p:cNvGrpSpPr/>
        <p:nvPr/>
      </p:nvGrpSpPr>
      <p:grpSpPr>
        <a:xfrm>
          <a:off x="0" y="0"/>
          <a:ext cx="0" cy="0"/>
          <a:chOff x="0" y="0"/>
          <a:chExt cx="0" cy="0"/>
        </a:xfrm>
      </p:grpSpPr>
      <p:sp>
        <p:nvSpPr>
          <p:cNvPr id="195" name="Google Shape;195;g2772fd33366_0_22"/>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highlight>
                  <a:schemeClr val="accent1"/>
                </a:highlight>
                <a:latin typeface="Roboto"/>
                <a:ea typeface="Roboto"/>
                <a:cs typeface="Roboto"/>
                <a:sym typeface="Roboto"/>
              </a:rPr>
              <a:t>Pruebas de Regresión</a:t>
            </a:r>
            <a:endParaRPr sz="3200">
              <a:solidFill>
                <a:schemeClr val="lt1"/>
              </a:solidFill>
              <a:highlight>
                <a:schemeClr val="accent1"/>
              </a:highlight>
            </a:endParaRPr>
          </a:p>
        </p:txBody>
      </p:sp>
      <p:sp>
        <p:nvSpPr>
          <p:cNvPr id="196" name="Google Shape;196;g2772fd33366_0_22"/>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Se realizan para asegurarse de que los cambios o modificaciones realizados en una aplicación no hayan afectado negativamente a las funcionalidades existentes. Estas pruebas se llevan a cabo después de realizar actualizaciones, correcciones de errores, mejoras o cualquier otro cambio en el software.</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A medida que un software evoluciona y se actualiza, es común que las correcciones y mejoras en una parte del código puedan afectar inadvertidamente a otras partes del sistema.</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0" name="Shape 200"/>
        <p:cNvGrpSpPr/>
        <p:nvPr/>
      </p:nvGrpSpPr>
      <p:grpSpPr>
        <a:xfrm>
          <a:off x="0" y="0"/>
          <a:ext cx="0" cy="0"/>
          <a:chOff x="0" y="0"/>
          <a:chExt cx="0" cy="0"/>
        </a:xfrm>
      </p:grpSpPr>
      <p:sp>
        <p:nvSpPr>
          <p:cNvPr id="201" name="Google Shape;201;g27661997d7c_0_59"/>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000">
                <a:solidFill>
                  <a:schemeClr val="lt1"/>
                </a:solidFill>
                <a:highlight>
                  <a:schemeClr val="accent1"/>
                </a:highlight>
                <a:latin typeface="Roboto"/>
                <a:ea typeface="Roboto"/>
                <a:cs typeface="Roboto"/>
                <a:sym typeface="Roboto"/>
              </a:rPr>
              <a:t>Pruebas de Sistema</a:t>
            </a:r>
            <a:endParaRPr sz="3000">
              <a:solidFill>
                <a:schemeClr val="lt1"/>
              </a:solidFill>
              <a:highlight>
                <a:schemeClr val="accent1"/>
              </a:highlight>
            </a:endParaRPr>
          </a:p>
        </p:txBody>
      </p:sp>
      <p:sp>
        <p:nvSpPr>
          <p:cNvPr id="202" name="Google Shape;202;g27661997d7c_0_59"/>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Sirven para verificar los requisitos no funcionales. Estas evalúan el desempeño de un sistema bajo una carga de trabajo específica. Ayudan a medir la fiabilidad, velocidad, escalabilidad, seguridad y capacidad de respuesta de la aplicación.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pueden analizar tiempos de respuesta con un alto volumen de solicitudes o cómo se comporta el sistema con grandes cantidades de datos. Identifican cuellos de botella, miden estabilidad durante picos de tráfico y más.</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6" name="Shape 206"/>
        <p:cNvGrpSpPr/>
        <p:nvPr/>
      </p:nvGrpSpPr>
      <p:grpSpPr>
        <a:xfrm>
          <a:off x="0" y="0"/>
          <a:ext cx="0" cy="0"/>
          <a:chOff x="0" y="0"/>
          <a:chExt cx="0" cy="0"/>
        </a:xfrm>
      </p:grpSpPr>
      <p:sp>
        <p:nvSpPr>
          <p:cNvPr id="207" name="Google Shape;207;g27661997d7c_0_41"/>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Pruebas Funcionales</a:t>
            </a:r>
            <a:endParaRPr sz="2800">
              <a:solidFill>
                <a:schemeClr val="lt1"/>
              </a:solidFill>
              <a:highlight>
                <a:schemeClr val="accent1"/>
              </a:highlight>
            </a:endParaRPr>
          </a:p>
        </p:txBody>
      </p:sp>
      <p:sp>
        <p:nvSpPr>
          <p:cNvPr id="208" name="Google Shape;208;g27661997d7c_0_41"/>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funcionales son un tipo de prueba que se realiza sobre el modelo (back end) para verificar si el software cumple con los requisitos empresariales o funcionales especificados en el diseño y la documentación del sistema.</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Evalúan los resultados de una acción específica sin considerar los estados intermedios del sistema durante dicha acción.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2" name="Shape 212"/>
        <p:cNvGrpSpPr/>
        <p:nvPr/>
      </p:nvGrpSpPr>
      <p:grpSpPr>
        <a:xfrm>
          <a:off x="0" y="0"/>
          <a:ext cx="0" cy="0"/>
          <a:chOff x="0" y="0"/>
          <a:chExt cx="0" cy="0"/>
        </a:xfrm>
      </p:grpSpPr>
      <p:sp>
        <p:nvSpPr>
          <p:cNvPr id="213" name="Google Shape;213;g2772fd33366_0_0"/>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Extremo a Extremo (E2E)</a:t>
            </a:r>
            <a:endParaRPr sz="2800">
              <a:solidFill>
                <a:schemeClr val="lt1"/>
              </a:solidFill>
              <a:highlight>
                <a:schemeClr val="accent1"/>
              </a:highlight>
            </a:endParaRPr>
          </a:p>
        </p:txBody>
      </p:sp>
      <p:sp>
        <p:nvSpPr>
          <p:cNvPr id="214" name="Google Shape;214;g2772fd33366_0_0"/>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replican el comportamiento de un usuario en todo el contexto de la aplicación. Son una excelente opción para automatizar historias de usuario. Son utilizadas para probar aplicaciones web.</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Por ejemplo cargar una página web o iniciar sesión, hasta acciones más complejas como comprobar notificaciones de correo electrónico o procesos de pago en línea. </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8" name="Shape 218"/>
        <p:cNvGrpSpPr/>
        <p:nvPr/>
      </p:nvGrpSpPr>
      <p:grpSpPr>
        <a:xfrm>
          <a:off x="0" y="0"/>
          <a:ext cx="0" cy="0"/>
          <a:chOff x="0" y="0"/>
          <a:chExt cx="0" cy="0"/>
        </a:xfrm>
      </p:grpSpPr>
      <p:sp>
        <p:nvSpPr>
          <p:cNvPr id="219" name="Google Shape;219;g27661997d7c_0_29"/>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Pruebas no Estructuradas</a:t>
            </a:r>
            <a:endParaRPr sz="2800">
              <a:solidFill>
                <a:schemeClr val="lt1"/>
              </a:solidFill>
              <a:highlight>
                <a:schemeClr val="accent1"/>
              </a:highlight>
            </a:endParaRPr>
          </a:p>
        </p:txBody>
      </p:sp>
      <p:sp>
        <p:nvSpPr>
          <p:cNvPr id="220" name="Google Shape;220;g27661997d7c_0_29"/>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no estructuradas, también conocidas como pruebas informales o ad hoc, son más flexibles y se basan en la intuición y la exploración del probador. En lugar de seguir un guión predefinido, los testers interactúan con el software de manera libre y buscan problemas a medida que avanzan.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no estructuradas son más útiles para descubrir problemas inesperados y evaluar la usabilidad y la experiencia del usuario.</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4" name="Shape 224"/>
        <p:cNvGrpSpPr/>
        <p:nvPr/>
      </p:nvGrpSpPr>
      <p:grpSpPr>
        <a:xfrm>
          <a:off x="0" y="0"/>
          <a:ext cx="0" cy="0"/>
          <a:chOff x="0" y="0"/>
          <a:chExt cx="0" cy="0"/>
        </a:xfrm>
      </p:grpSpPr>
      <p:sp>
        <p:nvSpPr>
          <p:cNvPr id="225" name="Google Shape;225;g2772fd33366_0_7"/>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Ejemplos de Pruebas No Estructuradas</a:t>
            </a:r>
            <a:endParaRPr sz="2800">
              <a:solidFill>
                <a:schemeClr val="lt1"/>
              </a:solidFill>
              <a:highlight>
                <a:schemeClr val="accent1"/>
              </a:highlight>
            </a:endParaRPr>
          </a:p>
        </p:txBody>
      </p:sp>
      <p:sp>
        <p:nvSpPr>
          <p:cNvPr id="226" name="Google Shape;226;g2772fd33366_0_7"/>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600"/>
              <a:buFont typeface="Arial"/>
              <a:buNone/>
            </a:pPr>
            <a:r>
              <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600"/>
              <a:buFont typeface="Arial"/>
              <a:buNone/>
            </a:pPr>
            <a:r>
              <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600"/>
              <a:buFont typeface="Arial"/>
              <a:buNone/>
            </a:pPr>
            <a:r>
              <a:rPr b="0" i="0" lang="es-ES" sz="2600" u="none" cap="none" strike="noStrike">
                <a:solidFill>
                  <a:schemeClr val="dk1"/>
                </a:solidFill>
                <a:highlight>
                  <a:schemeClr val="lt1"/>
                </a:highlight>
                <a:latin typeface="Calibri"/>
                <a:ea typeface="Calibri"/>
                <a:cs typeface="Calibri"/>
                <a:sym typeface="Calibri"/>
              </a:rPr>
              <a:t>Ejemplos de pruebas no Estructuradas o Informales</a:t>
            </a:r>
            <a:endParaRPr b="0" i="0" sz="2600" u="none" cap="none" strike="noStrike">
              <a:solidFill>
                <a:schemeClr val="dk1"/>
              </a:solidFill>
              <a:highlight>
                <a:schemeClr val="lt1"/>
              </a:highlight>
              <a:latin typeface="Calibri"/>
              <a:ea typeface="Calibri"/>
              <a:cs typeface="Calibri"/>
              <a:sym typeface="Calibri"/>
            </a:endParaRPr>
          </a:p>
          <a:p>
            <a:pPr indent="-393700" lvl="0" marL="457200" marR="0" rtl="0" algn="just">
              <a:lnSpc>
                <a:spcPct val="115000"/>
              </a:lnSpc>
              <a:spcBef>
                <a:spcPts val="1500"/>
              </a:spcBef>
              <a:spcAft>
                <a:spcPts val="0"/>
              </a:spcAft>
              <a:buClr>
                <a:schemeClr val="dk1"/>
              </a:buClr>
              <a:buSzPts val="2600"/>
              <a:buFont typeface="Calibri"/>
              <a:buChar char="●"/>
            </a:pPr>
            <a:r>
              <a:rPr b="0" i="0" lang="es-ES" sz="2600" u="none" cap="none" strike="noStrike">
                <a:solidFill>
                  <a:schemeClr val="dk1"/>
                </a:solidFill>
                <a:highlight>
                  <a:schemeClr val="lt1"/>
                </a:highlight>
                <a:latin typeface="Calibri"/>
                <a:ea typeface="Calibri"/>
                <a:cs typeface="Calibri"/>
                <a:sym typeface="Calibri"/>
              </a:rPr>
              <a:t>Pruebas Exploratorias</a:t>
            </a:r>
            <a:endParaRPr b="0" i="0" sz="2600" u="none" cap="none" strike="noStrike">
              <a:solidFill>
                <a:schemeClr val="dk1"/>
              </a:solidFill>
              <a:highlight>
                <a:schemeClr val="lt1"/>
              </a:highlight>
              <a:latin typeface="Calibri"/>
              <a:ea typeface="Calibri"/>
              <a:cs typeface="Calibri"/>
              <a:sym typeface="Calibri"/>
            </a:endParaRPr>
          </a:p>
          <a:p>
            <a:pPr indent="-393700" lvl="0" marL="457200" marR="0" rtl="0" algn="just">
              <a:lnSpc>
                <a:spcPct val="115000"/>
              </a:lnSpc>
              <a:spcBef>
                <a:spcPts val="0"/>
              </a:spcBef>
              <a:spcAft>
                <a:spcPts val="0"/>
              </a:spcAft>
              <a:buClr>
                <a:schemeClr val="dk1"/>
              </a:buClr>
              <a:buSzPts val="2600"/>
              <a:buFont typeface="Calibri"/>
              <a:buChar char="●"/>
            </a:pPr>
            <a:r>
              <a:rPr b="0" i="0" lang="es-ES" sz="2600" u="none" cap="none" strike="noStrike">
                <a:solidFill>
                  <a:schemeClr val="dk1"/>
                </a:solidFill>
                <a:highlight>
                  <a:schemeClr val="lt1"/>
                </a:highlight>
                <a:latin typeface="Calibri"/>
                <a:ea typeface="Calibri"/>
                <a:cs typeface="Calibri"/>
                <a:sym typeface="Calibri"/>
              </a:rPr>
              <a:t>Pruebas de Humo</a:t>
            </a:r>
            <a:endParaRPr b="0" i="0" sz="2600" u="none" cap="none" strike="noStrike">
              <a:solidFill>
                <a:schemeClr val="dk1"/>
              </a:solidFill>
              <a:highlight>
                <a:schemeClr val="lt1"/>
              </a:highlight>
              <a:latin typeface="Calibri"/>
              <a:ea typeface="Calibri"/>
              <a:cs typeface="Calibri"/>
              <a:sym typeface="Calibri"/>
            </a:endParaRPr>
          </a:p>
          <a:p>
            <a:pPr indent="-393700" lvl="0" marL="457200" marR="0" rtl="0" algn="just">
              <a:lnSpc>
                <a:spcPct val="115000"/>
              </a:lnSpc>
              <a:spcBef>
                <a:spcPts val="0"/>
              </a:spcBef>
              <a:spcAft>
                <a:spcPts val="0"/>
              </a:spcAft>
              <a:buClr>
                <a:schemeClr val="dk1"/>
              </a:buClr>
              <a:buSzPts val="2600"/>
              <a:buFont typeface="Calibri"/>
              <a:buChar char="●"/>
            </a:pPr>
            <a:r>
              <a:rPr b="0" i="0" lang="es-ES" sz="2600" u="none" cap="none" strike="noStrike">
                <a:solidFill>
                  <a:schemeClr val="dk1"/>
                </a:solidFill>
                <a:highlight>
                  <a:schemeClr val="lt1"/>
                </a:highlight>
                <a:latin typeface="Calibri"/>
                <a:ea typeface="Calibri"/>
                <a:cs typeface="Calibri"/>
                <a:sym typeface="Calibri"/>
              </a:rPr>
              <a:t>Pruebas de Aceptación del Usuario (UAT)</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1200"/>
              <a:buFont typeface="Arial"/>
              <a:buNone/>
            </a:pPr>
            <a:r>
              <a:t/>
            </a:r>
            <a:endParaRPr b="0" i="0" sz="1200" u="none" cap="none" strike="noStrike">
              <a:solidFill>
                <a:srgbClr val="374151"/>
              </a:solidFill>
              <a:highlight>
                <a:srgbClr val="F7F7F8"/>
              </a:highlight>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5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0" name="Shape 230"/>
        <p:cNvGrpSpPr/>
        <p:nvPr/>
      </p:nvGrpSpPr>
      <p:grpSpPr>
        <a:xfrm>
          <a:off x="0" y="0"/>
          <a:ext cx="0" cy="0"/>
          <a:chOff x="0" y="0"/>
          <a:chExt cx="0" cy="0"/>
        </a:xfrm>
      </p:grpSpPr>
      <p:sp>
        <p:nvSpPr>
          <p:cNvPr id="231" name="Google Shape;231;g2772fd33366_0_14"/>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2800">
                <a:solidFill>
                  <a:schemeClr val="lt1"/>
                </a:solidFill>
                <a:highlight>
                  <a:schemeClr val="accent1"/>
                </a:highlight>
                <a:latin typeface="Roboto"/>
                <a:ea typeface="Roboto"/>
                <a:cs typeface="Roboto"/>
                <a:sym typeface="Roboto"/>
              </a:rPr>
              <a:t>Pruebas Exploratorias</a:t>
            </a:r>
            <a:endParaRPr sz="2800">
              <a:solidFill>
                <a:schemeClr val="lt1"/>
              </a:solidFill>
              <a:highlight>
                <a:schemeClr val="accent1"/>
              </a:highlight>
            </a:endParaRPr>
          </a:p>
        </p:txBody>
      </p:sp>
      <p:sp>
        <p:nvSpPr>
          <p:cNvPr id="232" name="Google Shape;232;g2772fd33366_0_14"/>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Con las pruebas exploratorias una historia de usuario puede convertirse en un caso de prueba. Se permite anotar defectos, añadir aserciones, notas de voz, grabaciones y crear documentación sobre la marcha. De esta forma, Esta información también puede servir para el control de calidad.</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Con la ayuda de herramientas de prueba colaborativas, todos pueden participar en las pruebas exploratorias. Esto permite a los equipos reaccionar y adaptarse a los cambios rápidamente, facilitando un flujo de trabajo ágil.</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6" name="Shape 236"/>
        <p:cNvGrpSpPr/>
        <p:nvPr/>
      </p:nvGrpSpPr>
      <p:grpSpPr>
        <a:xfrm>
          <a:off x="0" y="0"/>
          <a:ext cx="0" cy="0"/>
          <a:chOff x="0" y="0"/>
          <a:chExt cx="0" cy="0"/>
        </a:xfrm>
      </p:grpSpPr>
      <p:sp>
        <p:nvSpPr>
          <p:cNvPr id="237" name="Google Shape;237;g27661997d7c_0_65"/>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highlight>
                  <a:schemeClr val="accent1"/>
                </a:highlight>
                <a:latin typeface="Roboto"/>
                <a:ea typeface="Roboto"/>
                <a:cs typeface="Roboto"/>
                <a:sym typeface="Roboto"/>
              </a:rPr>
              <a:t>Pruebas de Humo</a:t>
            </a:r>
            <a:endParaRPr sz="3200">
              <a:solidFill>
                <a:schemeClr val="lt1"/>
              </a:solidFill>
              <a:highlight>
                <a:schemeClr val="accent1"/>
              </a:highlight>
            </a:endParaRPr>
          </a:p>
        </p:txBody>
      </p:sp>
      <p:sp>
        <p:nvSpPr>
          <p:cNvPr id="238" name="Google Shape;238;g27661997d7c_0_65"/>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Las pruebas de humo son básicas y verifican el funcionamiento elemental de la aplicación. Son rápidas de ejecutar y ofrecen seguridad en que las funciones principales del sistema operan según lo previsto.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Se utilizan para decidir si se deben realizar pruebas más exhaustivas tras una compilación o para asegurarse de que la aplicación funcione correctamente en un nuevo entorno después de una implementación.</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75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50000"/>
              </a:lnSpc>
              <a:spcBef>
                <a:spcPts val="1500"/>
              </a:spcBef>
              <a:spcAft>
                <a:spcPts val="0"/>
              </a:spcAft>
              <a:buClr>
                <a:schemeClr val="dk1"/>
              </a:buClr>
              <a:buSzPts val="11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2" name="Shape 242"/>
        <p:cNvGrpSpPr/>
        <p:nvPr/>
      </p:nvGrpSpPr>
      <p:grpSpPr>
        <a:xfrm>
          <a:off x="0" y="0"/>
          <a:ext cx="0" cy="0"/>
          <a:chOff x="0" y="0"/>
          <a:chExt cx="0" cy="0"/>
        </a:xfrm>
      </p:grpSpPr>
      <p:sp>
        <p:nvSpPr>
          <p:cNvPr id="243" name="Google Shape;243;g27661997d7c_0_53"/>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200"/>
              <a:buFont typeface="Calibri"/>
              <a:buNone/>
            </a:pPr>
            <a:r>
              <a:rPr lang="es-ES" sz="3000">
                <a:solidFill>
                  <a:schemeClr val="lt1"/>
                </a:solidFill>
                <a:highlight>
                  <a:schemeClr val="accent1"/>
                </a:highlight>
                <a:latin typeface="Roboto"/>
                <a:ea typeface="Roboto"/>
                <a:cs typeface="Roboto"/>
                <a:sym typeface="Roboto"/>
              </a:rPr>
              <a:t>Pruebas de Aceptación del usuario (UAT)</a:t>
            </a:r>
            <a:endParaRPr sz="3000">
              <a:solidFill>
                <a:schemeClr val="lt1"/>
              </a:solidFill>
              <a:highlight>
                <a:schemeClr val="accent1"/>
              </a:highlight>
            </a:endParaRPr>
          </a:p>
        </p:txBody>
      </p:sp>
      <p:sp>
        <p:nvSpPr>
          <p:cNvPr id="244" name="Google Shape;244;g27661997d7c_0_53"/>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Estas pruebas las ejecutan los usuarios (o representante del cliente) y requieren que la aplicación se ejecute en su totalidad. Tienen como finalidad asegurar  que el software cumpla con sus necesidades y expectativas, rechazando cambios si no se cumplen ciertos objetivos.</a:t>
            </a:r>
            <a:endParaRPr b="0" i="0" sz="28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8" name="Shape 248"/>
        <p:cNvGrpSpPr/>
        <p:nvPr/>
      </p:nvGrpSpPr>
      <p:grpSpPr>
        <a:xfrm>
          <a:off x="0" y="0"/>
          <a:ext cx="0" cy="0"/>
          <a:chOff x="0" y="0"/>
          <a:chExt cx="0" cy="0"/>
        </a:xfrm>
      </p:grpSpPr>
      <p:sp>
        <p:nvSpPr>
          <p:cNvPr id="249" name="Google Shape;249;g2313c7b2c51_0_9"/>
          <p:cNvSpPr txBox="1"/>
          <p:nvPr>
            <p:ph type="title"/>
          </p:nvPr>
        </p:nvSpPr>
        <p:spPr>
          <a:xfrm>
            <a:off x="179498" y="260650"/>
            <a:ext cx="8784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294"/>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Bibliografía</a:t>
            </a:r>
            <a:endParaRPr sz="3200">
              <a:solidFill>
                <a:schemeClr val="lt1"/>
              </a:solidFill>
            </a:endParaRPr>
          </a:p>
        </p:txBody>
      </p:sp>
      <p:sp>
        <p:nvSpPr>
          <p:cNvPr id="250" name="Google Shape;250;g2313c7b2c51_0_9"/>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1" i="0" lang="es-ES" sz="2400" u="sng" cap="none" strike="noStrike">
                <a:solidFill>
                  <a:schemeClr val="hlink"/>
                </a:solidFill>
                <a:highlight>
                  <a:schemeClr val="lt1"/>
                </a:highlight>
                <a:latin typeface="Calibri"/>
                <a:ea typeface="Calibri"/>
                <a:cs typeface="Calibri"/>
                <a:sym typeface="Calibri"/>
                <a:hlinkClick r:id="rId3"/>
              </a:rPr>
              <a:t>https://www.atlassian.com/es/continuous-delivery/software-testing</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i="0" lang="es-ES" sz="2400" u="sng" cap="none" strike="noStrike">
                <a:solidFill>
                  <a:schemeClr val="hlink"/>
                </a:solidFill>
                <a:highlight>
                  <a:schemeClr val="lt1"/>
                </a:highlight>
                <a:latin typeface="Calibri"/>
                <a:ea typeface="Calibri"/>
                <a:cs typeface="Calibri"/>
                <a:sym typeface="Calibri"/>
                <a:hlinkClick r:id="rId4"/>
              </a:rPr>
              <a:t>https://www.bbvanexttechnologies.com/blogs/el-gran-dilema-del-qa-automatizacion-o-testing-manual/</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2017-09-04T19:21:59Z</dcterms:created>
  <dc:creator>Pablo</dc:creator>
</cp:coreProperties>
</file>