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g9EGEFDmIw5OOqLn/pbpvxorO8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f567e4aad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2f567e4aad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0ccfc0228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260ccfc0228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f567e4aad2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2f567e4aad2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5f502de639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25f502de639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5f502de63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25f502de63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5f502de639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25f502de639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5f502de639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25f502de639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5f502de63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g25f502de63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5f502de639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25f502de639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5f502de63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25f502de639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5f502de639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25f502de639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5f502de639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25f502de639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5f502de639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25f502de639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60ccfc02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260ccfc022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5f502de639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25f502de639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60ccfc022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260ccfc022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f567e4aad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2f567e4aad2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f567e4aad2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2f567e4aad2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f567e4aad2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2f567e4aad2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f567e4aad2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g2f567e4aad2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f567e4aad2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2f567e4aad2_1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f567e4aad2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g2f567e4aad2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f567e4aad2_1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g2f567e4aad2_1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4" name="Google Shape;3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junit.org/junit5/docs/5.0.1/api/org/junit/jupiter/api/Assertions.html"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avidvlijmincx.com/posts/junit-parameters-csv-file/" TargetMode="Externa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junit.org/junit5/" TargetMode="External"/><Relationship Id="rId4" Type="http://schemas.openxmlformats.org/officeDocument/2006/relationships/hyperlink" Target="http://www.inf-cr.uclm.es/www/mpolo/tutorial/" TargetMode="External"/><Relationship Id="rId10" Type="http://schemas.openxmlformats.org/officeDocument/2006/relationships/image" Target="../media/image1.png"/><Relationship Id="rId9" Type="http://schemas.openxmlformats.org/officeDocument/2006/relationships/hyperlink" Target="http://www.jtech.ua.es/j2ee/publico/lja-2012-13/sesion04-apuntes.html" TargetMode="External"/><Relationship Id="rId5" Type="http://schemas.openxmlformats.org/officeDocument/2006/relationships/hyperlink" Target="http://java-white-box.blogspot.com.ar/2014/06/junitanotacionesAnnotationJUnit.html" TargetMode="External"/><Relationship Id="rId6" Type="http://schemas.openxmlformats.org/officeDocument/2006/relationships/hyperlink" Target="http://java-white-box.blogspot.com.ar/2014/06/junit-asserts-como-comparar-resultados.html" TargetMode="External"/><Relationship Id="rId7" Type="http://schemas.openxmlformats.org/officeDocument/2006/relationships/hyperlink" Target="https://github.com/junit-team/junit4/wiki/Assertions" TargetMode="External"/><Relationship Id="rId8" Type="http://schemas.openxmlformats.org/officeDocument/2006/relationships/hyperlink" Target="http://www.vogella.com/tutorials/JUnit/article.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g2f567e4aad2_0_0"/>
          <p:cNvSpPr txBox="1"/>
          <p:nvPr>
            <p:ph type="ctrTitle"/>
          </p:nvPr>
        </p:nvSpPr>
        <p:spPr>
          <a:xfrm>
            <a:off x="683568" y="188641"/>
            <a:ext cx="7772400" cy="93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lang="es-ES" sz="4000" u="sng"/>
              <a:t>Pruebas de Software</a:t>
            </a:r>
            <a:endParaRPr sz="4000" u="sng"/>
          </a:p>
        </p:txBody>
      </p:sp>
      <p:sp>
        <p:nvSpPr>
          <p:cNvPr id="85" name="Google Shape;85;g2f567e4aad2_0_0"/>
          <p:cNvSpPr txBox="1"/>
          <p:nvPr>
            <p:ph idx="1" type="subTitle"/>
          </p:nvPr>
        </p:nvSpPr>
        <p:spPr>
          <a:xfrm>
            <a:off x="827584" y="4725144"/>
            <a:ext cx="6400800" cy="1368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lang="es-ES" sz="2400">
                <a:solidFill>
                  <a:schemeClr val="dk1"/>
                </a:solidFill>
              </a:rPr>
              <a:t>Docentes:  Eduardo Diez</a:t>
            </a:r>
            <a:endParaRPr/>
          </a:p>
          <a:p>
            <a:pPr indent="457200" lvl="0" marL="914400" rtl="0" algn="l">
              <a:lnSpc>
                <a:spcPct val="100000"/>
              </a:lnSpc>
              <a:spcBef>
                <a:spcPts val="480"/>
              </a:spcBef>
              <a:spcAft>
                <a:spcPts val="0"/>
              </a:spcAft>
              <a:buClr>
                <a:schemeClr val="dk1"/>
              </a:buClr>
              <a:buSzPts val="2400"/>
              <a:buNone/>
            </a:pPr>
            <a:r>
              <a:rPr lang="es-ES" sz="2400">
                <a:solidFill>
                  <a:schemeClr val="dk1"/>
                </a:solidFill>
              </a:rPr>
              <a:t>Pablo San Román</a:t>
            </a:r>
            <a:endParaRPr sz="2400">
              <a:solidFill>
                <a:schemeClr val="dk1"/>
              </a:solidFill>
            </a:endParaRPr>
          </a:p>
        </p:txBody>
      </p:sp>
      <p:pic>
        <p:nvPicPr>
          <p:cNvPr id="86" name="Google Shape;86;g2f567e4aad2_0_0"/>
          <p:cNvPicPr preferRelativeResize="0"/>
          <p:nvPr/>
        </p:nvPicPr>
        <p:blipFill rotWithShape="1">
          <a:blip r:embed="rId3">
            <a:alphaModFix/>
          </a:blip>
          <a:srcRect b="0" l="0" r="0" t="0"/>
          <a:stretch/>
        </p:blipFill>
        <p:spPr>
          <a:xfrm>
            <a:off x="3851920" y="1484784"/>
            <a:ext cx="1440160" cy="1656184"/>
          </a:xfrm>
          <a:prstGeom prst="rect">
            <a:avLst/>
          </a:prstGeom>
          <a:noFill/>
          <a:ln>
            <a:noFill/>
          </a:ln>
        </p:spPr>
      </p:pic>
      <p:sp>
        <p:nvSpPr>
          <p:cNvPr id="87" name="Google Shape;87;g2f567e4aad2_0_0"/>
          <p:cNvSpPr txBox="1"/>
          <p:nvPr/>
        </p:nvSpPr>
        <p:spPr>
          <a:xfrm>
            <a:off x="2051720" y="3645024"/>
            <a:ext cx="5112600" cy="9360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400"/>
              <a:buFont typeface="Arial"/>
              <a:buNone/>
            </a:pPr>
            <a:r>
              <a:rPr i="1" lang="es-ES" sz="2400">
                <a:solidFill>
                  <a:schemeClr val="dk1"/>
                </a:solidFill>
                <a:latin typeface="Calibri"/>
                <a:ea typeface="Calibri"/>
                <a:cs typeface="Calibri"/>
                <a:sym typeface="Calibri"/>
              </a:rPr>
              <a:t>Introducción a las Pruebas Automatizadas </a:t>
            </a:r>
            <a:endParaRPr b="0" i="0" sz="1400" u="none" cap="none" strike="noStrike">
              <a:solidFill>
                <a:srgbClr val="000000"/>
              </a:solidFill>
              <a:latin typeface="Arial"/>
              <a:ea typeface="Arial"/>
              <a:cs typeface="Arial"/>
              <a:sym typeface="Arial"/>
            </a:endParaRPr>
          </a:p>
        </p:txBody>
      </p:sp>
      <p:sp>
        <p:nvSpPr>
          <p:cNvPr id="88" name="Google Shape;88;g2f567e4aad2_0_0"/>
          <p:cNvSpPr txBox="1"/>
          <p:nvPr/>
        </p:nvSpPr>
        <p:spPr>
          <a:xfrm>
            <a:off x="1475656" y="6093296"/>
            <a:ext cx="6400800" cy="576000"/>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400"/>
              <a:buFont typeface="Arial"/>
              <a:buNone/>
            </a:pPr>
            <a:r>
              <a:rPr b="0" i="0" lang="es-ES" sz="2400" u="none" cap="none" strike="noStrike">
                <a:solidFill>
                  <a:schemeClr val="dk1"/>
                </a:solidFill>
                <a:latin typeface="Calibri"/>
                <a:ea typeface="Calibri"/>
                <a:cs typeface="Calibri"/>
                <a:sym typeface="Calibri"/>
              </a:rPr>
              <a:t>Año: 202</a:t>
            </a:r>
            <a:r>
              <a:rPr lang="es-ES" sz="2400">
                <a:solidFill>
                  <a:schemeClr val="dk1"/>
                </a:solidFill>
                <a:latin typeface="Calibri"/>
                <a:ea typeface="Calibri"/>
                <a:cs typeface="Calibri"/>
                <a:sym typeface="Calibri"/>
              </a:rPr>
              <a:t>5</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92" name="Shape 92"/>
        <p:cNvGrpSpPr/>
        <p:nvPr/>
      </p:nvGrpSpPr>
      <p:grpSpPr>
        <a:xfrm>
          <a:off x="0" y="0"/>
          <a:ext cx="0" cy="0"/>
          <a:chOff x="0" y="0"/>
          <a:chExt cx="0" cy="0"/>
        </a:xfrm>
      </p:grpSpPr>
      <p:sp>
        <p:nvSpPr>
          <p:cNvPr id="93" name="Google Shape;93;p2"/>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Pruebas Automatizadas</a:t>
            </a:r>
            <a:endParaRPr sz="3200"/>
          </a:p>
        </p:txBody>
      </p:sp>
      <p:sp>
        <p:nvSpPr>
          <p:cNvPr id="94" name="Google Shape;94;p2"/>
          <p:cNvSpPr txBox="1"/>
          <p:nvPr>
            <p:ph idx="1" type="body"/>
          </p:nvPr>
        </p:nvSpPr>
        <p:spPr>
          <a:xfrm>
            <a:off x="179500" y="1354275"/>
            <a:ext cx="8433300" cy="5310600"/>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chemeClr val="dk1"/>
              </a:buClr>
              <a:buSzPts val="2800"/>
              <a:buNone/>
            </a:pPr>
            <a:r>
              <a:rPr lang="es-ES" sz="2800"/>
              <a:t>Con el constante </a:t>
            </a:r>
            <a:r>
              <a:rPr b="1" i="1" lang="es-ES" sz="2800">
                <a:solidFill>
                  <a:srgbClr val="0070C0"/>
                </a:solidFill>
              </a:rPr>
              <a:t>aumento</a:t>
            </a:r>
            <a:r>
              <a:rPr lang="es-ES" sz="2800"/>
              <a:t> en la </a:t>
            </a:r>
            <a:r>
              <a:rPr b="1" i="1" lang="es-ES" sz="2800">
                <a:solidFill>
                  <a:srgbClr val="0070C0"/>
                </a:solidFill>
              </a:rPr>
              <a:t>complejidad</a:t>
            </a:r>
            <a:r>
              <a:rPr lang="es-ES" sz="2800"/>
              <a:t> de las aplicaciones de software, se ha vuelto imperativo automatizar las pruebas como medida vital para evitar caer en el caos y elevar la productividad de la organización.</a:t>
            </a:r>
            <a:endParaRPr sz="2800"/>
          </a:p>
        </p:txBody>
      </p:sp>
      <p:pic>
        <p:nvPicPr>
          <p:cNvPr id="95" name="Google Shape;95;p2"/>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99" name="Shape 99"/>
        <p:cNvGrpSpPr/>
        <p:nvPr/>
      </p:nvGrpSpPr>
      <p:grpSpPr>
        <a:xfrm>
          <a:off x="0" y="0"/>
          <a:ext cx="0" cy="0"/>
          <a:chOff x="0" y="0"/>
          <a:chExt cx="0" cy="0"/>
        </a:xfrm>
      </p:grpSpPr>
      <p:sp>
        <p:nvSpPr>
          <p:cNvPr id="100" name="Google Shape;100;p3"/>
          <p:cNvSpPr/>
          <p:nvPr/>
        </p:nvSpPr>
        <p:spPr>
          <a:xfrm>
            <a:off x="3347864" y="3789040"/>
            <a:ext cx="2160240" cy="2088232"/>
          </a:xfrm>
          <a:prstGeom prst="roundRect">
            <a:avLst>
              <a:gd fmla="val 16667" name="adj"/>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3"/>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xUnit</a:t>
            </a:r>
            <a:endParaRPr sz="3200"/>
          </a:p>
        </p:txBody>
      </p:sp>
      <p:sp>
        <p:nvSpPr>
          <p:cNvPr id="102" name="Google Shape;102;p3"/>
          <p:cNvSpPr txBox="1"/>
          <p:nvPr>
            <p:ph idx="1" type="body"/>
          </p:nvPr>
        </p:nvSpPr>
        <p:spPr>
          <a:xfrm>
            <a:off x="395536" y="1700808"/>
            <a:ext cx="8229600" cy="2232248"/>
          </a:xfrm>
          <a:prstGeom prst="rect">
            <a:avLst/>
          </a:prstGeom>
          <a:noFill/>
          <a:ln>
            <a:noFill/>
          </a:ln>
        </p:spPr>
        <p:txBody>
          <a:bodyPr anchorCtr="0" anchor="ctr" bIns="45700" lIns="91425" spcFirstLastPara="1" rIns="91425" wrap="square" tIns="45700">
            <a:normAutofit/>
          </a:bodyPr>
          <a:lstStyle/>
          <a:p>
            <a:pPr indent="-342900" lvl="0" marL="342900" rtl="0" algn="just">
              <a:lnSpc>
                <a:spcPct val="150000"/>
              </a:lnSpc>
              <a:spcBef>
                <a:spcPts val="0"/>
              </a:spcBef>
              <a:spcAft>
                <a:spcPts val="0"/>
              </a:spcAft>
              <a:buClr>
                <a:schemeClr val="dk1"/>
              </a:buClr>
              <a:buSzPts val="2800"/>
              <a:buNone/>
            </a:pPr>
            <a:r>
              <a:rPr lang="es-ES" sz="2800"/>
              <a:t>  xUnit es el conjunto de frameworks de software libre para automatizar las pruebas:</a:t>
            </a:r>
            <a:endParaRPr/>
          </a:p>
          <a:p>
            <a:pPr indent="-342900" lvl="0" marL="342900" rtl="0" algn="l">
              <a:lnSpc>
                <a:spcPct val="150000"/>
              </a:lnSpc>
              <a:spcBef>
                <a:spcPts val="560"/>
              </a:spcBef>
              <a:spcAft>
                <a:spcPts val="0"/>
              </a:spcAft>
              <a:buClr>
                <a:schemeClr val="dk1"/>
              </a:buClr>
              <a:buSzPts val="2800"/>
              <a:buNone/>
            </a:pPr>
            <a:r>
              <a:rPr lang="es-ES" sz="2800"/>
              <a:t>	</a:t>
            </a:r>
            <a:endParaRPr/>
          </a:p>
        </p:txBody>
      </p:sp>
      <p:pic>
        <p:nvPicPr>
          <p:cNvPr id="103" name="Google Shape;103;p3"/>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104" name="Google Shape;104;p3"/>
          <p:cNvSpPr/>
          <p:nvPr/>
        </p:nvSpPr>
        <p:spPr>
          <a:xfrm>
            <a:off x="2872718" y="3933045"/>
            <a:ext cx="4572000" cy="2031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	    Unitarias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	  Integración</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	   Regresión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8" name="Shape 108"/>
        <p:cNvGrpSpPr/>
        <p:nvPr/>
      </p:nvGrpSpPr>
      <p:grpSpPr>
        <a:xfrm>
          <a:off x="0" y="0"/>
          <a:ext cx="0" cy="0"/>
          <a:chOff x="0" y="0"/>
          <a:chExt cx="0" cy="0"/>
        </a:xfrm>
      </p:grpSpPr>
      <p:sp>
        <p:nvSpPr>
          <p:cNvPr id="109" name="Google Shape;109;g260ccfc0228_0_16"/>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xUnit</a:t>
            </a:r>
            <a:endParaRPr sz="3200"/>
          </a:p>
        </p:txBody>
      </p:sp>
      <p:sp>
        <p:nvSpPr>
          <p:cNvPr id="110" name="Google Shape;110;g260ccfc0228_0_16"/>
          <p:cNvSpPr txBox="1"/>
          <p:nvPr>
            <p:ph idx="1" type="body"/>
          </p:nvPr>
        </p:nvSpPr>
        <p:spPr>
          <a:xfrm>
            <a:off x="179500" y="1412500"/>
            <a:ext cx="8704200" cy="5278200"/>
          </a:xfrm>
          <a:prstGeom prst="rect">
            <a:avLst/>
          </a:prstGeom>
          <a:noFill/>
          <a:ln>
            <a:noFill/>
          </a:ln>
        </p:spPr>
        <p:txBody>
          <a:bodyPr anchorCtr="0" anchor="ctr" bIns="45700" lIns="91425" spcFirstLastPara="1" rIns="91425" wrap="square" tIns="45700">
            <a:normAutofit fontScale="55000"/>
          </a:bodyPr>
          <a:lstStyle/>
          <a:p>
            <a:pPr indent="0" lvl="0" marL="0" rtl="0" algn="l">
              <a:lnSpc>
                <a:spcPct val="100000"/>
              </a:lnSpc>
              <a:spcBef>
                <a:spcPts val="0"/>
              </a:spcBef>
              <a:spcAft>
                <a:spcPts val="0"/>
              </a:spcAft>
              <a:buClr>
                <a:schemeClr val="lt1"/>
              </a:buClr>
              <a:buSzPct val="64000"/>
              <a:buNone/>
            </a:pPr>
            <a:r>
              <a:rPr lang="es-ES" sz="5000">
                <a:highlight>
                  <a:schemeClr val="lt1"/>
                </a:highlight>
              </a:rPr>
              <a:t>Permite escribir y ejecutar las pruebas en varios lenguajes de programación, incluyendo:</a:t>
            </a:r>
            <a:endParaRPr sz="5000">
              <a:highlight>
                <a:schemeClr val="lt1"/>
              </a:highlight>
            </a:endParaRPr>
          </a:p>
          <a:p>
            <a:pPr indent="-228600" lvl="0" marL="457200" rtl="0" algn="l">
              <a:lnSpc>
                <a:spcPct val="115000"/>
              </a:lnSpc>
              <a:spcBef>
                <a:spcPts val="1500"/>
              </a:spcBef>
              <a:spcAft>
                <a:spcPts val="0"/>
              </a:spcAft>
              <a:buClr>
                <a:schemeClr val="dk1"/>
              </a:buClr>
              <a:buSzPct val="100000"/>
              <a:buFont typeface="Calibri"/>
              <a:buNone/>
            </a:pPr>
            <a:r>
              <a:rPr b="1" lang="es-ES" sz="5000">
                <a:highlight>
                  <a:schemeClr val="lt1"/>
                </a:highlight>
              </a:rPr>
              <a:t>JUnit: </a:t>
            </a:r>
            <a:r>
              <a:rPr lang="es-ES" sz="5000">
                <a:highlight>
                  <a:schemeClr val="lt1"/>
                </a:highlight>
              </a:rPr>
              <a:t>Framework de pruebas unitarias para Java</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NUnit (C#):</a:t>
            </a:r>
            <a:r>
              <a:rPr lang="es-ES" sz="5000">
                <a:highlight>
                  <a:schemeClr val="lt1"/>
                </a:highlight>
              </a:rPr>
              <a:t> Framework de pruebas unitarias para C#</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xUnit.net:</a:t>
            </a:r>
            <a:r>
              <a:rPr lang="es-ES" sz="5000">
                <a:highlight>
                  <a:schemeClr val="lt1"/>
                </a:highlight>
              </a:rPr>
              <a:t> Framework de pruebas unitarias para .NET (C#, F#, etc.).</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xUnit.js: </a:t>
            </a:r>
            <a:r>
              <a:rPr lang="es-ES" sz="5000">
                <a:highlight>
                  <a:schemeClr val="lt1"/>
                </a:highlight>
              </a:rPr>
              <a:t>Framework de pruebas unitarias para JavaScript.</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xUnit.rb:</a:t>
            </a:r>
            <a:r>
              <a:rPr lang="es-ES" sz="5000">
                <a:highlight>
                  <a:schemeClr val="lt1"/>
                </a:highlight>
              </a:rPr>
              <a:t> Framework de pruebas unitarias para Ruby.</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xUnit.py:</a:t>
            </a:r>
            <a:r>
              <a:rPr lang="es-ES" sz="5000">
                <a:highlight>
                  <a:schemeClr val="lt1"/>
                </a:highlight>
              </a:rPr>
              <a:t> Framework de pruebas unitarias para Python.</a:t>
            </a:r>
            <a:endParaRPr sz="5000">
              <a:highlight>
                <a:schemeClr val="lt1"/>
              </a:highlight>
            </a:endParaRPr>
          </a:p>
          <a:p>
            <a:pPr indent="-228600" lvl="0" marL="457200" rtl="0" algn="l">
              <a:lnSpc>
                <a:spcPct val="115000"/>
              </a:lnSpc>
              <a:spcBef>
                <a:spcPts val="0"/>
              </a:spcBef>
              <a:spcAft>
                <a:spcPts val="0"/>
              </a:spcAft>
              <a:buClr>
                <a:schemeClr val="dk1"/>
              </a:buClr>
              <a:buSzPct val="100000"/>
              <a:buFont typeface="Calibri"/>
              <a:buNone/>
            </a:pPr>
            <a:r>
              <a:rPr b="1" lang="es-ES" sz="5000">
                <a:highlight>
                  <a:schemeClr val="lt1"/>
                </a:highlight>
              </a:rPr>
              <a:t>xUnit++:</a:t>
            </a:r>
            <a:r>
              <a:rPr lang="es-ES" sz="5000">
                <a:highlight>
                  <a:schemeClr val="lt1"/>
                </a:highlight>
              </a:rPr>
              <a:t> Framework de pruebas unitarias para C++.</a:t>
            </a:r>
            <a:r>
              <a:rPr lang="es-ES">
                <a:solidFill>
                  <a:schemeClr val="lt1"/>
                </a:solidFill>
              </a:rPr>
              <a:t>en JUnit5</a:t>
            </a:r>
            <a:endParaRPr/>
          </a:p>
        </p:txBody>
      </p:sp>
      <p:pic>
        <p:nvPicPr>
          <p:cNvPr id="111" name="Google Shape;111;g260ccfc0228_0_16"/>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Métodos de Testeo</a:t>
            </a:r>
            <a:endParaRPr sz="3200"/>
          </a:p>
        </p:txBody>
      </p:sp>
      <p:sp>
        <p:nvSpPr>
          <p:cNvPr id="117" name="Google Shape;117;p5"/>
          <p:cNvSpPr txBox="1"/>
          <p:nvPr>
            <p:ph idx="1" type="body"/>
          </p:nvPr>
        </p:nvSpPr>
        <p:spPr>
          <a:xfrm>
            <a:off x="395536" y="1772816"/>
            <a:ext cx="8229600" cy="4464496"/>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chemeClr val="dk1"/>
              </a:buClr>
              <a:buSzPts val="2800"/>
              <a:buNone/>
            </a:pPr>
            <a:r>
              <a:rPr lang="es-ES" sz="2800"/>
              <a:t>Los test utilizados para probar el modelo pueden ser: </a:t>
            </a:r>
            <a:endParaRPr sz="2800"/>
          </a:p>
          <a:p>
            <a:pPr indent="-406400" lvl="0" marL="457200" rtl="0" algn="just">
              <a:lnSpc>
                <a:spcPct val="150000"/>
              </a:lnSpc>
              <a:spcBef>
                <a:spcPts val="0"/>
              </a:spcBef>
              <a:spcAft>
                <a:spcPts val="0"/>
              </a:spcAft>
              <a:buSzPts val="2800"/>
              <a:buChar char="•"/>
            </a:pPr>
            <a:r>
              <a:rPr lang="es-ES" sz="2800"/>
              <a:t>De </a:t>
            </a:r>
            <a:r>
              <a:rPr b="1" i="1" lang="es-ES" sz="2800">
                <a:solidFill>
                  <a:srgbClr val="0070C0"/>
                </a:solidFill>
              </a:rPr>
              <a:t>caja negra</a:t>
            </a:r>
            <a:r>
              <a:rPr i="1" lang="es-ES" sz="2800"/>
              <a:t>,</a:t>
            </a:r>
            <a:r>
              <a:rPr b="1" i="1" lang="es-ES" sz="2800">
                <a:solidFill>
                  <a:srgbClr val="0070C0"/>
                </a:solidFill>
              </a:rPr>
              <a:t> </a:t>
            </a:r>
            <a:r>
              <a:rPr lang="es-ES" sz="2800"/>
              <a:t>verificando</a:t>
            </a:r>
            <a:r>
              <a:rPr lang="es-ES" sz="2800">
                <a:highlight>
                  <a:schemeClr val="lt1"/>
                </a:highlight>
              </a:rPr>
              <a:t> el comportamiento externo del software sin considerar su implementación interna.</a:t>
            </a:r>
            <a:endParaRPr sz="2800">
              <a:highlight>
                <a:schemeClr val="lt1"/>
              </a:highlight>
            </a:endParaRPr>
          </a:p>
          <a:p>
            <a:pPr indent="-406400" lvl="0" marL="457200" rtl="0" algn="just">
              <a:lnSpc>
                <a:spcPct val="150000"/>
              </a:lnSpc>
              <a:spcBef>
                <a:spcPts val="0"/>
              </a:spcBef>
              <a:spcAft>
                <a:spcPts val="0"/>
              </a:spcAft>
              <a:buSzPts val="2800"/>
              <a:buChar char="•"/>
            </a:pPr>
            <a:r>
              <a:rPr lang="es-ES" sz="2800">
                <a:highlight>
                  <a:schemeClr val="lt1"/>
                </a:highlight>
              </a:rPr>
              <a:t>De</a:t>
            </a:r>
            <a:r>
              <a:rPr lang="es-ES" sz="2800"/>
              <a:t> </a:t>
            </a:r>
            <a:r>
              <a:rPr b="1" i="1" lang="es-ES" sz="2800">
                <a:solidFill>
                  <a:srgbClr val="0070C0"/>
                </a:solidFill>
              </a:rPr>
              <a:t>caja</a:t>
            </a:r>
            <a:r>
              <a:rPr lang="es-ES" sz="2800"/>
              <a:t> </a:t>
            </a:r>
            <a:r>
              <a:rPr b="1" i="1" lang="es-ES" sz="2800">
                <a:solidFill>
                  <a:srgbClr val="0070C0"/>
                </a:solidFill>
              </a:rPr>
              <a:t>blanca</a:t>
            </a:r>
            <a:r>
              <a:rPr lang="es-ES" sz="2800"/>
              <a:t>, examinando la lógica interna y estructura del programa.</a:t>
            </a:r>
            <a:endParaRPr sz="2800"/>
          </a:p>
        </p:txBody>
      </p:sp>
      <p:pic>
        <p:nvPicPr>
          <p:cNvPr id="118" name="Google Shape;118;p5"/>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f567e4aad2_2_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latin typeface="Calibri"/>
                <a:ea typeface="Calibri"/>
                <a:cs typeface="Calibri"/>
                <a:sym typeface="Calibri"/>
              </a:rPr>
              <a:t>        </a:t>
            </a:r>
            <a:r>
              <a:rPr lang="es-ES" sz="3200">
                <a:solidFill>
                  <a:schemeClr val="lt1"/>
                </a:solidFill>
              </a:rPr>
              <a:t>Triple A de Quality Assurance (QA)</a:t>
            </a:r>
            <a:endParaRPr sz="3200"/>
          </a:p>
        </p:txBody>
      </p:sp>
      <p:sp>
        <p:nvSpPr>
          <p:cNvPr id="124" name="Google Shape;124;g2f567e4aad2_2_0"/>
          <p:cNvSpPr txBox="1"/>
          <p:nvPr>
            <p:ph idx="1" type="body"/>
          </p:nvPr>
        </p:nvSpPr>
        <p:spPr>
          <a:xfrm>
            <a:off x="395525" y="1418900"/>
            <a:ext cx="8229600" cy="5371500"/>
          </a:xfrm>
          <a:prstGeom prst="rect">
            <a:avLst/>
          </a:prstGeom>
          <a:noFill/>
          <a:ln>
            <a:noFill/>
          </a:ln>
        </p:spPr>
        <p:txBody>
          <a:bodyPr anchorCtr="0" anchor="ctr" bIns="45700" lIns="91425" spcFirstLastPara="1" rIns="91425" wrap="square" tIns="45700">
            <a:normAutofit fontScale="40000" lnSpcReduction="10000"/>
          </a:bodyPr>
          <a:lstStyle/>
          <a:p>
            <a:pPr indent="0" lvl="0" marL="457200" rtl="0" algn="just">
              <a:lnSpc>
                <a:spcPct val="150000"/>
              </a:lnSpc>
              <a:spcBef>
                <a:spcPts val="0"/>
              </a:spcBef>
              <a:spcAft>
                <a:spcPts val="0"/>
              </a:spcAft>
              <a:buClr>
                <a:schemeClr val="dk1"/>
              </a:buClr>
              <a:buSzPts val="440"/>
              <a:buFont typeface="Arial"/>
              <a:buNone/>
            </a:pPr>
            <a:r>
              <a:rPr lang="es-ES" sz="5050"/>
              <a:t>Se refieren a tres principios fundamentales que guían la estructura de pruebas de software. Estos principios son:</a:t>
            </a:r>
            <a:endParaRPr sz="5050"/>
          </a:p>
          <a:p>
            <a:pPr indent="-356870" lvl="0" marL="457200" rtl="0" algn="just">
              <a:lnSpc>
                <a:spcPct val="150000"/>
              </a:lnSpc>
              <a:spcBef>
                <a:spcPts val="0"/>
              </a:spcBef>
              <a:spcAft>
                <a:spcPts val="0"/>
              </a:spcAft>
              <a:buSzPct val="100000"/>
              <a:buChar char="•"/>
            </a:pPr>
            <a:r>
              <a:rPr b="1" lang="es-ES" sz="5050"/>
              <a:t>Arrange (Organizar):</a:t>
            </a:r>
            <a:r>
              <a:rPr lang="es-ES" sz="5050"/>
              <a:t> Esta fase consiste en preparar el entorno de la prueba. Aquí se configuran las condiciones iniciales necesarias, como la creación de instancias de los objetos que se van a probar, la inicialización de variables, o la configuración de dependencias.</a:t>
            </a:r>
            <a:endParaRPr sz="5050"/>
          </a:p>
          <a:p>
            <a:pPr indent="-356870" lvl="0" marL="457200" rtl="0" algn="just">
              <a:lnSpc>
                <a:spcPct val="150000"/>
              </a:lnSpc>
              <a:spcBef>
                <a:spcPts val="0"/>
              </a:spcBef>
              <a:spcAft>
                <a:spcPts val="0"/>
              </a:spcAft>
              <a:buSzPct val="100000"/>
              <a:buChar char="•"/>
            </a:pPr>
            <a:r>
              <a:rPr b="1" lang="es-ES" sz="5050"/>
              <a:t>Act (Actuar):</a:t>
            </a:r>
            <a:r>
              <a:rPr lang="es-ES" sz="5050"/>
              <a:t> En esta fase se ejecuta la acción que se desea probar. Se invoca el método o la funcionalidad específica del código que está bajo prueba.</a:t>
            </a:r>
            <a:endParaRPr sz="5050"/>
          </a:p>
          <a:p>
            <a:pPr indent="-356870" lvl="0" marL="457200" rtl="0" algn="just">
              <a:lnSpc>
                <a:spcPct val="150000"/>
              </a:lnSpc>
              <a:spcBef>
                <a:spcPts val="0"/>
              </a:spcBef>
              <a:spcAft>
                <a:spcPts val="0"/>
              </a:spcAft>
              <a:buSzPct val="100000"/>
              <a:buChar char="•"/>
            </a:pPr>
            <a:r>
              <a:rPr b="1" lang="es-ES" sz="5050"/>
              <a:t>Assert (Afirmar):</a:t>
            </a:r>
            <a:r>
              <a:rPr lang="es-ES" sz="5050"/>
              <a:t> Finalmente, en esta fase se verifican los resultados. Aquí se comparan los resultados obtenidos con los resultados esperados para determinar si la prueba ha pasado o no.</a:t>
            </a:r>
            <a:endParaRPr sz="2800"/>
          </a:p>
        </p:txBody>
      </p:sp>
      <p:pic>
        <p:nvPicPr>
          <p:cNvPr id="125" name="Google Shape;125;g2f567e4aad2_2_0"/>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p:nvPr/>
        </p:nvSpPr>
        <p:spPr>
          <a:xfrm>
            <a:off x="2987824" y="2780928"/>
            <a:ext cx="3096344" cy="2736304"/>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6"/>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Estructura del Test en JUnit5</a:t>
            </a:r>
            <a:endParaRPr sz="3200"/>
          </a:p>
        </p:txBody>
      </p:sp>
      <p:sp>
        <p:nvSpPr>
          <p:cNvPr id="132" name="Google Shape;132;p6"/>
          <p:cNvSpPr txBox="1"/>
          <p:nvPr>
            <p:ph idx="1" type="body"/>
          </p:nvPr>
        </p:nvSpPr>
        <p:spPr>
          <a:xfrm>
            <a:off x="395536" y="1772816"/>
            <a:ext cx="8229600" cy="4464496"/>
          </a:xfrm>
          <a:prstGeom prst="rect">
            <a:avLst/>
          </a:prstGeom>
          <a:noFill/>
          <a:ln>
            <a:noFill/>
          </a:ln>
        </p:spPr>
        <p:txBody>
          <a:bodyPr anchorCtr="0" anchor="ctr" bIns="45700" lIns="91425" spcFirstLastPara="1" rIns="91425" wrap="square" tIns="45700">
            <a:normAutofit/>
          </a:bodyPr>
          <a:lstStyle/>
          <a:p>
            <a:pPr indent="-342900" lvl="0" marL="342900" rtl="0" algn="ctr">
              <a:lnSpc>
                <a:spcPct val="150000"/>
              </a:lnSpc>
              <a:spcBef>
                <a:spcPts val="0"/>
              </a:spcBef>
              <a:spcAft>
                <a:spcPts val="0"/>
              </a:spcAft>
              <a:buClr>
                <a:schemeClr val="dk1"/>
              </a:buClr>
              <a:buSzPts val="2800"/>
              <a:buNone/>
            </a:pPr>
            <a:r>
              <a:rPr lang="es-ES" sz="2800"/>
              <a:t> </a:t>
            </a:r>
            <a:r>
              <a:rPr lang="es-ES" sz="2800">
                <a:solidFill>
                  <a:schemeClr val="lt1"/>
                </a:solidFill>
              </a:rPr>
              <a:t>setUp()</a:t>
            </a:r>
            <a:endParaRPr/>
          </a:p>
          <a:p>
            <a:pPr indent="-342900" lvl="0" marL="342900" rtl="0" algn="ctr">
              <a:lnSpc>
                <a:spcPct val="150000"/>
              </a:lnSpc>
              <a:spcBef>
                <a:spcPts val="560"/>
              </a:spcBef>
              <a:spcAft>
                <a:spcPts val="0"/>
              </a:spcAft>
              <a:buClr>
                <a:schemeClr val="lt1"/>
              </a:buClr>
              <a:buSzPts val="2800"/>
              <a:buNone/>
            </a:pPr>
            <a:r>
              <a:rPr lang="es-ES" sz="2800">
                <a:solidFill>
                  <a:schemeClr val="lt1"/>
                </a:solidFill>
              </a:rPr>
              <a:t>Implementación…</a:t>
            </a:r>
            <a:endParaRPr/>
          </a:p>
          <a:p>
            <a:pPr indent="-342900" lvl="0" marL="342900" rtl="0" algn="ctr">
              <a:lnSpc>
                <a:spcPct val="150000"/>
              </a:lnSpc>
              <a:spcBef>
                <a:spcPts val="560"/>
              </a:spcBef>
              <a:spcAft>
                <a:spcPts val="0"/>
              </a:spcAft>
              <a:buClr>
                <a:schemeClr val="lt1"/>
              </a:buClr>
              <a:buSzPts val="2800"/>
              <a:buNone/>
            </a:pPr>
            <a:r>
              <a:rPr lang="es-ES" sz="2800">
                <a:solidFill>
                  <a:schemeClr val="lt1"/>
                </a:solidFill>
              </a:rPr>
              <a:t>assert</a:t>
            </a:r>
            <a:endParaRPr sz="2800">
              <a:solidFill>
                <a:schemeClr val="lt1"/>
              </a:solidFill>
            </a:endParaRPr>
          </a:p>
        </p:txBody>
      </p:sp>
      <p:pic>
        <p:nvPicPr>
          <p:cNvPr id="133" name="Google Shape;133;p6"/>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Estructura del Test </a:t>
            </a:r>
            <a:r>
              <a:rPr lang="es-ES" sz="3200">
                <a:solidFill>
                  <a:schemeClr val="lt1"/>
                </a:solidFill>
              </a:rPr>
              <a:t>en JUnit5</a:t>
            </a:r>
            <a:endParaRPr sz="3200"/>
          </a:p>
        </p:txBody>
      </p:sp>
      <p:sp>
        <p:nvSpPr>
          <p:cNvPr id="139" name="Google Shape;139;p7"/>
          <p:cNvSpPr txBox="1"/>
          <p:nvPr>
            <p:ph idx="1" type="body"/>
          </p:nvPr>
        </p:nvSpPr>
        <p:spPr>
          <a:xfrm>
            <a:off x="395536" y="1772816"/>
            <a:ext cx="8229600" cy="2952328"/>
          </a:xfrm>
          <a:prstGeom prst="rect">
            <a:avLst/>
          </a:prstGeom>
          <a:noFill/>
          <a:ln>
            <a:noFill/>
          </a:ln>
        </p:spPr>
        <p:txBody>
          <a:bodyPr anchorCtr="0" anchor="ctr" bIns="45700" lIns="91425" spcFirstLastPara="1" rIns="91425" wrap="square" tIns="45700">
            <a:normAutofit/>
          </a:bodyPr>
          <a:lstStyle/>
          <a:p>
            <a:pPr indent="-342900" lvl="0" marL="342900" rtl="0" algn="ctr">
              <a:lnSpc>
                <a:spcPct val="150000"/>
              </a:lnSpc>
              <a:spcBef>
                <a:spcPts val="0"/>
              </a:spcBef>
              <a:spcAft>
                <a:spcPts val="0"/>
              </a:spcAft>
              <a:buClr>
                <a:schemeClr val="dk1"/>
              </a:buClr>
              <a:buSzPts val="2800"/>
              <a:buNone/>
            </a:pPr>
            <a:r>
              <a:rPr lang="es-ES" sz="2800"/>
              <a:t> </a:t>
            </a:r>
            <a:endParaRPr sz="2800">
              <a:solidFill>
                <a:schemeClr val="lt1"/>
              </a:solidFill>
            </a:endParaRPr>
          </a:p>
        </p:txBody>
      </p:sp>
      <p:pic>
        <p:nvPicPr>
          <p:cNvPr id="140" name="Google Shape;140;p7"/>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141" name="Google Shape;141;p7"/>
          <p:cNvSpPr/>
          <p:nvPr/>
        </p:nvSpPr>
        <p:spPr>
          <a:xfrm>
            <a:off x="251520" y="1412776"/>
            <a:ext cx="8568952" cy="526297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Si hay atributos que son compartidos por los métodos de prueba, estos pueden ser inicializados en el método </a:t>
            </a:r>
            <a:r>
              <a:rPr b="1" i="1" lang="es-ES" sz="2800" u="none" cap="none" strike="noStrike">
                <a:solidFill>
                  <a:srgbClr val="0070C0"/>
                </a:solidFill>
                <a:latin typeface="Calibri"/>
                <a:ea typeface="Calibri"/>
                <a:cs typeface="Calibri"/>
                <a:sym typeface="Calibri"/>
              </a:rPr>
              <a:t>setUp()</a:t>
            </a:r>
            <a:r>
              <a:rPr b="0" i="0" lang="es-ES" sz="2800" u="none" cap="none" strike="noStrike">
                <a:solidFill>
                  <a:schemeClr val="dk1"/>
                </a:solidFill>
                <a:latin typeface="Calibri"/>
                <a:ea typeface="Calibri"/>
                <a:cs typeface="Calibri"/>
                <a:sym typeface="Calibri"/>
              </a:rPr>
              <a:t> evitando código duplicado y destruidos en el método </a:t>
            </a:r>
            <a:r>
              <a:rPr b="1" i="1" lang="es-ES" sz="2800" u="none" cap="none" strike="noStrike">
                <a:solidFill>
                  <a:srgbClr val="0070C0"/>
                </a:solidFill>
                <a:latin typeface="Calibri"/>
                <a:ea typeface="Calibri"/>
                <a:cs typeface="Calibri"/>
                <a:sym typeface="Calibri"/>
              </a:rPr>
              <a:t>tearDown() </a:t>
            </a:r>
            <a:r>
              <a:rPr b="0" i="0" lang="es-ES" sz="2800" u="none" cap="none" strike="noStrike">
                <a:solidFill>
                  <a:schemeClr val="dk1"/>
                </a:solidFill>
                <a:latin typeface="Calibri"/>
                <a:ea typeface="Calibri"/>
                <a:cs typeface="Calibri"/>
                <a:sym typeface="Calibri"/>
              </a:rPr>
              <a:t>en caso de ser necesario.</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El primero es llamado antes de cada método y el último después.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Funcionamiento </a:t>
            </a:r>
            <a:r>
              <a:rPr lang="es-ES" sz="3200">
                <a:solidFill>
                  <a:schemeClr val="lt1"/>
                </a:solidFill>
              </a:rPr>
              <a:t>en JUnit5</a:t>
            </a:r>
            <a:endParaRPr sz="3200"/>
          </a:p>
        </p:txBody>
      </p:sp>
      <p:sp>
        <p:nvSpPr>
          <p:cNvPr id="147" name="Google Shape;147;p9"/>
          <p:cNvSpPr txBox="1"/>
          <p:nvPr>
            <p:ph idx="1" type="body"/>
          </p:nvPr>
        </p:nvSpPr>
        <p:spPr>
          <a:xfrm>
            <a:off x="395536" y="1772816"/>
            <a:ext cx="8229600" cy="4464496"/>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Las </a:t>
            </a:r>
            <a:r>
              <a:rPr b="1" i="1" lang="es-ES" sz="2800">
                <a:solidFill>
                  <a:srgbClr val="0070C0"/>
                </a:solidFill>
              </a:rPr>
              <a:t>condiciones</a:t>
            </a:r>
            <a:r>
              <a:rPr lang="es-ES" sz="2800"/>
              <a:t> de prueba son </a:t>
            </a:r>
            <a:r>
              <a:rPr b="1" i="1" lang="es-ES" sz="2800">
                <a:solidFill>
                  <a:srgbClr val="0070C0"/>
                </a:solidFill>
              </a:rPr>
              <a:t>evaluadas</a:t>
            </a:r>
            <a:r>
              <a:rPr lang="es-ES" sz="2800"/>
              <a:t> con métodos de comprobación del tipo “</a:t>
            </a:r>
            <a:r>
              <a:rPr b="1" i="1" lang="es-ES" sz="2800">
                <a:solidFill>
                  <a:srgbClr val="0070C0"/>
                </a:solidFill>
              </a:rPr>
              <a:t>asserts</a:t>
            </a:r>
            <a:r>
              <a:rPr lang="es-ES" sz="2800"/>
              <a:t>”.</a:t>
            </a:r>
            <a:endParaRPr/>
          </a:p>
          <a:p>
            <a:pPr indent="-342900" lvl="0" marL="342900" rtl="0" algn="l">
              <a:lnSpc>
                <a:spcPct val="150000"/>
              </a:lnSpc>
              <a:spcBef>
                <a:spcPts val="560"/>
              </a:spcBef>
              <a:spcAft>
                <a:spcPts val="0"/>
              </a:spcAft>
              <a:buClr>
                <a:schemeClr val="dk1"/>
              </a:buClr>
              <a:buSzPts val="2800"/>
              <a:buNone/>
            </a:pPr>
            <a:r>
              <a:rPr lang="es-ES" sz="2800"/>
              <a:t>	Ej en Junit5:</a:t>
            </a:r>
            <a:endParaRPr/>
          </a:p>
          <a:p>
            <a:pPr indent="-342900" lvl="0" marL="342900" rtl="0" algn="l">
              <a:lnSpc>
                <a:spcPct val="150000"/>
              </a:lnSpc>
              <a:spcBef>
                <a:spcPts val="560"/>
              </a:spcBef>
              <a:spcAft>
                <a:spcPts val="0"/>
              </a:spcAft>
              <a:buClr>
                <a:schemeClr val="dk1"/>
              </a:buClr>
              <a:buSzPts val="2800"/>
              <a:buNone/>
            </a:pPr>
            <a:r>
              <a:rPr lang="es-ES" sz="2800"/>
              <a:t>	</a:t>
            </a:r>
            <a:r>
              <a:rPr i="1" lang="es-ES" sz="2800"/>
              <a:t>assertTrue( cuenta.getSaldo()==1000);</a:t>
            </a:r>
            <a:endParaRPr/>
          </a:p>
          <a:p>
            <a:pPr indent="-342900" lvl="0" marL="342900" rtl="0" algn="l">
              <a:lnSpc>
                <a:spcPct val="150000"/>
              </a:lnSpc>
              <a:spcBef>
                <a:spcPts val="560"/>
              </a:spcBef>
              <a:spcAft>
                <a:spcPts val="0"/>
              </a:spcAft>
              <a:buClr>
                <a:schemeClr val="dk1"/>
              </a:buClr>
              <a:buSzPts val="2800"/>
              <a:buNone/>
            </a:pPr>
            <a:r>
              <a:rPr i="1" lang="es-ES" sz="2800"/>
              <a:t>	assertEquals(cuenta.getCuit(),”20-456123-30”);</a:t>
            </a:r>
            <a:endParaRPr sz="2800"/>
          </a:p>
          <a:p>
            <a:pPr indent="-342900" lvl="0" marL="342900" rtl="0" algn="l">
              <a:lnSpc>
                <a:spcPct val="150000"/>
              </a:lnSpc>
              <a:spcBef>
                <a:spcPts val="560"/>
              </a:spcBef>
              <a:spcAft>
                <a:spcPts val="0"/>
              </a:spcAft>
              <a:buClr>
                <a:schemeClr val="dk1"/>
              </a:buClr>
              <a:buSzPts val="2800"/>
              <a:buNone/>
            </a:pPr>
            <a:r>
              <a:rPr lang="es-ES" sz="2800"/>
              <a:t> 	assertNotNull(lstDeCompras);</a:t>
            </a:r>
            <a:endParaRPr sz="2800"/>
          </a:p>
        </p:txBody>
      </p:sp>
      <p:pic>
        <p:nvPicPr>
          <p:cNvPr id="148" name="Google Shape;148;p9"/>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Funcionamiento </a:t>
            </a:r>
            <a:r>
              <a:rPr lang="es-ES" sz="3200">
                <a:solidFill>
                  <a:schemeClr val="lt1"/>
                </a:solidFill>
              </a:rPr>
              <a:t>en JUnit5</a:t>
            </a:r>
            <a:endParaRPr sz="3200"/>
          </a:p>
        </p:txBody>
      </p:sp>
      <p:sp>
        <p:nvSpPr>
          <p:cNvPr id="154" name="Google Shape;154;p10"/>
          <p:cNvSpPr txBox="1"/>
          <p:nvPr>
            <p:ph idx="1" type="body"/>
          </p:nvPr>
        </p:nvSpPr>
        <p:spPr>
          <a:xfrm>
            <a:off x="395536" y="1772816"/>
            <a:ext cx="8229600" cy="4464496"/>
          </a:xfrm>
          <a:prstGeom prst="rect">
            <a:avLst/>
          </a:prstGeom>
          <a:noFill/>
          <a:ln>
            <a:noFill/>
          </a:ln>
        </p:spPr>
        <p:txBody>
          <a:bodyPr anchorCtr="0" anchor="ctr" bIns="45700" lIns="91425" spcFirstLastPara="1" rIns="91425" wrap="square" tIns="45700">
            <a:normAutofit/>
          </a:bodyPr>
          <a:lstStyle/>
          <a:p>
            <a:pPr indent="0" lvl="0" marL="0" rtl="0" algn="just">
              <a:lnSpc>
                <a:spcPct val="150000"/>
              </a:lnSpc>
              <a:spcBef>
                <a:spcPts val="0"/>
              </a:spcBef>
              <a:spcAft>
                <a:spcPts val="0"/>
              </a:spcAft>
              <a:buClr>
                <a:schemeClr val="dk1"/>
              </a:buClr>
              <a:buSzPts val="2800"/>
              <a:buNone/>
            </a:pPr>
            <a:r>
              <a:rPr lang="es-ES" sz="2800"/>
              <a:t>Se permite dentro del </a:t>
            </a:r>
            <a:r>
              <a:rPr b="1" i="1" lang="es-ES" sz="2800">
                <a:solidFill>
                  <a:srgbClr val="0070C0"/>
                </a:solidFill>
              </a:rPr>
              <a:t>assert</a:t>
            </a:r>
            <a:r>
              <a:rPr lang="es-ES" sz="2800"/>
              <a:t> una </a:t>
            </a:r>
            <a:r>
              <a:rPr b="1" i="1" lang="es-ES" sz="2800">
                <a:solidFill>
                  <a:srgbClr val="0070C0"/>
                </a:solidFill>
              </a:rPr>
              <a:t>descripción</a:t>
            </a:r>
            <a:r>
              <a:rPr lang="es-ES" sz="2800"/>
              <a:t> en forma de </a:t>
            </a:r>
            <a:r>
              <a:rPr b="1" i="1" lang="es-ES" sz="2800">
                <a:solidFill>
                  <a:srgbClr val="0070C0"/>
                </a:solidFill>
              </a:rPr>
              <a:t>string</a:t>
            </a:r>
            <a:r>
              <a:rPr lang="es-ES" sz="2800"/>
              <a:t>, para de ser el caso que falle, además de visualizar la falla pueda saber el porqué rapidamente.</a:t>
            </a:r>
            <a:endParaRPr sz="2800"/>
          </a:p>
          <a:p>
            <a:pPr indent="-342900" lvl="0" marL="342900" rtl="0" algn="just">
              <a:lnSpc>
                <a:spcPct val="150000"/>
              </a:lnSpc>
              <a:spcBef>
                <a:spcPts val="560"/>
              </a:spcBef>
              <a:spcAft>
                <a:spcPts val="0"/>
              </a:spcAft>
              <a:buClr>
                <a:schemeClr val="dk1"/>
              </a:buClr>
              <a:buSzPts val="2800"/>
              <a:buNone/>
            </a:pPr>
            <a:r>
              <a:rPr lang="es-ES" sz="2800"/>
              <a:t> </a:t>
            </a:r>
            <a:endParaRPr sz="2800"/>
          </a:p>
          <a:p>
            <a:pPr indent="-342900" lvl="0" marL="342900" rtl="0" algn="just">
              <a:lnSpc>
                <a:spcPct val="150000"/>
              </a:lnSpc>
              <a:spcBef>
                <a:spcPts val="480"/>
              </a:spcBef>
              <a:spcAft>
                <a:spcPts val="0"/>
              </a:spcAft>
              <a:buClr>
                <a:schemeClr val="dk1"/>
              </a:buClr>
              <a:buSzPts val="2400"/>
              <a:buNone/>
            </a:pPr>
            <a:r>
              <a:rPr lang="es-ES" sz="2800"/>
              <a:t>	assertTrue(var1 == var2,“Descripción del fallo” );</a:t>
            </a:r>
            <a:endParaRPr sz="2800"/>
          </a:p>
        </p:txBody>
      </p:sp>
      <p:pic>
        <p:nvPicPr>
          <p:cNvPr id="155" name="Google Shape;155;p10"/>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Métodos clásicos de Assert en JUnit5:</a:t>
            </a:r>
            <a:endParaRPr/>
          </a:p>
        </p:txBody>
      </p:sp>
      <p:sp>
        <p:nvSpPr>
          <p:cNvPr id="161" name="Google Shape;161;p11"/>
          <p:cNvSpPr txBox="1"/>
          <p:nvPr>
            <p:ph idx="1" type="body"/>
          </p:nvPr>
        </p:nvSpPr>
        <p:spPr>
          <a:xfrm>
            <a:off x="251600" y="1294725"/>
            <a:ext cx="8712900" cy="5112600"/>
          </a:xfrm>
          <a:prstGeom prst="rect">
            <a:avLst/>
          </a:prstGeom>
          <a:noFill/>
          <a:ln>
            <a:noFill/>
          </a:ln>
        </p:spPr>
        <p:txBody>
          <a:bodyPr anchorCtr="0" anchor="ctr" bIns="45700" lIns="91425" spcFirstLastPara="1" rIns="91425" wrap="square" tIns="45700">
            <a:normAutofit lnSpcReduction="10000"/>
          </a:bodyPr>
          <a:lstStyle/>
          <a:p>
            <a:pPr indent="-342900" lvl="0" marL="342900" rtl="0" algn="ctr">
              <a:lnSpc>
                <a:spcPct val="100000"/>
              </a:lnSpc>
              <a:spcBef>
                <a:spcPts val="0"/>
              </a:spcBef>
              <a:spcAft>
                <a:spcPts val="0"/>
              </a:spcAft>
              <a:buClr>
                <a:schemeClr val="dk1"/>
              </a:buClr>
              <a:buSzPts val="2800"/>
              <a:buNone/>
            </a:pPr>
            <a:r>
              <a:rPr lang="es-ES" sz="1900" u="sng">
                <a:solidFill>
                  <a:schemeClr val="hlink"/>
                </a:solidFill>
                <a:hlinkClick r:id="rId3"/>
              </a:rPr>
              <a:t>https://junit.org/junit5/docs/5.0.1/api/org/junit/jupiter/api/Assertions.html</a:t>
            </a:r>
            <a:endParaRPr sz="1900"/>
          </a:p>
          <a:p>
            <a:pPr indent="-342900" lvl="0" marL="342900" rtl="0" algn="just">
              <a:lnSpc>
                <a:spcPct val="100000"/>
              </a:lnSpc>
              <a:spcBef>
                <a:spcPts val="0"/>
              </a:spcBef>
              <a:spcAft>
                <a:spcPts val="0"/>
              </a:spcAft>
              <a:buClr>
                <a:schemeClr val="dk1"/>
              </a:buClr>
              <a:buSzPts val="2800"/>
              <a:buNone/>
            </a:pPr>
            <a:r>
              <a:t/>
            </a:r>
            <a:endParaRPr sz="1900"/>
          </a:p>
          <a:p>
            <a:pPr indent="0" lvl="0" marL="342900" rtl="0" algn="ctr">
              <a:lnSpc>
                <a:spcPct val="100000"/>
              </a:lnSpc>
              <a:spcBef>
                <a:spcPts val="560"/>
              </a:spcBef>
              <a:spcAft>
                <a:spcPts val="0"/>
              </a:spcAft>
              <a:buSzPts val="1800"/>
              <a:buNone/>
            </a:pPr>
            <a:r>
              <a:rPr lang="es-ES" sz="2800"/>
              <a:t>assertArrayEquals()</a:t>
            </a:r>
            <a:endParaRPr/>
          </a:p>
          <a:p>
            <a:pPr indent="0" lvl="0" marL="342900" rtl="0" algn="ctr">
              <a:lnSpc>
                <a:spcPct val="100000"/>
              </a:lnSpc>
              <a:spcBef>
                <a:spcPts val="560"/>
              </a:spcBef>
              <a:spcAft>
                <a:spcPts val="0"/>
              </a:spcAft>
              <a:buSzPts val="1800"/>
              <a:buNone/>
            </a:pPr>
            <a:r>
              <a:rPr lang="es-ES" sz="2800"/>
              <a:t>assertEquals()</a:t>
            </a:r>
            <a:endParaRPr/>
          </a:p>
          <a:p>
            <a:pPr indent="0" lvl="0" marL="342900" rtl="0" algn="ctr">
              <a:lnSpc>
                <a:spcPct val="100000"/>
              </a:lnSpc>
              <a:spcBef>
                <a:spcPts val="560"/>
              </a:spcBef>
              <a:spcAft>
                <a:spcPts val="0"/>
              </a:spcAft>
              <a:buSzPts val="1800"/>
              <a:buNone/>
            </a:pPr>
            <a:r>
              <a:rPr lang="es-ES" sz="2800"/>
              <a:t>assertTrue() </a:t>
            </a:r>
            <a:endParaRPr/>
          </a:p>
          <a:p>
            <a:pPr indent="0" lvl="0" marL="342900" rtl="0" algn="ctr">
              <a:lnSpc>
                <a:spcPct val="100000"/>
              </a:lnSpc>
              <a:spcBef>
                <a:spcPts val="560"/>
              </a:spcBef>
              <a:spcAft>
                <a:spcPts val="0"/>
              </a:spcAft>
              <a:buSzPts val="1800"/>
              <a:buNone/>
            </a:pPr>
            <a:r>
              <a:rPr lang="es-ES" sz="2800"/>
              <a:t>assertFalse()</a:t>
            </a:r>
            <a:endParaRPr/>
          </a:p>
          <a:p>
            <a:pPr indent="0" lvl="0" marL="342900" rtl="0" algn="ctr">
              <a:lnSpc>
                <a:spcPct val="100000"/>
              </a:lnSpc>
              <a:spcBef>
                <a:spcPts val="560"/>
              </a:spcBef>
              <a:spcAft>
                <a:spcPts val="0"/>
              </a:spcAft>
              <a:buSzPts val="1800"/>
              <a:buNone/>
            </a:pPr>
            <a:r>
              <a:rPr lang="es-ES" sz="2800"/>
              <a:t>assertNull() </a:t>
            </a:r>
            <a:endParaRPr/>
          </a:p>
          <a:p>
            <a:pPr indent="0" lvl="0" marL="342900" rtl="0" algn="ctr">
              <a:lnSpc>
                <a:spcPct val="100000"/>
              </a:lnSpc>
              <a:spcBef>
                <a:spcPts val="560"/>
              </a:spcBef>
              <a:spcAft>
                <a:spcPts val="0"/>
              </a:spcAft>
              <a:buSzPts val="1800"/>
              <a:buNone/>
            </a:pPr>
            <a:r>
              <a:rPr lang="es-ES" sz="2800"/>
              <a:t>assertNotNull()</a:t>
            </a:r>
            <a:endParaRPr/>
          </a:p>
          <a:p>
            <a:pPr indent="0" lvl="0" marL="342900" rtl="0" algn="ctr">
              <a:lnSpc>
                <a:spcPct val="100000"/>
              </a:lnSpc>
              <a:spcBef>
                <a:spcPts val="560"/>
              </a:spcBef>
              <a:spcAft>
                <a:spcPts val="0"/>
              </a:spcAft>
              <a:buSzPts val="1800"/>
              <a:buNone/>
            </a:pPr>
            <a:r>
              <a:rPr lang="es-ES" sz="2800"/>
              <a:t>assertSame() </a:t>
            </a:r>
            <a:endParaRPr/>
          </a:p>
          <a:p>
            <a:pPr indent="0" lvl="0" marL="342900" rtl="0" algn="ctr">
              <a:lnSpc>
                <a:spcPct val="100000"/>
              </a:lnSpc>
              <a:spcBef>
                <a:spcPts val="560"/>
              </a:spcBef>
              <a:spcAft>
                <a:spcPts val="0"/>
              </a:spcAft>
              <a:buSzPts val="1800"/>
              <a:buNone/>
            </a:pPr>
            <a:r>
              <a:rPr lang="es-ES" sz="2800"/>
              <a:t>assertNotSame()</a:t>
            </a:r>
            <a:endParaRPr/>
          </a:p>
          <a:p>
            <a:pPr indent="0" lvl="0" marL="342900" rtl="0" algn="ctr">
              <a:lnSpc>
                <a:spcPct val="100000"/>
              </a:lnSpc>
              <a:spcBef>
                <a:spcPts val="560"/>
              </a:spcBef>
              <a:spcAft>
                <a:spcPts val="0"/>
              </a:spcAft>
              <a:buSzPts val="1800"/>
              <a:buNone/>
            </a:pPr>
            <a:r>
              <a:rPr lang="es-ES" sz="2800"/>
              <a:t>assertThat()</a:t>
            </a:r>
            <a:endParaRPr/>
          </a:p>
        </p:txBody>
      </p:sp>
      <p:pic>
        <p:nvPicPr>
          <p:cNvPr id="162" name="Google Shape;162;p11"/>
          <p:cNvPicPr preferRelativeResize="0"/>
          <p:nvPr/>
        </p:nvPicPr>
        <p:blipFill rotWithShape="1">
          <a:blip r:embed="rId4">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Failures y Error: I</a:t>
            </a:r>
            <a:endParaRPr/>
          </a:p>
        </p:txBody>
      </p:sp>
      <p:sp>
        <p:nvSpPr>
          <p:cNvPr id="168" name="Google Shape;168;p12"/>
          <p:cNvSpPr txBox="1"/>
          <p:nvPr>
            <p:ph idx="1" type="body"/>
          </p:nvPr>
        </p:nvSpPr>
        <p:spPr>
          <a:xfrm>
            <a:off x="395536" y="1628800"/>
            <a:ext cx="8424936" cy="4824536"/>
          </a:xfrm>
          <a:prstGeom prst="rect">
            <a:avLst/>
          </a:prstGeom>
          <a:noFill/>
          <a:ln>
            <a:noFill/>
          </a:ln>
        </p:spPr>
        <p:txBody>
          <a:bodyPr anchorCtr="0" anchor="ctr"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En caso de que el </a:t>
            </a:r>
            <a:r>
              <a:rPr b="1" i="1" lang="es-ES" sz="2800">
                <a:solidFill>
                  <a:srgbClr val="0070C0"/>
                </a:solidFill>
              </a:rPr>
              <a:t>valor esperado </a:t>
            </a:r>
            <a:r>
              <a:rPr lang="es-ES" sz="2800"/>
              <a:t>sea </a:t>
            </a:r>
            <a:r>
              <a:rPr b="1" i="1" lang="es-ES" sz="2800">
                <a:solidFill>
                  <a:srgbClr val="0070C0"/>
                </a:solidFill>
              </a:rPr>
              <a:t>diferente </a:t>
            </a:r>
            <a:r>
              <a:rPr lang="es-ES" sz="2800"/>
              <a:t>al que regresó el método durante la ejecución, JUnit devolverá un fallo en el método correspondiente (“</a:t>
            </a:r>
            <a:r>
              <a:rPr b="1" i="1" lang="es-ES" sz="2800">
                <a:solidFill>
                  <a:srgbClr val="0070C0"/>
                </a:solidFill>
              </a:rPr>
              <a:t>failures</a:t>
            </a:r>
            <a:r>
              <a:rPr lang="es-ES" sz="2800"/>
              <a:t>”).  En caso de que ocurra alguna </a:t>
            </a:r>
            <a:r>
              <a:rPr b="1" i="1" lang="es-ES" sz="2800">
                <a:solidFill>
                  <a:srgbClr val="0070C0"/>
                </a:solidFill>
              </a:rPr>
              <a:t>inconsistencia</a:t>
            </a:r>
            <a:r>
              <a:rPr lang="es-ES" sz="2800"/>
              <a:t> </a:t>
            </a:r>
            <a:r>
              <a:rPr b="1" i="1" lang="es-ES" sz="2800">
                <a:solidFill>
                  <a:srgbClr val="0070C0"/>
                </a:solidFill>
              </a:rPr>
              <a:t>en</a:t>
            </a:r>
            <a:r>
              <a:rPr lang="es-ES" sz="2800"/>
              <a:t> el método </a:t>
            </a:r>
            <a:r>
              <a:rPr b="1" i="1" lang="es-ES" sz="2800">
                <a:solidFill>
                  <a:srgbClr val="0070C0"/>
                </a:solidFill>
              </a:rPr>
              <a:t>assert</a:t>
            </a:r>
            <a:r>
              <a:rPr lang="es-ES" sz="2800"/>
              <a:t>, el mismo indicará un “</a:t>
            </a:r>
            <a:r>
              <a:rPr b="1" i="1" lang="es-ES" sz="2800">
                <a:solidFill>
                  <a:srgbClr val="0070C0"/>
                </a:solidFill>
              </a:rPr>
              <a:t>error</a:t>
            </a:r>
            <a:r>
              <a:rPr lang="es-ES" sz="2800"/>
              <a:t>” en rojo. </a:t>
            </a:r>
            <a:endParaRPr sz="2800"/>
          </a:p>
          <a:p>
            <a:pPr indent="-514350" lvl="0" marL="514350" rtl="0" algn="just">
              <a:lnSpc>
                <a:spcPct val="100000"/>
              </a:lnSpc>
              <a:spcBef>
                <a:spcPts val="56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Por ejemplo, en el caso que se compare un atributo con una lista vacía.</a:t>
            </a:r>
            <a:endParaRPr/>
          </a:p>
        </p:txBody>
      </p:sp>
      <p:pic>
        <p:nvPicPr>
          <p:cNvPr id="169" name="Google Shape;169;p12"/>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Failures y Error: II</a:t>
            </a:r>
            <a:endParaRPr/>
          </a:p>
        </p:txBody>
      </p:sp>
      <p:sp>
        <p:nvSpPr>
          <p:cNvPr id="175" name="Google Shape;175;p13"/>
          <p:cNvSpPr txBox="1"/>
          <p:nvPr>
            <p:ph idx="1" type="body"/>
          </p:nvPr>
        </p:nvSpPr>
        <p:spPr>
          <a:xfrm>
            <a:off x="395536" y="1628800"/>
            <a:ext cx="8424936" cy="4392488"/>
          </a:xfrm>
          <a:prstGeom prst="rect">
            <a:avLst/>
          </a:prstGeom>
          <a:noFill/>
          <a:ln>
            <a:noFill/>
          </a:ln>
        </p:spPr>
        <p:txBody>
          <a:bodyPr anchorCtr="0" anchor="ctr"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En caso de que un </a:t>
            </a:r>
            <a:r>
              <a:rPr b="1" i="1" lang="es-ES" sz="2800">
                <a:solidFill>
                  <a:srgbClr val="0070C0"/>
                </a:solidFill>
              </a:rPr>
              <a:t>assert</a:t>
            </a:r>
            <a:r>
              <a:rPr lang="es-ES" sz="2800"/>
              <a:t> devuelva </a:t>
            </a:r>
            <a:r>
              <a:rPr b="1" i="1" lang="es-ES" sz="2800">
                <a:solidFill>
                  <a:srgbClr val="0070C0"/>
                </a:solidFill>
              </a:rPr>
              <a:t>failure</a:t>
            </a:r>
            <a:r>
              <a:rPr lang="es-ES" sz="2800"/>
              <a:t>, se dará por </a:t>
            </a:r>
            <a:r>
              <a:rPr b="1" i="1" lang="es-ES" sz="2800">
                <a:solidFill>
                  <a:srgbClr val="0070C0"/>
                </a:solidFill>
              </a:rPr>
              <a:t>finalizado</a:t>
            </a:r>
            <a:r>
              <a:rPr lang="es-ES" sz="2800"/>
              <a:t> el método test sin seguir ejecutando el código que faltara.</a:t>
            </a:r>
            <a:endParaRPr/>
          </a:p>
          <a:p>
            <a:pPr indent="-514350" lvl="0" marL="514350" rtl="0" algn="just">
              <a:lnSpc>
                <a:spcPct val="100000"/>
              </a:lnSpc>
              <a:spcBef>
                <a:spcPts val="56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Es </a:t>
            </a:r>
            <a:r>
              <a:rPr b="1" i="1" lang="es-ES" sz="2800">
                <a:solidFill>
                  <a:srgbClr val="0070C0"/>
                </a:solidFill>
              </a:rPr>
              <a:t>conveniente</a:t>
            </a:r>
            <a:r>
              <a:rPr lang="es-ES" sz="2800"/>
              <a:t> </a:t>
            </a:r>
            <a:r>
              <a:rPr b="1" i="1" lang="es-ES" sz="2800">
                <a:solidFill>
                  <a:srgbClr val="0070C0"/>
                </a:solidFill>
              </a:rPr>
              <a:t>no incluir varios assert por método</a:t>
            </a:r>
            <a:r>
              <a:rPr lang="es-ES" sz="2800"/>
              <a:t> para tener una noción adecuada de que fallo</a:t>
            </a:r>
            <a:endParaRPr sz="2800"/>
          </a:p>
        </p:txBody>
      </p:sp>
      <p:pic>
        <p:nvPicPr>
          <p:cNvPr id="176" name="Google Shape;176;p13"/>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Beneficio</a:t>
            </a:r>
            <a:endParaRPr/>
          </a:p>
        </p:txBody>
      </p:sp>
      <p:sp>
        <p:nvSpPr>
          <p:cNvPr id="182" name="Google Shape;182;p14"/>
          <p:cNvSpPr txBox="1"/>
          <p:nvPr>
            <p:ph idx="1" type="body"/>
          </p:nvPr>
        </p:nvSpPr>
        <p:spPr>
          <a:xfrm>
            <a:off x="395536" y="1628800"/>
            <a:ext cx="8424936" cy="4392488"/>
          </a:xfrm>
          <a:prstGeom prst="rect">
            <a:avLst/>
          </a:prstGeom>
          <a:noFill/>
          <a:ln>
            <a:noFill/>
          </a:ln>
        </p:spPr>
        <p:txBody>
          <a:bodyPr anchorCtr="0" anchor="ctr"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Se </a:t>
            </a:r>
            <a:r>
              <a:rPr b="1" i="1" lang="es-ES" sz="2800">
                <a:solidFill>
                  <a:srgbClr val="0070C0"/>
                </a:solidFill>
              </a:rPr>
              <a:t>deja de lado </a:t>
            </a:r>
            <a:r>
              <a:rPr lang="es-ES" sz="2800"/>
              <a:t>los tediosos </a:t>
            </a:r>
            <a:r>
              <a:rPr b="1" i="1" lang="es-ES" sz="2800">
                <a:solidFill>
                  <a:srgbClr val="0070C0"/>
                </a:solidFill>
              </a:rPr>
              <a:t>tests</a:t>
            </a:r>
            <a:r>
              <a:rPr lang="es-ES" sz="2800"/>
              <a:t> mediante </a:t>
            </a:r>
            <a:r>
              <a:rPr b="1" i="1" lang="es-ES" sz="2800">
                <a:solidFill>
                  <a:srgbClr val="0070C0"/>
                </a:solidFill>
              </a:rPr>
              <a:t>outputs de consola</a:t>
            </a:r>
            <a:r>
              <a:rPr lang="es-ES" sz="2800"/>
              <a:t>, los cuales nos obligaban a leer decenas de líneas de texto para chequear si todo estaba en orden. En aplicaciones de menor tamaño puede no resultar un problema. Pero…</a:t>
            </a:r>
            <a:endParaRPr/>
          </a:p>
          <a:p>
            <a:pPr indent="-342900" lvl="0" marL="342900" rtl="0" algn="just">
              <a:lnSpc>
                <a:spcPct val="100000"/>
              </a:lnSpc>
              <a:spcBef>
                <a:spcPts val="560"/>
              </a:spcBef>
              <a:spcAft>
                <a:spcPts val="0"/>
              </a:spcAft>
              <a:buClr>
                <a:schemeClr val="dk1"/>
              </a:buClr>
              <a:buSzPts val="2800"/>
              <a:buNone/>
            </a:pPr>
            <a:r>
              <a:t/>
            </a:r>
            <a:endParaRPr sz="2800"/>
          </a:p>
          <a:p>
            <a:pPr indent="0" lvl="0" marL="0" rtl="0" algn="just">
              <a:lnSpc>
                <a:spcPct val="100000"/>
              </a:lnSpc>
              <a:spcBef>
                <a:spcPts val="560"/>
              </a:spcBef>
              <a:spcAft>
                <a:spcPts val="0"/>
              </a:spcAft>
              <a:buClr>
                <a:schemeClr val="dk1"/>
              </a:buClr>
              <a:buSzPts val="2800"/>
              <a:buNone/>
            </a:pPr>
            <a:r>
              <a:rPr lang="es-ES" sz="2800"/>
              <a:t>¿Se imaginan revisando </a:t>
            </a:r>
            <a:r>
              <a:rPr b="1" i="1" lang="es-ES" sz="2800">
                <a:solidFill>
                  <a:srgbClr val="0070C0"/>
                </a:solidFill>
              </a:rPr>
              <a:t>1000 líneas de outputs de test </a:t>
            </a:r>
            <a:r>
              <a:rPr lang="es-ES" sz="2800"/>
              <a:t>por cada modificación que realicen? </a:t>
            </a:r>
            <a:endParaRPr/>
          </a:p>
          <a:p>
            <a:pPr indent="-342900" lvl="0" marL="342900" rtl="0" algn="ctr">
              <a:lnSpc>
                <a:spcPct val="100000"/>
              </a:lnSpc>
              <a:spcBef>
                <a:spcPts val="560"/>
              </a:spcBef>
              <a:spcAft>
                <a:spcPts val="0"/>
              </a:spcAft>
              <a:buClr>
                <a:schemeClr val="dk1"/>
              </a:buClr>
              <a:buSzPts val="2800"/>
              <a:buNone/>
            </a:pPr>
            <a:r>
              <a:t/>
            </a:r>
            <a:endParaRPr sz="2800"/>
          </a:p>
        </p:txBody>
      </p:sp>
      <p:pic>
        <p:nvPicPr>
          <p:cNvPr id="183" name="Google Shape;183;p14"/>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Automatización de pruebas de Regresión</a:t>
            </a:r>
            <a:endParaRPr/>
          </a:p>
        </p:txBody>
      </p:sp>
      <p:sp>
        <p:nvSpPr>
          <p:cNvPr id="189" name="Google Shape;189;p15"/>
          <p:cNvSpPr txBox="1"/>
          <p:nvPr>
            <p:ph idx="1" type="body"/>
          </p:nvPr>
        </p:nvSpPr>
        <p:spPr>
          <a:xfrm>
            <a:off x="395536" y="1628800"/>
            <a:ext cx="8424936" cy="4392488"/>
          </a:xfrm>
          <a:prstGeom prst="rect">
            <a:avLst/>
          </a:prstGeom>
          <a:noFill/>
          <a:ln>
            <a:noFill/>
          </a:ln>
        </p:spPr>
        <p:txBody>
          <a:bodyPr anchorCtr="0" anchor="ctr" bIns="45700" lIns="91425" spcFirstLastPara="1" rIns="91425" wrap="square" tIns="45700">
            <a:normAutofit lnSpcReduction="20000"/>
          </a:bodyPr>
          <a:lstStyle/>
          <a:p>
            <a:pPr indent="-342900" lvl="0" marL="342900" rtl="0" algn="just">
              <a:lnSpc>
                <a:spcPct val="100000"/>
              </a:lnSpc>
              <a:spcBef>
                <a:spcPts val="0"/>
              </a:spcBef>
              <a:spcAft>
                <a:spcPts val="0"/>
              </a:spcAft>
              <a:buClr>
                <a:schemeClr val="dk1"/>
              </a:buClr>
              <a:buSzPts val="2800"/>
              <a:buNone/>
            </a:pPr>
            <a:r>
              <a:t/>
            </a:r>
            <a:endParaRPr sz="2800"/>
          </a:p>
          <a:p>
            <a:pPr indent="0" lvl="0" marL="0" rtl="0" algn="just">
              <a:lnSpc>
                <a:spcPct val="150000"/>
              </a:lnSpc>
              <a:spcBef>
                <a:spcPts val="560"/>
              </a:spcBef>
              <a:spcAft>
                <a:spcPts val="0"/>
              </a:spcAft>
              <a:buClr>
                <a:schemeClr val="dk1"/>
              </a:buClr>
              <a:buSzPts val="2800"/>
              <a:buNone/>
            </a:pPr>
            <a:r>
              <a:rPr lang="es-ES" sz="2800"/>
              <a:t>Estos frameworks también sirven para ejecutar </a:t>
            </a:r>
            <a:r>
              <a:rPr b="1" i="1" lang="es-ES" sz="2800">
                <a:solidFill>
                  <a:srgbClr val="0070C0"/>
                </a:solidFill>
              </a:rPr>
              <a:t>las pruebas de regresión</a:t>
            </a:r>
            <a:r>
              <a:rPr lang="es-ES" sz="2800"/>
              <a:t>, necesarias cuando una parte del código ha sido modificado y se desea ver que el nuevo código cumple con los requerimientos anteriores y que </a:t>
            </a:r>
            <a:r>
              <a:rPr b="1" i="1" lang="es-ES" sz="2800">
                <a:solidFill>
                  <a:srgbClr val="0070C0"/>
                </a:solidFill>
              </a:rPr>
              <a:t>no se haya alterado</a:t>
            </a:r>
            <a:r>
              <a:rPr lang="es-ES" sz="2800"/>
              <a:t> su </a:t>
            </a:r>
            <a:r>
              <a:rPr b="1" i="1" lang="es-ES" sz="2800">
                <a:solidFill>
                  <a:srgbClr val="0070C0"/>
                </a:solidFill>
              </a:rPr>
              <a:t>funcionalidad</a:t>
            </a:r>
            <a:r>
              <a:rPr lang="es-ES" sz="2800"/>
              <a:t> ni la del resto del proyecto después de la nueva modificación. </a:t>
            </a:r>
            <a:endParaRPr/>
          </a:p>
          <a:p>
            <a:pPr indent="-342900" lvl="0" marL="342900" rtl="0" algn="ctr">
              <a:lnSpc>
                <a:spcPct val="100000"/>
              </a:lnSpc>
              <a:spcBef>
                <a:spcPts val="560"/>
              </a:spcBef>
              <a:spcAft>
                <a:spcPts val="0"/>
              </a:spcAft>
              <a:buClr>
                <a:schemeClr val="dk1"/>
              </a:buClr>
              <a:buSzPts val="2800"/>
              <a:buNone/>
            </a:pPr>
            <a:r>
              <a:t/>
            </a:r>
            <a:endParaRPr sz="2800"/>
          </a:p>
        </p:txBody>
      </p:sp>
      <p:pic>
        <p:nvPicPr>
          <p:cNvPr id="190" name="Google Shape;190;p15"/>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Recomendaciones y Conclusiones:</a:t>
            </a:r>
            <a:endParaRPr/>
          </a:p>
        </p:txBody>
      </p:sp>
      <p:sp>
        <p:nvSpPr>
          <p:cNvPr id="196" name="Google Shape;196;p16"/>
          <p:cNvSpPr txBox="1"/>
          <p:nvPr>
            <p:ph idx="1" type="body"/>
          </p:nvPr>
        </p:nvSpPr>
        <p:spPr>
          <a:xfrm>
            <a:off x="395536" y="1628800"/>
            <a:ext cx="8424936" cy="4896544"/>
          </a:xfrm>
          <a:prstGeom prst="rect">
            <a:avLst/>
          </a:prstGeom>
          <a:noFill/>
          <a:ln>
            <a:noFill/>
          </a:ln>
        </p:spPr>
        <p:txBody>
          <a:bodyPr anchorCtr="0" anchor="ctr"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800"/>
              <a:buNone/>
            </a:pPr>
            <a:r>
              <a:t/>
            </a:r>
            <a:endParaRPr sz="2800"/>
          </a:p>
          <a:p>
            <a:pPr indent="-342900" lvl="0" marL="342900" rtl="0" algn="l">
              <a:lnSpc>
                <a:spcPct val="100000"/>
              </a:lnSpc>
              <a:spcBef>
                <a:spcPts val="560"/>
              </a:spcBef>
              <a:spcAft>
                <a:spcPts val="0"/>
              </a:spcAft>
              <a:buClr>
                <a:schemeClr val="dk1"/>
              </a:buClr>
              <a:buSzPts val="2800"/>
              <a:buFont typeface="Noto Sans Symbols"/>
              <a:buChar char="✔"/>
            </a:pPr>
            <a:r>
              <a:rPr b="1" i="1" lang="es-ES" sz="2800"/>
              <a:t> </a:t>
            </a:r>
            <a:r>
              <a:rPr b="1" i="1" lang="es-ES" sz="2800">
                <a:solidFill>
                  <a:srgbClr val="0070C0"/>
                </a:solidFill>
              </a:rPr>
              <a:t>Nombrar</a:t>
            </a:r>
            <a:r>
              <a:rPr lang="es-ES" sz="2800"/>
              <a:t> los test en base al </a:t>
            </a:r>
            <a:r>
              <a:rPr b="1" i="1" lang="es-ES" sz="2800">
                <a:solidFill>
                  <a:srgbClr val="0070C0"/>
                </a:solidFill>
              </a:rPr>
              <a:t>caso funcional</a:t>
            </a:r>
            <a:r>
              <a:rPr lang="es-ES" sz="2800"/>
              <a:t> y </a:t>
            </a:r>
            <a:r>
              <a:rPr b="1" i="1" lang="es-ES" sz="2800">
                <a:solidFill>
                  <a:srgbClr val="0070C0"/>
                </a:solidFill>
              </a:rPr>
              <a:t>no</a:t>
            </a:r>
            <a:r>
              <a:rPr lang="es-ES" sz="2800"/>
              <a:t> en base a los </a:t>
            </a:r>
            <a:r>
              <a:rPr b="1" i="1" lang="es-ES" sz="2800">
                <a:solidFill>
                  <a:srgbClr val="0070C0"/>
                </a:solidFill>
              </a:rPr>
              <a:t>datos</a:t>
            </a:r>
            <a:r>
              <a:rPr lang="es-ES" sz="2800"/>
              <a:t> de prueba.</a:t>
            </a:r>
            <a:endParaRPr/>
          </a:p>
          <a:p>
            <a:pPr indent="-342900" lvl="0" marL="342900" rtl="0" algn="l">
              <a:lnSpc>
                <a:spcPct val="100000"/>
              </a:lnSpc>
              <a:spcBef>
                <a:spcPts val="560"/>
              </a:spcBef>
              <a:spcAft>
                <a:spcPts val="0"/>
              </a:spcAft>
              <a:buClr>
                <a:schemeClr val="dk1"/>
              </a:buClr>
              <a:buSzPts val="2800"/>
              <a:buFont typeface="Noto Sans Symbols"/>
              <a:buChar char="✔"/>
            </a:pPr>
            <a:r>
              <a:rPr b="1" i="1" lang="es-ES" sz="2800"/>
              <a:t> </a:t>
            </a:r>
            <a:r>
              <a:rPr b="1" i="1" lang="es-ES" sz="2800">
                <a:solidFill>
                  <a:srgbClr val="0070C0"/>
                </a:solidFill>
              </a:rPr>
              <a:t>Estos tests no son una verificación formal por sí solos</a:t>
            </a:r>
            <a:r>
              <a:rPr lang="es-ES" sz="2800"/>
              <a:t>, adjuntar como documentación plantillas de casos de prueba.</a:t>
            </a:r>
            <a:endParaRPr/>
          </a:p>
          <a:p>
            <a:pPr indent="-342900" lvl="0" marL="342900" rtl="0" algn="l">
              <a:lnSpc>
                <a:spcPct val="100000"/>
              </a:lnSpc>
              <a:spcBef>
                <a:spcPts val="560"/>
              </a:spcBef>
              <a:spcAft>
                <a:spcPts val="0"/>
              </a:spcAft>
              <a:buClr>
                <a:schemeClr val="dk1"/>
              </a:buClr>
              <a:buSzPts val="2800"/>
              <a:buFont typeface="Noto Sans Symbols"/>
              <a:buChar char="✔"/>
            </a:pPr>
            <a:r>
              <a:rPr lang="es-ES" sz="2800"/>
              <a:t> Los tests son un sistema más que hay que desarrollar y mantener.</a:t>
            </a:r>
            <a:endParaRPr/>
          </a:p>
          <a:p>
            <a:pPr indent="-342900" lvl="0" marL="342900" rtl="0" algn="l">
              <a:lnSpc>
                <a:spcPct val="100000"/>
              </a:lnSpc>
              <a:spcBef>
                <a:spcPts val="560"/>
              </a:spcBef>
              <a:spcAft>
                <a:spcPts val="0"/>
              </a:spcAft>
              <a:buClr>
                <a:schemeClr val="dk1"/>
              </a:buClr>
              <a:buSzPts val="2800"/>
              <a:buFont typeface="Noto Sans Symbols"/>
              <a:buChar char="✔"/>
            </a:pPr>
            <a:r>
              <a:rPr lang="es-ES" sz="2800"/>
              <a:t> Los tests nos convierten en los </a:t>
            </a:r>
            <a:r>
              <a:rPr b="1" i="1" lang="es-ES" sz="2800">
                <a:solidFill>
                  <a:srgbClr val="0070C0"/>
                </a:solidFill>
              </a:rPr>
              <a:t>primeros usuarios del sistema</a:t>
            </a:r>
            <a:r>
              <a:rPr lang="es-ES" sz="2800"/>
              <a:t>.</a:t>
            </a:r>
            <a:endParaRPr/>
          </a:p>
          <a:p>
            <a:pPr indent="-342900" lvl="0" marL="342900" rtl="0" algn="ctr">
              <a:lnSpc>
                <a:spcPct val="100000"/>
              </a:lnSpc>
              <a:spcBef>
                <a:spcPts val="560"/>
              </a:spcBef>
              <a:spcAft>
                <a:spcPts val="0"/>
              </a:spcAft>
              <a:buClr>
                <a:schemeClr val="dk1"/>
              </a:buClr>
              <a:buSzPts val="2800"/>
              <a:buNone/>
            </a:pPr>
            <a:r>
              <a:t/>
            </a:r>
            <a:endParaRPr sz="2800"/>
          </a:p>
        </p:txBody>
      </p:sp>
      <p:pic>
        <p:nvPicPr>
          <p:cNvPr id="197" name="Google Shape;197;p16"/>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1" name="Shape 201"/>
        <p:cNvGrpSpPr/>
        <p:nvPr/>
      </p:nvGrpSpPr>
      <p:grpSpPr>
        <a:xfrm>
          <a:off x="0" y="0"/>
          <a:ext cx="0" cy="0"/>
          <a:chOff x="0" y="0"/>
          <a:chExt cx="0" cy="0"/>
        </a:xfrm>
      </p:grpSpPr>
      <p:sp>
        <p:nvSpPr>
          <p:cNvPr id="202" name="Google Shape;202;g25f502de639_0_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xUnit para lenguaje Java</a:t>
            </a:r>
            <a:r>
              <a:rPr lang="es-ES" sz="3200">
                <a:solidFill>
                  <a:schemeClr val="lt1"/>
                </a:solidFill>
                <a:latin typeface="Calibri"/>
                <a:ea typeface="Calibri"/>
                <a:cs typeface="Calibri"/>
                <a:sym typeface="Calibri"/>
              </a:rPr>
              <a:t>:</a:t>
            </a:r>
            <a:endParaRPr sz="3200"/>
          </a:p>
        </p:txBody>
      </p:sp>
      <p:sp>
        <p:nvSpPr>
          <p:cNvPr id="203" name="Google Shape;203;g25f502de639_0_9"/>
          <p:cNvSpPr txBox="1"/>
          <p:nvPr>
            <p:ph idx="1" type="body"/>
          </p:nvPr>
        </p:nvSpPr>
        <p:spPr>
          <a:xfrm>
            <a:off x="395536" y="1628800"/>
            <a:ext cx="8229600" cy="4896600"/>
          </a:xfrm>
          <a:prstGeom prst="rect">
            <a:avLst/>
          </a:prstGeom>
          <a:noFill/>
          <a:ln>
            <a:noFill/>
          </a:ln>
        </p:spPr>
        <p:txBody>
          <a:bodyPr anchorCtr="0" anchor="ctr" bIns="45700" lIns="91425" spcFirstLastPara="1" rIns="91425" wrap="square" tIns="45700">
            <a:noAutofit/>
          </a:bodyPr>
          <a:lstStyle/>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15000"/>
              </a:lnSpc>
              <a:spcBef>
                <a:spcPts val="1500"/>
              </a:spcBef>
              <a:spcAft>
                <a:spcPts val="0"/>
              </a:spcAft>
              <a:buSzPts val="1800"/>
              <a:buNone/>
            </a:pPr>
            <a:r>
              <a:rPr b="1" lang="es-ES" sz="2800">
                <a:highlight>
                  <a:schemeClr val="lt1"/>
                </a:highlight>
              </a:rPr>
              <a:t>JUnit: </a:t>
            </a:r>
            <a:r>
              <a:rPr lang="es-ES" sz="2800">
                <a:highlight>
                  <a:schemeClr val="lt1"/>
                </a:highlight>
              </a:rPr>
              <a:t>es el framework de pruebas más utilizado en Java. Ha sido una herramienta estándar durante mucho tiempo y ha evolucionado a lo largo de las versiones, siendo la más actual JUnit 5.</a:t>
            </a:r>
            <a:endParaRPr sz="2800">
              <a:highlight>
                <a:schemeClr val="lt1"/>
              </a:highlight>
            </a:endParaRPr>
          </a:p>
          <a:p>
            <a:pPr indent="0" lvl="0" marL="0" rtl="0" algn="just">
              <a:lnSpc>
                <a:spcPct val="115000"/>
              </a:lnSpc>
              <a:spcBef>
                <a:spcPts val="1500"/>
              </a:spcBef>
              <a:spcAft>
                <a:spcPts val="0"/>
              </a:spcAft>
              <a:buSzPts val="1800"/>
              <a:buNone/>
            </a:pPr>
            <a:r>
              <a:rPr lang="es-ES" sz="2800">
                <a:highlight>
                  <a:schemeClr val="lt1"/>
                </a:highlight>
              </a:rPr>
              <a:t>Posee dos módulos a importar diferentes, JUnit Jupiter para las pruebas en JUnit 5 y otro módulo de compatibilidad para pruebas en versiones anteriores llamado JUnit Vintage. Esto permite que en un mismo proyecto convivan pruebas antiguas y nuevas sin necesidad de re escribirlas.</a:t>
            </a:r>
            <a:endParaRPr sz="28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04" name="Google Shape;204;g25f502de639_0_9"/>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8" name="Shape 208"/>
        <p:cNvGrpSpPr/>
        <p:nvPr/>
      </p:nvGrpSpPr>
      <p:grpSpPr>
        <a:xfrm>
          <a:off x="0" y="0"/>
          <a:ext cx="0" cy="0"/>
          <a:chOff x="0" y="0"/>
          <a:chExt cx="0" cy="0"/>
        </a:xfrm>
      </p:grpSpPr>
      <p:sp>
        <p:nvSpPr>
          <p:cNvPr id="209" name="Google Shape;209;g25f502de639_0_22"/>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Ejemplo de prueba unitaria con JUnit5</a:t>
            </a:r>
            <a:r>
              <a:rPr lang="es-ES" sz="3200">
                <a:solidFill>
                  <a:schemeClr val="lt1"/>
                </a:solidFill>
                <a:latin typeface="Calibri"/>
                <a:ea typeface="Calibri"/>
                <a:cs typeface="Calibri"/>
                <a:sym typeface="Calibri"/>
              </a:rPr>
              <a:t>:</a:t>
            </a:r>
            <a:endParaRPr sz="3200"/>
          </a:p>
        </p:txBody>
      </p:sp>
      <p:sp>
        <p:nvSpPr>
          <p:cNvPr id="210" name="Google Shape;210;g25f502de639_0_22"/>
          <p:cNvSpPr txBox="1"/>
          <p:nvPr>
            <p:ph idx="1" type="body"/>
          </p:nvPr>
        </p:nvSpPr>
        <p:spPr>
          <a:xfrm>
            <a:off x="247925" y="1368600"/>
            <a:ext cx="8229600" cy="53607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org.junit.jupiter.api.BeforeEach;</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org.junit.jupiter.api.Test;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static org.junit.jupiter.api.Assertions.assertEquals;</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public class CalculatorTest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private Calculator calculator;</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r>
              <a:rPr b="1" lang="es-ES" sz="2000">
                <a:solidFill>
                  <a:srgbClr val="0070C0"/>
                </a:solidFill>
                <a:highlight>
                  <a:schemeClr val="lt1"/>
                </a:highlight>
              </a:rPr>
              <a:t>@BeforeEach</a:t>
            </a:r>
            <a:endParaRPr b="1" sz="2000">
              <a:solidFill>
                <a:srgbClr val="0070C0"/>
              </a:solidFill>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public void setUp()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calculator = new Calculator();</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r>
              <a:rPr b="1" lang="es-ES" sz="2000">
                <a:solidFill>
                  <a:srgbClr val="0070C0"/>
                </a:solidFill>
                <a:highlight>
                  <a:schemeClr val="lt1"/>
                </a:highlight>
              </a:rPr>
              <a:t>@Test</a:t>
            </a:r>
            <a:endParaRPr b="1" sz="2000">
              <a:solidFill>
                <a:srgbClr val="0070C0"/>
              </a:solidFill>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public void testAdd()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int result = calculator.add(3, 5);</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assertEquals(8, result, “aquí va el texto orientativo el cual aparece en la consola al fallar el test”);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a:t>
            </a:r>
            <a:endParaRPr b="1" sz="20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20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11" name="Google Shape;211;g25f502de639_0_22"/>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5" name="Shape 215"/>
        <p:cNvGrpSpPr/>
        <p:nvPr/>
      </p:nvGrpSpPr>
      <p:grpSpPr>
        <a:xfrm>
          <a:off x="0" y="0"/>
          <a:ext cx="0" cy="0"/>
          <a:chOff x="0" y="0"/>
          <a:chExt cx="0" cy="0"/>
        </a:xfrm>
      </p:grpSpPr>
      <p:sp>
        <p:nvSpPr>
          <p:cNvPr id="216" name="Google Shape;216;g25f502de639_0_5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JUnit5</a:t>
            </a:r>
            <a:r>
              <a:rPr lang="es-ES" sz="3200">
                <a:solidFill>
                  <a:schemeClr val="lt1"/>
                </a:solidFill>
                <a:latin typeface="Calibri"/>
                <a:ea typeface="Calibri"/>
                <a:cs typeface="Calibri"/>
                <a:sym typeface="Calibri"/>
              </a:rPr>
              <a:t>: assertThrows</a:t>
            </a:r>
            <a:endParaRPr sz="3200"/>
          </a:p>
        </p:txBody>
      </p:sp>
      <p:pic>
        <p:nvPicPr>
          <p:cNvPr id="217" name="Google Shape;217;g25f502de639_0_59"/>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18" name="Google Shape;218;g25f502de639_0_59"/>
          <p:cNvSpPr txBox="1"/>
          <p:nvPr/>
        </p:nvSpPr>
        <p:spPr>
          <a:xfrm>
            <a:off x="209275" y="1464975"/>
            <a:ext cx="8755200" cy="523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import org.junit.jupiter.api.Test;</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import static org.junit.jupiter.api.Assertions.assertThrows;</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public class MathUtilsTest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a:t>
            </a:r>
            <a:r>
              <a:rPr b="1" i="0" lang="es-ES" sz="2200" u="none" cap="none" strike="noStrike">
                <a:solidFill>
                  <a:srgbClr val="0070C0"/>
                </a:solidFill>
                <a:highlight>
                  <a:schemeClr val="lt1"/>
                </a:highlight>
                <a:latin typeface="Calibri"/>
                <a:ea typeface="Calibri"/>
                <a:cs typeface="Calibri"/>
                <a:sym typeface="Calibri"/>
              </a:rPr>
              <a:t>  @Test</a:t>
            </a:r>
            <a:endParaRPr b="1" i="0" sz="2200" u="none" cap="none" strike="noStrike">
              <a:solidFill>
                <a:srgbClr val="0070C0"/>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public void testDivideByZero()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MathUtils mathUtils = new MathUtils();</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assertThrows(ArithmeticException.class, () -&gt;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mathUtils.divide(10, 0);</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    }</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1" i="0" lang="es-ES" sz="2200" u="none" cap="none" strike="noStrike">
                <a:solidFill>
                  <a:schemeClr val="dk1"/>
                </a:solidFill>
                <a:highlight>
                  <a:schemeClr val="lt1"/>
                </a:highlight>
                <a:latin typeface="Calibri"/>
                <a:ea typeface="Calibri"/>
                <a:cs typeface="Calibri"/>
                <a:sym typeface="Calibri"/>
              </a:rPr>
              <a:t>}</a:t>
            </a:r>
            <a:endParaRPr b="1"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600"/>
              <a:buFont typeface="Arial"/>
              <a:buNone/>
            </a:pPr>
            <a:r>
              <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chemeClr val="dk1"/>
              </a:buClr>
              <a:buSzPts val="1100"/>
              <a:buFont typeface="Arial"/>
              <a:buNone/>
            </a:pPr>
            <a:r>
              <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15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2" name="Shape 222"/>
        <p:cNvGrpSpPr/>
        <p:nvPr/>
      </p:nvGrpSpPr>
      <p:grpSpPr>
        <a:xfrm>
          <a:off x="0" y="0"/>
          <a:ext cx="0" cy="0"/>
          <a:chOff x="0" y="0"/>
          <a:chExt cx="0" cy="0"/>
        </a:xfrm>
      </p:grpSpPr>
      <p:sp>
        <p:nvSpPr>
          <p:cNvPr id="223" name="Google Shape;223;g25f502de639_0_68"/>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JUnit5</a:t>
            </a:r>
            <a:r>
              <a:rPr lang="es-ES" sz="3200">
                <a:solidFill>
                  <a:schemeClr val="lt1"/>
                </a:solidFill>
                <a:latin typeface="Calibri"/>
                <a:ea typeface="Calibri"/>
                <a:cs typeface="Calibri"/>
                <a:sym typeface="Calibri"/>
              </a:rPr>
              <a:t>: assertThrows</a:t>
            </a:r>
            <a:endParaRPr sz="3200"/>
          </a:p>
        </p:txBody>
      </p:sp>
      <p:pic>
        <p:nvPicPr>
          <p:cNvPr id="224" name="Google Shape;224;g25f502de639_0_68"/>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25" name="Google Shape;225;g25f502de639_0_68"/>
          <p:cNvSpPr txBox="1"/>
          <p:nvPr/>
        </p:nvSpPr>
        <p:spPr>
          <a:xfrm>
            <a:off x="209275" y="1464975"/>
            <a:ext cx="8755200" cy="523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500"/>
              </a:spcBef>
              <a:spcAft>
                <a:spcPts val="0"/>
              </a:spcAft>
              <a:buClr>
                <a:srgbClr val="000000"/>
              </a:buClr>
              <a:buSzPts val="2600"/>
              <a:buFont typeface="Arial"/>
              <a:buNone/>
            </a:pPr>
            <a:r>
              <a:rPr b="0" i="0" lang="es-ES" sz="2600" u="none" cap="none" strike="noStrike">
                <a:solidFill>
                  <a:schemeClr val="dk1"/>
                </a:solidFill>
                <a:highlight>
                  <a:schemeClr val="lt1"/>
                </a:highlight>
                <a:latin typeface="Calibri"/>
                <a:ea typeface="Calibri"/>
                <a:cs typeface="Calibri"/>
                <a:sym typeface="Calibri"/>
              </a:rPr>
              <a:t>Usamos assertThrows para verificar que una excepción del tipo Exception.class, pudiendo reemplazar Exception.class con el tipo específico de excepción que estás esperando) sea lanzada.</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600"/>
              <a:buFont typeface="Arial"/>
              <a:buNone/>
            </a:pPr>
            <a:r>
              <a:rPr b="0" i="0" lang="es-ES" sz="2600" u="none" cap="none" strike="noStrike">
                <a:solidFill>
                  <a:schemeClr val="dk1"/>
                </a:solidFill>
                <a:highlight>
                  <a:schemeClr val="lt1"/>
                </a:highlight>
                <a:latin typeface="Calibri"/>
                <a:ea typeface="Calibri"/>
                <a:cs typeface="Calibri"/>
                <a:sym typeface="Calibri"/>
              </a:rPr>
              <a:t>Dentro del bloque lambda () -&gt; { ... }, colocamos el código que debería lanzar la excepción durante su ejecución.</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600"/>
              <a:buFont typeface="Arial"/>
              <a:buNone/>
            </a:pPr>
            <a:r>
              <a:rPr b="0" i="0" lang="es-ES" sz="2600" u="none" cap="none" strike="noStrike">
                <a:solidFill>
                  <a:schemeClr val="dk1"/>
                </a:solidFill>
                <a:highlight>
                  <a:schemeClr val="lt1"/>
                </a:highlight>
                <a:latin typeface="Calibri"/>
                <a:ea typeface="Calibri"/>
                <a:cs typeface="Calibri"/>
                <a:sym typeface="Calibri"/>
              </a:rPr>
              <a:t>Si la excepción es lanzada correctamente durante la ejecución del código en el bloque lambda, la prueba pasará. Si la excepción no se lanza o si se lanza una excepción de un tipo diferente al esperado, la prueba fallará.</a:t>
            </a:r>
            <a:endParaRPr b="0" i="0" sz="2600" u="none" cap="none" strike="noStrike">
              <a:solidFill>
                <a:schemeClr val="dk1"/>
              </a:solidFill>
              <a:highlight>
                <a:schemeClr val="lt1"/>
              </a:highlight>
              <a:latin typeface="Calibri"/>
              <a:ea typeface="Calibri"/>
              <a:cs typeface="Calibri"/>
              <a:sym typeface="Calibri"/>
            </a:endParaRPr>
          </a:p>
          <a:p>
            <a:pPr indent="0" lvl="0" marL="0" marR="0" rtl="0" algn="l">
              <a:lnSpc>
                <a:spcPct val="100000"/>
              </a:lnSpc>
              <a:spcBef>
                <a:spcPts val="15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9" name="Shape 229"/>
        <p:cNvGrpSpPr/>
        <p:nvPr/>
      </p:nvGrpSpPr>
      <p:grpSpPr>
        <a:xfrm>
          <a:off x="0" y="0"/>
          <a:ext cx="0" cy="0"/>
          <a:chOff x="0" y="0"/>
          <a:chExt cx="0" cy="0"/>
        </a:xfrm>
      </p:grpSpPr>
      <p:sp>
        <p:nvSpPr>
          <p:cNvPr id="230" name="Google Shape;230;g25f502de639_0_2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Test parametrizados con JUnit5</a:t>
            </a:r>
            <a:r>
              <a:rPr lang="es-ES" sz="3200">
                <a:solidFill>
                  <a:schemeClr val="lt1"/>
                </a:solidFill>
                <a:latin typeface="Calibri"/>
                <a:ea typeface="Calibri"/>
                <a:cs typeface="Calibri"/>
                <a:sym typeface="Calibri"/>
              </a:rPr>
              <a:t>:</a:t>
            </a:r>
            <a:endParaRPr sz="3200"/>
          </a:p>
        </p:txBody>
      </p:sp>
      <p:sp>
        <p:nvSpPr>
          <p:cNvPr id="231" name="Google Shape;231;g25f502de639_0_29"/>
          <p:cNvSpPr txBox="1"/>
          <p:nvPr>
            <p:ph idx="1" type="body"/>
          </p:nvPr>
        </p:nvSpPr>
        <p:spPr>
          <a:xfrm>
            <a:off x="234600" y="1368600"/>
            <a:ext cx="8674800" cy="54894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800">
              <a:highlight>
                <a:schemeClr val="lt1"/>
              </a:highlight>
            </a:endParaRPr>
          </a:p>
          <a:p>
            <a:pPr indent="0" lvl="0" marL="0" rtl="0" algn="just">
              <a:lnSpc>
                <a:spcPct val="100000"/>
              </a:lnSpc>
              <a:spcBef>
                <a:spcPts val="0"/>
              </a:spcBef>
              <a:spcAft>
                <a:spcPts val="0"/>
              </a:spcAft>
              <a:buSzPts val="1800"/>
              <a:buNone/>
            </a:pPr>
            <a:r>
              <a:rPr lang="es-ES" sz="2800">
                <a:highlight>
                  <a:schemeClr val="lt1"/>
                </a:highlight>
              </a:rPr>
              <a:t>Si se necesita realizar pruebas con </a:t>
            </a:r>
            <a:r>
              <a:rPr b="1" i="1" lang="es-ES" sz="2800">
                <a:solidFill>
                  <a:srgbClr val="0070C0"/>
                </a:solidFill>
                <a:highlight>
                  <a:schemeClr val="lt1"/>
                </a:highlight>
              </a:rPr>
              <a:t>múltiples valores de entrada</a:t>
            </a:r>
            <a:r>
              <a:rPr lang="es-ES" sz="2800">
                <a:highlight>
                  <a:schemeClr val="lt1"/>
                </a:highlight>
              </a:rPr>
              <a:t>, se puede optar por la parametrización. Esta técnica permite definir valores de prueba directamente en el código </a:t>
            </a:r>
            <a:r>
              <a:rPr b="1" i="1" lang="es-ES" sz="2800">
                <a:solidFill>
                  <a:srgbClr val="0070C0"/>
                </a:solidFill>
                <a:highlight>
                  <a:schemeClr val="lt1"/>
                </a:highlight>
              </a:rPr>
              <a:t>utilizando anotaciones</a:t>
            </a:r>
            <a:r>
              <a:rPr lang="es-ES" sz="2800">
                <a:highlight>
                  <a:schemeClr val="lt1"/>
                </a:highlight>
              </a:rPr>
              <a:t>, </a:t>
            </a:r>
            <a:r>
              <a:rPr b="1" i="1" lang="es-ES" sz="2800">
                <a:solidFill>
                  <a:srgbClr val="0070C0"/>
                </a:solidFill>
                <a:highlight>
                  <a:schemeClr val="lt1"/>
                </a:highlight>
              </a:rPr>
              <a:t>o</a:t>
            </a:r>
            <a:r>
              <a:rPr lang="es-ES" sz="2800">
                <a:highlight>
                  <a:schemeClr val="lt1"/>
                </a:highlight>
              </a:rPr>
              <a:t> acceder a un </a:t>
            </a:r>
            <a:r>
              <a:rPr b="1" i="1" lang="es-ES" sz="2800">
                <a:solidFill>
                  <a:srgbClr val="0070C0"/>
                </a:solidFill>
                <a:highlight>
                  <a:schemeClr val="lt1"/>
                </a:highlight>
              </a:rPr>
              <a:t>archivo .csv</a:t>
            </a:r>
            <a:r>
              <a:rPr lang="es-ES" sz="2800">
                <a:highlight>
                  <a:schemeClr val="lt1"/>
                </a:highlight>
              </a:rPr>
              <a:t> si se desea evaluar una gran cantidad de datos de entrada.</a:t>
            </a:r>
            <a:endParaRPr sz="2800">
              <a:highlight>
                <a:schemeClr val="lt1"/>
              </a:highlight>
            </a:endParaRPr>
          </a:p>
          <a:p>
            <a:pPr indent="0" lvl="0" marL="0" rtl="0" algn="just">
              <a:lnSpc>
                <a:spcPct val="100000"/>
              </a:lnSpc>
              <a:spcBef>
                <a:spcPts val="0"/>
              </a:spcBef>
              <a:spcAft>
                <a:spcPts val="0"/>
              </a:spcAft>
              <a:buSzPts val="1800"/>
              <a:buNone/>
            </a:pPr>
            <a:r>
              <a:t/>
            </a:r>
            <a:endParaRPr sz="2800">
              <a:highlight>
                <a:schemeClr val="lt1"/>
              </a:highlight>
            </a:endParaRPr>
          </a:p>
          <a:p>
            <a:pPr indent="0" lvl="0" marL="0" rtl="0" algn="just">
              <a:lnSpc>
                <a:spcPct val="100000"/>
              </a:lnSpc>
              <a:spcBef>
                <a:spcPts val="0"/>
              </a:spcBef>
              <a:spcAft>
                <a:spcPts val="0"/>
              </a:spcAft>
              <a:buSzPts val="1800"/>
              <a:buNone/>
            </a:pPr>
            <a:r>
              <a:rPr lang="es-ES" sz="2800" u="sng">
                <a:solidFill>
                  <a:schemeClr val="hlink"/>
                </a:solidFill>
                <a:highlight>
                  <a:schemeClr val="lt1"/>
                </a:highlight>
                <a:hlinkClick r:id="rId3"/>
              </a:rPr>
              <a:t>https://davidvlijmincx.com/posts/junit-parameters-csv-file</a:t>
            </a:r>
            <a:endParaRPr sz="2000">
              <a:highlight>
                <a:schemeClr val="lt1"/>
              </a:highlight>
            </a:endParaRPr>
          </a:p>
          <a:p>
            <a:pPr indent="0" lvl="0" marL="0" rtl="0" algn="just">
              <a:lnSpc>
                <a:spcPct val="100000"/>
              </a:lnSpc>
              <a:spcBef>
                <a:spcPts val="0"/>
              </a:spcBef>
              <a:spcAft>
                <a:spcPts val="0"/>
              </a:spcAft>
              <a:buClr>
                <a:schemeClr val="dk1"/>
              </a:buClr>
              <a:buSzPts val="1100"/>
              <a:buFont typeface="Arial"/>
              <a:buNone/>
            </a:pPr>
            <a:r>
              <a:t/>
            </a:r>
            <a:endParaRPr sz="2000">
              <a:highlight>
                <a:schemeClr val="lt1"/>
              </a:highlight>
            </a:endParaRPr>
          </a:p>
          <a:p>
            <a:pPr indent="0" lvl="0" marL="0" rtl="0" algn="just">
              <a:lnSpc>
                <a:spcPct val="115000"/>
              </a:lnSpc>
              <a:spcBef>
                <a:spcPts val="1500"/>
              </a:spcBef>
              <a:spcAft>
                <a:spcPts val="0"/>
              </a:spcAft>
              <a:buClr>
                <a:schemeClr val="dk1"/>
              </a:buClr>
              <a:buSzPts val="1100"/>
              <a:buFont typeface="Arial"/>
              <a:buNone/>
            </a:pPr>
            <a:r>
              <a:t/>
            </a:r>
            <a:endParaRPr b="1" sz="28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24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32" name="Google Shape;232;g25f502de639_0_29"/>
          <p:cNvPicPr preferRelativeResize="0"/>
          <p:nvPr/>
        </p:nvPicPr>
        <p:blipFill rotWithShape="1">
          <a:blip r:embed="rId4">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6" name="Shape 236"/>
        <p:cNvGrpSpPr/>
        <p:nvPr/>
      </p:nvGrpSpPr>
      <p:grpSpPr>
        <a:xfrm>
          <a:off x="0" y="0"/>
          <a:ext cx="0" cy="0"/>
          <a:chOff x="0" y="0"/>
          <a:chExt cx="0" cy="0"/>
        </a:xfrm>
      </p:grpSpPr>
      <p:sp>
        <p:nvSpPr>
          <p:cNvPr id="237" name="Google Shape;237;g25f502de639_0_4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Test parametrizados con JUnit5</a:t>
            </a:r>
            <a:r>
              <a:rPr lang="es-ES" sz="3200">
                <a:solidFill>
                  <a:schemeClr val="lt1"/>
                </a:solidFill>
                <a:latin typeface="Calibri"/>
                <a:ea typeface="Calibri"/>
                <a:cs typeface="Calibri"/>
                <a:sym typeface="Calibri"/>
              </a:rPr>
              <a:t>:</a:t>
            </a:r>
            <a:endParaRPr sz="3200"/>
          </a:p>
        </p:txBody>
      </p:sp>
      <p:sp>
        <p:nvSpPr>
          <p:cNvPr id="238" name="Google Shape;238;g25f502de639_0_49"/>
          <p:cNvSpPr txBox="1"/>
          <p:nvPr>
            <p:ph idx="1" type="body"/>
          </p:nvPr>
        </p:nvSpPr>
        <p:spPr>
          <a:xfrm>
            <a:off x="234600" y="1368600"/>
            <a:ext cx="8674800" cy="5489400"/>
          </a:xfrm>
          <a:prstGeom prst="rect">
            <a:avLst/>
          </a:prstGeom>
          <a:no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12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org.junit.jupiter.params.ParameterizedTest;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org.junit.jupiter.params.provider.CsvSource;</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import static org.junit.jupiter.api.Assertions.assertEquals;</a:t>
            </a:r>
            <a:endParaRPr b="1" sz="2000">
              <a:highlight>
                <a:schemeClr val="lt1"/>
              </a:highlight>
            </a:endParaRPr>
          </a:p>
          <a:p>
            <a:pPr indent="0" lvl="0" marL="0" rtl="0" algn="just">
              <a:lnSpc>
                <a:spcPct val="100000"/>
              </a:lnSpc>
              <a:spcBef>
                <a:spcPts val="0"/>
              </a:spcBef>
              <a:spcAft>
                <a:spcPts val="0"/>
              </a:spcAft>
              <a:buSzPts val="1800"/>
              <a:buNone/>
            </a:pPr>
            <a:r>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public class RectangleTest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r>
              <a:rPr b="1" lang="es-ES" sz="2000">
                <a:solidFill>
                  <a:srgbClr val="0070C0"/>
                </a:solidFill>
                <a:highlight>
                  <a:schemeClr val="lt1"/>
                </a:highlight>
              </a:rPr>
              <a:t> @ParameterizedTest</a:t>
            </a:r>
            <a:endParaRPr b="1" sz="2000">
              <a:solidFill>
                <a:srgbClr val="0070C0"/>
              </a:solidFill>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r>
              <a:rPr b="1" lang="es-ES" sz="2000">
                <a:solidFill>
                  <a:srgbClr val="0070C0"/>
                </a:solidFill>
                <a:highlight>
                  <a:schemeClr val="lt1"/>
                </a:highlight>
              </a:rPr>
              <a:t>@CsvSource({ "5, 10, 50", "0, 0, 0", "-3, 5, -15", "8, 6, 48" })</a:t>
            </a:r>
            <a:endParaRPr b="1" sz="2000">
              <a:solidFill>
                <a:srgbClr val="0070C0"/>
              </a:solidFill>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public void testCalculateArea(int width, int height, int expectedArea)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 Arrange</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Rectangle rectangle = new Rectangle(width, height);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 Act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int area = rectangle.calculateArea();</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 Assert</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assertEquals(expectedArea, area, “El área calculada no es la esperada”);</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    }</a:t>
            </a:r>
            <a:endParaRPr b="1" sz="2000">
              <a:highlight>
                <a:schemeClr val="lt1"/>
              </a:highlight>
            </a:endParaRPr>
          </a:p>
          <a:p>
            <a:pPr indent="0" lvl="0" marL="0" rtl="0" algn="just">
              <a:lnSpc>
                <a:spcPct val="100000"/>
              </a:lnSpc>
              <a:spcBef>
                <a:spcPts val="0"/>
              </a:spcBef>
              <a:spcAft>
                <a:spcPts val="0"/>
              </a:spcAft>
              <a:buSzPts val="1800"/>
              <a:buNone/>
            </a:pPr>
            <a:r>
              <a:rPr b="1" lang="es-ES" sz="2000">
                <a:highlight>
                  <a:schemeClr val="lt1"/>
                </a:highlight>
              </a:rPr>
              <a:t>}</a:t>
            </a:r>
            <a:endParaRPr b="1" sz="20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15000"/>
              </a:lnSpc>
              <a:spcBef>
                <a:spcPts val="1500"/>
              </a:spcBef>
              <a:spcAft>
                <a:spcPts val="0"/>
              </a:spcAft>
              <a:buSzPts val="1800"/>
              <a:buNone/>
            </a:pPr>
            <a:r>
              <a:t/>
            </a:r>
            <a:endParaRPr b="1" sz="28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1200">
              <a:highlight>
                <a:schemeClr val="lt1"/>
              </a:highlight>
            </a:endParaRPr>
          </a:p>
          <a:p>
            <a:pPr indent="0" lvl="0" marL="0" rtl="0" algn="just">
              <a:lnSpc>
                <a:spcPct val="100000"/>
              </a:lnSpc>
              <a:spcBef>
                <a:spcPts val="1500"/>
              </a:spcBef>
              <a:spcAft>
                <a:spcPts val="0"/>
              </a:spcAft>
              <a:buSzPts val="1800"/>
              <a:buNone/>
            </a:pPr>
            <a:r>
              <a:t/>
            </a:r>
            <a:endParaRPr b="1" sz="24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39" name="Google Shape;239;g25f502de639_0_49"/>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3" name="Shape 243"/>
        <p:cNvGrpSpPr/>
        <p:nvPr/>
      </p:nvGrpSpPr>
      <p:grpSpPr>
        <a:xfrm>
          <a:off x="0" y="0"/>
          <a:ext cx="0" cy="0"/>
          <a:chOff x="0" y="0"/>
          <a:chExt cx="0" cy="0"/>
        </a:xfrm>
      </p:grpSpPr>
      <p:sp>
        <p:nvSpPr>
          <p:cNvPr id="244" name="Google Shape;244;g25f502de639_0_3"/>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xUnit para lenguaje C#</a:t>
            </a:r>
            <a:r>
              <a:rPr lang="es-ES" sz="3200">
                <a:solidFill>
                  <a:schemeClr val="lt1"/>
                </a:solidFill>
                <a:latin typeface="Calibri"/>
                <a:ea typeface="Calibri"/>
                <a:cs typeface="Calibri"/>
                <a:sym typeface="Calibri"/>
              </a:rPr>
              <a:t>:</a:t>
            </a:r>
            <a:endParaRPr sz="3200"/>
          </a:p>
        </p:txBody>
      </p:sp>
      <p:sp>
        <p:nvSpPr>
          <p:cNvPr id="245" name="Google Shape;245;g25f502de639_0_3"/>
          <p:cNvSpPr txBox="1"/>
          <p:nvPr>
            <p:ph idx="1" type="body"/>
          </p:nvPr>
        </p:nvSpPr>
        <p:spPr>
          <a:xfrm>
            <a:off x="179511" y="1483900"/>
            <a:ext cx="8229600" cy="4896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500"/>
              </a:spcBef>
              <a:spcAft>
                <a:spcPts val="0"/>
              </a:spcAft>
              <a:buClr>
                <a:schemeClr val="dk1"/>
              </a:buClr>
              <a:buSzPts val="1100"/>
              <a:buFont typeface="Arial"/>
              <a:buNone/>
            </a:pPr>
            <a:r>
              <a:t/>
            </a:r>
            <a:endParaRPr sz="2800">
              <a:highlight>
                <a:schemeClr val="lt1"/>
              </a:highlight>
            </a:endParaRPr>
          </a:p>
          <a:p>
            <a:pPr indent="-406400" lvl="0" marL="457200" rtl="0" algn="l">
              <a:lnSpc>
                <a:spcPct val="115000"/>
              </a:lnSpc>
              <a:spcBef>
                <a:spcPts val="1500"/>
              </a:spcBef>
              <a:spcAft>
                <a:spcPts val="0"/>
              </a:spcAft>
              <a:buClr>
                <a:schemeClr val="dk1"/>
              </a:buClr>
              <a:buSzPts val="2800"/>
              <a:buFont typeface="Calibri"/>
              <a:buChar char="●"/>
            </a:pPr>
            <a:r>
              <a:rPr lang="es-ES" sz="2800">
                <a:highlight>
                  <a:schemeClr val="lt1"/>
                </a:highlight>
              </a:rPr>
              <a:t>NUnit: Ampliamente utilizado en la comunidad .NET. El más antiguo, derivó de JUnit.</a:t>
            </a:r>
            <a:endParaRPr sz="2800">
              <a:highlight>
                <a:schemeClr val="lt1"/>
              </a:highlight>
            </a:endParaRPr>
          </a:p>
          <a:p>
            <a:pPr indent="-406400" lvl="0" marL="457200" rtl="0" algn="l">
              <a:lnSpc>
                <a:spcPct val="115000"/>
              </a:lnSpc>
              <a:spcBef>
                <a:spcPts val="0"/>
              </a:spcBef>
              <a:spcAft>
                <a:spcPts val="0"/>
              </a:spcAft>
              <a:buClr>
                <a:schemeClr val="dk1"/>
              </a:buClr>
              <a:buSzPts val="2800"/>
              <a:buFont typeface="Calibri"/>
              <a:buChar char="●"/>
            </a:pPr>
            <a:r>
              <a:rPr lang="es-ES" sz="2800">
                <a:highlight>
                  <a:schemeClr val="lt1"/>
                </a:highlight>
              </a:rPr>
              <a:t>xUnit.net: Ganando popularidad en el ecosistema .NET</a:t>
            </a:r>
            <a:endParaRPr sz="2800">
              <a:highlight>
                <a:schemeClr val="lt1"/>
              </a:highlight>
            </a:endParaRPr>
          </a:p>
          <a:p>
            <a:pPr indent="-406400" lvl="0" marL="457200" rtl="0" algn="l">
              <a:lnSpc>
                <a:spcPct val="115000"/>
              </a:lnSpc>
              <a:spcBef>
                <a:spcPts val="0"/>
              </a:spcBef>
              <a:spcAft>
                <a:spcPts val="0"/>
              </a:spcAft>
              <a:buClr>
                <a:schemeClr val="dk1"/>
              </a:buClr>
              <a:buSzPts val="2800"/>
              <a:buFont typeface="Calibri"/>
              <a:buChar char="●"/>
            </a:pPr>
            <a:r>
              <a:rPr lang="es-ES" sz="2800">
                <a:highlight>
                  <a:schemeClr val="lt1"/>
                </a:highlight>
              </a:rPr>
              <a:t>MSTest: proporcionado por Microsoft como parte de Visual Studio.</a:t>
            </a:r>
            <a:endParaRPr sz="2800">
              <a:highlight>
                <a:schemeClr val="lt1"/>
              </a:highlight>
            </a:endParaRPr>
          </a:p>
          <a:p>
            <a:pPr indent="0" lvl="0" marL="457200" rtl="0" algn="l">
              <a:lnSpc>
                <a:spcPct val="115000"/>
              </a:lnSpc>
              <a:spcBef>
                <a:spcPts val="1500"/>
              </a:spcBef>
              <a:spcAft>
                <a:spcPts val="0"/>
              </a:spcAft>
              <a:buSzPts val="1800"/>
              <a:buNone/>
            </a:pPr>
            <a:r>
              <a:t/>
            </a:r>
            <a:endParaRPr b="1" sz="28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46" name="Google Shape;246;g25f502de639_0_3"/>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0" name="Shape 250"/>
        <p:cNvGrpSpPr/>
        <p:nvPr/>
      </p:nvGrpSpPr>
      <p:grpSpPr>
        <a:xfrm>
          <a:off x="0" y="0"/>
          <a:ext cx="0" cy="0"/>
          <a:chOff x="0" y="0"/>
          <a:chExt cx="0" cy="0"/>
        </a:xfrm>
      </p:grpSpPr>
      <p:sp>
        <p:nvSpPr>
          <p:cNvPr id="251" name="Google Shape;251;g25f502de639_0_75"/>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Ejemplos con NUnit</a:t>
            </a:r>
            <a:endParaRPr sz="3200"/>
          </a:p>
        </p:txBody>
      </p:sp>
      <p:sp>
        <p:nvSpPr>
          <p:cNvPr id="252" name="Google Shape;252;g25f502de639_0_75"/>
          <p:cNvSpPr txBox="1"/>
          <p:nvPr>
            <p:ph idx="1" type="body"/>
          </p:nvPr>
        </p:nvSpPr>
        <p:spPr>
          <a:xfrm>
            <a:off x="179511" y="1290725"/>
            <a:ext cx="8229600" cy="4896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using NUnit.Framework;</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b="1" lang="es-ES" sz="2000">
                <a:solidFill>
                  <a:srgbClr val="0070C0"/>
                </a:solidFill>
                <a:highlight>
                  <a:schemeClr val="lt1"/>
                </a:highlight>
              </a:rPr>
              <a:t>[TestFixture]</a:t>
            </a:r>
            <a:endParaRPr b="1" sz="2000">
              <a:solidFill>
                <a:srgbClr val="0070C0"/>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public class CalculatorTest</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private Calculator calculator;</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r>
              <a:rPr b="1" lang="es-ES" sz="2000">
                <a:solidFill>
                  <a:srgbClr val="0070C0"/>
                </a:solidFill>
                <a:highlight>
                  <a:schemeClr val="lt1"/>
                </a:highlight>
              </a:rPr>
              <a:t> [SetUp]</a:t>
            </a:r>
            <a:endParaRPr b="1" sz="2000">
              <a:solidFill>
                <a:srgbClr val="0070C0"/>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public void SetUp()</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calculator = new Calculator();</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r>
              <a:rPr b="1" lang="es-ES" sz="2000">
                <a:solidFill>
                  <a:srgbClr val="0070C0"/>
                </a:solidFill>
                <a:highlight>
                  <a:schemeClr val="lt1"/>
                </a:highlight>
              </a:rPr>
              <a:t>  [Test]</a:t>
            </a:r>
            <a:endParaRPr b="1" sz="2000">
              <a:solidFill>
                <a:srgbClr val="0070C0"/>
              </a:solidFill>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public void TestAdd()</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int result = calculator.Add(3, 5);</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Assert.AreEqual(8, result, "aquí va el texto orientativo el cual aparece en la consola al fallar el test");</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Clr>
                <a:schemeClr val="dk1"/>
              </a:buClr>
              <a:buSzPts val="1100"/>
              <a:buFont typeface="Arial"/>
              <a:buNone/>
            </a:pPr>
            <a:r>
              <a:rPr lang="es-ES" sz="2000">
                <a:highlight>
                  <a:schemeClr val="lt1"/>
                </a:highlight>
              </a:rPr>
              <a:t>}</a:t>
            </a:r>
            <a:endParaRPr sz="2000">
              <a:highlight>
                <a:schemeClr val="lt1"/>
              </a:highlight>
            </a:endParaRPr>
          </a:p>
          <a:p>
            <a:pPr indent="0" lvl="0" marL="0" rtl="0" algn="l">
              <a:lnSpc>
                <a:spcPct val="115000"/>
              </a:lnSpc>
              <a:spcBef>
                <a:spcPts val="1500"/>
              </a:spcBef>
              <a:spcAft>
                <a:spcPts val="0"/>
              </a:spcAft>
              <a:buClr>
                <a:schemeClr val="dk1"/>
              </a:buClr>
              <a:buSzPts val="1100"/>
              <a:buFont typeface="Arial"/>
              <a:buNone/>
            </a:pPr>
            <a:r>
              <a:t/>
            </a:r>
            <a:endParaRPr sz="2800">
              <a:highlight>
                <a:schemeClr val="lt1"/>
              </a:highlight>
            </a:endParaRPr>
          </a:p>
          <a:p>
            <a:pPr indent="0" lvl="0" marL="0" rtl="0" algn="l">
              <a:lnSpc>
                <a:spcPct val="115000"/>
              </a:lnSpc>
              <a:spcBef>
                <a:spcPts val="1500"/>
              </a:spcBef>
              <a:spcAft>
                <a:spcPts val="0"/>
              </a:spcAft>
              <a:buSzPts val="1800"/>
              <a:buNone/>
            </a:pPr>
            <a:r>
              <a:t/>
            </a:r>
            <a:endParaRPr sz="2800">
              <a:highlight>
                <a:schemeClr val="lt1"/>
              </a:highlight>
            </a:endParaRPr>
          </a:p>
          <a:p>
            <a:pPr indent="0" lvl="0" marL="457200" rtl="0" algn="l">
              <a:lnSpc>
                <a:spcPct val="115000"/>
              </a:lnSpc>
              <a:spcBef>
                <a:spcPts val="1500"/>
              </a:spcBef>
              <a:spcAft>
                <a:spcPts val="0"/>
              </a:spcAft>
              <a:buSzPts val="1800"/>
              <a:buNone/>
            </a:pPr>
            <a:r>
              <a:t/>
            </a:r>
            <a:endParaRPr b="1" sz="28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53" name="Google Shape;253;g25f502de639_0_75"/>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7" name="Shape 257"/>
        <p:cNvGrpSpPr/>
        <p:nvPr/>
      </p:nvGrpSpPr>
      <p:grpSpPr>
        <a:xfrm>
          <a:off x="0" y="0"/>
          <a:ext cx="0" cy="0"/>
          <a:chOff x="0" y="0"/>
          <a:chExt cx="0" cy="0"/>
        </a:xfrm>
      </p:grpSpPr>
      <p:sp>
        <p:nvSpPr>
          <p:cNvPr id="258" name="Google Shape;258;g25f502de639_0_91"/>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Ejemplos con NUnit</a:t>
            </a:r>
            <a:endParaRPr sz="3200"/>
          </a:p>
        </p:txBody>
      </p:sp>
      <p:sp>
        <p:nvSpPr>
          <p:cNvPr id="259" name="Google Shape;259;g25f502de639_0_91"/>
          <p:cNvSpPr txBox="1"/>
          <p:nvPr>
            <p:ph idx="1" type="body"/>
          </p:nvPr>
        </p:nvSpPr>
        <p:spPr>
          <a:xfrm>
            <a:off x="179511" y="1290725"/>
            <a:ext cx="8229600" cy="4896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using NUnit.Framework;</a:t>
            </a:r>
            <a:endParaRPr sz="2000">
              <a:highlight>
                <a:schemeClr val="lt1"/>
              </a:highlight>
            </a:endParaRPr>
          </a:p>
          <a:p>
            <a:pPr indent="0" lvl="0" marL="0" rtl="0" algn="l">
              <a:lnSpc>
                <a:spcPct val="100000"/>
              </a:lnSpc>
              <a:spcBef>
                <a:spcPts val="0"/>
              </a:spcBef>
              <a:spcAft>
                <a:spcPts val="0"/>
              </a:spcAft>
              <a:buSzPts val="1800"/>
              <a:buNone/>
            </a:pPr>
            <a:r>
              <a:rPr b="1" lang="es-ES" sz="2000">
                <a:solidFill>
                  <a:srgbClr val="0070C0"/>
                </a:solidFill>
                <a:highlight>
                  <a:schemeClr val="lt1"/>
                </a:highlight>
              </a:rPr>
              <a:t>[TestFixture]</a:t>
            </a:r>
            <a:r>
              <a:rPr lang="es-ES" sz="2000">
                <a:highlight>
                  <a:schemeClr val="lt1"/>
                </a:highlight>
              </a:rPr>
              <a:t>  // Marca la clase como una suite de pruebas</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public class CalculatorTest{</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private Calculator calculator;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a:t>
            </a:r>
            <a:r>
              <a:rPr b="1" lang="es-ES" sz="2000">
                <a:solidFill>
                  <a:srgbClr val="0070C0"/>
                </a:solidFill>
                <a:highlight>
                  <a:schemeClr val="lt1"/>
                </a:highlight>
              </a:rPr>
              <a:t> [SetUp] </a:t>
            </a:r>
            <a:r>
              <a:rPr lang="es-ES" sz="2000">
                <a:highlight>
                  <a:schemeClr val="lt1"/>
                </a:highlight>
              </a:rPr>
              <a:t> // Marca un método que se ejecutará antes de cada prueba</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public void SetUp(){</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calculator = new Calculator();</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a:t>
            </a:r>
            <a:r>
              <a:rPr b="1" lang="es-ES" sz="2000">
                <a:solidFill>
                  <a:srgbClr val="0070C0"/>
                </a:solidFill>
                <a:highlight>
                  <a:schemeClr val="lt1"/>
                </a:highlight>
              </a:rPr>
              <a:t>[Test]</a:t>
            </a:r>
            <a:r>
              <a:rPr lang="es-ES" sz="2000">
                <a:highlight>
                  <a:schemeClr val="lt1"/>
                </a:highlight>
              </a:rPr>
              <a:t>  // Marca un método como una prueba</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public void TestAdd(){</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int result = calculator.Add(3, 5);  // Llama al método Add de Calculator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Assert.AreEqual(8, result, "aquí va el texto orientativo el cual aparece en la consola al fallar el test");</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 Comprueba si el resultado es igual a 8 usando la aserción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 Si la aserción falla, se mostrará el mensaje proporcionado en la consola</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    }</a:t>
            </a:r>
            <a:endParaRPr sz="2000">
              <a:highlight>
                <a:schemeClr val="lt1"/>
              </a:highlight>
            </a:endParaRPr>
          </a:p>
          <a:p>
            <a:pPr indent="0" lvl="0" marL="0" rtl="0" algn="l">
              <a:lnSpc>
                <a:spcPct val="100000"/>
              </a:lnSpc>
              <a:spcBef>
                <a:spcPts val="0"/>
              </a:spcBef>
              <a:spcAft>
                <a:spcPts val="0"/>
              </a:spcAft>
              <a:buSzPts val="1800"/>
              <a:buNone/>
            </a:pPr>
            <a:r>
              <a:rPr lang="es-ES" sz="2000">
                <a:highlight>
                  <a:schemeClr val="lt1"/>
                </a:highlight>
              </a:rPr>
              <a:t>}</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00000"/>
              </a:lnSpc>
              <a:spcBef>
                <a:spcPts val="0"/>
              </a:spcBef>
              <a:spcAft>
                <a:spcPts val="0"/>
              </a:spcAft>
              <a:buSzPts val="1800"/>
              <a:buNone/>
            </a:pPr>
            <a:r>
              <a:t/>
            </a:r>
            <a:endParaRPr sz="2000">
              <a:highlight>
                <a:schemeClr val="lt1"/>
              </a:highlight>
            </a:endParaRPr>
          </a:p>
          <a:p>
            <a:pPr indent="0" lvl="0" marL="0" rtl="0" algn="l">
              <a:lnSpc>
                <a:spcPct val="115000"/>
              </a:lnSpc>
              <a:spcBef>
                <a:spcPts val="1500"/>
              </a:spcBef>
              <a:spcAft>
                <a:spcPts val="0"/>
              </a:spcAft>
              <a:buSzPts val="1800"/>
              <a:buNone/>
            </a:pPr>
            <a:r>
              <a:t/>
            </a:r>
            <a:endParaRPr sz="2800">
              <a:highlight>
                <a:schemeClr val="lt1"/>
              </a:highlight>
            </a:endParaRPr>
          </a:p>
          <a:p>
            <a:pPr indent="0" lvl="0" marL="0" rtl="0" algn="l">
              <a:lnSpc>
                <a:spcPct val="115000"/>
              </a:lnSpc>
              <a:spcBef>
                <a:spcPts val="1500"/>
              </a:spcBef>
              <a:spcAft>
                <a:spcPts val="0"/>
              </a:spcAft>
              <a:buSzPts val="1800"/>
              <a:buNone/>
            </a:pPr>
            <a:r>
              <a:t/>
            </a:r>
            <a:endParaRPr sz="2800">
              <a:highlight>
                <a:schemeClr val="lt1"/>
              </a:highlight>
            </a:endParaRPr>
          </a:p>
          <a:p>
            <a:pPr indent="0" lvl="0" marL="457200" rtl="0" algn="l">
              <a:lnSpc>
                <a:spcPct val="115000"/>
              </a:lnSpc>
              <a:spcBef>
                <a:spcPts val="1500"/>
              </a:spcBef>
              <a:spcAft>
                <a:spcPts val="0"/>
              </a:spcAft>
              <a:buSzPts val="1800"/>
              <a:buNone/>
            </a:pPr>
            <a:r>
              <a:t/>
            </a:r>
            <a:endParaRPr b="1" sz="2800">
              <a:highlight>
                <a:schemeClr val="lt1"/>
              </a:highlight>
            </a:endParaRPr>
          </a:p>
          <a:p>
            <a:pPr indent="0" lvl="0" marL="0" rtl="0" algn="l">
              <a:lnSpc>
                <a:spcPct val="100000"/>
              </a:lnSpc>
              <a:spcBef>
                <a:spcPts val="1500"/>
              </a:spcBef>
              <a:spcAft>
                <a:spcPts val="0"/>
              </a:spcAft>
              <a:buSzPts val="1800"/>
              <a:buNone/>
            </a:pPr>
            <a:r>
              <a:t/>
            </a:r>
            <a:endParaRPr sz="2800">
              <a:highlight>
                <a:schemeClr val="lt1"/>
              </a:highlight>
            </a:endParaRPr>
          </a:p>
        </p:txBody>
      </p:sp>
      <p:pic>
        <p:nvPicPr>
          <p:cNvPr id="260" name="Google Shape;260;g25f502de639_0_91"/>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64" name="Shape 264"/>
        <p:cNvGrpSpPr/>
        <p:nvPr/>
      </p:nvGrpSpPr>
      <p:grpSpPr>
        <a:xfrm>
          <a:off x="0" y="0"/>
          <a:ext cx="0" cy="0"/>
          <a:chOff x="0" y="0"/>
          <a:chExt cx="0" cy="0"/>
        </a:xfrm>
      </p:grpSpPr>
      <p:sp>
        <p:nvSpPr>
          <p:cNvPr id="265" name="Google Shape;265;g25f502de639_0_106"/>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Test parametrizados con NUnit</a:t>
            </a:r>
            <a:endParaRPr sz="3200"/>
          </a:p>
        </p:txBody>
      </p:sp>
      <p:pic>
        <p:nvPicPr>
          <p:cNvPr id="266" name="Google Shape;266;g25f502de639_0_106"/>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67" name="Google Shape;267;g25f502de639_0_106"/>
          <p:cNvSpPr txBox="1"/>
          <p:nvPr/>
        </p:nvSpPr>
        <p:spPr>
          <a:xfrm>
            <a:off x="185850" y="1356725"/>
            <a:ext cx="8778600" cy="5259600"/>
          </a:xfrm>
          <a:prstGeom prst="rect">
            <a:avLst/>
          </a:prstGeom>
          <a:solidFill>
            <a:schemeClr val="l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using NUnit.Framework;</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es-ES" sz="2000" u="none" cap="none" strike="noStrike">
                <a:solidFill>
                  <a:srgbClr val="0070C0"/>
                </a:solidFill>
                <a:latin typeface="Calibri"/>
                <a:ea typeface="Calibri"/>
                <a:cs typeface="Calibri"/>
                <a:sym typeface="Calibri"/>
              </a:rPr>
              <a:t>[TestFixture]</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public class CalculatorTest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private Calculator calculator;</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 [SetUp]</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void SetUp(){</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calculator = new Calculator();</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[TestCase(3, 5, 8)]</a:t>
            </a:r>
            <a:r>
              <a:rPr b="0" i="0" lang="es-ES" sz="2000" u="none" cap="none" strike="noStrike">
                <a:solidFill>
                  <a:srgbClr val="000000"/>
                </a:solidFill>
                <a:latin typeface="Calibri"/>
                <a:ea typeface="Calibri"/>
                <a:cs typeface="Calibri"/>
                <a:sym typeface="Calibri"/>
              </a:rPr>
              <a:t>  // </a:t>
            </a:r>
            <a:r>
              <a:rPr b="0" i="0" lang="es-ES" sz="1600" u="none" cap="none" strike="noStrike">
                <a:solidFill>
                  <a:srgbClr val="000000"/>
                </a:solidFill>
                <a:latin typeface="Calibri"/>
                <a:ea typeface="Calibri"/>
                <a:cs typeface="Calibri"/>
                <a:sym typeface="Calibri"/>
              </a:rPr>
              <a:t>Aquí definimos los parámetros: input1, input2, expectedResult</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 [TestCase(0, 0, 0)] </a:t>
            </a:r>
            <a:r>
              <a:rPr b="0" i="0" lang="es-ES" sz="2000" u="none" cap="none" strike="noStrike">
                <a:solidFill>
                  <a:srgbClr val="000000"/>
                </a:solidFill>
                <a:latin typeface="Calibri"/>
                <a:ea typeface="Calibri"/>
                <a:cs typeface="Calibri"/>
                <a:sym typeface="Calibri"/>
              </a:rPr>
              <a:t> // Puedes agregar más casos de prueba con diferentes valores</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[TestCase(-3, 7, 4)]</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void TestAdd(int input1, int input2, int expectedResult)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int result = calculator.Add(input1, input2);</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Assert.AreEqual(expectedResult, result);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71" name="Shape 271"/>
        <p:cNvGrpSpPr/>
        <p:nvPr/>
      </p:nvGrpSpPr>
      <p:grpSpPr>
        <a:xfrm>
          <a:off x="0" y="0"/>
          <a:ext cx="0" cy="0"/>
          <a:chOff x="0" y="0"/>
          <a:chExt cx="0" cy="0"/>
        </a:xfrm>
      </p:grpSpPr>
      <p:sp>
        <p:nvSpPr>
          <p:cNvPr id="272" name="Google Shape;272;g260ccfc0228_0_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Test con excepciones en NUnit</a:t>
            </a:r>
            <a:endParaRPr sz="3200"/>
          </a:p>
        </p:txBody>
      </p:sp>
      <p:pic>
        <p:nvPicPr>
          <p:cNvPr id="273" name="Google Shape;273;g260ccfc0228_0_0"/>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74" name="Google Shape;274;g260ccfc0228_0_0"/>
          <p:cNvSpPr txBox="1"/>
          <p:nvPr/>
        </p:nvSpPr>
        <p:spPr>
          <a:xfrm>
            <a:off x="241600" y="1412500"/>
            <a:ext cx="8722800" cy="52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using NUnit.Framework;</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es-ES" sz="1800" u="none" cap="none" strike="noStrike">
                <a:solidFill>
                  <a:srgbClr val="0070C0"/>
                </a:solidFill>
                <a:latin typeface="Calibri"/>
                <a:ea typeface="Calibri"/>
                <a:cs typeface="Calibri"/>
                <a:sym typeface="Calibri"/>
              </a:rPr>
              <a:t>[TestFixture]</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public class MathUtilsTest</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private MathUtils mathUtils;</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r>
              <a:rPr b="1" i="0" lang="es-ES" sz="1800" u="none" cap="none" strike="noStrike">
                <a:solidFill>
                  <a:srgbClr val="0070C0"/>
                </a:solidFill>
                <a:latin typeface="Calibri"/>
                <a:ea typeface="Calibri"/>
                <a:cs typeface="Calibri"/>
                <a:sym typeface="Calibri"/>
              </a:rPr>
              <a:t> [SetUp]</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public void SetUp()</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mathUtils = new MathUtils();</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r>
              <a:rPr b="1" i="0" lang="es-ES" sz="1800" u="none" cap="none" strike="noStrike">
                <a:solidFill>
                  <a:srgbClr val="0070C0"/>
                </a:solidFill>
                <a:latin typeface="Calibri"/>
                <a:ea typeface="Calibri"/>
                <a:cs typeface="Calibri"/>
                <a:sym typeface="Calibri"/>
              </a:rPr>
              <a:t> [Test]</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public void TestDivideByZero()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Assert.Throws&lt;DivideByZeroException&gt;(() =&gt; mathUtils.Divide(10, 0));</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1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78" name="Shape 278"/>
        <p:cNvGrpSpPr/>
        <p:nvPr/>
      </p:nvGrpSpPr>
      <p:grpSpPr>
        <a:xfrm>
          <a:off x="0" y="0"/>
          <a:ext cx="0" cy="0"/>
          <a:chOff x="0" y="0"/>
          <a:chExt cx="0" cy="0"/>
        </a:xfrm>
      </p:grpSpPr>
      <p:sp>
        <p:nvSpPr>
          <p:cNvPr id="279" name="Google Shape;279;g25f502de639_0_98"/>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Ejemplo con xUnit.net</a:t>
            </a:r>
            <a:endParaRPr sz="3200"/>
          </a:p>
        </p:txBody>
      </p:sp>
      <p:pic>
        <p:nvPicPr>
          <p:cNvPr id="280" name="Google Shape;280;g25f502de639_0_98"/>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81" name="Google Shape;281;g25f502de639_0_98"/>
          <p:cNvSpPr txBox="1"/>
          <p:nvPr/>
        </p:nvSpPr>
        <p:spPr>
          <a:xfrm>
            <a:off x="182700" y="1300975"/>
            <a:ext cx="8778600" cy="53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using Xunit;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public class CalculatorTest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private Calculator calculator;</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CalculatorTest()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 Esto se ejecuta antes de cada prueba</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calculator = new Calculator();</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 [Fact]</a:t>
            </a:r>
            <a:r>
              <a:rPr b="1" i="0" lang="es-ES" sz="2000" u="none" cap="none" strike="noStrike">
                <a:solidFill>
                  <a:schemeClr val="dk1"/>
                </a:solidFill>
                <a:latin typeface="Calibri"/>
                <a:ea typeface="Calibri"/>
                <a:cs typeface="Calibri"/>
                <a:sym typeface="Calibri"/>
              </a:rPr>
              <a:t> </a:t>
            </a:r>
            <a:r>
              <a:rPr b="0" i="0" lang="es-ES" sz="2000" u="none" cap="none" strike="noStrike">
                <a:solidFill>
                  <a:schemeClr val="dk1"/>
                </a:solidFill>
                <a:latin typeface="Calibri"/>
                <a:ea typeface="Calibri"/>
                <a:cs typeface="Calibri"/>
                <a:sym typeface="Calibri"/>
              </a:rPr>
              <a:t>// anotación para indicar qué lo siguiente es un test</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void TestAdd()</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int result = calculator.Add(3, 5);</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Assert.Equal(8, result);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85" name="Shape 285"/>
        <p:cNvGrpSpPr/>
        <p:nvPr/>
      </p:nvGrpSpPr>
      <p:grpSpPr>
        <a:xfrm>
          <a:off x="0" y="0"/>
          <a:ext cx="0" cy="0"/>
          <a:chOff x="0" y="0"/>
          <a:chExt cx="0" cy="0"/>
        </a:xfrm>
      </p:grpSpPr>
      <p:sp>
        <p:nvSpPr>
          <p:cNvPr id="286" name="Google Shape;286;g260ccfc0228_0_8"/>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Ejemplo parametrizado con xUnit.net</a:t>
            </a:r>
            <a:endParaRPr sz="3200"/>
          </a:p>
        </p:txBody>
      </p:sp>
      <p:pic>
        <p:nvPicPr>
          <p:cNvPr id="287" name="Google Shape;287;g260ccfc0228_0_8"/>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
        <p:nvSpPr>
          <p:cNvPr id="288" name="Google Shape;288;g260ccfc0228_0_8"/>
          <p:cNvSpPr txBox="1"/>
          <p:nvPr/>
        </p:nvSpPr>
        <p:spPr>
          <a:xfrm>
            <a:off x="182700" y="1300975"/>
            <a:ext cx="8778600" cy="535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using Xunit;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public class MathUtilsTest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private MathUtils mathUtils;</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MathUtilsTest()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mathUtils = new MathUtils();</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r>
              <a:rPr b="1" i="0" lang="es-ES" sz="2000" u="none" cap="none" strike="noStrike">
                <a:solidFill>
                  <a:srgbClr val="0070C0"/>
                </a:solidFill>
                <a:latin typeface="Calibri"/>
                <a:ea typeface="Calibri"/>
                <a:cs typeface="Calibri"/>
                <a:sym typeface="Calibri"/>
              </a:rPr>
              <a:t>   [Theory] </a:t>
            </a:r>
            <a:r>
              <a:rPr b="0" i="0" lang="es-ES" sz="2000" u="none" cap="none" strike="noStrike">
                <a:solidFill>
                  <a:srgbClr val="000000"/>
                </a:solidFill>
                <a:latin typeface="Calibri"/>
                <a:ea typeface="Calibri"/>
                <a:cs typeface="Calibri"/>
                <a:sym typeface="Calibri"/>
              </a:rPr>
              <a:t> // Usamos la anotación [Theory] para pruebas parametrizadas</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[InlineData(2, 3, 5)]  // Definimos los datos de entrada y el resultado esperado</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[InlineData(10, -5, 5)]</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public void TestAdd(int a, int b, int expectedResult)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int result = mathUtils.Add(a, b);</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Assert.Equal(expectedResult, result);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s-ES" sz="2000" u="none" cap="none" strike="noStrike">
                <a:solidFill>
                  <a:srgbClr val="000000"/>
                </a:solidFill>
                <a:latin typeface="Calibri"/>
                <a:ea typeface="Calibri"/>
                <a:cs typeface="Calibri"/>
                <a:sym typeface="Calibri"/>
              </a:rPr>
              <a:t>}</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92" name="Shape 292"/>
        <p:cNvGrpSpPr/>
        <p:nvPr/>
      </p:nvGrpSpPr>
      <p:grpSpPr>
        <a:xfrm>
          <a:off x="0" y="0"/>
          <a:ext cx="0" cy="0"/>
          <a:chOff x="0" y="0"/>
          <a:chExt cx="0" cy="0"/>
        </a:xfrm>
      </p:grpSpPr>
      <p:sp>
        <p:nvSpPr>
          <p:cNvPr id="293" name="Google Shape;293;g2f567e4aad2_1_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a:t>
            </a:r>
            <a:r>
              <a:rPr lang="es-ES" sz="3200">
                <a:solidFill>
                  <a:schemeClr val="lt1"/>
                </a:solidFill>
              </a:rPr>
              <a:t>Mocks y Stubs</a:t>
            </a:r>
            <a:endParaRPr sz="3200"/>
          </a:p>
        </p:txBody>
      </p:sp>
      <p:sp>
        <p:nvSpPr>
          <p:cNvPr id="294" name="Google Shape;294;g2f567e4aad2_1_0"/>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295" name="Google Shape;295;g2f567e4aad2_1_0"/>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pic>
      <p:sp>
        <p:nvSpPr>
          <p:cNvPr id="296" name="Google Shape;296;g2f567e4aad2_1_0"/>
          <p:cNvSpPr/>
          <p:nvPr/>
        </p:nvSpPr>
        <p:spPr>
          <a:xfrm>
            <a:off x="539552" y="2132856"/>
            <a:ext cx="7632900" cy="39702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70C0"/>
              </a:solidFill>
              <a:latin typeface="Calibri"/>
              <a:ea typeface="Calibri"/>
              <a:cs typeface="Calibri"/>
              <a:sym typeface="Calibri"/>
            </a:endParaRPr>
          </a:p>
          <a:p>
            <a:pPr indent="-514350" lvl="0" marL="514350" marR="0" rtl="0" algn="ctr">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514350" lvl="0" marL="514350" marR="0" rtl="0" algn="ctr">
              <a:lnSpc>
                <a:spcPct val="10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En muchos casos para romper la dependencia entre clases será necesaria la implementación de </a:t>
            </a:r>
            <a:r>
              <a:rPr b="1" i="1" lang="es-ES" sz="2800" u="none" cap="none" strike="noStrike">
                <a:solidFill>
                  <a:srgbClr val="0070C0"/>
                </a:solidFill>
                <a:latin typeface="Calibri"/>
                <a:ea typeface="Calibri"/>
                <a:cs typeface="Calibri"/>
                <a:sym typeface="Calibri"/>
              </a:rPr>
              <a:t>Mocks</a:t>
            </a:r>
            <a:r>
              <a:rPr b="0" i="0" lang="es-ES" sz="2800" u="none" cap="none" strike="noStrike">
                <a:solidFill>
                  <a:schemeClr val="dk1"/>
                </a:solidFill>
                <a:latin typeface="Calibri"/>
                <a:ea typeface="Calibri"/>
                <a:cs typeface="Calibri"/>
                <a:sym typeface="Calibri"/>
              </a:rPr>
              <a:t> y de </a:t>
            </a:r>
            <a:r>
              <a:rPr b="1" i="1" lang="es-ES" sz="2800" u="none" cap="none" strike="noStrike">
                <a:solidFill>
                  <a:srgbClr val="0070C0"/>
                </a:solidFill>
                <a:latin typeface="Calibri"/>
                <a:ea typeface="Calibri"/>
                <a:cs typeface="Calibri"/>
                <a:sym typeface="Calibri"/>
              </a:rPr>
              <a:t>Stubs </a:t>
            </a:r>
            <a:r>
              <a:rPr lang="es-ES" sz="2800">
                <a:solidFill>
                  <a:schemeClr val="dk1"/>
                </a:solidFill>
                <a:latin typeface="Calibri"/>
                <a:ea typeface="Calibri"/>
                <a:cs typeface="Calibri"/>
                <a:sym typeface="Calibri"/>
              </a:rPr>
              <a:t>y así</a:t>
            </a:r>
            <a:r>
              <a:rPr b="0" i="0" lang="es-ES" sz="2800" u="none" cap="none" strike="noStrike">
                <a:solidFill>
                  <a:schemeClr val="dk1"/>
                </a:solidFill>
                <a:latin typeface="Calibri"/>
                <a:ea typeface="Calibri"/>
                <a:cs typeface="Calibri"/>
                <a:sym typeface="Calibri"/>
              </a:rPr>
              <a:t> probar requerimientos de manera independiente</a:t>
            </a:r>
            <a:endParaRPr b="0" i="0" sz="1400" u="none" cap="none" strike="noStrike">
              <a:solidFill>
                <a:srgbClr val="000000"/>
              </a:solidFill>
              <a:latin typeface="Arial"/>
              <a:ea typeface="Arial"/>
              <a:cs typeface="Arial"/>
              <a:sym typeface="Arial"/>
            </a:endParaRPr>
          </a:p>
          <a:p>
            <a:pPr indent="-514350" lvl="0" marL="51435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00" name="Shape 300"/>
        <p:cNvGrpSpPr/>
        <p:nvPr/>
      </p:nvGrpSpPr>
      <p:grpSpPr>
        <a:xfrm>
          <a:off x="0" y="0"/>
          <a:ext cx="0" cy="0"/>
          <a:chOff x="0" y="0"/>
          <a:chExt cx="0" cy="0"/>
        </a:xfrm>
      </p:grpSpPr>
      <p:sp>
        <p:nvSpPr>
          <p:cNvPr id="301" name="Google Shape;301;g2f567e4aad2_1_7"/>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Stubs</a:t>
            </a:r>
            <a:endParaRPr sz="3200"/>
          </a:p>
        </p:txBody>
      </p:sp>
      <p:sp>
        <p:nvSpPr>
          <p:cNvPr id="302" name="Google Shape;302;g2f567e4aad2_1_7"/>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03" name="Google Shape;303;g2f567e4aad2_1_7"/>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pic>
      <p:sp>
        <p:nvSpPr>
          <p:cNvPr id="304" name="Google Shape;304;g2f567e4aad2_1_7"/>
          <p:cNvSpPr/>
          <p:nvPr/>
        </p:nvSpPr>
        <p:spPr>
          <a:xfrm>
            <a:off x="179501" y="1443900"/>
            <a:ext cx="8562000" cy="50115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Un "stub" es un objeto que se utiliza para reemplazar componentes reales y proporcionar datos simulados durante una prueba. Los stubs se crean para </a:t>
            </a:r>
            <a:r>
              <a:rPr b="1" i="1" lang="es-ES" sz="2800" u="none" cap="none" strike="noStrike">
                <a:solidFill>
                  <a:srgbClr val="0070C0"/>
                </a:solidFill>
                <a:highlight>
                  <a:schemeClr val="lt1"/>
                </a:highlight>
                <a:latin typeface="Calibri"/>
                <a:ea typeface="Calibri"/>
                <a:cs typeface="Calibri"/>
                <a:sym typeface="Calibri"/>
              </a:rPr>
              <a:t>simular el comportamiento de componentes externos</a:t>
            </a:r>
            <a:r>
              <a:rPr b="0" i="0" lang="es-ES" sz="2800" u="none" cap="none" strike="noStrike">
                <a:solidFill>
                  <a:schemeClr val="dk1"/>
                </a:solidFill>
                <a:highlight>
                  <a:schemeClr val="lt1"/>
                </a:highlight>
                <a:latin typeface="Calibri"/>
                <a:ea typeface="Calibri"/>
                <a:cs typeface="Calibri"/>
                <a:sym typeface="Calibri"/>
              </a:rPr>
              <a:t>, como bases de datos, servicios web o dependencias que una unidad de código está utilizando.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Un stub generalmente tiene una implementación muy simple que devuelve datos predeterminados (hardcodeados) o simulados en lugar de realizar la funcionalidad real.</a:t>
            </a:r>
            <a:endParaRPr b="0" i="0" sz="2800" u="none" cap="none" strike="noStrike">
              <a:solidFill>
                <a:schemeClr val="dk1"/>
              </a:solidFill>
              <a:highlight>
                <a:schemeClr val="lt1"/>
              </a:highlight>
              <a:latin typeface="Calibri"/>
              <a:ea typeface="Calibri"/>
              <a:cs typeface="Calibri"/>
              <a:sym typeface="Calibri"/>
            </a:endParaRPr>
          </a:p>
          <a:p>
            <a:pPr indent="-514350" lvl="0" marL="514350" marR="0" rtl="0" algn="l">
              <a:lnSpc>
                <a:spcPct val="100000"/>
              </a:lnSpc>
              <a:spcBef>
                <a:spcPts val="15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08" name="Shape 308"/>
        <p:cNvGrpSpPr/>
        <p:nvPr/>
      </p:nvGrpSpPr>
      <p:grpSpPr>
        <a:xfrm>
          <a:off x="0" y="0"/>
          <a:ext cx="0" cy="0"/>
          <a:chOff x="0" y="0"/>
          <a:chExt cx="0" cy="0"/>
        </a:xfrm>
      </p:grpSpPr>
      <p:sp>
        <p:nvSpPr>
          <p:cNvPr id="309" name="Google Shape;309;g2f567e4aad2_1_14"/>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Stubs: ejemplo</a:t>
            </a:r>
            <a:endParaRPr sz="3200"/>
          </a:p>
        </p:txBody>
      </p:sp>
      <p:sp>
        <p:nvSpPr>
          <p:cNvPr id="310" name="Google Shape;310;g2f567e4aad2_1_14"/>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11" name="Google Shape;311;g2f567e4aad2_1_14"/>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250"/>
              </a:srgbClr>
            </a:outerShdw>
          </a:effectLst>
        </p:spPr>
      </p:pic>
      <p:sp>
        <p:nvSpPr>
          <p:cNvPr id="312" name="Google Shape;312;g2f567e4aad2_1_14"/>
          <p:cNvSpPr/>
          <p:nvPr/>
        </p:nvSpPr>
        <p:spPr>
          <a:xfrm>
            <a:off x="179501" y="1443900"/>
            <a:ext cx="8562000" cy="50115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50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Por ejemplo, si estás probando una función que realiza una consulta a una base de datos, podrías usar un "stub" de base de datos para simular las respuestas de la base de datos sin tener que depender de una base de datos real durante la prueba.</a:t>
            </a:r>
            <a:endParaRPr b="0" i="0" sz="2800" u="none" cap="none" strike="noStrike">
              <a:solidFill>
                <a:schemeClr val="dk1"/>
              </a:solidFill>
              <a:highlight>
                <a:schemeClr val="lt1"/>
              </a:highlight>
              <a:latin typeface="Calibri"/>
              <a:ea typeface="Calibri"/>
              <a:cs typeface="Calibri"/>
              <a:sym typeface="Calibri"/>
            </a:endParaRPr>
          </a:p>
          <a:p>
            <a:pPr indent="-514350" lvl="0" marL="514350" marR="0" rtl="0" algn="l">
              <a:lnSpc>
                <a:spcPct val="100000"/>
              </a:lnSpc>
              <a:spcBef>
                <a:spcPts val="150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16" name="Shape 316"/>
        <p:cNvGrpSpPr/>
        <p:nvPr/>
      </p:nvGrpSpPr>
      <p:grpSpPr>
        <a:xfrm>
          <a:off x="0" y="0"/>
          <a:ext cx="0" cy="0"/>
          <a:chOff x="0" y="0"/>
          <a:chExt cx="0" cy="0"/>
        </a:xfrm>
      </p:grpSpPr>
      <p:sp>
        <p:nvSpPr>
          <p:cNvPr id="317" name="Google Shape;317;g2f567e4aad2_1_21"/>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Mocks</a:t>
            </a:r>
            <a:endParaRPr sz="3200"/>
          </a:p>
        </p:txBody>
      </p:sp>
      <p:sp>
        <p:nvSpPr>
          <p:cNvPr id="318" name="Google Shape;318;g2f567e4aad2_1_21"/>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19" name="Google Shape;319;g2f567e4aad2_1_21"/>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pic>
      <p:sp>
        <p:nvSpPr>
          <p:cNvPr id="320" name="Google Shape;320;g2f567e4aad2_1_21"/>
          <p:cNvSpPr/>
          <p:nvPr/>
        </p:nvSpPr>
        <p:spPr>
          <a:xfrm>
            <a:off x="179500" y="1368375"/>
            <a:ext cx="8784900" cy="52482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rgbClr val="0070C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800"/>
              <a:buFont typeface="Arial"/>
              <a:buNone/>
            </a:pPr>
            <a:r>
              <a:rPr b="1" i="1" lang="es-ES" sz="2800" u="none" cap="none" strike="noStrike">
                <a:solidFill>
                  <a:srgbClr val="0070C0"/>
                </a:solidFill>
                <a:latin typeface="Calibri"/>
                <a:ea typeface="Calibri"/>
                <a:cs typeface="Calibri"/>
                <a:sym typeface="Calibri"/>
              </a:rPr>
              <a:t>Mocks</a:t>
            </a:r>
            <a:r>
              <a:rPr b="0" i="0" lang="es-ES" sz="2800" u="none" cap="none" strike="noStrike">
                <a:solidFill>
                  <a:schemeClr val="dk1"/>
                </a:solidFill>
                <a:latin typeface="Calibri"/>
                <a:ea typeface="Calibri"/>
                <a:cs typeface="Calibri"/>
                <a:sym typeface="Calibri"/>
              </a:rPr>
              <a:t> son objetos que nos permiten </a:t>
            </a:r>
            <a:r>
              <a:rPr b="1" i="1" lang="es-ES" sz="2800" u="none" cap="none" strike="noStrike">
                <a:solidFill>
                  <a:srgbClr val="0070C0"/>
                </a:solidFill>
                <a:latin typeface="Calibri"/>
                <a:ea typeface="Calibri"/>
                <a:cs typeface="Calibri"/>
                <a:sym typeface="Calibri"/>
              </a:rPr>
              <a:t>imitar</a:t>
            </a:r>
            <a:r>
              <a:rPr b="0" i="0" lang="es-ES" sz="2800" u="none" cap="none" strike="noStrike">
                <a:solidFill>
                  <a:schemeClr val="dk1"/>
                </a:solidFill>
                <a:latin typeface="Calibri"/>
                <a:ea typeface="Calibri"/>
                <a:cs typeface="Calibri"/>
                <a:sym typeface="Calibri"/>
              </a:rPr>
              <a:t> el </a:t>
            </a:r>
            <a:r>
              <a:rPr b="1" i="1" lang="es-ES" sz="2800" u="none" cap="none" strike="noStrike">
                <a:solidFill>
                  <a:srgbClr val="0070C0"/>
                </a:solidFill>
                <a:latin typeface="Calibri"/>
                <a:ea typeface="Calibri"/>
                <a:cs typeface="Calibri"/>
                <a:sym typeface="Calibri"/>
              </a:rPr>
              <a:t>comportamiento</a:t>
            </a:r>
            <a:r>
              <a:rPr b="0" i="0" lang="es-ES" sz="2800" u="none" cap="none" strike="noStrike">
                <a:solidFill>
                  <a:schemeClr val="dk1"/>
                </a:solidFill>
                <a:latin typeface="Calibri"/>
                <a:ea typeface="Calibri"/>
                <a:cs typeface="Calibri"/>
                <a:sym typeface="Calibri"/>
              </a:rPr>
              <a:t> de objetos reales que </a:t>
            </a:r>
            <a:r>
              <a:rPr b="0" i="0" lang="es-ES" sz="2800" u="none" cap="none" strike="noStrike">
                <a:solidFill>
                  <a:schemeClr val="dk1"/>
                </a:solidFill>
                <a:highlight>
                  <a:schemeClr val="lt1"/>
                </a:highlight>
                <a:latin typeface="Calibri"/>
                <a:ea typeface="Calibri"/>
                <a:cs typeface="Calibri"/>
                <a:sym typeface="Calibri"/>
              </a:rPr>
              <a:t>implementan clases que aún no fueron escritas, simulando componentes y verificando interacciones específicas entre ellos.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Se usan por ejemplo cuando se esperan mensajes de una clase</a:t>
            </a:r>
            <a:r>
              <a:rPr b="0" i="0" lang="es-ES" sz="2800" u="none" cap="none" strike="noStrike">
                <a:solidFill>
                  <a:schemeClr val="dk1"/>
                </a:solidFill>
                <a:latin typeface="Calibri"/>
                <a:ea typeface="Calibri"/>
                <a:cs typeface="Calibri"/>
                <a:sym typeface="Calibri"/>
              </a:rPr>
              <a:t> en particular siendo </a:t>
            </a:r>
            <a:r>
              <a:rPr b="1" i="1" lang="es-ES" sz="2800" u="none" cap="none" strike="noStrike">
                <a:solidFill>
                  <a:srgbClr val="0070C0"/>
                </a:solidFill>
                <a:latin typeface="Calibri"/>
                <a:ea typeface="Calibri"/>
                <a:cs typeface="Calibri"/>
                <a:sym typeface="Calibri"/>
              </a:rPr>
              <a:t>imposible o impracticable</a:t>
            </a:r>
            <a:r>
              <a:rPr b="0" i="0" lang="es-ES" sz="2800" u="none" cap="none" strike="noStrike">
                <a:solidFill>
                  <a:schemeClr val="dk1"/>
                </a:solidFill>
                <a:latin typeface="Calibri"/>
                <a:ea typeface="Calibri"/>
                <a:cs typeface="Calibri"/>
                <a:sym typeface="Calibri"/>
              </a:rPr>
              <a:t> usar al </a:t>
            </a:r>
            <a:r>
              <a:rPr b="1" i="1" lang="es-ES" sz="2800" u="none" cap="none" strike="noStrike">
                <a:solidFill>
                  <a:srgbClr val="0070C0"/>
                </a:solidFill>
                <a:latin typeface="Calibri"/>
                <a:ea typeface="Calibri"/>
                <a:cs typeface="Calibri"/>
                <a:sym typeface="Calibri"/>
              </a:rPr>
              <a:t>objeto real </a:t>
            </a:r>
            <a:r>
              <a:rPr b="0" i="0" lang="es-ES" sz="2800" u="none" cap="none" strike="noStrike">
                <a:solidFill>
                  <a:schemeClr val="dk1"/>
                </a:solidFill>
                <a:latin typeface="Calibri"/>
                <a:ea typeface="Calibri"/>
                <a:cs typeface="Calibri"/>
                <a:sym typeface="Calibri"/>
              </a:rPr>
              <a:t>en la prueba. Ej </a:t>
            </a:r>
            <a:r>
              <a:rPr b="1" i="1" lang="es-ES" sz="2800" u="none" cap="none" strike="noStrike">
                <a:solidFill>
                  <a:srgbClr val="0070C0"/>
                </a:solidFill>
                <a:latin typeface="Calibri"/>
                <a:ea typeface="Calibri"/>
                <a:cs typeface="Calibri"/>
                <a:sym typeface="Calibri"/>
              </a:rPr>
              <a:t>BD</a:t>
            </a:r>
            <a:r>
              <a:rPr b="0" i="0" lang="es-ES" sz="2800" u="none" cap="none" strike="noStrike">
                <a:solidFill>
                  <a:schemeClr val="dk1"/>
                </a:solidFill>
                <a:latin typeface="Calibri"/>
                <a:ea typeface="Calibri"/>
                <a:cs typeface="Calibri"/>
                <a:sym typeface="Calibri"/>
              </a:rPr>
              <a:t>, conexión </a:t>
            </a:r>
            <a:r>
              <a:rPr b="1" i="1" lang="es-ES" sz="2800" u="none" cap="none" strike="noStrike">
                <a:solidFill>
                  <a:srgbClr val="0070C0"/>
                </a:solidFill>
                <a:latin typeface="Calibri"/>
                <a:ea typeface="Calibri"/>
                <a:cs typeface="Calibri"/>
                <a:sym typeface="Calibri"/>
              </a:rPr>
              <a:t>cliente-servicio</a:t>
            </a:r>
            <a:r>
              <a:rPr b="0" i="0" lang="es-ES" sz="2800" u="none" cap="none" strike="noStrike">
                <a:solidFill>
                  <a:schemeClr val="dk1"/>
                </a:solidFill>
                <a:latin typeface="Calibri"/>
                <a:ea typeface="Calibri"/>
                <a:cs typeface="Calibri"/>
                <a:sym typeface="Calibri"/>
              </a:rPr>
              <a:t>, etc.</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24" name="Shape 324"/>
        <p:cNvGrpSpPr/>
        <p:nvPr/>
      </p:nvGrpSpPr>
      <p:grpSpPr>
        <a:xfrm>
          <a:off x="0" y="0"/>
          <a:ext cx="0" cy="0"/>
          <a:chOff x="0" y="0"/>
          <a:chExt cx="0" cy="0"/>
        </a:xfrm>
      </p:grpSpPr>
      <p:sp>
        <p:nvSpPr>
          <p:cNvPr id="325" name="Google Shape;325;g2f567e4aad2_1_28"/>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Mocks</a:t>
            </a:r>
            <a:endParaRPr sz="3200"/>
          </a:p>
        </p:txBody>
      </p:sp>
      <p:sp>
        <p:nvSpPr>
          <p:cNvPr id="326" name="Google Shape;326;g2f567e4aad2_1_28"/>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27" name="Google Shape;327;g2f567e4aad2_1_28"/>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250"/>
              </a:srgbClr>
            </a:outerShdw>
          </a:effectLst>
        </p:spPr>
      </p:pic>
      <p:sp>
        <p:nvSpPr>
          <p:cNvPr id="328" name="Google Shape;328;g2f567e4aad2_1_28"/>
          <p:cNvSpPr/>
          <p:nvPr/>
        </p:nvSpPr>
        <p:spPr>
          <a:xfrm>
            <a:off x="179500" y="1368375"/>
            <a:ext cx="8784900" cy="5248200"/>
          </a:xfrm>
          <a:prstGeom prst="rect">
            <a:avLst/>
          </a:prstGeom>
          <a:noFill/>
          <a:ln>
            <a:noFill/>
          </a:ln>
        </p:spPr>
        <p:txBody>
          <a:bodyPr anchorCtr="0" anchor="t" bIns="45700" lIns="91425" spcFirstLastPara="1" rIns="91425" wrap="square" tIns="45700">
            <a:noAutofit/>
          </a:bodyPr>
          <a:lstStyle/>
          <a:p>
            <a:pPr indent="0" lvl="0" marL="0" marR="0" rtl="0" algn="just">
              <a:lnSpc>
                <a:spcPct val="115000"/>
              </a:lnSpc>
              <a:spcBef>
                <a:spcPts val="1500"/>
              </a:spcBef>
              <a:spcAft>
                <a:spcPts val="0"/>
              </a:spcAft>
              <a:buClr>
                <a:srgbClr val="000000"/>
              </a:buClr>
              <a:buSzPts val="2800"/>
              <a:buFont typeface="Arial"/>
              <a:buNone/>
            </a:pPr>
            <a:r>
              <a:rPr b="0" i="0" lang="es-ES" sz="2800" u="none" cap="none" strike="noStrike">
                <a:solidFill>
                  <a:schemeClr val="dk1"/>
                </a:solidFill>
                <a:highlight>
                  <a:schemeClr val="lt1"/>
                </a:highlight>
                <a:latin typeface="Calibri"/>
                <a:ea typeface="Calibri"/>
                <a:cs typeface="Calibri"/>
                <a:sym typeface="Calibri"/>
              </a:rPr>
              <a:t>Un "mock" no solo simula el comportamiento de un componente externo, también </a:t>
            </a:r>
            <a:r>
              <a:rPr b="1" i="1" lang="es-ES" sz="2800" u="none" cap="none" strike="noStrike">
                <a:solidFill>
                  <a:srgbClr val="0070C0"/>
                </a:solidFill>
                <a:highlight>
                  <a:schemeClr val="lt1"/>
                </a:highlight>
                <a:latin typeface="Calibri"/>
                <a:ea typeface="Calibri"/>
                <a:cs typeface="Calibri"/>
                <a:sym typeface="Calibri"/>
              </a:rPr>
              <a:t>verifica cómo se interactúa</a:t>
            </a:r>
            <a:r>
              <a:rPr b="0" i="0" lang="es-ES" sz="2800" u="none" cap="none" strike="noStrike">
                <a:solidFill>
                  <a:schemeClr val="dk1"/>
                </a:solidFill>
                <a:highlight>
                  <a:schemeClr val="lt1"/>
                </a:highlight>
                <a:latin typeface="Calibri"/>
                <a:ea typeface="Calibri"/>
                <a:cs typeface="Calibri"/>
                <a:sym typeface="Calibri"/>
              </a:rPr>
              <a:t> con él. Se utilizan para asegurarse de que ciertos métodos se llamen con los parámetros correctos y en el orden adecuado durante una prueba.</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chemeClr val="dk1"/>
              </a:buClr>
              <a:buSzPts val="1100"/>
              <a:buFont typeface="Arial"/>
              <a:buNone/>
            </a:pPr>
            <a:r>
              <a:rPr b="0" i="0" lang="es-ES" sz="2800" u="none" cap="none" strike="noStrike">
                <a:solidFill>
                  <a:schemeClr val="dk1"/>
                </a:solidFill>
                <a:highlight>
                  <a:schemeClr val="lt1"/>
                </a:highlight>
                <a:latin typeface="Calibri"/>
                <a:ea typeface="Calibri"/>
                <a:cs typeface="Calibri"/>
                <a:sym typeface="Calibri"/>
              </a:rPr>
              <a:t>Si estás probando una clase que envía correos electrónicos, podrías usar un "mock" para verificar que el método de envío de correo electrónico se llamó con la dirección correcta y el contenido del mensaje.</a:t>
            </a:r>
            <a:endParaRPr b="0" i="0" sz="2800" u="none" cap="none" strike="noStrike">
              <a:solidFill>
                <a:schemeClr val="dk1"/>
              </a:solidFill>
              <a:highlight>
                <a:schemeClr val="lt1"/>
              </a:highlight>
              <a:latin typeface="Calibri"/>
              <a:ea typeface="Calibri"/>
              <a:cs typeface="Calibri"/>
              <a:sym typeface="Calibri"/>
            </a:endParaRPr>
          </a:p>
          <a:p>
            <a:pPr indent="0" lvl="0" marL="0" marR="0" rtl="0" algn="just">
              <a:lnSpc>
                <a:spcPct val="100000"/>
              </a:lnSpc>
              <a:spcBef>
                <a:spcPts val="1500"/>
              </a:spcBef>
              <a:spcAft>
                <a:spcPts val="0"/>
              </a:spcAft>
              <a:buClr>
                <a:srgbClr val="000000"/>
              </a:buClr>
              <a:buSzPts val="2800"/>
              <a:buFont typeface="Arial"/>
              <a:buNone/>
            </a:pPr>
            <a:r>
              <a:t/>
            </a:r>
            <a:endParaRPr b="1" i="1" sz="2800" u="none" cap="none" strike="noStrike">
              <a:solidFill>
                <a:srgbClr val="0070C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32" name="Shape 332"/>
        <p:cNvGrpSpPr/>
        <p:nvPr/>
      </p:nvGrpSpPr>
      <p:grpSpPr>
        <a:xfrm>
          <a:off x="0" y="0"/>
          <a:ext cx="0" cy="0"/>
          <a:chOff x="0" y="0"/>
          <a:chExt cx="0" cy="0"/>
        </a:xfrm>
      </p:grpSpPr>
      <p:sp>
        <p:nvSpPr>
          <p:cNvPr id="333" name="Google Shape;333;g2f567e4aad2_1_35"/>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Mocks Vs Stubs</a:t>
            </a:r>
            <a:endParaRPr sz="3200"/>
          </a:p>
        </p:txBody>
      </p:sp>
      <p:sp>
        <p:nvSpPr>
          <p:cNvPr id="334" name="Google Shape;334;g2f567e4aad2_1_35"/>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35" name="Google Shape;335;g2f567e4aad2_1_35"/>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pic>
      <p:sp>
        <p:nvSpPr>
          <p:cNvPr id="336" name="Google Shape;336;g2f567e4aad2_1_35"/>
          <p:cNvSpPr/>
          <p:nvPr/>
        </p:nvSpPr>
        <p:spPr>
          <a:xfrm>
            <a:off x="467544" y="1844824"/>
            <a:ext cx="7632900" cy="3903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2800"/>
              <a:buFont typeface="Arial"/>
              <a:buNone/>
            </a:pPr>
            <a:r>
              <a:rPr b="0" i="0" lang="es-ES" sz="2800" u="none" cap="none" strike="noStrike">
                <a:solidFill>
                  <a:schemeClr val="dk1"/>
                </a:solidFill>
                <a:latin typeface="Calibri"/>
                <a:ea typeface="Calibri"/>
                <a:cs typeface="Calibri"/>
                <a:sym typeface="Calibri"/>
              </a:rPr>
              <a:t>Si necesitamos probar la </a:t>
            </a:r>
            <a:r>
              <a:rPr b="1" i="1" lang="es-ES" sz="2800" u="none" cap="none" strike="noStrike">
                <a:solidFill>
                  <a:srgbClr val="0070C0"/>
                </a:solidFill>
                <a:latin typeface="Calibri"/>
                <a:ea typeface="Calibri"/>
                <a:cs typeface="Calibri"/>
                <a:sym typeface="Calibri"/>
              </a:rPr>
              <a:t>comunicación</a:t>
            </a:r>
            <a:r>
              <a:rPr b="0" i="0" lang="es-ES" sz="2800" u="none" cap="none" strike="noStrike">
                <a:solidFill>
                  <a:schemeClr val="dk1"/>
                </a:solidFill>
                <a:latin typeface="Calibri"/>
                <a:ea typeface="Calibri"/>
                <a:cs typeface="Calibri"/>
                <a:sym typeface="Calibri"/>
              </a:rPr>
              <a:t> entre el </a:t>
            </a:r>
            <a:r>
              <a:rPr b="1" i="1" lang="es-ES" sz="2800" u="none" cap="none" strike="noStrike">
                <a:solidFill>
                  <a:srgbClr val="0070C0"/>
                </a:solidFill>
                <a:latin typeface="Calibri"/>
                <a:ea typeface="Calibri"/>
                <a:cs typeface="Calibri"/>
                <a:sym typeface="Calibri"/>
              </a:rPr>
              <a:t>cliente y el servicio</a:t>
            </a:r>
            <a:r>
              <a:rPr b="0" i="0" lang="es-ES" sz="2800" u="none" cap="none" strike="noStrike">
                <a:solidFill>
                  <a:schemeClr val="dk1"/>
                </a:solidFill>
                <a:latin typeface="Calibri"/>
                <a:ea typeface="Calibri"/>
                <a:cs typeface="Calibri"/>
                <a:sym typeface="Calibri"/>
              </a:rPr>
              <a:t> utilizaremos un </a:t>
            </a:r>
            <a:r>
              <a:rPr b="1" i="1" lang="es-ES" sz="2800" u="none" cap="none" strike="noStrike">
                <a:solidFill>
                  <a:srgbClr val="0070C0"/>
                </a:solidFill>
                <a:latin typeface="Calibri"/>
                <a:ea typeface="Calibri"/>
                <a:cs typeface="Calibri"/>
                <a:sym typeface="Calibri"/>
              </a:rPr>
              <a:t>Mock</a:t>
            </a:r>
            <a:r>
              <a:rPr b="0" i="0" lang="es-ES" sz="2800" u="none" cap="none" strike="noStrike">
                <a:solidFill>
                  <a:schemeClr val="dk1"/>
                </a:solidFill>
                <a:latin typeface="Calibri"/>
                <a:ea typeface="Calibri"/>
                <a:cs typeface="Calibri"/>
                <a:sym typeface="Calibri"/>
              </a:rPr>
              <a:t>, mientras que si sólo necesitamos </a:t>
            </a:r>
            <a:r>
              <a:rPr b="1" i="1" lang="es-ES" sz="2800" u="none" cap="none" strike="noStrike">
                <a:solidFill>
                  <a:srgbClr val="0070C0"/>
                </a:solidFill>
                <a:latin typeface="Calibri"/>
                <a:ea typeface="Calibri"/>
                <a:cs typeface="Calibri"/>
                <a:sym typeface="Calibri"/>
              </a:rPr>
              <a:t>probar</a:t>
            </a:r>
            <a:r>
              <a:rPr b="0" i="0" lang="es-ES" sz="2800" u="none" cap="none" strike="noStrike">
                <a:solidFill>
                  <a:schemeClr val="dk1"/>
                </a:solidFill>
                <a:latin typeface="Calibri"/>
                <a:ea typeface="Calibri"/>
                <a:cs typeface="Calibri"/>
                <a:sym typeface="Calibri"/>
              </a:rPr>
              <a:t> que el resultado que </a:t>
            </a:r>
            <a:r>
              <a:rPr b="1" i="1" lang="es-ES" sz="2800" u="none" cap="none" strike="noStrike">
                <a:solidFill>
                  <a:srgbClr val="0070C0"/>
                </a:solidFill>
                <a:latin typeface="Calibri"/>
                <a:ea typeface="Calibri"/>
                <a:cs typeface="Calibri"/>
                <a:sym typeface="Calibri"/>
              </a:rPr>
              <a:t>devuelve</a:t>
            </a:r>
            <a:r>
              <a:rPr b="0" i="0" lang="es-ES" sz="2800" u="none" cap="none" strike="noStrike">
                <a:solidFill>
                  <a:schemeClr val="dk1"/>
                </a:solidFill>
                <a:latin typeface="Calibri"/>
                <a:ea typeface="Calibri"/>
                <a:cs typeface="Calibri"/>
                <a:sym typeface="Calibri"/>
              </a:rPr>
              <a:t> el método es el que esperamos </a:t>
            </a:r>
            <a:r>
              <a:rPr b="1" i="1" lang="es-ES" sz="2800" u="none" cap="none" strike="noStrike">
                <a:solidFill>
                  <a:srgbClr val="0070C0"/>
                </a:solidFill>
                <a:latin typeface="Calibri"/>
                <a:ea typeface="Calibri"/>
                <a:cs typeface="Calibri"/>
                <a:sym typeface="Calibri"/>
              </a:rPr>
              <a:t>sin importar </a:t>
            </a:r>
            <a:r>
              <a:rPr b="0" i="0" lang="es-ES" sz="2800" u="none" cap="none" strike="noStrike">
                <a:solidFill>
                  <a:schemeClr val="dk1"/>
                </a:solidFill>
                <a:latin typeface="Calibri"/>
                <a:ea typeface="Calibri"/>
                <a:cs typeface="Calibri"/>
                <a:sym typeface="Calibri"/>
              </a:rPr>
              <a:t>las </a:t>
            </a:r>
            <a:r>
              <a:rPr b="1" i="1" lang="es-ES" sz="2800" u="none" cap="none" strike="noStrike">
                <a:solidFill>
                  <a:srgbClr val="0070C0"/>
                </a:solidFill>
                <a:latin typeface="Calibri"/>
                <a:ea typeface="Calibri"/>
                <a:cs typeface="Calibri"/>
                <a:sym typeface="Calibri"/>
              </a:rPr>
              <a:t>condiciones</a:t>
            </a:r>
            <a:r>
              <a:rPr b="0" i="0" lang="es-ES" sz="2800" u="none" cap="none" strike="noStrike">
                <a:solidFill>
                  <a:schemeClr val="dk1"/>
                </a:solidFill>
                <a:latin typeface="Calibri"/>
                <a:ea typeface="Calibri"/>
                <a:cs typeface="Calibri"/>
                <a:sym typeface="Calibri"/>
              </a:rPr>
              <a:t> en lo que lo llamamos, utilizaremos un </a:t>
            </a:r>
            <a:r>
              <a:rPr b="1" i="1" lang="es-ES" sz="2800" u="none" cap="none" strike="noStrike">
                <a:solidFill>
                  <a:srgbClr val="0070C0"/>
                </a:solidFill>
                <a:latin typeface="Calibri"/>
                <a:ea typeface="Calibri"/>
                <a:cs typeface="Calibri"/>
                <a:sym typeface="Calibri"/>
              </a:rPr>
              <a:t>Stub</a:t>
            </a:r>
            <a:r>
              <a:rPr b="0" i="0" lang="es-E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40" name="Shape 340"/>
        <p:cNvGrpSpPr/>
        <p:nvPr/>
      </p:nvGrpSpPr>
      <p:grpSpPr>
        <a:xfrm>
          <a:off x="0" y="0"/>
          <a:ext cx="0" cy="0"/>
          <a:chOff x="0" y="0"/>
          <a:chExt cx="0" cy="0"/>
        </a:xfrm>
      </p:grpSpPr>
      <p:sp>
        <p:nvSpPr>
          <p:cNvPr id="341" name="Google Shape;341;g2f567e4aad2_1_117"/>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    Mocks Vs Stubs</a:t>
            </a:r>
            <a:endParaRPr sz="3200"/>
          </a:p>
        </p:txBody>
      </p:sp>
      <p:sp>
        <p:nvSpPr>
          <p:cNvPr id="342" name="Google Shape;342;g2f567e4aad2_1_117"/>
          <p:cNvSpPr txBox="1"/>
          <p:nvPr>
            <p:ph idx="1" type="body"/>
          </p:nvPr>
        </p:nvSpPr>
        <p:spPr>
          <a:xfrm>
            <a:off x="395536" y="1844824"/>
            <a:ext cx="8229600" cy="4464600"/>
          </a:xfrm>
          <a:prstGeom prst="rect">
            <a:avLst/>
          </a:prstGeom>
          <a:noFill/>
          <a:ln>
            <a:noFill/>
          </a:ln>
        </p:spPr>
        <p:txBody>
          <a:bodyPr anchorCtr="0" anchor="ctr"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800"/>
              <a:buNone/>
            </a:pPr>
            <a:r>
              <a:rPr lang="es-ES" sz="2800"/>
              <a:t>    </a:t>
            </a:r>
            <a:endParaRPr/>
          </a:p>
          <a:p>
            <a:pPr indent="-342900" lvl="0" marL="342900" rtl="0" algn="ctr">
              <a:lnSpc>
                <a:spcPct val="150000"/>
              </a:lnSpc>
              <a:spcBef>
                <a:spcPts val="560"/>
              </a:spcBef>
              <a:spcAft>
                <a:spcPts val="0"/>
              </a:spcAft>
              <a:buClr>
                <a:schemeClr val="dk1"/>
              </a:buClr>
              <a:buSzPts val="2800"/>
              <a:buNone/>
            </a:pPr>
            <a:r>
              <a:rPr lang="es-ES" sz="2800"/>
              <a:t>	</a:t>
            </a:r>
            <a:endParaRPr/>
          </a:p>
          <a:p>
            <a:pPr indent="-342900" lvl="0" marL="342900" rtl="0" algn="l">
              <a:lnSpc>
                <a:spcPct val="150000"/>
              </a:lnSpc>
              <a:spcBef>
                <a:spcPts val="560"/>
              </a:spcBef>
              <a:spcAft>
                <a:spcPts val="0"/>
              </a:spcAft>
              <a:buClr>
                <a:schemeClr val="dk1"/>
              </a:buClr>
              <a:buSzPts val="2800"/>
              <a:buNone/>
            </a:pPr>
            <a:r>
              <a:t/>
            </a:r>
            <a:endParaRPr sz="2800"/>
          </a:p>
        </p:txBody>
      </p:sp>
      <p:pic>
        <p:nvPicPr>
          <p:cNvPr id="343" name="Google Shape;343;g2f567e4aad2_1_117"/>
          <p:cNvPicPr preferRelativeResize="0"/>
          <p:nvPr/>
        </p:nvPicPr>
        <p:blipFill rotWithShape="1">
          <a:blip r:embed="rId3">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860"/>
              </a:srgbClr>
            </a:outerShdw>
          </a:effectLst>
        </p:spPr>
      </p:pic>
      <p:sp>
        <p:nvSpPr>
          <p:cNvPr id="344" name="Google Shape;344;g2f567e4aad2_1_117"/>
          <p:cNvSpPr/>
          <p:nvPr/>
        </p:nvSpPr>
        <p:spPr>
          <a:xfrm>
            <a:off x="467544" y="1844824"/>
            <a:ext cx="7632900" cy="3903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100"/>
              <a:buFont typeface="Arial"/>
              <a:buNone/>
            </a:pPr>
            <a:r>
              <a:rPr lang="es-ES" sz="2800">
                <a:solidFill>
                  <a:schemeClr val="dk1"/>
                </a:solidFill>
                <a:latin typeface="Calibri"/>
                <a:ea typeface="Calibri"/>
                <a:cs typeface="Calibri"/>
                <a:sym typeface="Calibri"/>
              </a:rPr>
              <a:t>Para crear stubs, generalmente no se necesitan herramientas adicionales, ya que se pueden escribir como clases básicas.</a:t>
            </a:r>
            <a:endParaRPr sz="28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s-ES" sz="2800">
                <a:solidFill>
                  <a:schemeClr val="dk1"/>
                </a:solidFill>
                <a:latin typeface="Calibri"/>
                <a:ea typeface="Calibri"/>
                <a:cs typeface="Calibri"/>
                <a:sym typeface="Calibri"/>
              </a:rPr>
              <a:t>Para crear mocks, es común usar bibliotecas como </a:t>
            </a:r>
            <a:r>
              <a:rPr b="1" lang="es-ES" sz="2800">
                <a:solidFill>
                  <a:schemeClr val="dk1"/>
                </a:solidFill>
                <a:latin typeface="Calibri"/>
                <a:ea typeface="Calibri"/>
                <a:cs typeface="Calibri"/>
                <a:sym typeface="Calibri"/>
              </a:rPr>
              <a:t>Mockito</a:t>
            </a:r>
            <a:r>
              <a:rPr lang="es-ES" sz="2800">
                <a:solidFill>
                  <a:schemeClr val="dk1"/>
                </a:solidFill>
                <a:latin typeface="Calibri"/>
                <a:ea typeface="Calibri"/>
                <a:cs typeface="Calibri"/>
                <a:sym typeface="Calibri"/>
              </a:rPr>
              <a:t>, que facilitan la creación y verificación de objetos simulados.</a:t>
            </a:r>
            <a:endParaRPr sz="28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Calibri"/>
              <a:ea typeface="Calibri"/>
              <a:cs typeface="Calibri"/>
              <a:sym typeface="Calibri"/>
            </a:endParaRPr>
          </a:p>
          <a:p>
            <a:pPr indent="0" lvl="0" marL="0" marR="0" rtl="0" algn="just">
              <a:lnSpc>
                <a:spcPct val="150000"/>
              </a:lnSpc>
              <a:spcBef>
                <a:spcPts val="0"/>
              </a:spcBef>
              <a:spcAft>
                <a:spcPts val="0"/>
              </a:spcAft>
              <a:buClr>
                <a:srgbClr val="000000"/>
              </a:buClr>
              <a:buSzPts val="2800"/>
              <a:buFont typeface="Arial"/>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8"/>
          <p:cNvSpPr txBox="1"/>
          <p:nvPr>
            <p:ph type="title"/>
          </p:nvPr>
        </p:nvSpPr>
        <p:spPr>
          <a:xfrm>
            <a:off x="179512" y="260648"/>
            <a:ext cx="7776864" cy="936104"/>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latin typeface="Calibri"/>
                <a:ea typeface="Calibri"/>
                <a:cs typeface="Calibri"/>
                <a:sym typeface="Calibri"/>
              </a:rPr>
              <a:t>Fuentes</a:t>
            </a:r>
            <a:endParaRPr/>
          </a:p>
        </p:txBody>
      </p:sp>
      <p:sp>
        <p:nvSpPr>
          <p:cNvPr id="350" name="Google Shape;350;p18"/>
          <p:cNvSpPr txBox="1"/>
          <p:nvPr>
            <p:ph idx="1" type="body"/>
          </p:nvPr>
        </p:nvSpPr>
        <p:spPr>
          <a:xfrm>
            <a:off x="395536" y="1628800"/>
            <a:ext cx="8424936" cy="4896544"/>
          </a:xfrm>
          <a:prstGeom prst="rect">
            <a:avLst/>
          </a:prstGeom>
          <a:noFill/>
          <a:ln>
            <a:noFill/>
          </a:ln>
        </p:spPr>
        <p:txBody>
          <a:bodyPr anchorCtr="0" anchor="ctr" bIns="45700" lIns="91425" spcFirstLastPara="1" rIns="91425" wrap="square" tIns="45700">
            <a:normAutofit/>
          </a:bodyPr>
          <a:lstStyle/>
          <a:p>
            <a:pPr indent="-342900" lvl="0" marL="342900" rtl="0" algn="l">
              <a:lnSpc>
                <a:spcPct val="115000"/>
              </a:lnSpc>
              <a:spcBef>
                <a:spcPts val="0"/>
              </a:spcBef>
              <a:spcAft>
                <a:spcPts val="0"/>
              </a:spcAft>
              <a:buClr>
                <a:schemeClr val="dk1"/>
              </a:buClr>
              <a:buSzPts val="2000"/>
              <a:buNone/>
            </a:pPr>
            <a:r>
              <a:rPr i="1" lang="es-ES" sz="2000" u="sng">
                <a:solidFill>
                  <a:schemeClr val="hlink"/>
                </a:solidFill>
                <a:hlinkClick r:id="rId3"/>
              </a:rPr>
              <a:t>https://junit.org/junit5/</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4"/>
              </a:rPr>
              <a:t>http://www.inf-cr.uclm.es/www/mpolo/tutorial/</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5"/>
              </a:rPr>
              <a:t>http://java-white-box.blogspot.com.ar/2014/06/junitanotacionesAnnotationJUnit.html</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6"/>
              </a:rPr>
              <a:t>http://java-white-box.blogspot.com.ar/2014/06/junit-asserts-como-comparar-resultados.html</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7"/>
              </a:rPr>
              <a:t>https://github.com/junit-team/junit4/wiki/Assertions</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8"/>
              </a:rPr>
              <a:t>http://www.vogella.com/tutorials/JUnit/article.html</a:t>
            </a:r>
            <a:endParaRPr i="1" sz="2000" u="sng"/>
          </a:p>
          <a:p>
            <a:pPr indent="0" lvl="0" marL="0" rtl="0" algn="l">
              <a:lnSpc>
                <a:spcPct val="115000"/>
              </a:lnSpc>
              <a:spcBef>
                <a:spcPts val="400"/>
              </a:spcBef>
              <a:spcAft>
                <a:spcPts val="0"/>
              </a:spcAft>
              <a:buClr>
                <a:schemeClr val="dk1"/>
              </a:buClr>
              <a:buSzPts val="2000"/>
              <a:buNone/>
            </a:pPr>
            <a:r>
              <a:rPr i="1" lang="es-ES" sz="2000" u="sng">
                <a:solidFill>
                  <a:schemeClr val="hlink"/>
                </a:solidFill>
                <a:hlinkClick r:id="rId9"/>
              </a:rPr>
              <a:t>http://www.jtech.ua.es/j2ee/publico/lja-2012-13/sesion04-apuntes.html</a:t>
            </a:r>
            <a:endParaRPr i="1" sz="2000"/>
          </a:p>
        </p:txBody>
      </p:sp>
      <p:pic>
        <p:nvPicPr>
          <p:cNvPr id="351" name="Google Shape;351;p18"/>
          <p:cNvPicPr preferRelativeResize="0"/>
          <p:nvPr/>
        </p:nvPicPr>
        <p:blipFill rotWithShape="1">
          <a:blip r:embed="rId10">
            <a:alphaModFix/>
          </a:blip>
          <a:srcRect b="0" l="0" r="0" t="0"/>
          <a:stretch/>
        </p:blipFill>
        <p:spPr>
          <a:xfrm>
            <a:off x="8028384" y="260648"/>
            <a:ext cx="936104" cy="936104"/>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647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dk1"/>
              </a:buClr>
              <a:buSzPts val="3200"/>
              <a:buNone/>
            </a:pPr>
            <a:r>
              <a:t/>
            </a:r>
            <a:endParaRPr/>
          </a:p>
        </p:txBody>
      </p:sp>
      <p:sp>
        <p:nvSpPr>
          <p:cNvPr id="357" name="Google Shape;357;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358" name="Google Shape;358;p19"/>
          <p:cNvPicPr preferRelativeResize="0"/>
          <p:nvPr/>
        </p:nvPicPr>
        <p:blipFill rotWithShape="1">
          <a:blip r:embed="rId3">
            <a:alphaModFix/>
          </a:blip>
          <a:srcRect b="0" l="0" r="0" t="0"/>
          <a:stretch/>
        </p:blipFill>
        <p:spPr>
          <a:xfrm>
            <a:off x="0" y="0"/>
            <a:ext cx="917962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2017-09-04T19:21:59Z</dcterms:created>
  <dc:creator>Pablo</dc:creator>
</cp:coreProperties>
</file>