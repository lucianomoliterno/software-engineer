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5" roundtripDataSignature="AMtx7mgPF27PZapfi1pFK+B7rOg4U2Kk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208701b65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2208701b65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" name="Google Shape;11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" name="Google Shape;15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7" name="Google Shape;17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5" name="Google Shape;18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3" name="Google Shape;19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1" name="Google Shape;201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9" name="Google Shape;209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7" name="Google Shape;217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5" name="Google Shape;225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2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2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hyperlink" Target="http://web.fi.uba.ar/~cfontela/Fontela_EstadoDelArteTDD_UNLP_EIS.pdf" TargetMode="External"/><Relationship Id="rId5" Type="http://schemas.openxmlformats.org/officeDocument/2006/relationships/hyperlink" Target="http://includeblogh.blogspot.com.ar/2014/12/fakes-stubs-y-mocks-cual-es-la.html" TargetMode="External"/><Relationship Id="rId6" Type="http://schemas.openxmlformats.org/officeDocument/2006/relationships/hyperlink" Target="http://sedici.unlp.edu.ar/bitstream/handle/10915/41604/Documento_completo.pdf?sequence=1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hyperlink" Target="http://materias.fi.uba.ar/7507/content/20101/lecturas/documentacion_pruebas.pdf" TargetMode="External"/><Relationship Id="rId5" Type="http://schemas.openxmlformats.org/officeDocument/2006/relationships/hyperlink" Target="http://materias.fi.uba.ar/7507/content/20101/lecturas/documentacion_pruebas.pdf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208701b653_0_0"/>
          <p:cNvSpPr txBox="1"/>
          <p:nvPr>
            <p:ph type="ctrTitle"/>
          </p:nvPr>
        </p:nvSpPr>
        <p:spPr>
          <a:xfrm>
            <a:off x="683568" y="188641"/>
            <a:ext cx="7772400" cy="93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s-ES" sz="4000" u="sng"/>
              <a:t>Pruebas de Software</a:t>
            </a:r>
            <a:endParaRPr sz="4000" u="sng"/>
          </a:p>
        </p:txBody>
      </p:sp>
      <p:sp>
        <p:nvSpPr>
          <p:cNvPr id="85" name="Google Shape;85;g2208701b653_0_0"/>
          <p:cNvSpPr txBox="1"/>
          <p:nvPr>
            <p:ph idx="1" type="subTitle"/>
          </p:nvPr>
        </p:nvSpPr>
        <p:spPr>
          <a:xfrm>
            <a:off x="1187624" y="4725144"/>
            <a:ext cx="6400800" cy="1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ES" sz="2400">
                <a:solidFill>
                  <a:schemeClr val="dk1"/>
                </a:solidFill>
              </a:rPr>
              <a:t>Docentes: Eduardo Diez</a:t>
            </a:r>
            <a:endParaRPr/>
          </a:p>
          <a:p>
            <a:pPr indent="0" lvl="0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ES" sz="2400">
                <a:solidFill>
                  <a:schemeClr val="dk1"/>
                </a:solidFill>
              </a:rPr>
              <a:t>      </a:t>
            </a:r>
            <a:r>
              <a:rPr lang="es-ES" sz="2400">
                <a:solidFill>
                  <a:schemeClr val="dk1"/>
                </a:solidFill>
              </a:rPr>
              <a:t>Pablo San Román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86" name="Google Shape;86;g2208701b653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51920" y="1484784"/>
            <a:ext cx="1440160" cy="1656184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g2208701b653_0_0"/>
          <p:cNvSpPr txBox="1"/>
          <p:nvPr/>
        </p:nvSpPr>
        <p:spPr>
          <a:xfrm>
            <a:off x="1115616" y="3645024"/>
            <a:ext cx="7128900" cy="9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Introducción a </a:t>
            </a: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Desarrollo Guiado por las Pruebas</a:t>
            </a:r>
            <a:r>
              <a:rPr b="0" i="1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(TDD)</a:t>
            </a:r>
            <a:endParaRPr b="0" i="1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g2208701b653_0_0"/>
          <p:cNvSpPr txBox="1"/>
          <p:nvPr/>
        </p:nvSpPr>
        <p:spPr>
          <a:xfrm>
            <a:off x="1331640" y="6093296"/>
            <a:ext cx="64008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0588"/>
              <a:buFont typeface="Arial"/>
              <a:buNone/>
            </a:pPr>
            <a:r>
              <a:rPr b="0" i="0" lang="es-ES" sz="3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Año: 20</a:t>
            </a:r>
            <a:r>
              <a:rPr lang="es-ES" sz="3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>
            <p:ph type="title"/>
          </p:nvPr>
        </p:nvSpPr>
        <p:spPr>
          <a:xfrm>
            <a:off x="179512" y="260648"/>
            <a:ext cx="7776864" cy="936104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86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es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Origen de TDD</a:t>
            </a:r>
            <a:endParaRPr sz="3200"/>
          </a:p>
        </p:txBody>
      </p:sp>
      <p:sp>
        <p:nvSpPr>
          <p:cNvPr id="94" name="Google Shape;94;p2"/>
          <p:cNvSpPr txBox="1"/>
          <p:nvPr>
            <p:ph idx="1" type="body"/>
          </p:nvPr>
        </p:nvSpPr>
        <p:spPr>
          <a:xfrm>
            <a:off x="395536" y="1772816"/>
            <a:ext cx="8229600" cy="4464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ES" sz="2800"/>
              <a:t>    Test Driven Development (TDD) o Desarrollo Guiado por las Pruebas, es una </a:t>
            </a:r>
            <a:r>
              <a:rPr b="1" i="1" lang="es-ES" sz="2800">
                <a:solidFill>
                  <a:srgbClr val="0070C0"/>
                </a:solidFill>
              </a:rPr>
              <a:t>práctica iterativa de diseño de software orientado a objetos</a:t>
            </a:r>
            <a:r>
              <a:rPr lang="es-ES" sz="2800"/>
              <a:t>, que fue presentada por Kent Beck y Ward Cunningham como parte de XP (Extreme Programming). 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  <p:pic>
        <p:nvPicPr>
          <p:cNvPr id="95" name="Google Shape;9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8384" y="260648"/>
            <a:ext cx="936104" cy="936104"/>
          </a:xfrm>
          <a:prstGeom prst="rect">
            <a:avLst/>
          </a:prstGeom>
          <a:solidFill>
            <a:schemeClr val="accent2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862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/>
          <p:nvPr>
            <p:ph type="title"/>
          </p:nvPr>
        </p:nvSpPr>
        <p:spPr>
          <a:xfrm>
            <a:off x="179512" y="260648"/>
            <a:ext cx="7776864" cy="936104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86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es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XP y Scrum</a:t>
            </a:r>
            <a:endParaRPr sz="3200"/>
          </a:p>
        </p:txBody>
      </p:sp>
      <p:sp>
        <p:nvSpPr>
          <p:cNvPr id="101" name="Google Shape;101;p3"/>
          <p:cNvSpPr txBox="1"/>
          <p:nvPr>
            <p:ph idx="1" type="body"/>
          </p:nvPr>
        </p:nvSpPr>
        <p:spPr>
          <a:xfrm>
            <a:off x="395536" y="1700808"/>
            <a:ext cx="8229600" cy="4464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ES" sz="2800"/>
              <a:t>    </a:t>
            </a:r>
            <a:endParaRPr/>
          </a:p>
          <a:p>
            <a:pPr indent="-342900" lvl="0" marL="342900" rtl="0" algn="ctr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ES" sz="2800"/>
              <a:t>	</a:t>
            </a:r>
            <a:r>
              <a:rPr b="1" i="1" lang="es-ES" sz="2800">
                <a:solidFill>
                  <a:srgbClr val="0070C0"/>
                </a:solidFill>
              </a:rPr>
              <a:t>XP </a:t>
            </a:r>
            <a:r>
              <a:rPr lang="es-ES" sz="2800"/>
              <a:t>junto a </a:t>
            </a:r>
            <a:r>
              <a:rPr b="1" i="1" lang="es-ES" sz="2800">
                <a:solidFill>
                  <a:srgbClr val="0070C0"/>
                </a:solidFill>
              </a:rPr>
              <a:t>Scrum</a:t>
            </a:r>
            <a:r>
              <a:rPr lang="es-ES" sz="2800"/>
              <a:t> son unas de las </a:t>
            </a:r>
            <a:r>
              <a:rPr b="1" i="1" lang="es-ES" sz="2800">
                <a:solidFill>
                  <a:srgbClr val="0070C0"/>
                </a:solidFill>
              </a:rPr>
              <a:t>metodologías </a:t>
            </a:r>
            <a:r>
              <a:rPr lang="es-ES" sz="2800"/>
              <a:t>denominadas </a:t>
            </a:r>
            <a:r>
              <a:rPr b="1" i="1" lang="es-ES" sz="2800">
                <a:solidFill>
                  <a:srgbClr val="0070C0"/>
                </a:solidFill>
              </a:rPr>
              <a:t>ágiles</a:t>
            </a:r>
            <a:r>
              <a:rPr lang="es-ES" sz="2800"/>
              <a:t> para el desarrollo de software más populares del mercado. 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342900" lvl="0" marL="342900" rtl="0" algn="l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  <p:pic>
        <p:nvPicPr>
          <p:cNvPr id="102" name="Google Shape;10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8384" y="260648"/>
            <a:ext cx="936104" cy="936104"/>
          </a:xfrm>
          <a:prstGeom prst="rect">
            <a:avLst/>
          </a:prstGeom>
          <a:solidFill>
            <a:schemeClr val="accent2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862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 txBox="1"/>
          <p:nvPr>
            <p:ph type="title"/>
          </p:nvPr>
        </p:nvSpPr>
        <p:spPr>
          <a:xfrm>
            <a:off x="179512" y="260648"/>
            <a:ext cx="7776864" cy="936104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86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es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 Pilares de TDD: I</a:t>
            </a:r>
            <a:endParaRPr sz="3200"/>
          </a:p>
        </p:txBody>
      </p:sp>
      <p:sp>
        <p:nvSpPr>
          <p:cNvPr id="108" name="Google Shape;108;p4"/>
          <p:cNvSpPr txBox="1"/>
          <p:nvPr>
            <p:ph idx="1" type="body"/>
          </p:nvPr>
        </p:nvSpPr>
        <p:spPr>
          <a:xfrm>
            <a:off x="395536" y="1700808"/>
            <a:ext cx="8229600" cy="4464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ES" sz="2800"/>
              <a:t>    </a:t>
            </a:r>
            <a:endParaRPr/>
          </a:p>
          <a:p>
            <a:pPr indent="-342900" lvl="0" marL="342900" rtl="0" algn="ctr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ES" sz="2800"/>
              <a:t>	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342900" lvl="0" marL="342900" rtl="0" algn="l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  <p:pic>
        <p:nvPicPr>
          <p:cNvPr id="109" name="Google Shape;10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8384" y="260648"/>
            <a:ext cx="936104" cy="936104"/>
          </a:xfrm>
          <a:prstGeom prst="rect">
            <a:avLst/>
          </a:prstGeom>
          <a:solidFill>
            <a:schemeClr val="accent2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862"/>
              </a:srgbClr>
            </a:outerShdw>
          </a:effectLst>
        </p:spPr>
      </p:pic>
      <p:sp>
        <p:nvSpPr>
          <p:cNvPr id="110" name="Google Shape;110;p4"/>
          <p:cNvSpPr/>
          <p:nvPr/>
        </p:nvSpPr>
        <p:spPr>
          <a:xfrm>
            <a:off x="323528" y="2132856"/>
            <a:ext cx="8496944" cy="3257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ES" sz="2800" u="sng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Test-First</a:t>
            </a:r>
            <a:r>
              <a:rPr b="1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las </a:t>
            </a:r>
            <a:r>
              <a:rPr b="1" i="1" lang="es-E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pruebas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 escriben </a:t>
            </a:r>
            <a:r>
              <a:rPr b="1" i="1" lang="es-E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antes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1" lang="es-E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de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escribir el propio </a:t>
            </a:r>
            <a:r>
              <a:rPr b="1" i="1" lang="es-E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código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y las mismas son escritas por los propios desarrolladores, esto busca que los mismos logren un mayor entendimiento de lo que deben desarrollar mediante la construcción del código que lo va a probar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/>
          <p:cNvSpPr txBox="1"/>
          <p:nvPr>
            <p:ph type="title"/>
          </p:nvPr>
        </p:nvSpPr>
        <p:spPr>
          <a:xfrm>
            <a:off x="179512" y="260648"/>
            <a:ext cx="7776864" cy="936104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86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es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 Pilares de TDD: II</a:t>
            </a:r>
            <a:endParaRPr sz="3200"/>
          </a:p>
        </p:txBody>
      </p:sp>
      <p:sp>
        <p:nvSpPr>
          <p:cNvPr id="116" name="Google Shape;116;p5"/>
          <p:cNvSpPr txBox="1"/>
          <p:nvPr>
            <p:ph idx="1" type="body"/>
          </p:nvPr>
        </p:nvSpPr>
        <p:spPr>
          <a:xfrm>
            <a:off x="395536" y="1700808"/>
            <a:ext cx="8229600" cy="4464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ES" sz="2800"/>
              <a:t>    </a:t>
            </a:r>
            <a:endParaRPr/>
          </a:p>
          <a:p>
            <a:pPr indent="-342900" lvl="0" marL="342900" rtl="0" algn="ctr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ES" sz="2800"/>
              <a:t>	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342900" lvl="0" marL="342900" rtl="0" algn="l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  <p:pic>
        <p:nvPicPr>
          <p:cNvPr id="117" name="Google Shape;11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8384" y="260648"/>
            <a:ext cx="936104" cy="936104"/>
          </a:xfrm>
          <a:prstGeom prst="rect">
            <a:avLst/>
          </a:prstGeom>
          <a:solidFill>
            <a:schemeClr val="accent2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862"/>
              </a:srgbClr>
            </a:outerShdw>
          </a:effectLst>
        </p:spPr>
      </p:pic>
      <p:sp>
        <p:nvSpPr>
          <p:cNvPr id="118" name="Google Shape;118;p5"/>
          <p:cNvSpPr/>
          <p:nvPr/>
        </p:nvSpPr>
        <p:spPr>
          <a:xfrm>
            <a:off x="611560" y="2204864"/>
            <a:ext cx="7920880" cy="3323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ES" sz="2800" u="sng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Automatización</a:t>
            </a:r>
            <a:r>
              <a:rPr b="1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las </a:t>
            </a:r>
            <a:r>
              <a:rPr b="1" i="1" lang="es-E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pruebas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deben ser escritas </a:t>
            </a:r>
            <a:r>
              <a:rPr b="1" i="1" lang="es-E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en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1" lang="es-E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código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y esto </a:t>
            </a:r>
            <a:r>
              <a:rPr b="1" i="1" lang="es-E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permite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 se </a:t>
            </a:r>
            <a:r>
              <a:rPr b="1" i="1" lang="es-E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ejecuten automátizadamente 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veces que sea necesario, y el solo hecho de ejecutar las pruebas debe mostrar si la </a:t>
            </a:r>
            <a:r>
              <a:rPr b="1" i="1" lang="es-E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ejecución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fue </a:t>
            </a:r>
            <a:r>
              <a:rPr b="1" i="1" lang="es-E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correcta o no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"/>
          <p:cNvSpPr txBox="1"/>
          <p:nvPr>
            <p:ph type="title"/>
          </p:nvPr>
        </p:nvSpPr>
        <p:spPr>
          <a:xfrm>
            <a:off x="179512" y="260648"/>
            <a:ext cx="7776864" cy="936104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86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es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 Pilares de TDD: III</a:t>
            </a:r>
            <a:endParaRPr sz="3200"/>
          </a:p>
        </p:txBody>
      </p:sp>
      <p:sp>
        <p:nvSpPr>
          <p:cNvPr id="124" name="Google Shape;124;p6"/>
          <p:cNvSpPr txBox="1"/>
          <p:nvPr>
            <p:ph idx="1" type="body"/>
          </p:nvPr>
        </p:nvSpPr>
        <p:spPr>
          <a:xfrm>
            <a:off x="395536" y="1628800"/>
            <a:ext cx="8229600" cy="4464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ES" sz="2800"/>
              <a:t>    </a:t>
            </a:r>
            <a:endParaRPr/>
          </a:p>
          <a:p>
            <a:pPr indent="-342900" lvl="0" marL="342900" rtl="0" algn="ctr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ES" sz="2800"/>
              <a:t>	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342900" lvl="0" marL="342900" rtl="0" algn="l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  <p:pic>
        <p:nvPicPr>
          <p:cNvPr id="125" name="Google Shape;12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8384" y="260648"/>
            <a:ext cx="936104" cy="936104"/>
          </a:xfrm>
          <a:prstGeom prst="rect">
            <a:avLst/>
          </a:prstGeom>
          <a:solidFill>
            <a:schemeClr val="accent2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862"/>
              </a:srgbClr>
            </a:outerShdw>
          </a:effectLst>
        </p:spPr>
      </p:pic>
      <p:sp>
        <p:nvSpPr>
          <p:cNvPr id="126" name="Google Shape;126;p6"/>
          <p:cNvSpPr/>
          <p:nvPr/>
        </p:nvSpPr>
        <p:spPr>
          <a:xfrm>
            <a:off x="683568" y="2420888"/>
            <a:ext cx="7632848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ES" sz="2800" u="sng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Refactorizar el código</a:t>
            </a:r>
            <a:r>
              <a:rPr b="1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permite mantener la calidad de la arquitectura, se </a:t>
            </a:r>
            <a:r>
              <a:rPr b="1" i="1" lang="es-E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cambia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el </a:t>
            </a:r>
            <a:r>
              <a:rPr b="1" i="1" lang="es-E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diseño sin cambiar 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</a:t>
            </a:r>
            <a:r>
              <a:rPr b="1" i="1" lang="es-E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funcionalidad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manteniendo las pruebas como reaseguro.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/>
          <p:nvPr>
            <p:ph type="title"/>
          </p:nvPr>
        </p:nvSpPr>
        <p:spPr>
          <a:xfrm>
            <a:off x="179512" y="260648"/>
            <a:ext cx="7776864" cy="936104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86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es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 Esquema de TDD</a:t>
            </a:r>
            <a:endParaRPr sz="3200"/>
          </a:p>
        </p:txBody>
      </p:sp>
      <p:sp>
        <p:nvSpPr>
          <p:cNvPr id="132" name="Google Shape;132;p7"/>
          <p:cNvSpPr txBox="1"/>
          <p:nvPr>
            <p:ph idx="1" type="body"/>
          </p:nvPr>
        </p:nvSpPr>
        <p:spPr>
          <a:xfrm>
            <a:off x="395536" y="1700808"/>
            <a:ext cx="8229600" cy="4464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ES" sz="2800"/>
              <a:t>    </a:t>
            </a:r>
            <a:endParaRPr/>
          </a:p>
          <a:p>
            <a:pPr indent="-342900" lvl="0" marL="342900" rtl="0" algn="ctr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ES" sz="2800"/>
              <a:t>	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342900" lvl="0" marL="342900" rtl="0" algn="l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  <p:pic>
        <p:nvPicPr>
          <p:cNvPr id="133" name="Google Shape;13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8384" y="260648"/>
            <a:ext cx="936104" cy="936104"/>
          </a:xfrm>
          <a:prstGeom prst="rect">
            <a:avLst/>
          </a:prstGeom>
          <a:solidFill>
            <a:schemeClr val="accent2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862"/>
              </a:srgbClr>
            </a:outerShdw>
          </a:effectLst>
        </p:spPr>
      </p:pic>
      <p:pic>
        <p:nvPicPr>
          <p:cNvPr descr="D:\Pablo\Facultad\UNLA\cosas\TDD y JUnit\ciclo-tdd.png" id="134" name="Google Shape;13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576" y="1196752"/>
            <a:ext cx="7344816" cy="5040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"/>
          <p:cNvSpPr txBox="1"/>
          <p:nvPr>
            <p:ph type="title"/>
          </p:nvPr>
        </p:nvSpPr>
        <p:spPr>
          <a:xfrm>
            <a:off x="179512" y="260648"/>
            <a:ext cx="7776864" cy="936104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86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es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Aplicando TDD: I</a:t>
            </a:r>
            <a:endParaRPr sz="3200"/>
          </a:p>
        </p:txBody>
      </p:sp>
      <p:sp>
        <p:nvSpPr>
          <p:cNvPr id="140" name="Google Shape;140;p8"/>
          <p:cNvSpPr txBox="1"/>
          <p:nvPr>
            <p:ph idx="1" type="body"/>
          </p:nvPr>
        </p:nvSpPr>
        <p:spPr>
          <a:xfrm>
            <a:off x="395536" y="1700808"/>
            <a:ext cx="8229600" cy="4464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ES" sz="2800"/>
              <a:t>    </a:t>
            </a:r>
            <a:endParaRPr/>
          </a:p>
          <a:p>
            <a:pPr indent="-342900" lvl="0" marL="342900" rtl="0" algn="ctr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ES" sz="2800"/>
              <a:t>	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342900" lvl="0" marL="342900" rtl="0" algn="l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  <p:pic>
        <p:nvPicPr>
          <p:cNvPr id="141" name="Google Shape;14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8384" y="260648"/>
            <a:ext cx="936104" cy="936104"/>
          </a:xfrm>
          <a:prstGeom prst="rect">
            <a:avLst/>
          </a:prstGeom>
          <a:solidFill>
            <a:schemeClr val="accent2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862"/>
              </a:srgbClr>
            </a:outerShdw>
          </a:effectLst>
        </p:spPr>
      </p:pic>
      <p:sp>
        <p:nvSpPr>
          <p:cNvPr id="142" name="Google Shape;142;p8"/>
          <p:cNvSpPr/>
          <p:nvPr/>
        </p:nvSpPr>
        <p:spPr>
          <a:xfrm>
            <a:off x="539552" y="1556792"/>
            <a:ext cx="7632848" cy="48320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alibri"/>
              <a:buAutoNum type="arabicPeriod"/>
            </a:pPr>
            <a:r>
              <a:rPr b="1" i="0" lang="es-ES" sz="2800" u="sng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Elegir un requisito de la lista: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se puede empezar por los requisitos que se cree nos dará </a:t>
            </a:r>
            <a:r>
              <a:rPr b="1" i="1" lang="es-E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mayor conocimiento del problema de negocio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 que a la vez sea fácilmente implementable, </a:t>
            </a:r>
            <a:r>
              <a:rPr b="1" i="1" lang="es-E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dejando para el final 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manejo de casos </a:t>
            </a:r>
            <a:r>
              <a:rPr b="1" i="1" lang="es-E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excepcionales y errores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r>
              <a:rPr b="1" lang="es-ES" sz="2800" u="sng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	</a:t>
            </a:r>
            <a:r>
              <a:rPr b="1" i="0" lang="es-ES" sz="2800" u="sng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Escribir una prueba para el requisito elegido: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Este paso fuerza al programador a tomar la </a:t>
            </a:r>
            <a:r>
              <a:rPr b="1" i="1" lang="es-E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perspectiva del cliente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 utilizará el código.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"/>
          <p:cNvSpPr txBox="1"/>
          <p:nvPr>
            <p:ph type="title"/>
          </p:nvPr>
        </p:nvSpPr>
        <p:spPr>
          <a:xfrm>
            <a:off x="179512" y="260648"/>
            <a:ext cx="7776864" cy="936104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86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es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Aplicando TDD: II</a:t>
            </a:r>
            <a:endParaRPr sz="3200"/>
          </a:p>
        </p:txBody>
      </p:sp>
      <p:sp>
        <p:nvSpPr>
          <p:cNvPr id="148" name="Google Shape;148;p9"/>
          <p:cNvSpPr txBox="1"/>
          <p:nvPr>
            <p:ph idx="1" type="body"/>
          </p:nvPr>
        </p:nvSpPr>
        <p:spPr>
          <a:xfrm>
            <a:off x="395536" y="1700808"/>
            <a:ext cx="8229600" cy="4464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ES" sz="2800"/>
              <a:t>    </a:t>
            </a:r>
            <a:endParaRPr/>
          </a:p>
          <a:p>
            <a:pPr indent="-342900" lvl="0" marL="342900" rtl="0" algn="ctr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ES" sz="2800"/>
              <a:t>	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342900" lvl="0" marL="342900" rtl="0" algn="l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  <p:pic>
        <p:nvPicPr>
          <p:cNvPr id="149" name="Google Shape;14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8384" y="260648"/>
            <a:ext cx="936104" cy="936104"/>
          </a:xfrm>
          <a:prstGeom prst="rect">
            <a:avLst/>
          </a:prstGeom>
          <a:solidFill>
            <a:schemeClr val="accent2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862"/>
              </a:srgbClr>
            </a:outerShdw>
          </a:effectLst>
        </p:spPr>
      </p:pic>
      <p:sp>
        <p:nvSpPr>
          <p:cNvPr id="150" name="Google Shape;150;p9"/>
          <p:cNvSpPr/>
          <p:nvPr/>
        </p:nvSpPr>
        <p:spPr>
          <a:xfrm>
            <a:off x="539552" y="1556792"/>
            <a:ext cx="7632848" cy="48320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alibri"/>
              <a:buAutoNum type="arabicPeriod" startAt="3"/>
            </a:pPr>
            <a:r>
              <a:rPr b="1" i="0" lang="es-ES" sz="2800" u="sng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Verificar que la prueba falla: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Si la prueba no falla es porque el </a:t>
            </a:r>
            <a:r>
              <a:rPr b="1" i="1" lang="es-E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requisito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ya estaba </a:t>
            </a:r>
            <a:r>
              <a:rPr b="1" i="1" lang="es-E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implementado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porque la prueba es errónea.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alibri"/>
              <a:buAutoNum type="arabicPeriod" startAt="3"/>
            </a:pPr>
            <a:r>
              <a:rPr b="1" i="0" lang="es-ES" sz="2800" u="sng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Escribir la implementación: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Escribir el </a:t>
            </a:r>
            <a:r>
              <a:rPr b="1" i="1" lang="es-E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código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más </a:t>
            </a:r>
            <a:r>
              <a:rPr b="1" i="1" lang="es-E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sencillo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 haga </a:t>
            </a:r>
            <a:r>
              <a:rPr b="1" i="1" lang="es-E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que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la prueba </a:t>
            </a:r>
            <a:r>
              <a:rPr b="1" i="1" lang="es-E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funcione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alibri"/>
              <a:buAutoNum type="arabicPeriod" startAt="3"/>
            </a:pPr>
            <a:r>
              <a:rPr b="1" i="0" lang="es-ES" sz="2800" u="sng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Ejecutar las pruebas automatizadas: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Correr todo el </a:t>
            </a:r>
            <a:r>
              <a:rPr b="1" i="1" lang="es-E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conjunto de pruebas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 verificar que funciona correctamente.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"/>
          <p:cNvSpPr txBox="1"/>
          <p:nvPr>
            <p:ph type="title"/>
          </p:nvPr>
        </p:nvSpPr>
        <p:spPr>
          <a:xfrm>
            <a:off x="179512" y="260648"/>
            <a:ext cx="7776864" cy="936104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86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es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Aplicando TDD: III</a:t>
            </a:r>
            <a:endParaRPr sz="3200"/>
          </a:p>
        </p:txBody>
      </p:sp>
      <p:sp>
        <p:nvSpPr>
          <p:cNvPr id="156" name="Google Shape;156;p10"/>
          <p:cNvSpPr txBox="1"/>
          <p:nvPr>
            <p:ph idx="1" type="body"/>
          </p:nvPr>
        </p:nvSpPr>
        <p:spPr>
          <a:xfrm>
            <a:off x="395536" y="1700808"/>
            <a:ext cx="8229600" cy="4464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ES" sz="2800"/>
              <a:t>    </a:t>
            </a:r>
            <a:endParaRPr/>
          </a:p>
          <a:p>
            <a:pPr indent="-342900" lvl="0" marL="342900" rtl="0" algn="ctr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ES" sz="2800"/>
              <a:t>	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342900" lvl="0" marL="342900" rtl="0" algn="l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  <p:pic>
        <p:nvPicPr>
          <p:cNvPr id="157" name="Google Shape;15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8384" y="260648"/>
            <a:ext cx="936104" cy="936104"/>
          </a:xfrm>
          <a:prstGeom prst="rect">
            <a:avLst/>
          </a:prstGeom>
          <a:solidFill>
            <a:schemeClr val="accent2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862"/>
              </a:srgbClr>
            </a:outerShdw>
          </a:effectLst>
        </p:spPr>
      </p:pic>
      <p:sp>
        <p:nvSpPr>
          <p:cNvPr id="158" name="Google Shape;158;p10"/>
          <p:cNvSpPr/>
          <p:nvPr/>
        </p:nvSpPr>
        <p:spPr>
          <a:xfrm>
            <a:off x="539552" y="1556792"/>
            <a:ext cx="7632848" cy="5262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alibri"/>
              <a:buAutoNum type="arabicPeriod" startAt="6"/>
            </a:pPr>
            <a:r>
              <a:rPr b="1" i="0" lang="es-E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Refactorizar: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se utilizará principalmente para </a:t>
            </a:r>
            <a:r>
              <a:rPr b="1" i="1" lang="es-E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eliminar código duplicado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reemplazar los </a:t>
            </a:r>
            <a:r>
              <a:rPr b="1" i="1" lang="es-E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Mocks y Stubs 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 se encuentren en el código, etc.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alibri"/>
              <a:buAutoNum type="arabicPeriod" startAt="6"/>
            </a:pPr>
            <a:r>
              <a:rPr b="1" i="0" lang="es-E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Actualización de la lista de requisitos: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se </a:t>
            </a:r>
            <a:r>
              <a:rPr b="1" i="1" lang="es-E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tacha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el </a:t>
            </a:r>
            <a:r>
              <a:rPr b="1" i="1" lang="es-E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requisito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recién implementado. Luego </a:t>
            </a:r>
            <a:r>
              <a:rPr b="1" i="1" lang="es-E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se agregan requisitos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 se hayan visto como necesarios durante este ciclo tales como que una funcionalidad esté desacoplada de otra o alguna faltante detectada.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"/>
          <p:cNvSpPr txBox="1"/>
          <p:nvPr>
            <p:ph type="title"/>
          </p:nvPr>
        </p:nvSpPr>
        <p:spPr>
          <a:xfrm>
            <a:off x="179512" y="260648"/>
            <a:ext cx="7776864" cy="936104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86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es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Aplicando TDD: IV</a:t>
            </a:r>
            <a:endParaRPr sz="3200"/>
          </a:p>
        </p:txBody>
      </p:sp>
      <p:sp>
        <p:nvSpPr>
          <p:cNvPr id="164" name="Google Shape;164;p11"/>
          <p:cNvSpPr txBox="1"/>
          <p:nvPr>
            <p:ph idx="1" type="body"/>
          </p:nvPr>
        </p:nvSpPr>
        <p:spPr>
          <a:xfrm>
            <a:off x="395536" y="1844824"/>
            <a:ext cx="8229600" cy="4464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ES" sz="2800"/>
              <a:t>    </a:t>
            </a:r>
            <a:endParaRPr/>
          </a:p>
          <a:p>
            <a:pPr indent="-342900" lvl="0" marL="342900" rtl="0" algn="ctr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ES" sz="2800"/>
              <a:t>	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  <p:pic>
        <p:nvPicPr>
          <p:cNvPr id="165" name="Google Shape;16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8384" y="260648"/>
            <a:ext cx="936104" cy="936104"/>
          </a:xfrm>
          <a:prstGeom prst="rect">
            <a:avLst/>
          </a:prstGeom>
          <a:solidFill>
            <a:schemeClr val="accent2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862"/>
              </a:srgbClr>
            </a:outerShdw>
          </a:effectLst>
        </p:spPr>
      </p:pic>
      <p:sp>
        <p:nvSpPr>
          <p:cNvPr id="166" name="Google Shape;166;p11"/>
          <p:cNvSpPr/>
          <p:nvPr/>
        </p:nvSpPr>
        <p:spPr>
          <a:xfrm>
            <a:off x="539552" y="2132856"/>
            <a:ext cx="7632848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Aplicar TDD implica que ninguna </a:t>
            </a:r>
            <a:r>
              <a:rPr b="1" i="1" lang="es-E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nueva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1" lang="es-E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funcionalidad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 debe escribir por adelantado.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5"/>
          <p:cNvSpPr txBox="1"/>
          <p:nvPr>
            <p:ph type="title"/>
          </p:nvPr>
        </p:nvSpPr>
        <p:spPr>
          <a:xfrm>
            <a:off x="179512" y="260648"/>
            <a:ext cx="7776864" cy="936104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86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es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Ventajas: I</a:t>
            </a:r>
            <a:endParaRPr sz="3200"/>
          </a:p>
        </p:txBody>
      </p:sp>
      <p:sp>
        <p:nvSpPr>
          <p:cNvPr id="172" name="Google Shape;172;p15"/>
          <p:cNvSpPr txBox="1"/>
          <p:nvPr>
            <p:ph idx="1" type="body"/>
          </p:nvPr>
        </p:nvSpPr>
        <p:spPr>
          <a:xfrm>
            <a:off x="395536" y="1844824"/>
            <a:ext cx="8229600" cy="4464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ES" sz="2800"/>
              <a:t>    </a:t>
            </a:r>
            <a:endParaRPr/>
          </a:p>
          <a:p>
            <a:pPr indent="-342900" lvl="0" marL="342900" rtl="0" algn="ctr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ES" sz="2800"/>
              <a:t>	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  <p:pic>
        <p:nvPicPr>
          <p:cNvPr id="173" name="Google Shape;17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8384" y="260648"/>
            <a:ext cx="936104" cy="936104"/>
          </a:xfrm>
          <a:prstGeom prst="rect">
            <a:avLst/>
          </a:prstGeom>
          <a:solidFill>
            <a:schemeClr val="accent2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862"/>
              </a:srgbClr>
            </a:outerShdw>
          </a:effectLst>
        </p:spPr>
      </p:pic>
      <p:sp>
        <p:nvSpPr>
          <p:cNvPr id="174" name="Google Shape;174;p15"/>
          <p:cNvSpPr/>
          <p:nvPr/>
        </p:nvSpPr>
        <p:spPr>
          <a:xfrm>
            <a:off x="467544" y="1628800"/>
            <a:ext cx="7632848" cy="4401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Hacer test es </a:t>
            </a:r>
            <a:r>
              <a:rPr b="1" i="1" lang="es-E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caro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pero al </a:t>
            </a:r>
            <a:r>
              <a:rPr b="1" i="1" lang="es-E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automatizarlo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este costo es rápidamente </a:t>
            </a:r>
            <a:r>
              <a:rPr b="1" i="1" lang="es-E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amortizado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mediante su reiterada utilización.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Podemos </a:t>
            </a:r>
            <a:r>
              <a:rPr b="1" i="1" lang="es-E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desvincular el factor humano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 la ejecución de las pruebas, ya que al automatizar las mismas cada una de ellas determina si se ejecutó con éxito o no.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pruebas pueden tomarse como un </a:t>
            </a:r>
            <a:r>
              <a:rPr b="1" i="1" lang="es-E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criterio de aceptación.</a:t>
            </a:r>
            <a:endParaRPr b="1" i="1" sz="28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1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6"/>
          <p:cNvSpPr txBox="1"/>
          <p:nvPr>
            <p:ph type="title"/>
          </p:nvPr>
        </p:nvSpPr>
        <p:spPr>
          <a:xfrm>
            <a:off x="179512" y="260648"/>
            <a:ext cx="7776864" cy="936104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86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es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Ventajas: II</a:t>
            </a:r>
            <a:endParaRPr sz="3200"/>
          </a:p>
        </p:txBody>
      </p:sp>
      <p:sp>
        <p:nvSpPr>
          <p:cNvPr id="180" name="Google Shape;180;p16"/>
          <p:cNvSpPr txBox="1"/>
          <p:nvPr>
            <p:ph idx="1" type="body"/>
          </p:nvPr>
        </p:nvSpPr>
        <p:spPr>
          <a:xfrm>
            <a:off x="395536" y="1844824"/>
            <a:ext cx="8229600" cy="4464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ES" sz="2800"/>
              <a:t>    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342900" lvl="0" marL="342900" rtl="0" algn="l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342900" lvl="0" marL="342900" rtl="0" algn="l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342900" lvl="0" marL="342900" rtl="0" algn="ctr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ES" sz="2800"/>
              <a:t>	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  <p:pic>
        <p:nvPicPr>
          <p:cNvPr id="181" name="Google Shape;18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8384" y="260648"/>
            <a:ext cx="936104" cy="936104"/>
          </a:xfrm>
          <a:prstGeom prst="rect">
            <a:avLst/>
          </a:prstGeom>
          <a:solidFill>
            <a:schemeClr val="accent2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862"/>
              </a:srgbClr>
            </a:outerShdw>
          </a:effectLst>
        </p:spPr>
      </p:pic>
      <p:sp>
        <p:nvSpPr>
          <p:cNvPr id="182" name="Google Shape;182;p16"/>
          <p:cNvSpPr/>
          <p:nvPr/>
        </p:nvSpPr>
        <p:spPr>
          <a:xfrm>
            <a:off x="467544" y="1628800"/>
            <a:ext cx="7632848" cy="4401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autor del código </a:t>
            </a:r>
            <a:r>
              <a:rPr b="1" i="1" lang="es-E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 encuentra </a:t>
            </a:r>
            <a:r>
              <a:rPr b="1" i="1" lang="es-E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condicionado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por el código a probar.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 especificar el </a:t>
            </a:r>
            <a:r>
              <a:rPr b="1" i="1" lang="es-E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comportamiento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esperado </a:t>
            </a:r>
            <a:r>
              <a:rPr b="1" i="1" lang="es-E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sin restringirse 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una </a:t>
            </a:r>
            <a:r>
              <a:rPr b="1" i="1" lang="es-E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implementación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Facilita la </a:t>
            </a:r>
            <a:r>
              <a:rPr b="1" i="1" lang="es-E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refactorización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permite mantener el diseño del código limpio, mejorando su mantenimiento y disminuyendo el costo de la misma.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1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7"/>
          <p:cNvSpPr txBox="1"/>
          <p:nvPr>
            <p:ph type="title"/>
          </p:nvPr>
        </p:nvSpPr>
        <p:spPr>
          <a:xfrm>
            <a:off x="179512" y="260648"/>
            <a:ext cx="7776864" cy="936104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86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es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Desventajas: I</a:t>
            </a:r>
            <a:endParaRPr sz="3200"/>
          </a:p>
        </p:txBody>
      </p:sp>
      <p:sp>
        <p:nvSpPr>
          <p:cNvPr id="188" name="Google Shape;188;p17"/>
          <p:cNvSpPr txBox="1"/>
          <p:nvPr>
            <p:ph idx="1" type="body"/>
          </p:nvPr>
        </p:nvSpPr>
        <p:spPr>
          <a:xfrm>
            <a:off x="395536" y="1844824"/>
            <a:ext cx="8229600" cy="4464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ES" sz="2800"/>
              <a:t>    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342900" lvl="0" marL="342900" rtl="0" algn="l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342900" lvl="0" marL="342900" rtl="0" algn="l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342900" lvl="0" marL="342900" rtl="0" algn="ctr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ES" sz="2800"/>
              <a:t>	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  <p:pic>
        <p:nvPicPr>
          <p:cNvPr id="189" name="Google Shape;18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8384" y="260648"/>
            <a:ext cx="936104" cy="936104"/>
          </a:xfrm>
          <a:prstGeom prst="rect">
            <a:avLst/>
          </a:prstGeom>
          <a:solidFill>
            <a:schemeClr val="accent2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862"/>
              </a:srgbClr>
            </a:outerShdw>
          </a:effectLst>
        </p:spPr>
      </p:pic>
      <p:sp>
        <p:nvSpPr>
          <p:cNvPr id="190" name="Google Shape;190;p17"/>
          <p:cNvSpPr/>
          <p:nvPr/>
        </p:nvSpPr>
        <p:spPr>
          <a:xfrm>
            <a:off x="467544" y="1988840"/>
            <a:ext cx="7632848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1" lang="es-E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TDD no reemplaza las pruebas 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humanos ya que toda la seguridad que nos da TDD viene de código escrito por humanos.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 escribirse las pruebas de a una a la vez, se debe </a:t>
            </a:r>
            <a:r>
              <a:rPr b="1" i="1" lang="es-E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analizar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según el </a:t>
            </a:r>
            <a:r>
              <a:rPr b="1" i="1" lang="es-E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proyecto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 el </a:t>
            </a:r>
            <a:r>
              <a:rPr b="1" i="1" lang="es-E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grupo de trabajo 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 el que se cuenta si es </a:t>
            </a:r>
            <a:r>
              <a:rPr b="1" i="1" lang="es-E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factible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utilizar metodologías ágiles y más puntualmente </a:t>
            </a:r>
            <a:r>
              <a:rPr b="1" i="1" lang="es-E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TDD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no sucumbir ante el caos.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8"/>
          <p:cNvSpPr txBox="1"/>
          <p:nvPr>
            <p:ph type="title"/>
          </p:nvPr>
        </p:nvSpPr>
        <p:spPr>
          <a:xfrm>
            <a:off x="179512" y="260648"/>
            <a:ext cx="7776864" cy="936104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86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es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Desventajas: II</a:t>
            </a:r>
            <a:endParaRPr sz="3200"/>
          </a:p>
        </p:txBody>
      </p:sp>
      <p:sp>
        <p:nvSpPr>
          <p:cNvPr id="196" name="Google Shape;196;p18"/>
          <p:cNvSpPr txBox="1"/>
          <p:nvPr>
            <p:ph idx="1" type="body"/>
          </p:nvPr>
        </p:nvSpPr>
        <p:spPr>
          <a:xfrm>
            <a:off x="395536" y="1844824"/>
            <a:ext cx="8229600" cy="4464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ES" sz="2800"/>
              <a:t>    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342900" lvl="0" marL="342900" rtl="0" algn="l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342900" lvl="0" marL="342900" rtl="0" algn="l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342900" lvl="0" marL="342900" rtl="0" algn="ctr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ES" sz="2800"/>
              <a:t>	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  <p:pic>
        <p:nvPicPr>
          <p:cNvPr id="197" name="Google Shape;19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8384" y="260648"/>
            <a:ext cx="936104" cy="936104"/>
          </a:xfrm>
          <a:prstGeom prst="rect">
            <a:avLst/>
          </a:prstGeom>
          <a:solidFill>
            <a:schemeClr val="accent2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862"/>
              </a:srgbClr>
            </a:outerShdw>
          </a:effectLst>
        </p:spPr>
      </p:pic>
      <p:sp>
        <p:nvSpPr>
          <p:cNvPr id="198" name="Google Shape;198;p18"/>
          <p:cNvSpPr/>
          <p:nvPr/>
        </p:nvSpPr>
        <p:spPr>
          <a:xfrm>
            <a:off x="467544" y="2060848"/>
            <a:ext cx="7632848" cy="3323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debe contar con </a:t>
            </a:r>
            <a:r>
              <a:rPr b="1" i="1" lang="es-E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desarrolladores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 una </a:t>
            </a:r>
            <a:r>
              <a:rPr b="1" i="1" lang="es-E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visión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más </a:t>
            </a:r>
            <a:r>
              <a:rPr b="1" i="1" lang="es-E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general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del proyecto y no un simple generador de código.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TDD </a:t>
            </a:r>
            <a:r>
              <a:rPr b="1" i="1" lang="es-E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no reemplaza al diseño 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9"/>
          <p:cNvSpPr txBox="1"/>
          <p:nvPr>
            <p:ph type="title"/>
          </p:nvPr>
        </p:nvSpPr>
        <p:spPr>
          <a:xfrm>
            <a:off x="179512" y="260648"/>
            <a:ext cx="7776864" cy="936104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86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es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Desventajas: III</a:t>
            </a:r>
            <a:endParaRPr sz="3200"/>
          </a:p>
        </p:txBody>
      </p:sp>
      <p:sp>
        <p:nvSpPr>
          <p:cNvPr id="204" name="Google Shape;204;p19"/>
          <p:cNvSpPr txBox="1"/>
          <p:nvPr>
            <p:ph idx="1" type="body"/>
          </p:nvPr>
        </p:nvSpPr>
        <p:spPr>
          <a:xfrm>
            <a:off x="395536" y="1844824"/>
            <a:ext cx="8229600" cy="4464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ES" sz="2800"/>
              <a:t>    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342900" lvl="0" marL="342900" rtl="0" algn="l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342900" lvl="0" marL="342900" rtl="0" algn="l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342900" lvl="0" marL="342900" rtl="0" algn="ctr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ES" sz="2800"/>
              <a:t>	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  <p:pic>
        <p:nvPicPr>
          <p:cNvPr id="205" name="Google Shape;20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8384" y="260648"/>
            <a:ext cx="936104" cy="936104"/>
          </a:xfrm>
          <a:prstGeom prst="rect">
            <a:avLst/>
          </a:prstGeom>
          <a:solidFill>
            <a:schemeClr val="accent2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862"/>
              </a:srgbClr>
            </a:outerShdw>
          </a:effectLst>
        </p:spPr>
      </p:pic>
      <p:sp>
        <p:nvSpPr>
          <p:cNvPr id="206" name="Google Shape;206;p19"/>
          <p:cNvSpPr/>
          <p:nvPr/>
        </p:nvSpPr>
        <p:spPr>
          <a:xfrm>
            <a:off x="467544" y="1700808"/>
            <a:ext cx="7632848" cy="5909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requiere que las pruebas puedan automatizarse. Esto resulta complejo en los siguientes dominios: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ES" sz="2800" u="sng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Bases de Datos: 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agrega complejidad ya que debe haber disponible una BD para test  donde pueda cargarse datos, verificarlos, etc.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ES" sz="2800" u="sng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Interfaces Gráficas de usuario: 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hay formas más amenas de testear esto.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ES" sz="2800" u="sng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Objetos distribuidos: 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</a:t>
            </a:r>
            <a:r>
              <a:rPr b="0" i="1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Mocks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pueden ayudar.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1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0"/>
          <p:cNvSpPr txBox="1"/>
          <p:nvPr>
            <p:ph type="title"/>
          </p:nvPr>
        </p:nvSpPr>
        <p:spPr>
          <a:xfrm>
            <a:off x="179512" y="260648"/>
            <a:ext cx="7776864" cy="936104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86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es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Fuentes</a:t>
            </a:r>
            <a:endParaRPr sz="3200"/>
          </a:p>
        </p:txBody>
      </p:sp>
      <p:sp>
        <p:nvSpPr>
          <p:cNvPr id="212" name="Google Shape;212;p20"/>
          <p:cNvSpPr txBox="1"/>
          <p:nvPr>
            <p:ph idx="1" type="body"/>
          </p:nvPr>
        </p:nvSpPr>
        <p:spPr>
          <a:xfrm>
            <a:off x="395536" y="1844824"/>
            <a:ext cx="8229600" cy="4464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ES" sz="2800"/>
              <a:t>    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342900" lvl="0" marL="342900" rtl="0" algn="l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342900" lvl="0" marL="342900" rtl="0" algn="l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342900" lvl="0" marL="342900" rtl="0" algn="ctr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ES" sz="2800"/>
              <a:t>	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  <p:pic>
        <p:nvPicPr>
          <p:cNvPr id="213" name="Google Shape;21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8384" y="260648"/>
            <a:ext cx="936104" cy="936104"/>
          </a:xfrm>
          <a:prstGeom prst="rect">
            <a:avLst/>
          </a:prstGeom>
          <a:solidFill>
            <a:schemeClr val="accent2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862"/>
              </a:srgbClr>
            </a:outerShdw>
          </a:effectLst>
        </p:spPr>
      </p:pic>
      <p:sp>
        <p:nvSpPr>
          <p:cNvPr id="214" name="Google Shape;214;p20"/>
          <p:cNvSpPr/>
          <p:nvPr/>
        </p:nvSpPr>
        <p:spPr>
          <a:xfrm>
            <a:off x="467544" y="1628800"/>
            <a:ext cx="7632848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http://web.fi.uba.ar/~cfontela/Fontela_EstadoDelArteTDD_UNLP_EIS.pdf</a:t>
            </a:r>
            <a:endParaRPr b="0" i="0" sz="24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http://includeblogh.blogspot.com.ar/2014/12/fakes-stubs-y-mocks-cual-es-la.html</a:t>
            </a:r>
            <a:endParaRPr b="0" i="0" sz="24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http://sedici.unlp.edu.ar/bitstream/handle/10915/41604/Documento_completo.pdf?sequence=1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1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1"/>
          <p:cNvSpPr txBox="1"/>
          <p:nvPr>
            <p:ph type="title"/>
          </p:nvPr>
        </p:nvSpPr>
        <p:spPr>
          <a:xfrm>
            <a:off x="179512" y="260648"/>
            <a:ext cx="7776864" cy="936104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86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es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Lecturas recomendadas:</a:t>
            </a:r>
            <a:endParaRPr sz="3200"/>
          </a:p>
        </p:txBody>
      </p:sp>
      <p:sp>
        <p:nvSpPr>
          <p:cNvPr id="220" name="Google Shape;220;p21"/>
          <p:cNvSpPr txBox="1"/>
          <p:nvPr>
            <p:ph idx="1" type="body"/>
          </p:nvPr>
        </p:nvSpPr>
        <p:spPr>
          <a:xfrm>
            <a:off x="395536" y="1844824"/>
            <a:ext cx="8229600" cy="4464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ES" sz="2800"/>
              <a:t>    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342900" lvl="0" marL="342900" rtl="0" algn="l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342900" lvl="0" marL="342900" rtl="0" algn="l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342900" lvl="0" marL="342900" rtl="0" algn="ctr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ES" sz="2800"/>
              <a:t>	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  <p:pic>
        <p:nvPicPr>
          <p:cNvPr id="221" name="Google Shape;22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8384" y="260648"/>
            <a:ext cx="936104" cy="936104"/>
          </a:xfrm>
          <a:prstGeom prst="rect">
            <a:avLst/>
          </a:prstGeom>
          <a:solidFill>
            <a:schemeClr val="accent2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862"/>
              </a:srgbClr>
            </a:outerShdw>
          </a:effectLst>
        </p:spPr>
      </p:pic>
      <p:sp>
        <p:nvSpPr>
          <p:cNvPr id="222" name="Google Shape;222;p21"/>
          <p:cNvSpPr/>
          <p:nvPr/>
        </p:nvSpPr>
        <p:spPr>
          <a:xfrm>
            <a:off x="611560" y="2204864"/>
            <a:ext cx="7632848" cy="2805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Documentación y pruebas Antes del paradigma de objetos – Carlos Fontela: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  <a:hlinkClick r:id="rId4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http://materias.fi.uba.ar/7507/content/20101/lecturas/documentacion_pruebas.pdf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1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2"/>
          <p:cNvSpPr txBox="1"/>
          <p:nvPr>
            <p:ph idx="1" type="body"/>
          </p:nvPr>
        </p:nvSpPr>
        <p:spPr>
          <a:xfrm>
            <a:off x="395536" y="1844824"/>
            <a:ext cx="8229600" cy="4464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ES" sz="2800"/>
              <a:t>    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342900" lvl="0" marL="342900" rtl="0" algn="l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342900" lvl="0" marL="342900" rtl="0" algn="l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342900" lvl="0" marL="342900" rtl="0" algn="ctr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ES" sz="2800"/>
              <a:t>	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  <p:sp>
        <p:nvSpPr>
          <p:cNvPr id="228" name="Google Shape;228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29" name="Google Shape;22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7810" y="0"/>
            <a:ext cx="917962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2017-09-04T19:21:59Z</dcterms:created>
  <dc:creator>Pablo</dc:creator>
</cp:coreProperties>
</file>